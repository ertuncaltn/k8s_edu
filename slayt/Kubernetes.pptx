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9"/>
  </p:notesMasterIdLst>
  <p:sldIdLst>
    <p:sldId id="256" r:id="rId2"/>
    <p:sldId id="257" r:id="rId3"/>
    <p:sldId id="258" r:id="rId4"/>
    <p:sldId id="259" r:id="rId5"/>
    <p:sldId id="260" r:id="rId6"/>
    <p:sldId id="360" r:id="rId7"/>
    <p:sldId id="262" r:id="rId8"/>
    <p:sldId id="261"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362" r:id="rId28"/>
    <p:sldId id="281" r:id="rId29"/>
    <p:sldId id="36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45"/>
    <p:restoredTop sz="94610"/>
  </p:normalViewPr>
  <p:slideViewPr>
    <p:cSldViewPr snapToGrid="0" snapToObjects="1">
      <p:cViewPr varScale="1">
        <p:scale>
          <a:sx n="223" d="100"/>
          <a:sy n="223" d="100"/>
        </p:scale>
        <p:origin x="300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476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deste teorik anlatım içindir. Uygulamalı lab ve test senaryoları Udemy/KodeKloud üzerindeki Mumshad Mannambeth CKA kursundan takip edilecek. Her bölüm, kursun aynı adlı bölümüyle eşleşecek şekilde sıralandı.</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Bölümler KodeKloud CKA kursunun bölüm sırasını izler. Her bölümden sonra kursun ilgili lab'ları çözülebilir.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tek host'ta çoklu servis tanımlamayı çözer ama birden fazla makine, otomatik iyileştirme ve kesintisiz güncelleme sağlamaz. Kubernetes bu boşluğu dolduran orkestratördür. Alternatifler tarihsel olarak Docker Swarm ve Mesos idi; bugün endüstri standardı Kubernetes.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Katılımcılar Docker eğitimini almış olduğu için burası kısa bir köprü. Vurgu: Kubernetes container çalıştırmaz, container çalıştıran runtime'ları yönetir. Pod içindeki container'lar aynı network ve IPC namespace'ini paylaşır; bu Pod kavramının temelidir.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Reconciliation loop kavramı tüm eğitim boyunca tekrar edecek: observe (gözle) → diff (farkı bul) → act (düzelt). ReplicaSet, Deployment, Node controller, hatta Helm ve ArgoCD aynı mantığı kullanır.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8398471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Reconciliation loop kavramı tüm eğitim boyunca tekrar edecek: observe (gözle) → diff (farkı bul) → act (düzelt). ReplicaSet, Deployment, Node controller, hatta Helm ve ArgoCD aynı mantığı kullanır.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Mumshad'ın gemi benzetmesi: control plane liman yönetimidir (hangi konteyner hangi gemiye yüklenecek, nerede, ne durumda), worker node'lar yük gemileridir. Kubeadm ile kurulan cluster'da control plane bileşenleri kube-system namespace'inde static pod olarak çalışır; kubelet ise her node'da systemd servisi olarak çalışır. Control plane node'lar da kubelet ve kube-proxy çalıştırır.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Scheduler yalnızca karar verir; pod'u node'a bağlayan (binding) API server, container'ı başlatan kubelet'tir. Bu ayrım sınavda sıkça karşımıza çıkar.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Eski kaynaklarda ETCDCTL_API=3 export edilmesi gerektiği söylenir; etcd 3.4'ten itibaren v3 varsayılan. HA kurulumda kube-apiserver'a --etcd-servers ile tüm etcd üyeleri verilir. Yedekleme konusu Cluster Bakımı bölümünde.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Sınavda sık sorulan: "API server hangi parametreyle başlamış?" Kubeadm kurulumda manifest dosyasına, elle kurulumda /etc/systemd/system/kube-apiserver.service dosyasına bakılır. ps -aux | grep kube-apiserver her iki durumda çalışır.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controller çalışmıyorsa (ör. controller-manager pod'u bozuksa) Deployment oluşturulur ama pod'lar hiç oluşmaz — troubleshooting bölümünde tipik bir senaryo. Eski sürümlerdeki --pod-eviction-timeout parametresi kaldırıldı; artık taint tabanlı tahliye (not-ready / unreachable taint'lerine 300 sn varsayılan toleration) kullanılıyor.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Cilium gibi bazı CNI'lar kube-proxy'nin yerini eBPF ile tamamen alabilir (kube-proxy replacement). Detaylı ağ işleyişi Ağ bölümünde.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bu soyutlama? Yardımcı container'lar (ör. log toplayıcı) ana uygulamayla aynı ağ ve volume'u paylaşmalı ve onunla birlikte yaşayıp ölmeli. Docker'da bunu --link ve paylaşılan volume'larla elle yönetmek gerekirdi; Pod bunu otomatik yapar. Pause (infra) container ağ namespace'ini tutar.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çıktısındaki Events bölümü: Scheduled → Pulling → Pulled → Created → Started. Bir pod neden başlamadı sorusunun cevabı genelde buradadır.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Template'teki label'lar selector ile eşleşmek zorundadır, yoksa API server nesneyi reddeder. Template içine pod'un metadata ve spec'i aynen gelir — apiVersion ve kind olmadan.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Tipik hata: Service'in selector'ı pod label'larıyla birebir eşleşmezse Service'in endpoint'i boş kalır ve trafik hiçbir yere gitmez. kubectl get endpoints (veya endpointslices) ile kontrol edilir.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41521015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 isimlendirmesi her zaman Service'in bakış açısındandır: target = hedef pod, port = Service, nodePort = node. Dağıtım algoritması rastgele/round-robin benzeridir, session affinity istenirse sessionAffinity: ClientIP verilir.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 isimlendirmesi her zaman Service'in bakış açısındandır: target = hedef pod, port = Service, nodePort = node. Dağıtım algoritması rastgele/round-robin benzeridir, session affinity istenirse sessionAffinity: ClientIP verilir.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415152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ResourceQuota namespace'in toplam tüketimini sınırlar. Kota CPU/bellek için tanımlandıysa, o namespace'teki her pod request/limit belirtmek zorundadır — yoksa reddedilir. Bunu kolaylaştırmak için LimitRange ile varsayılan değerler atanır (Scheduling bölümünde).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kubectl edit ile canlı nesneyi değiştirmek dosyadaki tanımı güncellemez; bir sonraki apply değişikliği ezebilir. Bu yüzden üretimde tek kaynak dosya (Git) olmalıdır.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Pratik sonuç: create/replace ile apply'ı karıştırmayın. create ile oluşturulan nesnede annotation yoktur; sonraki apply'da uyarı alırsınız. Ya hep imperatif ya hep apply.</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Kısaltmalar: po, deploy, rs, svc, ns, cm, sa, pv, pvc, no, ing. Sınavda alias k=kubectl hazır gelir. Çıktı biçimleri: -o wide, -o yaml, -o json, -o jsonpath='{.items[*].metadata.name}', --sort-by.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Lab'da tipik soru: kube-system'da scheduler pod'u yok, yeni pod Pending. Çözüm ya pod'u silip nodeName ile yeniden oluşturmak, ya da scheduler'ı onarmak. kubectl replace --force -f pod.yaml silip yeniden yaratır.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plane node'larına kubeadm otomatik olarak node-role.kubernetes.io/control-plane:NoSchedule taint'i koyar; bu yüzden uygulama pod'ları master'a gitmez. kubectl describe node controlplane | grep Taints ile görülür. Değerler YAML'da tırnak içinde yazılmalıdır.</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Koddaki satır kırılması sadece slayta sığması için; gerçek YAML'da alan adı tek parça: requiredDuringSchedulingIgnoredDuringExecution. Pod'lar arası yerleşim için podAffinity / podAntiAffinity da vardır (ör. aynı uygulamanın kopyalarını farklı node'lara yaymak); ayrıca topologySpreadConstraints.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Önerilen pratik: her container için request mutlaka verilsin; bellek için limit verilsin; CPU limiti tartışmalıdır (gereksiz throttling yapabilir), request yeterli olabilir. Node bellek baskısı altındaysa kubelet önce BestEffort, sonra request'ini aşan Burstable pod'ları tahliye eder.</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Sınav ipucu: kubectl create daemonset komutu yoktur. kubectl create deployment ... --dry-run=client -o yaml ile üretip kind'ı DaemonSet yapın, replicas ve strategy alanlarını silin. 5. gündeki Loki mimarisinde Promtail tam olarak bu yüzden DaemonSet'tir.</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Klasik örnek: NamespaceExists yerine NamespaceAutoProvision etkinleştirilirse var olmayan namespace'e pod oluşturulduğunda namespace otomatik yaratılır (ikisi de artık NamespaceLifecycle içinde birleşmiş, varsayılan davranış ret). Kyverno ve OPA Gatekeeper gibi politika motorları webhook mekanizmasını kullanır.</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Blue/green ve canary Kubernetes'in yerleşik stratejileri değildir; iki Deployment + Service selector değişimi ya da Argo Rollouts, Flagger, Gateway API ağırlıklı yönlendirme gibi araçlarla yapılır. 5. günde ArgoCD ile bağlantı kurulacak.</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Docker'daki ad karışıklığına dikkat: Kubernetes'in command alanı Docker'ın CMD'sini değil ENTRYPOINT'ini ezer. Shell form yerine JSON dizi formu kullanılmalı. Imperatif: kubectl run sleeper --image=ubuntu-sleeper -- 10 (args) veya --command -- sleep 10.</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Ortam değişkenleri yalnızca container başlarken okunur; ConfigMap değişince pod'u yeniden başlatmak gerekir (rollout restart). Volume olarak mount edilen ConfigMap kubelet tarafından periyodik olarak güncellenir (subPath ile mount edilenler hariç). immutable: true ile değiştirilemez ConfigMap yapılabilir.</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Providers listesindeki ilk sağlayıcı yazmak için kullanılır; identity en sona konulursa eski şifresiz veriler hâlâ okunabilir. Şifreleme yalnızca yeni yazılan veriye uygulanır: mevcut secret'ları şifrelemek için kubectl get secrets -A -o json | kubectl replace -f - çalıştırılır. Doğrulama: etcdctl get /registry/secrets/default/app-secret | hexdump -C — içerikte k8s:enc:aescbc:v1 öneki görülmeli. Üretim için aescbc yerine KMS v2 önerilir. Kubeadm'da enc dizini kube-apiserver pod'una hostPath volume ile mount edilmelidir.</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Yerleşik (native) sidecar desteği 1.28'de alfa olarak geldi, 1.29'da varsayılan açık beta oldu, 1.33'te GA oldu. Job'larda klasik sidecar, ana iş bitse de çalışmaya devam ettiği için pod'un tamamlanmasını engelliyordu; native sidecar bu sorunu çözer. Init container log'u: kubectl logs pod -c init-adi.</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 koşulları: PodScheduled, Initialized, ContainersReady, Ready. kubectl get pods'taki READY sütunu (1/1) readiness probe sonucudur. Sık hata: liveness'ı dış bağımlılığa (DB) bağlamak — DB kısa süre çökerse tüm uygulama pod'ları gereksiz yere yeniden başlar.</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Aynı metrikte (CPU) HPA ve VPA birlikte kullanılmamalı; birbirleriyle çatışırlar. Cluster Autoscaler, Pending kalan pod'lar yüzünden node ekler; yani doğru request'ler cluster ölçeklemesi için de şarttır.</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VPA'nın Auto modu klasik olarak pod'u tahliye edip yeniden oluşturur; yeni VPA sürümleri in-place resize'ı kullanan InPlaceOrRecreate modunu da sunar. Kubernetes sürümünüze göre in-place resize durumunu kontrol edin.</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konu 5. günde Loki/Grafana ile derinleşecek. Çok container'lı pod'da kubectl logs için -c ile container adı vermek zorunludur.</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emptyDir kullanan pod'lar için --delete-emptydir-data gerekir. PodDisruptionBudget (PDB) varsa drain, minAvailable'ı ihlal edecek tahliyeleri bekletir — üretimde kesintisiz bakımın anahtarı.</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pkgs.k8s.io paket depoları her minor sürüm için ayrıdır; yükseltmeden önce /etc/apt/sources.list.d/kubernetes.list içindeki sürüm satırı (ör. v1.32 → v1.33) değiştirilip apt update yapılmalıdır. kubeadm upgrade apply kubelet'i yükseltmez; kubelet her node'da ayrıca güncellenir. kubectl get nodes'taki VERSION sütunu kubelet sürümünü gösterir.</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 ve sertifika yollarını ezberlemeyin: kubectl describe pod etcd-controlplane -n kube-system çıktısındaki --listen-client-urls, --cert-file, --key-file, --trusted-ca-file değerlerinden alın. Yeni etcd sürümlerinde snapshot restore/status için etcdutl önerilir; eski etcdctl snapshot restore komutu da çalışır. Sınavda hostPath'i değiştirdikten sonra etcd'nin ayağa kalkması 1–2 dakika sürebilir.</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Mumshad'ın kursunda statik parola dosyası (--basic-auth-file) örnek olarak anlatılır; bu yöntem 1.19'da kaldırıldı. Yeni sürümlerde OIDC için --oidc-* parametreleri yerine AuthenticationConfiguration dosyası (structured authentication config) da kullanılabilir.</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Sertifika incelerken bakılacaklar: Subject (CN), Subject Alternative Name, Issuer (doğru CA mı), Not After (süresi dolmuş mu). Control plane bileşeni çalışmıyorsa logları crictl logs veya journalctl ile incelenir; sık sebep yanlış sertifika yolu veya süresi dolmuş sertifika. Kısa bir PKI hatırlatması: simetrik şifreleme hızlı ama anahtar dağıtımı zor; asimetrik çiftle (public/private) anahtar güvenle değiş tokuş edilir, CA imzası ise "bu public key gerçekten bu kimliğe ait" garantisini verir.</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Sınavda her sorunun başında verilen kubectl config use-context komutunu çalıştırmak şarttır; yanlış cluster'da yapılan iş puan getirmez.</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kubectl proxy, kubeconfig'teki kimlikle API server'a yerel bir HTTP vekili açar; kube-proxy ile ilgisi yoktur — adları karıştırılmamalı.</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RBAC yalnızca izin verir; "deny" kuralı yoktur. Varsayılan her şey reddedilir. Role ve RoleBinding namespace'e bağlıdır. resourceNames ile belirli nesnelere daraltma yapılabilir. kubectl auth can-i --list --as dev-user -n dev ile bir kullanıcının tüm izinleri görülür.</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kubectl api-resources --namespaced=false cluster-scoped kaynakları listeler. Örnek sınav sorusu: "michelle kullanıcısının node'ları görebilmesi için gerekli izinleri verin" → ClusterRole (nodes: get, list, watch) + ClusterRoleBinding.</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 olan bir pod'un serviceAccountName'i değiştirilemez; Deployment'ta değiştirilirse rollout ile yeni pod'lar oluşur. Süresiz token gerçekten gerekiyorsa type: kubernetes.io/service-account-token olan bir Secret elle oluşturulup SA adı annotation ile bağlanır — ama önerilmez.</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5. gündeki GitLab → Nexus → ArgoCD → K8s akışında doğrudan kullanılacak: Kubernetes'in Nexus'tan image çekebilmesi imagePullSecrets'a bağlıdır. Hata belirtisi: ErrImagePull / ImagePullBackOff, Events'te "unauthorized" ya da "not found".</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 Security Admission, eski PodSecurityPolicy'nin (1.25'te kaldırıldı) yerini aldı; namespace'e label koyarak çalışır: pod-security.kubernetes.io/enforce=restricted. Container içinde id komutuyla gerçek kullanıcı doğrulanabilir.</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Örnekteki politika: role=db pod'larına yalnızca prod namespace'indeki name=api pod'larından 3306 portuna gelen trafik kabul edilir; diğer tüm gelen trafik reddedilir. Egress serbesttir çünkü policyTypes'ta yok. Egress kısıtlanırsa DNS'e (UDP/TCP 53) izin vermeyi unutmayın. Varsayılan reddetme politikası: podSelector: {} ve boş ingress kuralı.</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apiVersion her ikisi için v1. PV'nin storageClassName'i boş, PVC'ninki de boşsa ve cluster'da varsayılan StorageClass varsa, PVC'ye varsayılan sınıf atanır ve statik PV ile eşleşmez — lab'larda sık karşılaşılan bir tuzak; gerekirse PVC'ye storageClassName: "" yazılır.</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On-prem ortamlarda yaygın provisioner'lar: Longhorn (Harvester/Rancher'ın varsayılanı), Rook-Ceph, NFS subdir provisioner, local-path; vSphere ve bulut CSI sürücüleri. parameters alanı provisioner'a özeldir.</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Mumshad'ın kursunda bu bölümün önünde uzun bir "Prerequisite" kısmı var (switching/routing, DNS, network namespace, Docker networking). Katılımcıların Linux ağ bilgisi zayıfsa o videolar ön çalışma olarak önerilebilir. Node'lar arası gerekli portlar: 6443 (API), 2379-2380 (etcd), 10250 (kubelet), 10257 (controller-manager), 10259 (scheduler), 30000-32767 (NodePort).</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Hangi proxy modu? kubectl logs -n kube-system kube-proxy-xxxxx çıktısında "Using iptables Proxier" satırı görülür. Service CIDR'ını bulmak: kube-apiserver manifest'inde --service-cluster-ip-range.</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ingress-nginx projesinin geleceği konusunda dikkat: topluluk projesi bakım modunda / emeklilik sürecinde duyuruldu; yeni kurulumlarda Gateway API tabanlı çözümler değerlendirilmeli. Kendi ortamınızda kullanılan controller'ın güncel durumunu kontrol edin.</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Diğer yerleşik nesneler: .Release.Name, .Release.Namespace, .Chart.Name. Şablonu cluster'a göndermeden görmek için helm template veya helm install --dry-run --debug.</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Rollback, revizyon 1'in yapılandırmasıyla yeni bir revizyon (ör. 3) oluşturur; geçmiş silinmez. Rollback PV'deki veriyi geri getirmez — DB içeriği için ayrı yedek gerekir. 5. günde ArgoCD de Helm chart'larını değer dosyalarıyla render ederek uygular.</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karşılaşılan hatalar: Service selector'ında yazım hatası, targetPort'un container portundan farklı olması, yanlış namespace, env'de yanlış DB host adı, NetworkPolicy'nin trafiği kesmesi. Tahmin yerine her halkayı kanıtla doğrula.</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Alan ağırlıkları ve sınav formatı Linux Foundation'ın güncel müfredatına göredir ve değişebilir; sınavdan önce training.linuxfoundation.org üzerindeki CKA sayfasından kontrol edin. Sınav kaydıyla birlikte iki killer.sh simülatör oturumu gelir.</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42033"/>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26220"/>
            <a:ext cx="10566400" cy="4218980"/>
          </a:xfrm>
          <a:prstGeom prst="rect">
            <a:avLst/>
          </a:prstGeom>
          <a:noFill/>
          <a:ln/>
        </p:spPr>
        <p:txBody>
          <a:bodyPr wrap="square" lIns="0" tIns="0" rIns="0" bIns="0" rtlCol="0" anchor="t"/>
          <a:lstStyle>
            <a:lvl1pPr marL="0" indent="0" algn="l">
              <a:lnSpc>
                <a:spcPct val="140000"/>
              </a:lnSpc>
              <a:buNone/>
              <a:defRPr lang="en-US" sz="1600" dirty="0">
                <a:solidFill>
                  <a:srgbClr val="45505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42033"/>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26220"/>
            <a:ext cx="10566400" cy="4218980"/>
          </a:xfrm>
          <a:prstGeom prst="rect">
            <a:avLst/>
          </a:prstGeom>
          <a:noFill/>
          <a:ln/>
        </p:spPr>
        <p:txBody>
          <a:bodyPr wrap="square" lIns="0" tIns="0" rIns="0" bIns="0" rtlCol="0" anchor="t"/>
          <a:lstStyle>
            <a:lvl1pPr marL="0" indent="0" algn="l">
              <a:lnSpc>
                <a:spcPct val="140000"/>
              </a:lnSpc>
              <a:buNone/>
              <a:defRPr lang="en-US" sz="1600" dirty="0">
                <a:solidFill>
                  <a:srgbClr val="45505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33"/>
        </a:solidFill>
        <a:effectLst/>
      </p:bgPr>
    </p:bg>
    <p:spTree>
      <p:nvGrpSpPr>
        <p:cNvPr id="1" name=""/>
        <p:cNvGrpSpPr/>
        <p:nvPr/>
      </p:nvGrpSpPr>
      <p:grpSpPr>
        <a:xfrm>
          <a:off x="0" y="0"/>
          <a:ext cx="0" cy="0"/>
          <a:chOff x="0" y="0"/>
          <a:chExt cx="0" cy="0"/>
        </a:xfrm>
      </p:grpSpPr>
      <p:pic>
        <p:nvPicPr>
          <p:cNvPr id="2" name="Image 0" descr="Üç node ve üzerlerindeki pod'ları simgeleyen soyut çizim"/>
          <p:cNvPicPr>
            <a:picLocks noChangeAspect="1"/>
          </p:cNvPicPr>
          <p:nvPr/>
        </p:nvPicPr>
        <p:blipFill>
          <a:blip r:embed="rId3">
            <a:alphaModFix amt="90000"/>
          </a:blip>
          <a:srcRect/>
          <a:stretch/>
        </p:blipFill>
        <p:spPr>
          <a:xfrm>
            <a:off x="7493000" y="1778000"/>
            <a:ext cx="4064000" cy="3302000"/>
          </a:xfrm>
          <a:prstGeom prst="rect">
            <a:avLst/>
          </a:prstGeom>
        </p:spPr>
      </p:pic>
      <p:sp>
        <p:nvSpPr>
          <p:cNvPr id="3" name="Text 0"/>
          <p:cNvSpPr/>
          <p:nvPr/>
        </p:nvSpPr>
        <p:spPr>
          <a:xfrm>
            <a:off x="812800" y="1684040"/>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IBM Plex Sans" pitchFamily="34" charset="0"/>
                <a:ea typeface="IBM Plex Sans" pitchFamily="34" charset="-122"/>
                <a:cs typeface="IBM Plex Sans" pitchFamily="34" charset="-120"/>
              </a:rPr>
              <a:t>CKA HAZIRLIK · TEORIK EĞITIM</a:t>
            </a:r>
            <a:endParaRPr lang="en-US" sz="1200" dirty="0"/>
          </a:p>
        </p:txBody>
      </p:sp>
      <p:sp>
        <p:nvSpPr>
          <p:cNvPr id="4" name="Text 1"/>
          <p:cNvSpPr>
            <a:spLocks noGrp="1"/>
          </p:cNvSpPr>
          <p:nvPr>
            <p:ph type="title"/>
          </p:nvPr>
        </p:nvSpPr>
        <p:spPr>
          <a:xfrm>
            <a:off x="812800" y="2100560"/>
            <a:ext cx="654050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4EF"/>
                </a:solidFill>
                <a:latin typeface="IBM Plex Sans" pitchFamily="34" charset="0"/>
                <a:ea typeface="IBM Plex Sans" pitchFamily="34" charset="-122"/>
                <a:cs typeface="IBM Plex Sans" pitchFamily="34" charset="-120"/>
              </a:rPr>
              <a:t>Kubernetes Temelleri</a:t>
            </a:r>
            <a:endParaRPr lang="en-US" sz="6000" dirty="0"/>
          </a:p>
        </p:txBody>
      </p:sp>
      <p:sp>
        <p:nvSpPr>
          <p:cNvPr id="5" name="Text 2"/>
          <p:cNvSpPr/>
          <p:nvPr/>
        </p:nvSpPr>
        <p:spPr>
          <a:xfrm>
            <a:off x="812800" y="3903960"/>
            <a:ext cx="6278880"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6D6"/>
                </a:solidFill>
                <a:latin typeface="IBM Plex Sans" pitchFamily="34" charset="0"/>
                <a:ea typeface="IBM Plex Sans" pitchFamily="34" charset="-122"/>
                <a:cs typeface="IBM Plex Sans" pitchFamily="34" charset="-120"/>
              </a:rPr>
              <a:t>Mimari, iş yükleri, scheduling, güvenlik, depolama, ağ, Helm ve troubleshooting — Mumshad Mannambeth'in CKA müfredatı temel alınarak hazırlanmıştır.</a:t>
            </a:r>
            <a:endParaRPr lang="en-US" sz="1600" dirty="0"/>
          </a:p>
        </p:txBody>
      </p:sp>
      <p:sp>
        <p:nvSpPr>
          <p:cNvPr id="6" name="Text 3"/>
          <p:cNvSpPr/>
          <p:nvPr/>
        </p:nvSpPr>
        <p:spPr>
          <a:xfrm>
            <a:off x="812800" y="4960541"/>
            <a:ext cx="62788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B2FF"/>
                </a:solidFill>
                <a:latin typeface="IBM Plex Sans" pitchFamily="34" charset="0"/>
                <a:ea typeface="IBM Plex Sans" pitchFamily="34" charset="-122"/>
                <a:cs typeface="IBM Plex Sans" pitchFamily="34" charset="-120"/>
              </a:rPr>
              <a:t>[Eğitmen adı] · [Kurum] · [Tarih]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GÜNDEM</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Eğitimin akışı</a:t>
            </a:r>
            <a:endParaRPr lang="en-US" sz="3000" dirty="0"/>
          </a:p>
        </p:txBody>
      </p:sp>
      <p:sp>
        <p:nvSpPr>
          <p:cNvPr id="4" name="Shape 2"/>
          <p:cNvSpPr/>
          <p:nvPr/>
        </p:nvSpPr>
        <p:spPr>
          <a:xfrm>
            <a:off x="812800" y="1832570"/>
            <a:ext cx="5283200" cy="0"/>
          </a:xfrm>
          <a:prstGeom prst="line">
            <a:avLst/>
          </a:prstGeom>
          <a:noFill/>
          <a:ln w="12700">
            <a:solidFill>
              <a:srgbClr val="142033"/>
            </a:solidFill>
            <a:prstDash val="solid"/>
          </a:ln>
        </p:spPr>
      </p:sp>
      <p:sp>
        <p:nvSpPr>
          <p:cNvPr id="5" name="Text 3"/>
          <p:cNvSpPr/>
          <p:nvPr/>
        </p:nvSpPr>
        <p:spPr>
          <a:xfrm>
            <a:off x="812800" y="1940520"/>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BD8"/>
                </a:solidFill>
                <a:latin typeface="IBM Plex Sans" pitchFamily="34" charset="0"/>
                <a:ea typeface="IBM Plex Sans" pitchFamily="34" charset="-122"/>
                <a:cs typeface="IBM Plex Sans" pitchFamily="34" charset="-120"/>
              </a:rPr>
              <a:t>01</a:t>
            </a:r>
            <a:endParaRPr lang="en-US" sz="1600" dirty="0"/>
          </a:p>
        </p:txBody>
      </p:sp>
      <p:sp>
        <p:nvSpPr>
          <p:cNvPr id="6" name="Text 4"/>
          <p:cNvSpPr/>
          <p:nvPr/>
        </p:nvSpPr>
        <p:spPr>
          <a:xfrm>
            <a:off x="1209080" y="1978620"/>
            <a:ext cx="321052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Giriş</a:t>
            </a:r>
            <a:r>
              <a:rPr lang="en-US" sz="1300" dirty="0">
                <a:solidFill>
                  <a:srgbClr val="45505F"/>
                </a:solidFill>
                <a:latin typeface="IBM Plex Sans" pitchFamily="34" charset="0"/>
                <a:ea typeface="IBM Plex Sans" pitchFamily="34" charset="-122"/>
                <a:cs typeface="IBM Plex Sans" pitchFamily="34" charset="-120"/>
              </a:rPr>
              <a:t> — container'dan orkestrasyona</a:t>
            </a:r>
            <a:endParaRPr lang="en-US" sz="1300" dirty="0"/>
          </a:p>
        </p:txBody>
      </p:sp>
      <p:sp>
        <p:nvSpPr>
          <p:cNvPr id="7" name="Shape 5"/>
          <p:cNvSpPr/>
          <p:nvPr/>
        </p:nvSpPr>
        <p:spPr>
          <a:xfrm>
            <a:off x="6096000" y="1832570"/>
            <a:ext cx="5283200" cy="0"/>
          </a:xfrm>
          <a:prstGeom prst="line">
            <a:avLst/>
          </a:prstGeom>
          <a:noFill/>
          <a:ln w="12700">
            <a:solidFill>
              <a:srgbClr val="142033"/>
            </a:solidFill>
            <a:prstDash val="solid"/>
          </a:ln>
        </p:spPr>
      </p:sp>
      <p:sp>
        <p:nvSpPr>
          <p:cNvPr id="8" name="Text 6"/>
          <p:cNvSpPr/>
          <p:nvPr/>
        </p:nvSpPr>
        <p:spPr>
          <a:xfrm>
            <a:off x="6096000" y="1940520"/>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BD8"/>
                </a:solidFill>
                <a:latin typeface="IBM Plex Sans" pitchFamily="34" charset="0"/>
                <a:ea typeface="IBM Plex Sans" pitchFamily="34" charset="-122"/>
                <a:cs typeface="IBM Plex Sans" pitchFamily="34" charset="-120"/>
              </a:rPr>
              <a:t>06</a:t>
            </a:r>
            <a:endParaRPr lang="en-US" sz="1600" dirty="0"/>
          </a:p>
        </p:txBody>
      </p:sp>
      <p:sp>
        <p:nvSpPr>
          <p:cNvPr id="9" name="Text 7"/>
          <p:cNvSpPr/>
          <p:nvPr/>
        </p:nvSpPr>
        <p:spPr>
          <a:xfrm>
            <a:off x="6492280" y="1978620"/>
            <a:ext cx="3391019"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Güvenlik</a:t>
            </a:r>
            <a:r>
              <a:rPr lang="en-US" sz="1300" dirty="0">
                <a:solidFill>
                  <a:srgbClr val="45505F"/>
                </a:solidFill>
                <a:latin typeface="IBM Plex Sans" pitchFamily="34" charset="0"/>
                <a:ea typeface="IBM Plex Sans" pitchFamily="34" charset="-122"/>
                <a:cs typeface="IBM Plex Sans" pitchFamily="34" charset="-120"/>
              </a:rPr>
              <a:t> — TLS, RBAC, NetworkPolicy</a:t>
            </a:r>
            <a:endParaRPr lang="en-US" sz="1300" dirty="0"/>
          </a:p>
        </p:txBody>
      </p:sp>
      <p:sp>
        <p:nvSpPr>
          <p:cNvPr id="10" name="Shape 8"/>
          <p:cNvSpPr/>
          <p:nvPr/>
        </p:nvSpPr>
        <p:spPr>
          <a:xfrm>
            <a:off x="812800" y="2228155"/>
            <a:ext cx="5283200" cy="0"/>
          </a:xfrm>
          <a:prstGeom prst="line">
            <a:avLst/>
          </a:prstGeom>
          <a:noFill/>
          <a:ln w="6350">
            <a:solidFill>
              <a:srgbClr val="C9C5BA"/>
            </a:solidFill>
            <a:prstDash val="solid"/>
          </a:ln>
        </p:spPr>
      </p:sp>
      <p:sp>
        <p:nvSpPr>
          <p:cNvPr id="11" name="Text 9"/>
          <p:cNvSpPr/>
          <p:nvPr/>
        </p:nvSpPr>
        <p:spPr>
          <a:xfrm>
            <a:off x="812800" y="2332930"/>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BD8"/>
                </a:solidFill>
                <a:latin typeface="IBM Plex Sans" pitchFamily="34" charset="0"/>
                <a:ea typeface="IBM Plex Sans" pitchFamily="34" charset="-122"/>
                <a:cs typeface="IBM Plex Sans" pitchFamily="34" charset="-120"/>
              </a:rPr>
              <a:t>02</a:t>
            </a:r>
            <a:endParaRPr lang="en-US" sz="1600" dirty="0"/>
          </a:p>
        </p:txBody>
      </p:sp>
      <p:sp>
        <p:nvSpPr>
          <p:cNvPr id="12" name="Text 10"/>
          <p:cNvSpPr/>
          <p:nvPr/>
        </p:nvSpPr>
        <p:spPr>
          <a:xfrm>
            <a:off x="1209080" y="2371030"/>
            <a:ext cx="483405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Temel Kavramlar</a:t>
            </a:r>
            <a:r>
              <a:rPr lang="en-US" sz="1300" dirty="0">
                <a:solidFill>
                  <a:srgbClr val="45505F"/>
                </a:solidFill>
                <a:latin typeface="IBM Plex Sans" pitchFamily="34" charset="0"/>
                <a:ea typeface="IBM Plex Sans" pitchFamily="34" charset="-122"/>
                <a:cs typeface="IBM Plex Sans" pitchFamily="34" charset="-120"/>
              </a:rPr>
              <a:t> — mimari, Pod, Deployment, Service</a:t>
            </a:r>
            <a:endParaRPr lang="en-US" sz="1300" dirty="0"/>
          </a:p>
        </p:txBody>
      </p:sp>
      <p:sp>
        <p:nvSpPr>
          <p:cNvPr id="13" name="Shape 11"/>
          <p:cNvSpPr/>
          <p:nvPr/>
        </p:nvSpPr>
        <p:spPr>
          <a:xfrm>
            <a:off x="6096000" y="2228155"/>
            <a:ext cx="5283200" cy="0"/>
          </a:xfrm>
          <a:prstGeom prst="line">
            <a:avLst/>
          </a:prstGeom>
          <a:noFill/>
          <a:ln w="6350">
            <a:solidFill>
              <a:srgbClr val="C9C5BA"/>
            </a:solidFill>
            <a:prstDash val="solid"/>
          </a:ln>
        </p:spPr>
      </p:sp>
      <p:sp>
        <p:nvSpPr>
          <p:cNvPr id="14" name="Text 12"/>
          <p:cNvSpPr/>
          <p:nvPr/>
        </p:nvSpPr>
        <p:spPr>
          <a:xfrm>
            <a:off x="6096000" y="2332930"/>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BD8"/>
                </a:solidFill>
                <a:latin typeface="IBM Plex Sans" pitchFamily="34" charset="0"/>
                <a:ea typeface="IBM Plex Sans" pitchFamily="34" charset="-122"/>
                <a:cs typeface="IBM Plex Sans" pitchFamily="34" charset="-120"/>
              </a:rPr>
              <a:t>07</a:t>
            </a:r>
            <a:endParaRPr lang="en-US" sz="1600" dirty="0"/>
          </a:p>
        </p:txBody>
      </p:sp>
      <p:sp>
        <p:nvSpPr>
          <p:cNvPr id="15" name="Text 13"/>
          <p:cNvSpPr/>
          <p:nvPr/>
        </p:nvSpPr>
        <p:spPr>
          <a:xfrm>
            <a:off x="6492280" y="2371030"/>
            <a:ext cx="389072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Depolama</a:t>
            </a:r>
            <a:r>
              <a:rPr lang="en-US" sz="1300" dirty="0">
                <a:solidFill>
                  <a:srgbClr val="45505F"/>
                </a:solidFill>
                <a:latin typeface="IBM Plex Sans" pitchFamily="34" charset="0"/>
                <a:ea typeface="IBM Plex Sans" pitchFamily="34" charset="-122"/>
                <a:cs typeface="IBM Plex Sans" pitchFamily="34" charset="-120"/>
              </a:rPr>
              <a:t> — Volume, PV/PVC, StorageClass</a:t>
            </a:r>
            <a:endParaRPr lang="en-US" sz="1300" dirty="0"/>
          </a:p>
        </p:txBody>
      </p:sp>
      <p:sp>
        <p:nvSpPr>
          <p:cNvPr id="16" name="Shape 14"/>
          <p:cNvSpPr/>
          <p:nvPr/>
        </p:nvSpPr>
        <p:spPr>
          <a:xfrm>
            <a:off x="812800" y="2620566"/>
            <a:ext cx="5283200" cy="0"/>
          </a:xfrm>
          <a:prstGeom prst="line">
            <a:avLst/>
          </a:prstGeom>
          <a:noFill/>
          <a:ln w="6350">
            <a:solidFill>
              <a:srgbClr val="C9C5BA"/>
            </a:solidFill>
            <a:prstDash val="solid"/>
          </a:ln>
        </p:spPr>
      </p:sp>
      <p:sp>
        <p:nvSpPr>
          <p:cNvPr id="17" name="Text 15"/>
          <p:cNvSpPr/>
          <p:nvPr/>
        </p:nvSpPr>
        <p:spPr>
          <a:xfrm>
            <a:off x="812800" y="2725341"/>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BD8"/>
                </a:solidFill>
                <a:latin typeface="IBM Plex Sans" pitchFamily="34" charset="0"/>
                <a:ea typeface="IBM Plex Sans" pitchFamily="34" charset="-122"/>
                <a:cs typeface="IBM Plex Sans" pitchFamily="34" charset="-120"/>
              </a:rPr>
              <a:t>03</a:t>
            </a:r>
            <a:endParaRPr lang="en-US" sz="1600" dirty="0"/>
          </a:p>
        </p:txBody>
      </p:sp>
      <p:sp>
        <p:nvSpPr>
          <p:cNvPr id="18" name="Text 16"/>
          <p:cNvSpPr/>
          <p:nvPr/>
        </p:nvSpPr>
        <p:spPr>
          <a:xfrm>
            <a:off x="1209080" y="2763441"/>
            <a:ext cx="335863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Scheduling</a:t>
            </a:r>
            <a:r>
              <a:rPr lang="en-US" sz="1300" dirty="0">
                <a:solidFill>
                  <a:srgbClr val="45505F"/>
                </a:solidFill>
                <a:latin typeface="IBM Plex Sans" pitchFamily="34" charset="0"/>
                <a:ea typeface="IBM Plex Sans" pitchFamily="34" charset="-122"/>
                <a:cs typeface="IBM Plex Sans" pitchFamily="34" charset="-120"/>
              </a:rPr>
              <a:t> — taint, affinity, kaynaklar</a:t>
            </a:r>
            <a:endParaRPr lang="en-US" sz="1300" dirty="0"/>
          </a:p>
        </p:txBody>
      </p:sp>
      <p:sp>
        <p:nvSpPr>
          <p:cNvPr id="19" name="Shape 17"/>
          <p:cNvSpPr/>
          <p:nvPr/>
        </p:nvSpPr>
        <p:spPr>
          <a:xfrm>
            <a:off x="6096000" y="2620566"/>
            <a:ext cx="5283200" cy="0"/>
          </a:xfrm>
          <a:prstGeom prst="line">
            <a:avLst/>
          </a:prstGeom>
          <a:noFill/>
          <a:ln w="6350">
            <a:solidFill>
              <a:srgbClr val="C9C5BA"/>
            </a:solidFill>
            <a:prstDash val="solid"/>
          </a:ln>
        </p:spPr>
      </p:sp>
      <p:sp>
        <p:nvSpPr>
          <p:cNvPr id="20" name="Text 18"/>
          <p:cNvSpPr/>
          <p:nvPr/>
        </p:nvSpPr>
        <p:spPr>
          <a:xfrm>
            <a:off x="6096000" y="2725341"/>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BD8"/>
                </a:solidFill>
                <a:latin typeface="IBM Plex Sans" pitchFamily="34" charset="0"/>
                <a:ea typeface="IBM Plex Sans" pitchFamily="34" charset="-122"/>
                <a:cs typeface="IBM Plex Sans" pitchFamily="34" charset="-120"/>
              </a:rPr>
              <a:t>08</a:t>
            </a:r>
            <a:endParaRPr lang="en-US" sz="1600" dirty="0"/>
          </a:p>
        </p:txBody>
      </p:sp>
      <p:sp>
        <p:nvSpPr>
          <p:cNvPr id="21" name="Text 19"/>
          <p:cNvSpPr/>
          <p:nvPr/>
        </p:nvSpPr>
        <p:spPr>
          <a:xfrm>
            <a:off x="6492280" y="2763441"/>
            <a:ext cx="334244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Ağ</a:t>
            </a:r>
            <a:r>
              <a:rPr lang="en-US" sz="1300" dirty="0">
                <a:solidFill>
                  <a:srgbClr val="45505F"/>
                </a:solidFill>
                <a:latin typeface="IBM Plex Sans" pitchFamily="34" charset="0"/>
                <a:ea typeface="IBM Plex Sans" pitchFamily="34" charset="-122"/>
                <a:cs typeface="IBM Plex Sans" pitchFamily="34" charset="-120"/>
              </a:rPr>
              <a:t> — CNI, DNS, Ingress, Gateway API</a:t>
            </a:r>
            <a:endParaRPr lang="en-US" sz="1300" dirty="0"/>
          </a:p>
        </p:txBody>
      </p:sp>
      <p:sp>
        <p:nvSpPr>
          <p:cNvPr id="22" name="Shape 20"/>
          <p:cNvSpPr/>
          <p:nvPr/>
        </p:nvSpPr>
        <p:spPr>
          <a:xfrm>
            <a:off x="812800" y="3012976"/>
            <a:ext cx="5283200" cy="0"/>
          </a:xfrm>
          <a:prstGeom prst="line">
            <a:avLst/>
          </a:prstGeom>
          <a:noFill/>
          <a:ln w="6350">
            <a:solidFill>
              <a:srgbClr val="C9C5BA"/>
            </a:solidFill>
            <a:prstDash val="solid"/>
          </a:ln>
        </p:spPr>
      </p:sp>
      <p:sp>
        <p:nvSpPr>
          <p:cNvPr id="23" name="Text 21"/>
          <p:cNvSpPr/>
          <p:nvPr/>
        </p:nvSpPr>
        <p:spPr>
          <a:xfrm>
            <a:off x="812800" y="3117751"/>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BD8"/>
                </a:solidFill>
                <a:latin typeface="IBM Plex Sans" pitchFamily="34" charset="0"/>
                <a:ea typeface="IBM Plex Sans" pitchFamily="34" charset="-122"/>
                <a:cs typeface="IBM Plex Sans" pitchFamily="34" charset="-120"/>
              </a:rPr>
              <a:t>04</a:t>
            </a:r>
            <a:endParaRPr lang="en-US" sz="1600" dirty="0"/>
          </a:p>
        </p:txBody>
      </p:sp>
      <p:sp>
        <p:nvSpPr>
          <p:cNvPr id="24" name="Text 22"/>
          <p:cNvSpPr/>
          <p:nvPr/>
        </p:nvSpPr>
        <p:spPr>
          <a:xfrm>
            <a:off x="1209080" y="3155851"/>
            <a:ext cx="433887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Uygulama Yaşam Döngüsü</a:t>
            </a:r>
            <a:r>
              <a:rPr lang="en-US" sz="1300" dirty="0">
                <a:solidFill>
                  <a:srgbClr val="45505F"/>
                </a:solidFill>
                <a:latin typeface="IBM Plex Sans" pitchFamily="34" charset="0"/>
                <a:ea typeface="IBM Plex Sans" pitchFamily="34" charset="-122"/>
                <a:cs typeface="IBM Plex Sans" pitchFamily="34" charset="-120"/>
              </a:rPr>
              <a:t> — config, probe, HPA</a:t>
            </a:r>
            <a:endParaRPr lang="en-US" sz="1300" dirty="0"/>
          </a:p>
        </p:txBody>
      </p:sp>
      <p:sp>
        <p:nvSpPr>
          <p:cNvPr id="25" name="Shape 23"/>
          <p:cNvSpPr/>
          <p:nvPr/>
        </p:nvSpPr>
        <p:spPr>
          <a:xfrm>
            <a:off x="6096000" y="3012976"/>
            <a:ext cx="5283200" cy="0"/>
          </a:xfrm>
          <a:prstGeom prst="line">
            <a:avLst/>
          </a:prstGeom>
          <a:noFill/>
          <a:ln w="6350">
            <a:solidFill>
              <a:srgbClr val="C9C5BA"/>
            </a:solidFill>
            <a:prstDash val="solid"/>
          </a:ln>
        </p:spPr>
      </p:sp>
      <p:sp>
        <p:nvSpPr>
          <p:cNvPr id="26" name="Text 24"/>
          <p:cNvSpPr/>
          <p:nvPr/>
        </p:nvSpPr>
        <p:spPr>
          <a:xfrm>
            <a:off x="6096000" y="3117751"/>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BD8"/>
                </a:solidFill>
                <a:latin typeface="IBM Plex Sans" pitchFamily="34" charset="0"/>
                <a:ea typeface="IBM Plex Sans" pitchFamily="34" charset="-122"/>
                <a:cs typeface="IBM Plex Sans" pitchFamily="34" charset="-120"/>
              </a:rPr>
              <a:t>09</a:t>
            </a:r>
            <a:endParaRPr lang="en-US" sz="1600" dirty="0"/>
          </a:p>
        </p:txBody>
      </p:sp>
      <p:sp>
        <p:nvSpPr>
          <p:cNvPr id="27" name="Text 25"/>
          <p:cNvSpPr/>
          <p:nvPr/>
        </p:nvSpPr>
        <p:spPr>
          <a:xfrm>
            <a:off x="6492280" y="3155851"/>
            <a:ext cx="178427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Helm ve Kustomize</a:t>
            </a:r>
            <a:endParaRPr lang="en-US" sz="1300" dirty="0"/>
          </a:p>
        </p:txBody>
      </p:sp>
      <p:sp>
        <p:nvSpPr>
          <p:cNvPr id="28" name="Shape 26"/>
          <p:cNvSpPr/>
          <p:nvPr/>
        </p:nvSpPr>
        <p:spPr>
          <a:xfrm>
            <a:off x="812800" y="3405386"/>
            <a:ext cx="5283200" cy="0"/>
          </a:xfrm>
          <a:prstGeom prst="line">
            <a:avLst/>
          </a:prstGeom>
          <a:noFill/>
          <a:ln w="6350">
            <a:solidFill>
              <a:srgbClr val="C9C5BA"/>
            </a:solidFill>
            <a:prstDash val="solid"/>
          </a:ln>
        </p:spPr>
      </p:sp>
      <p:sp>
        <p:nvSpPr>
          <p:cNvPr id="29" name="Text 27"/>
          <p:cNvSpPr/>
          <p:nvPr/>
        </p:nvSpPr>
        <p:spPr>
          <a:xfrm>
            <a:off x="812800" y="3510161"/>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BD8"/>
                </a:solidFill>
                <a:latin typeface="IBM Plex Sans" pitchFamily="34" charset="0"/>
                <a:ea typeface="IBM Plex Sans" pitchFamily="34" charset="-122"/>
                <a:cs typeface="IBM Plex Sans" pitchFamily="34" charset="-120"/>
              </a:rPr>
              <a:t>05</a:t>
            </a:r>
            <a:endParaRPr lang="en-US" sz="1600" dirty="0"/>
          </a:p>
        </p:txBody>
      </p:sp>
      <p:sp>
        <p:nvSpPr>
          <p:cNvPr id="30" name="Text 28"/>
          <p:cNvSpPr/>
          <p:nvPr/>
        </p:nvSpPr>
        <p:spPr>
          <a:xfrm>
            <a:off x="1209080" y="3548261"/>
            <a:ext cx="346924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Cluster Bakımı</a:t>
            </a:r>
            <a:r>
              <a:rPr lang="en-US" sz="1300" dirty="0">
                <a:solidFill>
                  <a:srgbClr val="45505F"/>
                </a:solidFill>
                <a:latin typeface="IBM Plex Sans" pitchFamily="34" charset="0"/>
                <a:ea typeface="IBM Plex Sans" pitchFamily="34" charset="-122"/>
                <a:cs typeface="IBM Plex Sans" pitchFamily="34" charset="-120"/>
              </a:rPr>
              <a:t> — upgrade, etcd yedeği</a:t>
            </a:r>
            <a:endParaRPr lang="en-US" sz="1300" dirty="0"/>
          </a:p>
        </p:txBody>
      </p:sp>
      <p:sp>
        <p:nvSpPr>
          <p:cNvPr id="31" name="Shape 29"/>
          <p:cNvSpPr/>
          <p:nvPr/>
        </p:nvSpPr>
        <p:spPr>
          <a:xfrm>
            <a:off x="6096000" y="3405386"/>
            <a:ext cx="5283200" cy="0"/>
          </a:xfrm>
          <a:prstGeom prst="line">
            <a:avLst/>
          </a:prstGeom>
          <a:noFill/>
          <a:ln w="6350">
            <a:solidFill>
              <a:srgbClr val="C9C5BA"/>
            </a:solidFill>
            <a:prstDash val="solid"/>
          </a:ln>
        </p:spPr>
      </p:sp>
      <p:sp>
        <p:nvSpPr>
          <p:cNvPr id="32" name="Text 30"/>
          <p:cNvSpPr/>
          <p:nvPr/>
        </p:nvSpPr>
        <p:spPr>
          <a:xfrm>
            <a:off x="6096000" y="3510161"/>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BD8"/>
                </a:solidFill>
                <a:latin typeface="IBM Plex Sans" pitchFamily="34" charset="0"/>
                <a:ea typeface="IBM Plex Sans" pitchFamily="34" charset="-122"/>
                <a:cs typeface="IBM Plex Sans" pitchFamily="34" charset="-120"/>
              </a:rPr>
              <a:t>10</a:t>
            </a:r>
            <a:endParaRPr lang="en-US" sz="1600" dirty="0"/>
          </a:p>
        </p:txBody>
      </p:sp>
      <p:sp>
        <p:nvSpPr>
          <p:cNvPr id="33" name="Text 31"/>
          <p:cNvSpPr/>
          <p:nvPr/>
        </p:nvSpPr>
        <p:spPr>
          <a:xfrm>
            <a:off x="6492280" y="3548261"/>
            <a:ext cx="28870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Troubleshooting</a:t>
            </a:r>
            <a:r>
              <a:rPr lang="en-US" sz="1300" dirty="0">
                <a:solidFill>
                  <a:srgbClr val="45505F"/>
                </a:solidFill>
                <a:latin typeface="IBM Plex Sans" pitchFamily="34" charset="0"/>
                <a:ea typeface="IBM Plex Sans" pitchFamily="34" charset="-122"/>
                <a:cs typeface="IBM Plex Sans" pitchFamily="34" charset="-120"/>
              </a:rPr>
              <a:t> ve CKA ipuçları</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033"/>
        </a:solidFill>
        <a:effectLst/>
      </p:bgPr>
    </p:bg>
    <p:spTree>
      <p:nvGrpSpPr>
        <p:cNvPr id="1" name=""/>
        <p:cNvGrpSpPr/>
        <p:nvPr/>
      </p:nvGrpSpPr>
      <p:grpSpPr>
        <a:xfrm>
          <a:off x="0" y="0"/>
          <a:ext cx="0" cy="0"/>
          <a:chOff x="0" y="0"/>
          <a:chExt cx="0" cy="0"/>
        </a:xfrm>
      </p:grpSpPr>
      <p:sp>
        <p:nvSpPr>
          <p:cNvPr id="2" name="Text 0"/>
          <p:cNvSpPr/>
          <p:nvPr/>
        </p:nvSpPr>
        <p:spPr>
          <a:xfrm>
            <a:off x="812800" y="24600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IBM Plex Sans" pitchFamily="34" charset="0"/>
                <a:ea typeface="IBM Plex Sans" pitchFamily="34" charset="-122"/>
                <a:cs typeface="IBM Plex Sans" pitchFamily="34" charset="-120"/>
              </a:rPr>
              <a:t>BÖLÜM 01</a:t>
            </a:r>
            <a:endParaRPr lang="en-US" sz="1200" dirty="0"/>
          </a:p>
        </p:txBody>
      </p:sp>
      <p:sp>
        <p:nvSpPr>
          <p:cNvPr id="3" name="Text 1"/>
          <p:cNvSpPr>
            <a:spLocks noGrp="1"/>
          </p:cNvSpPr>
          <p:nvPr>
            <p:ph type="title"/>
          </p:nvPr>
        </p:nvSpPr>
        <p:spPr>
          <a:xfrm>
            <a:off x="812800" y="285115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4EF"/>
                </a:solidFill>
                <a:latin typeface="IBM Plex Sans" pitchFamily="34" charset="0"/>
                <a:ea typeface="IBM Plex Sans" pitchFamily="34" charset="-122"/>
                <a:cs typeface="IBM Plex Sans" pitchFamily="34" charset="-120"/>
              </a:rPr>
              <a:t>Giriş</a:t>
            </a:r>
            <a:endParaRPr lang="en-US" sz="6000" dirty="0"/>
          </a:p>
        </p:txBody>
      </p:sp>
      <p:sp>
        <p:nvSpPr>
          <p:cNvPr id="4" name="Text 2"/>
          <p:cNvSpPr/>
          <p:nvPr/>
        </p:nvSpPr>
        <p:spPr>
          <a:xfrm>
            <a:off x="812800" y="3829050"/>
            <a:ext cx="78486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6D6"/>
                </a:solidFill>
                <a:latin typeface="IBM Plex Sans" pitchFamily="34" charset="0"/>
                <a:ea typeface="IBM Plex Sans" pitchFamily="34" charset="-122"/>
                <a:cs typeface="IBM Plex Sans" pitchFamily="34" charset="-120"/>
              </a:rPr>
              <a:t>Container'lar bir sorunu çözdü, ölçeğe çıkınca yenilerini doğurdu. Kubernetes bu yeni sorunlar için var.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PROBLEM</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Tek sunucuda container çalıştırmak neden yetmez?</a:t>
            </a:r>
            <a:endParaRPr lang="en-US" sz="3000" dirty="0"/>
          </a:p>
        </p:txBody>
      </p:sp>
      <p:sp>
        <p:nvSpPr>
          <p:cNvPr id="4" name="Shape 2"/>
          <p:cNvSpPr/>
          <p:nvPr/>
        </p:nvSpPr>
        <p:spPr>
          <a:xfrm>
            <a:off x="815975" y="1778595"/>
            <a:ext cx="3414117" cy="1425972"/>
          </a:xfrm>
          <a:prstGeom prst="roundRect">
            <a:avLst>
              <a:gd name="adj" fmla="val 5121"/>
            </a:avLst>
          </a:prstGeom>
          <a:solidFill>
            <a:srgbClr val="FDFCF9"/>
          </a:solidFill>
          <a:ln w="6350">
            <a:solidFill>
              <a:srgbClr val="E2DFD6"/>
            </a:solidFill>
            <a:prstDash val="solid"/>
          </a:ln>
        </p:spPr>
      </p:sp>
      <p:sp>
        <p:nvSpPr>
          <p:cNvPr id="5" name="Text 3"/>
          <p:cNvSpPr/>
          <p:nvPr/>
        </p:nvSpPr>
        <p:spPr>
          <a:xfrm>
            <a:off x="1022350" y="1984970"/>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Ölçekleme</a:t>
            </a:r>
            <a:endParaRPr lang="en-US" sz="1600" dirty="0"/>
          </a:p>
        </p:txBody>
      </p:sp>
      <p:sp>
        <p:nvSpPr>
          <p:cNvPr id="6" name="Text 4"/>
          <p:cNvSpPr/>
          <p:nvPr/>
        </p:nvSpPr>
        <p:spPr>
          <a:xfrm>
            <a:off x="1022350" y="2304951"/>
            <a:ext cx="3091408"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Yük arttığında yeni kopyaları kim başlatacak, hangi sunucuya koyacak, trafiği nasıl dağıtacak?</a:t>
            </a:r>
            <a:endParaRPr lang="en-US" sz="1300" dirty="0"/>
          </a:p>
        </p:txBody>
      </p:sp>
      <p:sp>
        <p:nvSpPr>
          <p:cNvPr id="7" name="Shape 5"/>
          <p:cNvSpPr/>
          <p:nvPr/>
        </p:nvSpPr>
        <p:spPr>
          <a:xfrm>
            <a:off x="4388842" y="1778595"/>
            <a:ext cx="3414216" cy="1425972"/>
          </a:xfrm>
          <a:prstGeom prst="roundRect">
            <a:avLst>
              <a:gd name="adj" fmla="val 5121"/>
            </a:avLst>
          </a:prstGeom>
          <a:solidFill>
            <a:srgbClr val="FDFCF9"/>
          </a:solidFill>
          <a:ln w="6350">
            <a:solidFill>
              <a:srgbClr val="E2DFD6"/>
            </a:solidFill>
            <a:prstDash val="solid"/>
          </a:ln>
        </p:spPr>
      </p:sp>
      <p:sp>
        <p:nvSpPr>
          <p:cNvPr id="8" name="Text 6"/>
          <p:cNvSpPr/>
          <p:nvPr/>
        </p:nvSpPr>
        <p:spPr>
          <a:xfrm>
            <a:off x="4595217" y="1984970"/>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Self-healing</a:t>
            </a:r>
            <a:endParaRPr lang="en-US" sz="1600" dirty="0"/>
          </a:p>
        </p:txBody>
      </p:sp>
      <p:sp>
        <p:nvSpPr>
          <p:cNvPr id="9" name="Text 7"/>
          <p:cNvSpPr/>
          <p:nvPr/>
        </p:nvSpPr>
        <p:spPr>
          <a:xfrm>
            <a:off x="4595217" y="2304951"/>
            <a:ext cx="309151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Container çöktüğünde ya da sunucu kapandığında uygulamayı başka yerde ayağa kaldıracak bir mekanizma yok.</a:t>
            </a:r>
            <a:endParaRPr lang="en-US" sz="1300" dirty="0"/>
          </a:p>
        </p:txBody>
      </p:sp>
      <p:sp>
        <p:nvSpPr>
          <p:cNvPr id="10" name="Shape 8"/>
          <p:cNvSpPr/>
          <p:nvPr/>
        </p:nvSpPr>
        <p:spPr>
          <a:xfrm>
            <a:off x="7961809" y="1778595"/>
            <a:ext cx="3414216" cy="1425972"/>
          </a:xfrm>
          <a:prstGeom prst="roundRect">
            <a:avLst>
              <a:gd name="adj" fmla="val 5121"/>
            </a:avLst>
          </a:prstGeom>
          <a:solidFill>
            <a:srgbClr val="FDFCF9"/>
          </a:solidFill>
          <a:ln w="6350">
            <a:solidFill>
              <a:srgbClr val="E2DFD6"/>
            </a:solidFill>
            <a:prstDash val="solid"/>
          </a:ln>
        </p:spPr>
      </p:sp>
      <p:sp>
        <p:nvSpPr>
          <p:cNvPr id="11" name="Text 9"/>
          <p:cNvSpPr/>
          <p:nvPr/>
        </p:nvSpPr>
        <p:spPr>
          <a:xfrm>
            <a:off x="8168184" y="1984970"/>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Güncelleme</a:t>
            </a:r>
            <a:endParaRPr lang="en-US" sz="1600" dirty="0"/>
          </a:p>
        </p:txBody>
      </p:sp>
      <p:sp>
        <p:nvSpPr>
          <p:cNvPr id="12" name="Text 10"/>
          <p:cNvSpPr/>
          <p:nvPr/>
        </p:nvSpPr>
        <p:spPr>
          <a:xfrm>
            <a:off x="8168184" y="2304951"/>
            <a:ext cx="309151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Yeni sürümü kesintisiz yaymak, sorun çıkınca geri almak elle yapıldığında riskli ve yavaş.</a:t>
            </a:r>
            <a:endParaRPr lang="en-US" sz="1300" dirty="0"/>
          </a:p>
        </p:txBody>
      </p:sp>
      <p:sp>
        <p:nvSpPr>
          <p:cNvPr id="13" name="Shape 11"/>
          <p:cNvSpPr/>
          <p:nvPr/>
        </p:nvSpPr>
        <p:spPr>
          <a:xfrm>
            <a:off x="815975" y="3363317"/>
            <a:ext cx="3414117" cy="1413272"/>
          </a:xfrm>
          <a:prstGeom prst="roundRect">
            <a:avLst>
              <a:gd name="adj" fmla="val 5167"/>
            </a:avLst>
          </a:prstGeom>
          <a:solidFill>
            <a:srgbClr val="FDFCF9"/>
          </a:solidFill>
          <a:ln w="6350">
            <a:solidFill>
              <a:srgbClr val="E2DFD6"/>
            </a:solidFill>
            <a:prstDash val="solid"/>
          </a:ln>
        </p:spPr>
      </p:sp>
      <p:sp>
        <p:nvSpPr>
          <p:cNvPr id="14" name="Text 12"/>
          <p:cNvSpPr/>
          <p:nvPr/>
        </p:nvSpPr>
        <p:spPr>
          <a:xfrm>
            <a:off x="1022350" y="3569692"/>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Servis keşfi</a:t>
            </a:r>
            <a:endParaRPr lang="en-US" sz="1600" dirty="0"/>
          </a:p>
        </p:txBody>
      </p:sp>
      <p:sp>
        <p:nvSpPr>
          <p:cNvPr id="15" name="Text 13"/>
          <p:cNvSpPr/>
          <p:nvPr/>
        </p:nvSpPr>
        <p:spPr>
          <a:xfrm>
            <a:off x="1022350" y="3889673"/>
            <a:ext cx="309140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Container IP'leri değişkendir; servisler birbirini sabit bir adla bulmalıdır.</a:t>
            </a:r>
            <a:endParaRPr lang="en-US" sz="1300" dirty="0"/>
          </a:p>
        </p:txBody>
      </p:sp>
      <p:sp>
        <p:nvSpPr>
          <p:cNvPr id="16" name="Shape 14"/>
          <p:cNvSpPr/>
          <p:nvPr/>
        </p:nvSpPr>
        <p:spPr>
          <a:xfrm>
            <a:off x="4388842" y="3363317"/>
            <a:ext cx="3414216" cy="1413272"/>
          </a:xfrm>
          <a:prstGeom prst="roundRect">
            <a:avLst>
              <a:gd name="adj" fmla="val 5167"/>
            </a:avLst>
          </a:prstGeom>
          <a:solidFill>
            <a:srgbClr val="FDFCF9"/>
          </a:solidFill>
          <a:ln w="6350">
            <a:solidFill>
              <a:srgbClr val="E2DFD6"/>
            </a:solidFill>
            <a:prstDash val="solid"/>
          </a:ln>
        </p:spPr>
      </p:sp>
      <p:sp>
        <p:nvSpPr>
          <p:cNvPr id="17" name="Text 15"/>
          <p:cNvSpPr/>
          <p:nvPr/>
        </p:nvSpPr>
        <p:spPr>
          <a:xfrm>
            <a:off x="4595217" y="3569692"/>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Konfigürasyon</a:t>
            </a:r>
            <a:endParaRPr lang="en-US" sz="1600" dirty="0"/>
          </a:p>
        </p:txBody>
      </p:sp>
      <p:sp>
        <p:nvSpPr>
          <p:cNvPr id="18" name="Text 16"/>
          <p:cNvSpPr/>
          <p:nvPr/>
        </p:nvSpPr>
        <p:spPr>
          <a:xfrm>
            <a:off x="4595217" y="3889673"/>
            <a:ext cx="309151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Ortam ayarları ve parolalar image'dan ayrı, merkezi ve güvenli yönetilmeli.</a:t>
            </a:r>
            <a:endParaRPr lang="en-US" sz="1300" dirty="0"/>
          </a:p>
        </p:txBody>
      </p:sp>
      <p:sp>
        <p:nvSpPr>
          <p:cNvPr id="19" name="Shape 17"/>
          <p:cNvSpPr/>
          <p:nvPr/>
        </p:nvSpPr>
        <p:spPr>
          <a:xfrm>
            <a:off x="7958634" y="3360142"/>
            <a:ext cx="3420566" cy="1419622"/>
          </a:xfrm>
          <a:prstGeom prst="roundRect">
            <a:avLst>
              <a:gd name="adj" fmla="val 5368"/>
            </a:avLst>
          </a:prstGeom>
          <a:solidFill>
            <a:srgbClr val="142033"/>
          </a:solidFill>
          <a:ln/>
        </p:spPr>
      </p:sp>
      <p:sp>
        <p:nvSpPr>
          <p:cNvPr id="20" name="Text 18"/>
          <p:cNvSpPr/>
          <p:nvPr/>
        </p:nvSpPr>
        <p:spPr>
          <a:xfrm>
            <a:off x="8161834" y="3563342"/>
            <a:ext cx="310459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Çözüm: orkestrasyon</a:t>
            </a:r>
            <a:endParaRPr lang="en-US" sz="1600" dirty="0"/>
          </a:p>
        </p:txBody>
      </p:sp>
      <p:sp>
        <p:nvSpPr>
          <p:cNvPr id="21" name="Text 19"/>
          <p:cNvSpPr/>
          <p:nvPr/>
        </p:nvSpPr>
        <p:spPr>
          <a:xfrm>
            <a:off x="8161834" y="3883323"/>
            <a:ext cx="3104591"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Bu işleri birçok makineye yayılmış bir cluster üzerinde otomatik yapan katman.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HATIRLATMA</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Container: kernel'i paylaşan izole süreç</a:t>
            </a:r>
            <a:endParaRPr lang="en-US" sz="3000" dirty="0"/>
          </a:p>
        </p:txBody>
      </p:sp>
      <p:sp>
        <p:nvSpPr>
          <p:cNvPr id="4" name="Text 2"/>
          <p:cNvSpPr/>
          <p:nvPr/>
        </p:nvSpPr>
        <p:spPr>
          <a:xfrm>
            <a:off x="898144" y="1775420"/>
            <a:ext cx="6421374" cy="2254250"/>
          </a:xfrm>
          <a:prstGeom prst="rect">
            <a:avLst/>
          </a:prstGeom>
          <a:noFill/>
          <a:ln/>
        </p:spPr>
        <p:txBody>
          <a:bodyPr wrap="square" lIns="0" tIns="0" rIns="0" bIns="0" rtlCol="0" anchor="t">
            <a:normAutofit fontScale="92500"/>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Namespaces</a:t>
            </a:r>
            <a:r>
              <a:rPr lang="en-US" sz="1300" dirty="0">
                <a:solidFill>
                  <a:srgbClr val="45505F"/>
                </a:solidFill>
                <a:latin typeface="IBM Plex Sans" pitchFamily="34" charset="0"/>
                <a:ea typeface="IBM Plex Sans" pitchFamily="34" charset="-122"/>
                <a:cs typeface="IBM Plex Sans" pitchFamily="34" charset="-120"/>
              </a:rPr>
              <a:t> izolasyon sağlar: PID, network, mount, UTS, IPC, user.</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cgroups</a:t>
            </a:r>
            <a:r>
              <a:rPr lang="en-US" sz="1300" dirty="0">
                <a:solidFill>
                  <a:srgbClr val="45505F"/>
                </a:solidFill>
                <a:latin typeface="IBM Plex Sans" pitchFamily="34" charset="0"/>
                <a:ea typeface="IBM Plex Sans" pitchFamily="34" charset="-122"/>
                <a:cs typeface="IBM Plex Sans" pitchFamily="34" charset="-120"/>
              </a:rPr>
              <a:t> kaynak sınırlar: CPU, bellek, I/O. Kubernetes'teki request/limit buraya dönüşür.</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Image</a:t>
            </a:r>
            <a:r>
              <a:rPr lang="en-US" sz="1300" dirty="0">
                <a:solidFill>
                  <a:srgbClr val="45505F"/>
                </a:solidFill>
                <a:latin typeface="IBM Plex Sans" pitchFamily="34" charset="0"/>
                <a:ea typeface="IBM Plex Sans" pitchFamily="34" charset="-122"/>
                <a:cs typeface="IBM Plex Sans" pitchFamily="34" charset="-120"/>
              </a:rPr>
              <a:t> salt okunur katmanlardan oluşur; container üstüne yazılabilir bir katman ekler.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VM'den farkı: ayrı bir işletim sistemi yok, host kernel'i paylaşılır — saniyeler içinde başlar, MB düzeyinde yer kaplar.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Standartlar: </a:t>
            </a:r>
            <a:r>
              <a:rPr lang="en-US" sz="1300" b="1" dirty="0">
                <a:solidFill>
                  <a:srgbClr val="142033"/>
                </a:solidFill>
                <a:latin typeface="IBM Plex Sans" pitchFamily="34" charset="0"/>
                <a:ea typeface="IBM Plex Sans" pitchFamily="34" charset="-122"/>
                <a:cs typeface="IBM Plex Sans" pitchFamily="34" charset="-120"/>
              </a:rPr>
              <a:t>OCI</a:t>
            </a:r>
            <a:r>
              <a:rPr lang="en-US" sz="1300" dirty="0">
                <a:solidFill>
                  <a:srgbClr val="45505F"/>
                </a:solidFill>
                <a:latin typeface="IBM Plex Sans" pitchFamily="34" charset="0"/>
                <a:ea typeface="IBM Plex Sans" pitchFamily="34" charset="-122"/>
                <a:cs typeface="IBM Plex Sans" pitchFamily="34" charset="-120"/>
              </a:rPr>
              <a:t> image ve runtime spec'i; Kubernetes runtime ile </a:t>
            </a:r>
            <a:r>
              <a:rPr lang="en-US" sz="1300" b="1" dirty="0">
                <a:solidFill>
                  <a:srgbClr val="142033"/>
                </a:solidFill>
                <a:latin typeface="IBM Plex Sans" pitchFamily="34" charset="0"/>
                <a:ea typeface="IBM Plex Sans" pitchFamily="34" charset="-122"/>
                <a:cs typeface="IBM Plex Sans" pitchFamily="34" charset="-120"/>
              </a:rPr>
              <a:t>CRI</a:t>
            </a:r>
            <a:r>
              <a:rPr lang="en-US" sz="1300" dirty="0">
                <a:solidFill>
                  <a:srgbClr val="45505F"/>
                </a:solidFill>
                <a:latin typeface="IBM Plex Sans" pitchFamily="34" charset="0"/>
                <a:ea typeface="IBM Plex Sans" pitchFamily="34" charset="-122"/>
                <a:cs typeface="IBM Plex Sans" pitchFamily="34" charset="-120"/>
              </a:rPr>
              <a:t> üzerinden konuşur.</a:t>
            </a:r>
            <a:endParaRPr lang="en-US" sz="1300" dirty="0"/>
          </a:p>
        </p:txBody>
      </p:sp>
      <p:sp>
        <p:nvSpPr>
          <p:cNvPr id="5" name="Text 3"/>
          <p:cNvSpPr/>
          <p:nvPr/>
        </p:nvSpPr>
        <p:spPr>
          <a:xfrm>
            <a:off x="7442200" y="1775420"/>
            <a:ext cx="3937000" cy="485080"/>
          </a:xfrm>
          <a:prstGeom prst="roundRect">
            <a:avLst>
              <a:gd name="adj" fmla="val 13091"/>
            </a:avLst>
          </a:prstGeom>
          <a:solidFill>
            <a:srgbClr val="2F6BD8"/>
          </a:solidFill>
          <a:ln/>
        </p:spPr>
        <p:txBody>
          <a:bodyPr wrap="square" lIns="53156" tIns="108401" rIns="53156" bIns="83001" rtlCol="0" anchor="t">
            <a:normAutofit/>
          </a:bodyPr>
          <a:lstStyle/>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App A · App B · App C</a:t>
            </a:r>
            <a:endParaRPr lang="en-US" sz="1300" dirty="0"/>
          </a:p>
        </p:txBody>
      </p:sp>
      <p:sp>
        <p:nvSpPr>
          <p:cNvPr id="6" name="Text 4"/>
          <p:cNvSpPr/>
          <p:nvPr/>
        </p:nvSpPr>
        <p:spPr>
          <a:xfrm>
            <a:off x="7442200" y="2336701"/>
            <a:ext cx="3937000" cy="485080"/>
          </a:xfrm>
          <a:prstGeom prst="roundRect">
            <a:avLst>
              <a:gd name="adj" fmla="val 13091"/>
            </a:avLst>
          </a:prstGeom>
          <a:solidFill>
            <a:srgbClr val="DCE6F7"/>
          </a:solidFill>
          <a:ln/>
        </p:spPr>
        <p:txBody>
          <a:bodyPr wrap="square" lIns="53156" tIns="108401" rIns="53156" bIns="83001" rtlCol="0" anchor="t">
            <a:normAutofit/>
          </a:bodyPr>
          <a:lstStyle/>
          <a:p>
            <a:pPr marL="0" indent="0" algn="ctr">
              <a:lnSpc>
                <a:spcPts val="1820"/>
              </a:lnSpc>
              <a:buNone/>
            </a:pPr>
            <a:r>
              <a:rPr lang="en-US" sz="1300" dirty="0">
                <a:solidFill>
                  <a:srgbClr val="142033"/>
                </a:solidFill>
                <a:latin typeface="IBM Plex Sans" pitchFamily="34" charset="0"/>
                <a:ea typeface="IBM Plex Sans" pitchFamily="34" charset="-122"/>
                <a:cs typeface="IBM Plex Sans" pitchFamily="34" charset="-120"/>
              </a:rPr>
              <a:t>Container runtime (containerd)</a:t>
            </a:r>
            <a:endParaRPr lang="en-US" sz="1300" dirty="0"/>
          </a:p>
        </p:txBody>
      </p:sp>
      <p:sp>
        <p:nvSpPr>
          <p:cNvPr id="7" name="Text 5"/>
          <p:cNvSpPr/>
          <p:nvPr/>
        </p:nvSpPr>
        <p:spPr>
          <a:xfrm>
            <a:off x="7442200" y="2897981"/>
            <a:ext cx="3937000" cy="485080"/>
          </a:xfrm>
          <a:prstGeom prst="roundRect">
            <a:avLst>
              <a:gd name="adj" fmla="val 13091"/>
            </a:avLst>
          </a:prstGeom>
          <a:solidFill>
            <a:srgbClr val="E8E4DA"/>
          </a:solidFill>
          <a:ln/>
        </p:spPr>
        <p:txBody>
          <a:bodyPr wrap="square" lIns="53156" tIns="108401" rIns="53156" bIns="83001" rtlCol="0" anchor="t">
            <a:normAutofit/>
          </a:bodyPr>
          <a:lstStyle/>
          <a:p>
            <a:pPr marL="0" indent="0" algn="ctr">
              <a:lnSpc>
                <a:spcPts val="1820"/>
              </a:lnSpc>
              <a:buNone/>
            </a:pPr>
            <a:r>
              <a:rPr lang="en-US" sz="1300" dirty="0">
                <a:solidFill>
                  <a:srgbClr val="142033"/>
                </a:solidFill>
                <a:latin typeface="IBM Plex Sans" pitchFamily="34" charset="0"/>
                <a:ea typeface="IBM Plex Sans" pitchFamily="34" charset="-122"/>
                <a:cs typeface="IBM Plex Sans" pitchFamily="34" charset="-120"/>
              </a:rPr>
              <a:t>Host OS kernel (namespaces + cgroups)</a:t>
            </a:r>
            <a:endParaRPr lang="en-US" sz="1300" dirty="0"/>
          </a:p>
        </p:txBody>
      </p:sp>
      <p:sp>
        <p:nvSpPr>
          <p:cNvPr id="8" name="Text 6"/>
          <p:cNvSpPr/>
          <p:nvPr/>
        </p:nvSpPr>
        <p:spPr>
          <a:xfrm>
            <a:off x="7442200" y="3459262"/>
            <a:ext cx="3937000" cy="485080"/>
          </a:xfrm>
          <a:prstGeom prst="roundRect">
            <a:avLst>
              <a:gd name="adj" fmla="val 13091"/>
            </a:avLst>
          </a:prstGeom>
          <a:solidFill>
            <a:srgbClr val="142033"/>
          </a:solidFill>
          <a:ln/>
        </p:spPr>
        <p:txBody>
          <a:bodyPr wrap="square" lIns="53156" tIns="108401" rIns="53156" bIns="83001" rtlCol="0" anchor="t">
            <a:normAutofit/>
          </a:bodyPr>
          <a:lstStyle/>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Donanım / VM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KUBERNETES NEDIR</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İstenen durumu tanımla, gerisini cluster sağlasın</a:t>
            </a:r>
            <a:endParaRPr lang="en-US" sz="3000" dirty="0"/>
          </a:p>
        </p:txBody>
      </p:sp>
      <p:sp>
        <p:nvSpPr>
          <p:cNvPr id="4" name="Text 2"/>
          <p:cNvSpPr/>
          <p:nvPr/>
        </p:nvSpPr>
        <p:spPr>
          <a:xfrm>
            <a:off x="812800" y="1775420"/>
            <a:ext cx="6383528"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033"/>
                </a:solidFill>
                <a:latin typeface="IBM Plex Sans" pitchFamily="34" charset="0"/>
                <a:ea typeface="IBM Plex Sans" pitchFamily="34" charset="-122"/>
                <a:cs typeface="IBM Plex Sans" pitchFamily="34" charset="-120"/>
              </a:rPr>
              <a:t>Kubernetes (K8s), container'ları bir grup makine üzerinde dağıtan, ölçekleyen ve ayakta tutan açık kaynak orkestrasyon platformudur.</a:t>
            </a:r>
            <a:endParaRPr lang="en-US" sz="1600" dirty="0"/>
          </a:p>
        </p:txBody>
      </p:sp>
      <p:sp>
        <p:nvSpPr>
          <p:cNvPr id="5" name="Text 3"/>
          <p:cNvSpPr/>
          <p:nvPr/>
        </p:nvSpPr>
        <p:spPr>
          <a:xfrm>
            <a:off x="812800" y="2496741"/>
            <a:ext cx="6383528"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Google'ın iç sistemi Borg'dan esinlenerek 2014'te açık kaynak yapıldı; bugün CNCF bünyesinde geliştiriliyor. Yaklaşık her 4 ayda bir minor sürüm çıkar.</a:t>
            </a:r>
            <a:endParaRPr lang="en-US" sz="1300" dirty="0"/>
          </a:p>
        </p:txBody>
      </p:sp>
      <p:sp>
        <p:nvSpPr>
          <p:cNvPr id="6" name="Text 4"/>
          <p:cNvSpPr/>
          <p:nvPr/>
        </p:nvSpPr>
        <p:spPr>
          <a:xfrm>
            <a:off x="812800" y="3144441"/>
            <a:ext cx="6383528"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Temel fikir </a:t>
            </a:r>
            <a:r>
              <a:rPr lang="en-US" sz="1300" b="1" dirty="0">
                <a:solidFill>
                  <a:srgbClr val="142033"/>
                </a:solidFill>
                <a:latin typeface="IBM Plex Sans" pitchFamily="34" charset="0"/>
                <a:ea typeface="IBM Plex Sans" pitchFamily="34" charset="-122"/>
                <a:cs typeface="IBM Plex Sans" pitchFamily="34" charset="-120"/>
              </a:rPr>
              <a:t>declarative</a:t>
            </a:r>
            <a:r>
              <a:rPr lang="en-US" sz="1300" dirty="0">
                <a:solidFill>
                  <a:srgbClr val="45505F"/>
                </a:solidFill>
                <a:latin typeface="IBM Plex Sans" pitchFamily="34" charset="0"/>
                <a:ea typeface="IBM Plex Sans" pitchFamily="34" charset="-122"/>
                <a:cs typeface="IBM Plex Sans" pitchFamily="34" charset="-120"/>
              </a:rPr>
              <a:t> yönetimdir: "3 kopya nginx çalışsın" dersiniz; controller'lar sürekli gerçek durumu bu istenen duruma çeker (reconciliation loop).</a:t>
            </a:r>
            <a:endParaRPr lang="en-US" sz="1300" dirty="0"/>
          </a:p>
        </p:txBody>
      </p:sp>
      <p:sp>
        <p:nvSpPr>
          <p:cNvPr id="7" name="Text 5"/>
          <p:cNvSpPr/>
          <p:nvPr/>
        </p:nvSpPr>
        <p:spPr>
          <a:xfrm>
            <a:off x="7318375" y="1778595"/>
            <a:ext cx="4057650" cy="722511"/>
          </a:xfrm>
          <a:prstGeom prst="roundRect">
            <a:avLst>
              <a:gd name="adj" fmla="val 8349"/>
            </a:avLst>
          </a:prstGeom>
          <a:solidFill>
            <a:srgbClr val="FDFCF9"/>
          </a:solidFill>
          <a:ln w="6350">
            <a:solidFill>
              <a:srgbClr val="E2DFD6"/>
            </a:solidFill>
            <a:prstDash val="solid"/>
          </a:ln>
        </p:spPr>
        <p:txBody>
          <a:bodyPr wrap="square" lIns="112506" tIns="112506" rIns="0"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Otomatik yerleştirme</a:t>
            </a:r>
            <a:r>
              <a:rPr lang="en-US" sz="1300" dirty="0">
                <a:solidFill>
                  <a:srgbClr val="45505F"/>
                </a:solidFill>
                <a:latin typeface="IBM Plex Sans" pitchFamily="34" charset="0"/>
                <a:ea typeface="IBM Plex Sans" pitchFamily="34" charset="-122"/>
                <a:cs typeface="IBM Plex Sans" pitchFamily="34" charset="-120"/>
              </a:rPr>
              <a:t> — kaynaklara göre scheduling</a:t>
            </a:r>
            <a:endParaRPr lang="en-US" sz="1300" dirty="0"/>
          </a:p>
        </p:txBody>
      </p:sp>
      <p:sp>
        <p:nvSpPr>
          <p:cNvPr id="8" name="Text 6"/>
          <p:cNvSpPr/>
          <p:nvPr/>
        </p:nvSpPr>
        <p:spPr>
          <a:xfrm>
            <a:off x="7318375" y="2609056"/>
            <a:ext cx="4057650" cy="491430"/>
          </a:xfrm>
          <a:prstGeom prst="roundRect">
            <a:avLst>
              <a:gd name="adj" fmla="val 12275"/>
            </a:avLst>
          </a:prstGeom>
          <a:solidFill>
            <a:srgbClr val="FDFCF9"/>
          </a:solidFill>
          <a:ln w="6350">
            <a:solidFill>
              <a:srgbClr val="E2DFD6"/>
            </a:solidFill>
            <a:prstDash val="solid"/>
          </a:ln>
        </p:spPr>
        <p:txBody>
          <a:bodyPr wrap="square" lIns="112506" tIns="112506" rIns="0"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Self-healing</a:t>
            </a:r>
            <a:r>
              <a:rPr lang="en-US" sz="1300" dirty="0">
                <a:solidFill>
                  <a:srgbClr val="45505F"/>
                </a:solidFill>
                <a:latin typeface="IBM Plex Sans" pitchFamily="34" charset="0"/>
                <a:ea typeface="IBM Plex Sans" pitchFamily="34" charset="-122"/>
                <a:cs typeface="IBM Plex Sans" pitchFamily="34" charset="-120"/>
              </a:rPr>
              <a:t> — çöken pod yeniden başlar</a:t>
            </a:r>
            <a:endParaRPr lang="en-US" sz="1300" dirty="0"/>
          </a:p>
        </p:txBody>
      </p:sp>
      <p:sp>
        <p:nvSpPr>
          <p:cNvPr id="9" name="Text 7"/>
          <p:cNvSpPr/>
          <p:nvPr/>
        </p:nvSpPr>
        <p:spPr>
          <a:xfrm>
            <a:off x="7318375" y="3208437"/>
            <a:ext cx="4057650" cy="491430"/>
          </a:xfrm>
          <a:prstGeom prst="roundRect">
            <a:avLst>
              <a:gd name="adj" fmla="val 12275"/>
            </a:avLst>
          </a:prstGeom>
          <a:solidFill>
            <a:srgbClr val="FDFCF9"/>
          </a:solidFill>
          <a:ln w="6350">
            <a:solidFill>
              <a:srgbClr val="E2DFD6"/>
            </a:solidFill>
            <a:prstDash val="solid"/>
          </a:ln>
        </p:spPr>
        <p:txBody>
          <a:bodyPr wrap="square" lIns="112506" tIns="112506" rIns="0"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Yatay ölçekleme</a:t>
            </a:r>
            <a:r>
              <a:rPr lang="en-US" sz="1300" dirty="0">
                <a:solidFill>
                  <a:srgbClr val="45505F"/>
                </a:solidFill>
                <a:latin typeface="IBM Plex Sans" pitchFamily="34" charset="0"/>
                <a:ea typeface="IBM Plex Sans" pitchFamily="34" charset="-122"/>
                <a:cs typeface="IBM Plex Sans" pitchFamily="34" charset="-120"/>
              </a:rPr>
              <a:t> — elle ya da HPA ile</a:t>
            </a:r>
            <a:endParaRPr lang="en-US" sz="1300" dirty="0"/>
          </a:p>
        </p:txBody>
      </p:sp>
      <p:sp>
        <p:nvSpPr>
          <p:cNvPr id="10" name="Text 8"/>
          <p:cNvSpPr/>
          <p:nvPr/>
        </p:nvSpPr>
        <p:spPr>
          <a:xfrm>
            <a:off x="7318375" y="3807817"/>
            <a:ext cx="4057650" cy="491430"/>
          </a:xfrm>
          <a:prstGeom prst="roundRect">
            <a:avLst>
              <a:gd name="adj" fmla="val 12275"/>
            </a:avLst>
          </a:prstGeom>
          <a:solidFill>
            <a:srgbClr val="FDFCF9"/>
          </a:solidFill>
          <a:ln w="6350">
            <a:solidFill>
              <a:srgbClr val="E2DFD6"/>
            </a:solidFill>
            <a:prstDash val="solid"/>
          </a:ln>
        </p:spPr>
        <p:txBody>
          <a:bodyPr wrap="square" lIns="112506" tIns="112506" rIns="0"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Rolling update / rollback</a:t>
            </a:r>
            <a:endParaRPr lang="en-US" sz="1300" dirty="0"/>
          </a:p>
        </p:txBody>
      </p:sp>
      <p:sp>
        <p:nvSpPr>
          <p:cNvPr id="11" name="Text 9"/>
          <p:cNvSpPr/>
          <p:nvPr/>
        </p:nvSpPr>
        <p:spPr>
          <a:xfrm>
            <a:off x="7318375" y="4407198"/>
            <a:ext cx="4057650" cy="491430"/>
          </a:xfrm>
          <a:prstGeom prst="roundRect">
            <a:avLst>
              <a:gd name="adj" fmla="val 12275"/>
            </a:avLst>
          </a:prstGeom>
          <a:solidFill>
            <a:srgbClr val="FDFCF9"/>
          </a:solidFill>
          <a:ln w="6350">
            <a:solidFill>
              <a:srgbClr val="E2DFD6"/>
            </a:solidFill>
            <a:prstDash val="solid"/>
          </a:ln>
        </p:spPr>
        <p:txBody>
          <a:bodyPr wrap="square" lIns="112506" tIns="112506" rIns="0"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Servis keşfi ve yük dengeleme</a:t>
            </a:r>
            <a:endParaRPr lang="en-US" sz="1300" dirty="0"/>
          </a:p>
        </p:txBody>
      </p:sp>
      <p:sp>
        <p:nvSpPr>
          <p:cNvPr id="12" name="Text 10"/>
          <p:cNvSpPr/>
          <p:nvPr/>
        </p:nvSpPr>
        <p:spPr>
          <a:xfrm>
            <a:off x="7318375" y="5006578"/>
            <a:ext cx="4057650" cy="491430"/>
          </a:xfrm>
          <a:prstGeom prst="roundRect">
            <a:avLst>
              <a:gd name="adj" fmla="val 12275"/>
            </a:avLst>
          </a:prstGeom>
          <a:solidFill>
            <a:srgbClr val="FDFCF9"/>
          </a:solidFill>
          <a:ln w="6350">
            <a:solidFill>
              <a:srgbClr val="E2DFD6"/>
            </a:solidFill>
            <a:prstDash val="solid"/>
          </a:ln>
        </p:spPr>
        <p:txBody>
          <a:bodyPr wrap="square" lIns="112506" tIns="112506" rIns="0"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Config ve Secret yönetimi</a:t>
            </a:r>
            <a:endParaRPr lang="en-US" sz="1300" dirty="0"/>
          </a:p>
        </p:txBody>
      </p:sp>
    </p:spTree>
    <p:extLst>
      <p:ext uri="{BB962C8B-B14F-4D97-AF65-F5344CB8AC3E}">
        <p14:creationId xmlns:p14="http://schemas.microsoft.com/office/powerpoint/2010/main" val="2032893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033"/>
        </a:solidFill>
        <a:effectLst/>
      </p:bgPr>
    </p:bg>
    <p:spTree>
      <p:nvGrpSpPr>
        <p:cNvPr id="1" name=""/>
        <p:cNvGrpSpPr/>
        <p:nvPr/>
      </p:nvGrpSpPr>
      <p:grpSpPr>
        <a:xfrm>
          <a:off x="0" y="0"/>
          <a:ext cx="0" cy="0"/>
          <a:chOff x="0" y="0"/>
          <a:chExt cx="0" cy="0"/>
        </a:xfrm>
      </p:grpSpPr>
      <p:sp>
        <p:nvSpPr>
          <p:cNvPr id="2" name="Text 0"/>
          <p:cNvSpPr/>
          <p:nvPr/>
        </p:nvSpPr>
        <p:spPr>
          <a:xfrm>
            <a:off x="812800" y="24600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IBM Plex Sans" pitchFamily="34" charset="0"/>
                <a:ea typeface="IBM Plex Sans" pitchFamily="34" charset="-122"/>
                <a:cs typeface="IBM Plex Sans" pitchFamily="34" charset="-120"/>
              </a:rPr>
              <a:t>BÖLÜM 02</a:t>
            </a:r>
            <a:endParaRPr lang="en-US" sz="1200" dirty="0"/>
          </a:p>
        </p:txBody>
      </p:sp>
      <p:sp>
        <p:nvSpPr>
          <p:cNvPr id="3" name="Text 1"/>
          <p:cNvSpPr>
            <a:spLocks noGrp="1"/>
          </p:cNvSpPr>
          <p:nvPr>
            <p:ph type="title"/>
          </p:nvPr>
        </p:nvSpPr>
        <p:spPr>
          <a:xfrm>
            <a:off x="812800" y="285115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4EF"/>
                </a:solidFill>
                <a:latin typeface="IBM Plex Sans" pitchFamily="34" charset="0"/>
                <a:ea typeface="IBM Plex Sans" pitchFamily="34" charset="-122"/>
                <a:cs typeface="IBM Plex Sans" pitchFamily="34" charset="-120"/>
              </a:rPr>
              <a:t>Temel Kavramlar ve Mimari</a:t>
            </a:r>
            <a:endParaRPr lang="en-US" sz="6000" dirty="0"/>
          </a:p>
        </p:txBody>
      </p:sp>
      <p:sp>
        <p:nvSpPr>
          <p:cNvPr id="4" name="Text 2"/>
          <p:cNvSpPr/>
          <p:nvPr/>
        </p:nvSpPr>
        <p:spPr>
          <a:xfrm>
            <a:off x="812800" y="3829050"/>
            <a:ext cx="78486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6D6"/>
                </a:solidFill>
                <a:latin typeface="IBM Plex Sans" pitchFamily="34" charset="0"/>
                <a:ea typeface="IBM Plex Sans" pitchFamily="34" charset="-122"/>
                <a:cs typeface="IBM Plex Sans" pitchFamily="34" charset="-120"/>
              </a:rPr>
              <a:t>Control plane ve worker node bileşenleri, Pod, ReplicaSet, Deployment, Service, Namespace ve kubectl ile çalışma biçimleri.</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KUBERNETES NEDIR</a:t>
            </a:r>
            <a:endParaRPr lang="en-US" sz="1200" dirty="0"/>
          </a:p>
        </p:txBody>
      </p:sp>
      <p:pic>
        <p:nvPicPr>
          <p:cNvPr id="16" name="Picture 15">
            <a:extLst>
              <a:ext uri="{FF2B5EF4-FFF2-40B4-BE49-F238E27FC236}">
                <a16:creationId xmlns:a16="http://schemas.microsoft.com/office/drawing/2014/main" id="{F34556DB-99EC-7E2D-9078-EB8846286E16}"/>
              </a:ext>
            </a:extLst>
          </p:cNvPr>
          <p:cNvPicPr>
            <a:picLocks noChangeAspect="1"/>
          </p:cNvPicPr>
          <p:nvPr/>
        </p:nvPicPr>
        <p:blipFill>
          <a:blip r:embed="rId3"/>
          <a:stretch>
            <a:fillRect/>
          </a:stretch>
        </p:blipFill>
        <p:spPr>
          <a:xfrm>
            <a:off x="3777615" y="1176603"/>
            <a:ext cx="4744754" cy="53556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CLUSTER MIMARISI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Control plane yönetir, worker node'lar çalıştırır</a:t>
            </a:r>
            <a:endParaRPr lang="en-US" sz="3000" dirty="0"/>
          </a:p>
        </p:txBody>
      </p:sp>
      <p:sp>
        <p:nvSpPr>
          <p:cNvPr id="4" name="Shape 2"/>
          <p:cNvSpPr/>
          <p:nvPr/>
        </p:nvSpPr>
        <p:spPr>
          <a:xfrm>
            <a:off x="812800" y="1750020"/>
            <a:ext cx="4445000" cy="2620963"/>
          </a:xfrm>
          <a:prstGeom prst="roundRect">
            <a:avLst>
              <a:gd name="adj" fmla="val 3392"/>
            </a:avLst>
          </a:prstGeom>
          <a:solidFill>
            <a:srgbClr val="142033"/>
          </a:solidFill>
          <a:ln/>
        </p:spPr>
      </p:sp>
      <p:sp>
        <p:nvSpPr>
          <p:cNvPr id="5" name="Text 3"/>
          <p:cNvSpPr/>
          <p:nvPr/>
        </p:nvSpPr>
        <p:spPr>
          <a:xfrm>
            <a:off x="990600" y="1927820"/>
            <a:ext cx="421208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BM Plex Sans" pitchFamily="34" charset="0"/>
                <a:ea typeface="IBM Plex Sans" pitchFamily="34" charset="-122"/>
                <a:cs typeface="IBM Plex Sans" pitchFamily="34" charset="-120"/>
              </a:rPr>
              <a:t>CONTROL PLANE (MASTER)</a:t>
            </a:r>
            <a:endParaRPr lang="en-US" sz="1200" dirty="0"/>
          </a:p>
        </p:txBody>
      </p:sp>
      <p:sp>
        <p:nvSpPr>
          <p:cNvPr id="6" name="Text 4"/>
          <p:cNvSpPr/>
          <p:nvPr/>
        </p:nvSpPr>
        <p:spPr>
          <a:xfrm>
            <a:off x="990600" y="2242741"/>
            <a:ext cx="2000250" cy="459680"/>
          </a:xfrm>
          <a:prstGeom prst="roundRect">
            <a:avLst>
              <a:gd name="adj" fmla="val 11051"/>
            </a:avLst>
          </a:prstGeom>
          <a:solidFill>
            <a:srgbClr val="24395A"/>
          </a:solidFill>
          <a:ln/>
        </p:spPr>
        <p:txBody>
          <a:bodyPr wrap="square" lIns="99421" tIns="99421" rIns="46272" bIns="74021" rtlCol="0" anchor="t">
            <a:normAutofit/>
          </a:bodyPr>
          <a:lstStyle/>
          <a:p>
            <a:pPr marL="0" indent="0" algn="l">
              <a:lnSpc>
                <a:spcPts val="1820"/>
              </a:lnSpc>
              <a:buNone/>
            </a:pPr>
            <a:r>
              <a:rPr lang="en-US" sz="1300" dirty="0">
                <a:solidFill>
                  <a:srgbClr val="F5F4EF"/>
                </a:solidFill>
                <a:latin typeface="IBM Plex Sans" pitchFamily="34" charset="0"/>
                <a:ea typeface="IBM Plex Sans" pitchFamily="34" charset="-122"/>
                <a:cs typeface="IBM Plex Sans" pitchFamily="34" charset="-120"/>
              </a:rPr>
              <a:t>kube-apiserver</a:t>
            </a:r>
            <a:endParaRPr lang="en-US" sz="1300" dirty="0"/>
          </a:p>
        </p:txBody>
      </p:sp>
      <p:sp>
        <p:nvSpPr>
          <p:cNvPr id="7" name="Text 5"/>
          <p:cNvSpPr/>
          <p:nvPr/>
        </p:nvSpPr>
        <p:spPr>
          <a:xfrm>
            <a:off x="3079750" y="2242741"/>
            <a:ext cx="2000250" cy="459680"/>
          </a:xfrm>
          <a:prstGeom prst="roundRect">
            <a:avLst>
              <a:gd name="adj" fmla="val 11051"/>
            </a:avLst>
          </a:prstGeom>
          <a:solidFill>
            <a:srgbClr val="24395A"/>
          </a:solidFill>
          <a:ln/>
        </p:spPr>
        <p:txBody>
          <a:bodyPr wrap="square" lIns="99421" tIns="99421" rIns="46272" bIns="74021" rtlCol="0" anchor="t">
            <a:normAutofit/>
          </a:bodyPr>
          <a:lstStyle/>
          <a:p>
            <a:pPr marL="0" indent="0" algn="l">
              <a:lnSpc>
                <a:spcPts val="1820"/>
              </a:lnSpc>
              <a:buNone/>
            </a:pPr>
            <a:r>
              <a:rPr lang="en-US" sz="1300" dirty="0">
                <a:solidFill>
                  <a:srgbClr val="F5F4EF"/>
                </a:solidFill>
                <a:latin typeface="IBM Plex Sans" pitchFamily="34" charset="0"/>
                <a:ea typeface="IBM Plex Sans" pitchFamily="34" charset="-122"/>
                <a:cs typeface="IBM Plex Sans" pitchFamily="34" charset="-120"/>
              </a:rPr>
              <a:t>etcd</a:t>
            </a:r>
            <a:endParaRPr lang="en-US" sz="1300" dirty="0"/>
          </a:p>
        </p:txBody>
      </p:sp>
      <p:sp>
        <p:nvSpPr>
          <p:cNvPr id="8" name="Text 6"/>
          <p:cNvSpPr/>
          <p:nvPr/>
        </p:nvSpPr>
        <p:spPr>
          <a:xfrm>
            <a:off x="990600" y="2791321"/>
            <a:ext cx="2000250" cy="459680"/>
          </a:xfrm>
          <a:prstGeom prst="roundRect">
            <a:avLst>
              <a:gd name="adj" fmla="val 11051"/>
            </a:avLst>
          </a:prstGeom>
          <a:solidFill>
            <a:srgbClr val="24395A"/>
          </a:solidFill>
          <a:ln/>
        </p:spPr>
        <p:txBody>
          <a:bodyPr wrap="square" lIns="99421" tIns="99421" rIns="46272" bIns="74021" rtlCol="0" anchor="t">
            <a:normAutofit/>
          </a:bodyPr>
          <a:lstStyle/>
          <a:p>
            <a:pPr marL="0" indent="0" algn="l">
              <a:lnSpc>
                <a:spcPts val="1820"/>
              </a:lnSpc>
              <a:buNone/>
            </a:pPr>
            <a:r>
              <a:rPr lang="en-US" sz="1300" dirty="0">
                <a:solidFill>
                  <a:srgbClr val="F5F4EF"/>
                </a:solidFill>
                <a:latin typeface="IBM Plex Sans" pitchFamily="34" charset="0"/>
                <a:ea typeface="IBM Plex Sans" pitchFamily="34" charset="-122"/>
                <a:cs typeface="IBM Plex Sans" pitchFamily="34" charset="-120"/>
              </a:rPr>
              <a:t>kube-scheduler</a:t>
            </a:r>
            <a:endParaRPr lang="en-US" sz="1300" dirty="0"/>
          </a:p>
        </p:txBody>
      </p:sp>
      <p:sp>
        <p:nvSpPr>
          <p:cNvPr id="9" name="Text 7"/>
          <p:cNvSpPr/>
          <p:nvPr/>
        </p:nvSpPr>
        <p:spPr>
          <a:xfrm>
            <a:off x="3079750" y="2791321"/>
            <a:ext cx="2000250" cy="459680"/>
          </a:xfrm>
          <a:prstGeom prst="roundRect">
            <a:avLst>
              <a:gd name="adj" fmla="val 11051"/>
            </a:avLst>
          </a:prstGeom>
          <a:solidFill>
            <a:srgbClr val="24395A"/>
          </a:solidFill>
          <a:ln/>
        </p:spPr>
        <p:txBody>
          <a:bodyPr wrap="square" lIns="99421" tIns="99421" rIns="46272" bIns="74021" rtlCol="0" anchor="t">
            <a:normAutofit/>
          </a:bodyPr>
          <a:lstStyle/>
          <a:p>
            <a:pPr marL="0" indent="0" algn="l">
              <a:lnSpc>
                <a:spcPts val="1820"/>
              </a:lnSpc>
              <a:buNone/>
            </a:pPr>
            <a:r>
              <a:rPr lang="en-US" sz="1300" dirty="0">
                <a:solidFill>
                  <a:srgbClr val="F5F4EF"/>
                </a:solidFill>
                <a:latin typeface="IBM Plex Sans" pitchFamily="34" charset="0"/>
                <a:ea typeface="IBM Plex Sans" pitchFamily="34" charset="-122"/>
                <a:cs typeface="IBM Plex Sans" pitchFamily="34" charset="-120"/>
              </a:rPr>
              <a:t>controller-manager</a:t>
            </a:r>
            <a:endParaRPr lang="en-US" sz="1300" dirty="0"/>
          </a:p>
        </p:txBody>
      </p:sp>
      <p:sp>
        <p:nvSpPr>
          <p:cNvPr id="10" name="Text 8"/>
          <p:cNvSpPr/>
          <p:nvPr/>
        </p:nvSpPr>
        <p:spPr>
          <a:xfrm>
            <a:off x="990600" y="3352602"/>
            <a:ext cx="421208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6D6"/>
                </a:solidFill>
                <a:latin typeface="IBM Plex Sans" pitchFamily="34" charset="0"/>
                <a:ea typeface="IBM Plex Sans" pitchFamily="34" charset="-122"/>
                <a:cs typeface="IBM Plex Sans" pitchFamily="34" charset="-120"/>
              </a:rPr>
              <a:t>Cluster'ın beyni: durumu saklar, karar verir, node'ları izler. Opsiyonel: cloud-controller-manager.</a:t>
            </a:r>
            <a:endParaRPr lang="en-US" sz="1200" dirty="0"/>
          </a:p>
        </p:txBody>
      </p:sp>
      <p:sp>
        <p:nvSpPr>
          <p:cNvPr id="11" name="Shape 9"/>
          <p:cNvSpPr/>
          <p:nvPr/>
        </p:nvSpPr>
        <p:spPr>
          <a:xfrm>
            <a:off x="5464175" y="1753195"/>
            <a:ext cx="5911850" cy="1095871"/>
          </a:xfrm>
          <a:prstGeom prst="roundRect">
            <a:avLst>
              <a:gd name="adj" fmla="val 7823"/>
            </a:avLst>
          </a:prstGeom>
          <a:solidFill>
            <a:srgbClr val="FDFCF9"/>
          </a:solidFill>
          <a:ln w="6350">
            <a:solidFill>
              <a:srgbClr val="E2DFD6"/>
            </a:solidFill>
            <a:prstDash val="solid"/>
          </a:ln>
        </p:spPr>
      </p:sp>
      <p:sp>
        <p:nvSpPr>
          <p:cNvPr id="12" name="Text 10"/>
          <p:cNvSpPr/>
          <p:nvPr/>
        </p:nvSpPr>
        <p:spPr>
          <a:xfrm>
            <a:off x="5619750" y="1908770"/>
            <a:ext cx="576872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WORKER NODE 1</a:t>
            </a:r>
            <a:endParaRPr lang="en-US" sz="1200" dirty="0"/>
          </a:p>
        </p:txBody>
      </p:sp>
      <p:sp>
        <p:nvSpPr>
          <p:cNvPr id="13" name="Text 11"/>
          <p:cNvSpPr/>
          <p:nvPr/>
        </p:nvSpPr>
        <p:spPr>
          <a:xfrm>
            <a:off x="5619750" y="2185591"/>
            <a:ext cx="5768721"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033"/>
                </a:solidFill>
                <a:latin typeface="IBM Plex Sans" pitchFamily="34" charset="0"/>
                <a:ea typeface="IBM Plex Sans" pitchFamily="34" charset="-122"/>
                <a:cs typeface="IBM Plex Sans" pitchFamily="34" charset="-120"/>
              </a:rPr>
              <a:t>kubelet · kube-proxy · container runtime</a:t>
            </a:r>
            <a:endParaRPr lang="en-US" sz="1300" dirty="0"/>
          </a:p>
        </p:txBody>
      </p:sp>
      <p:sp>
        <p:nvSpPr>
          <p:cNvPr id="14" name="Text 12"/>
          <p:cNvSpPr/>
          <p:nvPr/>
        </p:nvSpPr>
        <p:spPr>
          <a:xfrm>
            <a:off x="5619750" y="2480171"/>
            <a:ext cx="57687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Pod'lar: web-1, web-2, db-0</a:t>
            </a:r>
            <a:endParaRPr lang="en-US" sz="1200" dirty="0"/>
          </a:p>
        </p:txBody>
      </p:sp>
      <p:sp>
        <p:nvSpPr>
          <p:cNvPr id="15" name="Shape 13"/>
          <p:cNvSpPr/>
          <p:nvPr/>
        </p:nvSpPr>
        <p:spPr>
          <a:xfrm>
            <a:off x="5464175" y="2957016"/>
            <a:ext cx="5911850" cy="1095871"/>
          </a:xfrm>
          <a:prstGeom prst="roundRect">
            <a:avLst>
              <a:gd name="adj" fmla="val 7823"/>
            </a:avLst>
          </a:prstGeom>
          <a:solidFill>
            <a:srgbClr val="FDFCF9"/>
          </a:solidFill>
          <a:ln w="6350">
            <a:solidFill>
              <a:srgbClr val="E2DFD6"/>
            </a:solidFill>
            <a:prstDash val="solid"/>
          </a:ln>
        </p:spPr>
      </p:sp>
      <p:sp>
        <p:nvSpPr>
          <p:cNvPr id="16" name="Text 14"/>
          <p:cNvSpPr/>
          <p:nvPr/>
        </p:nvSpPr>
        <p:spPr>
          <a:xfrm>
            <a:off x="5619750" y="3112591"/>
            <a:ext cx="576872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WORKER NODE 2</a:t>
            </a:r>
            <a:endParaRPr lang="en-US" sz="1200" dirty="0"/>
          </a:p>
        </p:txBody>
      </p:sp>
      <p:sp>
        <p:nvSpPr>
          <p:cNvPr id="17" name="Text 15"/>
          <p:cNvSpPr/>
          <p:nvPr/>
        </p:nvSpPr>
        <p:spPr>
          <a:xfrm>
            <a:off x="5619750" y="3389412"/>
            <a:ext cx="5768721"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033"/>
                </a:solidFill>
                <a:latin typeface="IBM Plex Sans" pitchFamily="34" charset="0"/>
                <a:ea typeface="IBM Plex Sans" pitchFamily="34" charset="-122"/>
                <a:cs typeface="IBM Plex Sans" pitchFamily="34" charset="-120"/>
              </a:rPr>
              <a:t>kubelet · kube-proxy · container runtime</a:t>
            </a:r>
            <a:endParaRPr lang="en-US" sz="1300" dirty="0"/>
          </a:p>
        </p:txBody>
      </p:sp>
      <p:sp>
        <p:nvSpPr>
          <p:cNvPr id="18" name="Text 16"/>
          <p:cNvSpPr/>
          <p:nvPr/>
        </p:nvSpPr>
        <p:spPr>
          <a:xfrm>
            <a:off x="5619750" y="3683992"/>
            <a:ext cx="57687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Pod'lar: web-3, api-1</a:t>
            </a:r>
            <a:endParaRPr lang="en-US" sz="1200" dirty="0"/>
          </a:p>
        </p:txBody>
      </p:sp>
      <p:sp>
        <p:nvSpPr>
          <p:cNvPr id="19" name="Text 17"/>
          <p:cNvSpPr/>
          <p:nvPr/>
        </p:nvSpPr>
        <p:spPr>
          <a:xfrm>
            <a:off x="5461000" y="4157663"/>
            <a:ext cx="60957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Tüm bileşenler birbirleriyle doğrudan değil, </a:t>
            </a:r>
            <a:r>
              <a:rPr lang="en-US" sz="1200" b="1" dirty="0">
                <a:solidFill>
                  <a:srgbClr val="142033"/>
                </a:solidFill>
                <a:latin typeface="IBM Plex Sans" pitchFamily="34" charset="0"/>
                <a:ea typeface="IBM Plex Sans" pitchFamily="34" charset="-122"/>
                <a:cs typeface="IBM Plex Sans" pitchFamily="34" charset="-120"/>
              </a:rPr>
              <a:t>kube-apiserver</a:t>
            </a:r>
            <a:r>
              <a:rPr lang="en-US" sz="1200" dirty="0">
                <a:solidFill>
                  <a:srgbClr val="45505F"/>
                </a:solidFill>
                <a:latin typeface="IBM Plex Sans" pitchFamily="34" charset="0"/>
                <a:ea typeface="IBM Plex Sans" pitchFamily="34" charset="-122"/>
                <a:cs typeface="IBM Plex Sans" pitchFamily="34" charset="-120"/>
              </a:rPr>
              <a:t> üzerinden konuşur.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CONTROL PLANE BILEŞENLERI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Dört bileşen, dört sorumluluk</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848869"/>
        </p:xfrm>
        <a:graphic>
          <a:graphicData uri="http://schemas.openxmlformats.org/drawingml/2006/table">
            <a:tbl>
              <a:tblPr/>
              <a:tblGrid>
                <a:gridCol w="2532888">
                  <a:extLst>
                    <a:ext uri="{9D8B030D-6E8A-4147-A177-3AD203B41FA5}">
                      <a16:colId xmlns:a16="http://schemas.microsoft.com/office/drawing/2014/main" val="20000"/>
                    </a:ext>
                  </a:extLst>
                </a:gridCol>
                <a:gridCol w="4854702">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Bileşen</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Görevi</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Not</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590352">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kube-apiserver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Cluster'ın tek giriş kapısı; tüm istekleri doğrular, yetkilendirir, etcd'ye yazar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Port 6443; etcd ile konuşan tek bileşen</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etcd</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Tüm cluster durumunu tutan dağıtık key-value store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2379 client, 2380 peer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kube-scheduler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Node'u atanmamış pod'lar için en uygun node'u seçer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Pod'u kendisi başlatmaz</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590352">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controller-manager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Node, ReplicaSet, Deployment, Namespace gibi controller'ları tek süreçte çalıştırır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Sürekli reconcile döngüsü</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590352">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cloud-controller-manager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Bulut sağlayıcıya özgü işler: LoadBalancer, node yaşam döngüsü, route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On-prem'de genelde yok</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WORKER NODE BILEŞENLERI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Her node'da üç parça çalışır</a:t>
            </a:r>
            <a:endParaRPr lang="en-US" sz="3000" dirty="0"/>
          </a:p>
        </p:txBody>
      </p:sp>
      <p:sp>
        <p:nvSpPr>
          <p:cNvPr id="4" name="Shape 2"/>
          <p:cNvSpPr/>
          <p:nvPr/>
        </p:nvSpPr>
        <p:spPr>
          <a:xfrm>
            <a:off x="815975" y="1778595"/>
            <a:ext cx="3414117" cy="1657052"/>
          </a:xfrm>
          <a:prstGeom prst="roundRect">
            <a:avLst>
              <a:gd name="adj" fmla="val 4407"/>
            </a:avLst>
          </a:prstGeom>
          <a:solidFill>
            <a:srgbClr val="FDFCF9"/>
          </a:solidFill>
          <a:ln w="6350">
            <a:solidFill>
              <a:srgbClr val="E2DFD6"/>
            </a:solidFill>
            <a:prstDash val="solid"/>
          </a:ln>
        </p:spPr>
      </p:sp>
      <p:sp>
        <p:nvSpPr>
          <p:cNvPr id="5" name="Text 3"/>
          <p:cNvSpPr/>
          <p:nvPr/>
        </p:nvSpPr>
        <p:spPr>
          <a:xfrm>
            <a:off x="1022350" y="1984970"/>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kubelet</a:t>
            </a:r>
            <a:endParaRPr lang="en-US" sz="1600" dirty="0"/>
          </a:p>
        </p:txBody>
      </p:sp>
      <p:sp>
        <p:nvSpPr>
          <p:cNvPr id="6" name="Text 4"/>
          <p:cNvSpPr/>
          <p:nvPr/>
        </p:nvSpPr>
        <p:spPr>
          <a:xfrm>
            <a:off x="1022350" y="2304951"/>
            <a:ext cx="3091408"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Node'un "kaptanı". API server'dan kendisine atanan pod'ları alır, runtime'a çalıştırtır, durumlarını ve node sağlığını raporlar. Probe'ları da kubelet çalıştırır.</a:t>
            </a:r>
            <a:endParaRPr lang="en-US" sz="1300" dirty="0"/>
          </a:p>
        </p:txBody>
      </p:sp>
      <p:sp>
        <p:nvSpPr>
          <p:cNvPr id="7" name="Shape 5"/>
          <p:cNvSpPr/>
          <p:nvPr/>
        </p:nvSpPr>
        <p:spPr>
          <a:xfrm>
            <a:off x="4388842" y="1778595"/>
            <a:ext cx="3414216" cy="1657052"/>
          </a:xfrm>
          <a:prstGeom prst="roundRect">
            <a:avLst>
              <a:gd name="adj" fmla="val 4407"/>
            </a:avLst>
          </a:prstGeom>
          <a:solidFill>
            <a:srgbClr val="FDFCF9"/>
          </a:solidFill>
          <a:ln w="6350">
            <a:solidFill>
              <a:srgbClr val="E2DFD6"/>
            </a:solidFill>
            <a:prstDash val="solid"/>
          </a:ln>
        </p:spPr>
      </p:sp>
      <p:sp>
        <p:nvSpPr>
          <p:cNvPr id="8" name="Text 6"/>
          <p:cNvSpPr/>
          <p:nvPr/>
        </p:nvSpPr>
        <p:spPr>
          <a:xfrm>
            <a:off x="4595217" y="1984970"/>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kube-proxy</a:t>
            </a:r>
            <a:endParaRPr lang="en-US" sz="1600" dirty="0"/>
          </a:p>
        </p:txBody>
      </p:sp>
      <p:sp>
        <p:nvSpPr>
          <p:cNvPr id="9" name="Text 7"/>
          <p:cNvSpPr/>
          <p:nvPr/>
        </p:nvSpPr>
        <p:spPr>
          <a:xfrm>
            <a:off x="4595217" y="2304951"/>
            <a:ext cx="3091510"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Service'lerin sanal IP'lerini node üzerinde gerçek pod IP'lerine yönlendiren kuralları (iptables / IPVS / nftables) yazar.</a:t>
            </a:r>
            <a:endParaRPr lang="en-US" sz="1300" dirty="0"/>
          </a:p>
        </p:txBody>
      </p:sp>
      <p:sp>
        <p:nvSpPr>
          <p:cNvPr id="10" name="Shape 8"/>
          <p:cNvSpPr/>
          <p:nvPr/>
        </p:nvSpPr>
        <p:spPr>
          <a:xfrm>
            <a:off x="7961809" y="1778595"/>
            <a:ext cx="3414216" cy="1657052"/>
          </a:xfrm>
          <a:prstGeom prst="roundRect">
            <a:avLst>
              <a:gd name="adj" fmla="val 4407"/>
            </a:avLst>
          </a:prstGeom>
          <a:solidFill>
            <a:srgbClr val="FDFCF9"/>
          </a:solidFill>
          <a:ln w="6350">
            <a:solidFill>
              <a:srgbClr val="E2DFD6"/>
            </a:solidFill>
            <a:prstDash val="solid"/>
          </a:ln>
        </p:spPr>
      </p:sp>
      <p:sp>
        <p:nvSpPr>
          <p:cNvPr id="11" name="Text 9"/>
          <p:cNvSpPr/>
          <p:nvPr/>
        </p:nvSpPr>
        <p:spPr>
          <a:xfrm>
            <a:off x="8168184" y="1984970"/>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Container runtime</a:t>
            </a:r>
            <a:endParaRPr lang="en-US" sz="1600" dirty="0"/>
          </a:p>
        </p:txBody>
      </p:sp>
      <p:sp>
        <p:nvSpPr>
          <p:cNvPr id="12" name="Text 10"/>
          <p:cNvSpPr/>
          <p:nvPr/>
        </p:nvSpPr>
        <p:spPr>
          <a:xfrm>
            <a:off x="8168184" y="2304951"/>
            <a:ext cx="309151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Image çekip container'ı çalıştıran yazılım. CRI uyumlu olmalı: containerd veya CRI-O.</a:t>
            </a:r>
            <a:endParaRPr lang="en-US" sz="1300" dirty="0"/>
          </a:p>
        </p:txBody>
      </p:sp>
      <p:sp>
        <p:nvSpPr>
          <p:cNvPr id="13" name="Text 11"/>
          <p:cNvSpPr/>
          <p:nvPr/>
        </p:nvSpPr>
        <p:spPr>
          <a:xfrm>
            <a:off x="812800" y="3692823"/>
            <a:ext cx="10566400" cy="552450"/>
          </a:xfrm>
          <a:prstGeom prst="roundRect">
            <a:avLst>
              <a:gd name="adj" fmla="val 11494"/>
            </a:avLst>
          </a:prstGeom>
          <a:solidFill>
            <a:srgbClr val="DCE6F7"/>
          </a:solidFill>
          <a:ln/>
        </p:spPr>
        <p:txBody>
          <a:bodyPr wrap="square" lIns="133801" tIns="133801" rIns="0" bIns="108401" rtlCol="0" anchor="t">
            <a:normAutofit/>
          </a:bodyPr>
          <a:lstStyle/>
          <a:p>
            <a:pPr marL="0" indent="0" algn="l">
              <a:lnSpc>
                <a:spcPts val="1950"/>
              </a:lnSpc>
              <a:buNone/>
            </a:pPr>
            <a:r>
              <a:rPr lang="en-US" sz="1300" dirty="0">
                <a:solidFill>
                  <a:srgbClr val="142033"/>
                </a:solidFill>
                <a:latin typeface="IBM Plex Sans" pitchFamily="34" charset="0"/>
                <a:ea typeface="IBM Plex Sans" pitchFamily="34" charset="-122"/>
                <a:cs typeface="IBM Plex Sans" pitchFamily="34" charset="-120"/>
              </a:rPr>
              <a:t>Önemli: kubeadm, kubelet'i </a:t>
            </a:r>
            <a:r>
              <a:rPr lang="en-US" sz="1300" b="1" dirty="0">
                <a:solidFill>
                  <a:srgbClr val="142033"/>
                </a:solidFill>
                <a:latin typeface="IBM Plex Sans" pitchFamily="34" charset="0"/>
                <a:ea typeface="IBM Plex Sans" pitchFamily="34" charset="-122"/>
                <a:cs typeface="IBM Plex Sans" pitchFamily="34" charset="-120"/>
              </a:rPr>
              <a:t>kurmaz</a:t>
            </a:r>
            <a:r>
              <a:rPr lang="en-US" sz="1300" dirty="0">
                <a:solidFill>
                  <a:srgbClr val="142033"/>
                </a:solidFill>
                <a:latin typeface="IBM Plex Sans" pitchFamily="34" charset="0"/>
                <a:ea typeface="IBM Plex Sans" pitchFamily="34" charset="-122"/>
                <a:cs typeface="IBM Plex Sans" pitchFamily="34" charset="-120"/>
              </a:rPr>
              <a:t>. kubelet her node'a paket olarak elle kurulur ve systemd servisi olarak çalışır.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ETCD</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Cluster'ın tek doğruluk kaynağı</a:t>
            </a:r>
            <a:endParaRPr lang="en-US" sz="3000" dirty="0"/>
          </a:p>
        </p:txBody>
      </p:sp>
      <p:sp>
        <p:nvSpPr>
          <p:cNvPr id="4" name="Text 2"/>
          <p:cNvSpPr/>
          <p:nvPr/>
        </p:nvSpPr>
        <p:spPr>
          <a:xfrm>
            <a:off x="898144" y="1775420"/>
            <a:ext cx="5950458" cy="22542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Dağıtık, tutarlı </a:t>
            </a:r>
            <a:r>
              <a:rPr lang="en-US" sz="1300" b="1" dirty="0">
                <a:solidFill>
                  <a:srgbClr val="142033"/>
                </a:solidFill>
                <a:latin typeface="IBM Plex Sans" pitchFamily="34" charset="0"/>
                <a:ea typeface="IBM Plex Sans" pitchFamily="34" charset="-122"/>
                <a:cs typeface="IBM Plex Sans" pitchFamily="34" charset="-120"/>
              </a:rPr>
              <a:t>key-value</a:t>
            </a:r>
            <a:r>
              <a:rPr lang="en-US" sz="1300" dirty="0">
                <a:solidFill>
                  <a:srgbClr val="45505F"/>
                </a:solidFill>
                <a:latin typeface="IBM Plex Sans" pitchFamily="34" charset="0"/>
                <a:ea typeface="IBM Plex Sans" pitchFamily="34" charset="-122"/>
                <a:cs typeface="IBM Plex Sans" pitchFamily="34" charset="-120"/>
              </a:rPr>
              <a:t> store. Node'lar, pod'lar, config'ler, secret'lar, roller — </a:t>
            </a:r>
            <a:r>
              <a:rPr lang="en-US" sz="1300" b="1" dirty="0">
                <a:solidFill>
                  <a:srgbClr val="142033"/>
                </a:solidFill>
                <a:latin typeface="IBM Plex Sans" pitchFamily="34" charset="0"/>
                <a:ea typeface="IBM Plex Sans" pitchFamily="34" charset="-122"/>
                <a:cs typeface="IBM Plex Sans" pitchFamily="34" charset="-120"/>
              </a:rPr>
              <a:t>kubectl get</a:t>
            </a:r>
            <a:r>
              <a:rPr lang="en-US" sz="1300" dirty="0">
                <a:solidFill>
                  <a:srgbClr val="45505F"/>
                </a:solidFill>
                <a:latin typeface="IBM Plex Sans" pitchFamily="34" charset="0"/>
                <a:ea typeface="IBM Plex Sans" pitchFamily="34" charset="-122"/>
                <a:cs typeface="IBM Plex Sans" pitchFamily="34" charset="-120"/>
              </a:rPr>
              <a:t> ile gördüğünüz her şey buradan gelir.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Bir değişiklik ancak etcd'ye yazıldığında "tamamlanmış" sayılır.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Uzlaşma algoritması </a:t>
            </a:r>
            <a:r>
              <a:rPr lang="en-US" sz="1300" b="1" dirty="0">
                <a:solidFill>
                  <a:srgbClr val="142033"/>
                </a:solidFill>
                <a:latin typeface="IBM Plex Sans" pitchFamily="34" charset="0"/>
                <a:ea typeface="IBM Plex Sans" pitchFamily="34" charset="-122"/>
                <a:cs typeface="IBM Plex Sans" pitchFamily="34" charset="-120"/>
              </a:rPr>
              <a:t>Raft</a:t>
            </a:r>
            <a:r>
              <a:rPr lang="en-US" sz="1300" dirty="0">
                <a:solidFill>
                  <a:srgbClr val="45505F"/>
                </a:solidFill>
                <a:latin typeface="IBM Plex Sans" pitchFamily="34" charset="0"/>
                <a:ea typeface="IBM Plex Sans" pitchFamily="34" charset="-122"/>
                <a:cs typeface="IBM Plex Sans" pitchFamily="34" charset="-120"/>
              </a:rPr>
              <a:t>: bir lider yazar, çoğunluk (quorum) onaylar. Quorum = ⌊n/2⌋+1 → 3 üye 1 kaybı, 5 üye 2 kaybı tolere eder. Tek sayıda üye önerilir.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Kurulum: kubeadm ile </a:t>
            </a:r>
            <a:r>
              <a:rPr lang="en-US" sz="1300" b="1" dirty="0">
                <a:solidFill>
                  <a:srgbClr val="142033"/>
                </a:solidFill>
                <a:latin typeface="IBM Plex Sans" pitchFamily="34" charset="0"/>
                <a:ea typeface="IBM Plex Sans" pitchFamily="34" charset="-122"/>
                <a:cs typeface="IBM Plex Sans" pitchFamily="34" charset="-120"/>
              </a:rPr>
              <a:t>static pod</a:t>
            </a:r>
            <a:r>
              <a:rPr lang="en-US" sz="1300" dirty="0">
                <a:solidFill>
                  <a:srgbClr val="45505F"/>
                </a:solidFill>
                <a:latin typeface="IBM Plex Sans" pitchFamily="34" charset="0"/>
                <a:ea typeface="IBM Plex Sans" pitchFamily="34" charset="-122"/>
                <a:cs typeface="IBM Plex Sans" pitchFamily="34" charset="-120"/>
              </a:rPr>
              <a:t> (kube-system) veya ayrı sunucularda harici etcd.</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etcdctl v3 API kullanır; sertifika yolları </a:t>
            </a:r>
            <a:r>
              <a:rPr lang="en-US" sz="1300" b="1" dirty="0">
                <a:solidFill>
                  <a:srgbClr val="142033"/>
                </a:solidFill>
                <a:latin typeface="IBM Plex Sans" pitchFamily="34" charset="0"/>
                <a:ea typeface="IBM Plex Sans" pitchFamily="34" charset="-122"/>
                <a:cs typeface="IBM Plex Sans" pitchFamily="34" charset="-120"/>
              </a:rPr>
              <a:t>/etc/kubernetes/pki/etcd/</a:t>
            </a:r>
            <a:r>
              <a:rPr lang="en-US" sz="1300" dirty="0">
                <a:solidFill>
                  <a:srgbClr val="45505F"/>
                </a:solidFill>
                <a:latin typeface="IBM Plex Sans" pitchFamily="34" charset="0"/>
                <a:ea typeface="IBM Plex Sans" pitchFamily="34" charset="-122"/>
                <a:cs typeface="IBM Plex Sans" pitchFamily="34" charset="-120"/>
              </a:rPr>
              <a:t> altında.</a:t>
            </a:r>
            <a:endParaRPr lang="en-US" sz="1300" dirty="0"/>
          </a:p>
        </p:txBody>
      </p:sp>
      <p:sp>
        <p:nvSpPr>
          <p:cNvPr id="5" name="Text 3"/>
          <p:cNvSpPr/>
          <p:nvPr/>
        </p:nvSpPr>
        <p:spPr>
          <a:xfrm>
            <a:off x="6934200" y="1775420"/>
            <a:ext cx="4445000" cy="3499842"/>
          </a:xfrm>
          <a:prstGeom prst="roundRect">
            <a:avLst>
              <a:gd name="adj" fmla="val 2177"/>
            </a:avLst>
          </a:prstGeom>
          <a:solidFill>
            <a:srgbClr val="1B2A41"/>
          </a:solidFill>
          <a:ln/>
        </p:spPr>
        <p:txBody>
          <a:bodyPr wrap="square" lIns="180882" tIns="180882" rIns="59724" bIns="1554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etcd pod'unu bul</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get pods -n kube-system</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Kubernetes anahtarlarını listele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exec etcd-controlplane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 kube-system -- etcdctl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--cacert /etc/kubernetes/pki/etcd/ca.crt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--cert /etc/kubernetes/pki/etcd/server.crt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--key /etc/kubernetes/pki/etcd/server.key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get / --prefix --keys-only</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Veri yapısı: /registry/pods/default/nginx</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KUBE-APISERVER</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Bir pod oluşturulduğunda ne olur?</a:t>
            </a:r>
            <a:endParaRPr lang="en-US" sz="3000" dirty="0"/>
          </a:p>
        </p:txBody>
      </p:sp>
      <p:sp>
        <p:nvSpPr>
          <p:cNvPr id="4" name="Shape 2"/>
          <p:cNvSpPr/>
          <p:nvPr/>
        </p:nvSpPr>
        <p:spPr>
          <a:xfrm>
            <a:off x="812800" y="1750020"/>
            <a:ext cx="1433215" cy="1135162"/>
          </a:xfrm>
          <a:prstGeom prst="roundRect">
            <a:avLst>
              <a:gd name="adj" fmla="val 5594"/>
            </a:avLst>
          </a:prstGeom>
          <a:solidFill>
            <a:srgbClr val="142033"/>
          </a:solidFill>
          <a:ln/>
        </p:spPr>
      </p:sp>
      <p:sp>
        <p:nvSpPr>
          <p:cNvPr id="5" name="Text 3"/>
          <p:cNvSpPr/>
          <p:nvPr/>
        </p:nvSpPr>
        <p:spPr>
          <a:xfrm>
            <a:off x="939800" y="1877020"/>
            <a:ext cx="123001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060"/>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939800" y="2141141"/>
            <a:ext cx="1230015"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5F4EF"/>
                </a:solidFill>
                <a:latin typeface="IBM Plex Sans" pitchFamily="34" charset="0"/>
                <a:ea typeface="IBM Plex Sans" pitchFamily="34" charset="-122"/>
                <a:cs typeface="IBM Plex Sans" pitchFamily="34" charset="-120"/>
              </a:rPr>
              <a:t>Kimlik doğrulama (authN)</a:t>
            </a:r>
            <a:endParaRPr lang="en-US" sz="1200" dirty="0"/>
          </a:p>
        </p:txBody>
      </p:sp>
      <p:sp>
        <p:nvSpPr>
          <p:cNvPr id="7" name="Shape 5"/>
          <p:cNvSpPr/>
          <p:nvPr/>
        </p:nvSpPr>
        <p:spPr>
          <a:xfrm>
            <a:off x="2334915" y="1750020"/>
            <a:ext cx="1433314" cy="1135162"/>
          </a:xfrm>
          <a:prstGeom prst="roundRect">
            <a:avLst>
              <a:gd name="adj" fmla="val 5594"/>
            </a:avLst>
          </a:prstGeom>
          <a:solidFill>
            <a:srgbClr val="142033"/>
          </a:solidFill>
          <a:ln/>
        </p:spPr>
      </p:sp>
      <p:sp>
        <p:nvSpPr>
          <p:cNvPr id="8" name="Text 6"/>
          <p:cNvSpPr/>
          <p:nvPr/>
        </p:nvSpPr>
        <p:spPr>
          <a:xfrm>
            <a:off x="2461915" y="1877020"/>
            <a:ext cx="123011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060"/>
                </a:solidFill>
                <a:latin typeface="IBM Plex Sans" pitchFamily="34" charset="0"/>
                <a:ea typeface="IBM Plex Sans" pitchFamily="34" charset="-122"/>
                <a:cs typeface="IBM Plex Sans" pitchFamily="34" charset="-120"/>
              </a:rPr>
              <a:t>2</a:t>
            </a:r>
            <a:endParaRPr lang="en-US" sz="1200" dirty="0"/>
          </a:p>
        </p:txBody>
      </p:sp>
      <p:sp>
        <p:nvSpPr>
          <p:cNvPr id="9" name="Text 7"/>
          <p:cNvSpPr/>
          <p:nvPr/>
        </p:nvSpPr>
        <p:spPr>
          <a:xfrm>
            <a:off x="2461915" y="2141141"/>
            <a:ext cx="123011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5F4EF"/>
                </a:solidFill>
                <a:latin typeface="IBM Plex Sans" pitchFamily="34" charset="0"/>
                <a:ea typeface="IBM Plex Sans" pitchFamily="34" charset="-122"/>
                <a:cs typeface="IBM Plex Sans" pitchFamily="34" charset="-120"/>
              </a:rPr>
              <a:t>Yetkilendirme (authZ)</a:t>
            </a:r>
            <a:endParaRPr lang="en-US" sz="1200" dirty="0"/>
          </a:p>
        </p:txBody>
      </p:sp>
      <p:sp>
        <p:nvSpPr>
          <p:cNvPr id="10" name="Shape 8"/>
          <p:cNvSpPr/>
          <p:nvPr/>
        </p:nvSpPr>
        <p:spPr>
          <a:xfrm>
            <a:off x="3857129" y="1750020"/>
            <a:ext cx="1433215" cy="1135162"/>
          </a:xfrm>
          <a:prstGeom prst="roundRect">
            <a:avLst>
              <a:gd name="adj" fmla="val 5594"/>
            </a:avLst>
          </a:prstGeom>
          <a:solidFill>
            <a:srgbClr val="142033"/>
          </a:solidFill>
          <a:ln/>
        </p:spPr>
      </p:sp>
      <p:sp>
        <p:nvSpPr>
          <p:cNvPr id="11" name="Text 9"/>
          <p:cNvSpPr/>
          <p:nvPr/>
        </p:nvSpPr>
        <p:spPr>
          <a:xfrm>
            <a:off x="3984129" y="1877020"/>
            <a:ext cx="123001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060"/>
                </a:solidFill>
                <a:latin typeface="IBM Plex Sans" pitchFamily="34" charset="0"/>
                <a:ea typeface="IBM Plex Sans" pitchFamily="34" charset="-122"/>
                <a:cs typeface="IBM Plex Sans" pitchFamily="34" charset="-120"/>
              </a:rPr>
              <a:t>3</a:t>
            </a:r>
            <a:endParaRPr lang="en-US" sz="1200" dirty="0"/>
          </a:p>
        </p:txBody>
      </p:sp>
      <p:sp>
        <p:nvSpPr>
          <p:cNvPr id="12" name="Text 10"/>
          <p:cNvSpPr/>
          <p:nvPr/>
        </p:nvSpPr>
        <p:spPr>
          <a:xfrm>
            <a:off x="3984129" y="2141141"/>
            <a:ext cx="1230015"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5F4EF"/>
                </a:solidFill>
                <a:latin typeface="IBM Plex Sans" pitchFamily="34" charset="0"/>
                <a:ea typeface="IBM Plex Sans" pitchFamily="34" charset="-122"/>
                <a:cs typeface="IBM Plex Sans" pitchFamily="34" charset="-120"/>
              </a:rPr>
              <a:t>Admission controller'lar</a:t>
            </a:r>
            <a:endParaRPr lang="en-US" sz="1200" dirty="0"/>
          </a:p>
        </p:txBody>
      </p:sp>
      <p:sp>
        <p:nvSpPr>
          <p:cNvPr id="13" name="Shape 11"/>
          <p:cNvSpPr/>
          <p:nvPr/>
        </p:nvSpPr>
        <p:spPr>
          <a:xfrm>
            <a:off x="5379244" y="1750020"/>
            <a:ext cx="1433314" cy="1135162"/>
          </a:xfrm>
          <a:prstGeom prst="roundRect">
            <a:avLst>
              <a:gd name="adj" fmla="val 5594"/>
            </a:avLst>
          </a:prstGeom>
          <a:solidFill>
            <a:srgbClr val="142033"/>
          </a:solidFill>
          <a:ln/>
        </p:spPr>
      </p:sp>
      <p:sp>
        <p:nvSpPr>
          <p:cNvPr id="14" name="Text 12"/>
          <p:cNvSpPr/>
          <p:nvPr/>
        </p:nvSpPr>
        <p:spPr>
          <a:xfrm>
            <a:off x="5506244" y="1877020"/>
            <a:ext cx="123011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060"/>
                </a:solidFill>
                <a:latin typeface="IBM Plex Sans" pitchFamily="34" charset="0"/>
                <a:ea typeface="IBM Plex Sans" pitchFamily="34" charset="-122"/>
                <a:cs typeface="IBM Plex Sans" pitchFamily="34" charset="-120"/>
              </a:rPr>
              <a:t>4</a:t>
            </a:r>
            <a:endParaRPr lang="en-US" sz="1200" dirty="0"/>
          </a:p>
        </p:txBody>
      </p:sp>
      <p:sp>
        <p:nvSpPr>
          <p:cNvPr id="15" name="Text 13"/>
          <p:cNvSpPr/>
          <p:nvPr/>
        </p:nvSpPr>
        <p:spPr>
          <a:xfrm>
            <a:off x="5506244" y="2141141"/>
            <a:ext cx="123011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5F4EF"/>
                </a:solidFill>
                <a:latin typeface="IBM Plex Sans" pitchFamily="34" charset="0"/>
                <a:ea typeface="IBM Plex Sans" pitchFamily="34" charset="-122"/>
                <a:cs typeface="IBM Plex Sans" pitchFamily="34" charset="-120"/>
              </a:rPr>
              <a:t>etcd'ye yazılır (node'suz)</a:t>
            </a:r>
            <a:endParaRPr lang="en-US" sz="1200" dirty="0"/>
          </a:p>
        </p:txBody>
      </p:sp>
      <p:sp>
        <p:nvSpPr>
          <p:cNvPr id="16" name="Shape 14"/>
          <p:cNvSpPr/>
          <p:nvPr/>
        </p:nvSpPr>
        <p:spPr>
          <a:xfrm>
            <a:off x="6901458" y="1750020"/>
            <a:ext cx="1433314" cy="1135162"/>
          </a:xfrm>
          <a:prstGeom prst="roundRect">
            <a:avLst>
              <a:gd name="adj" fmla="val 5594"/>
            </a:avLst>
          </a:prstGeom>
          <a:solidFill>
            <a:srgbClr val="2F6BD8"/>
          </a:solidFill>
          <a:ln/>
        </p:spPr>
      </p:sp>
      <p:sp>
        <p:nvSpPr>
          <p:cNvPr id="17" name="Text 15"/>
          <p:cNvSpPr/>
          <p:nvPr/>
        </p:nvSpPr>
        <p:spPr>
          <a:xfrm>
            <a:off x="7028458" y="1877020"/>
            <a:ext cx="123011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5</a:t>
            </a:r>
            <a:endParaRPr lang="en-US" sz="1200" dirty="0"/>
          </a:p>
        </p:txBody>
      </p:sp>
      <p:sp>
        <p:nvSpPr>
          <p:cNvPr id="18" name="Text 16"/>
          <p:cNvSpPr/>
          <p:nvPr/>
        </p:nvSpPr>
        <p:spPr>
          <a:xfrm>
            <a:off x="7028458" y="2141141"/>
            <a:ext cx="123011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5F4EF"/>
                </a:solidFill>
                <a:latin typeface="IBM Plex Sans" pitchFamily="34" charset="0"/>
                <a:ea typeface="IBM Plex Sans" pitchFamily="34" charset="-122"/>
                <a:cs typeface="IBM Plex Sans" pitchFamily="34" charset="-120"/>
              </a:rPr>
              <a:t>Scheduler node seçer</a:t>
            </a:r>
            <a:endParaRPr lang="en-US" sz="1200" dirty="0"/>
          </a:p>
        </p:txBody>
      </p:sp>
      <p:sp>
        <p:nvSpPr>
          <p:cNvPr id="19" name="Shape 17"/>
          <p:cNvSpPr/>
          <p:nvPr/>
        </p:nvSpPr>
        <p:spPr>
          <a:xfrm>
            <a:off x="8423672" y="1750020"/>
            <a:ext cx="1433314" cy="1135162"/>
          </a:xfrm>
          <a:prstGeom prst="roundRect">
            <a:avLst>
              <a:gd name="adj" fmla="val 5594"/>
            </a:avLst>
          </a:prstGeom>
          <a:solidFill>
            <a:srgbClr val="2F6BD8"/>
          </a:solidFill>
          <a:ln/>
        </p:spPr>
      </p:sp>
      <p:sp>
        <p:nvSpPr>
          <p:cNvPr id="20" name="Text 18"/>
          <p:cNvSpPr/>
          <p:nvPr/>
        </p:nvSpPr>
        <p:spPr>
          <a:xfrm>
            <a:off x="8550672" y="1877020"/>
            <a:ext cx="123011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6</a:t>
            </a:r>
            <a:endParaRPr lang="en-US" sz="1200" dirty="0"/>
          </a:p>
        </p:txBody>
      </p:sp>
      <p:sp>
        <p:nvSpPr>
          <p:cNvPr id="21" name="Text 19"/>
          <p:cNvSpPr/>
          <p:nvPr/>
        </p:nvSpPr>
        <p:spPr>
          <a:xfrm>
            <a:off x="8550672" y="2141141"/>
            <a:ext cx="123011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5F4EF"/>
                </a:solidFill>
                <a:latin typeface="IBM Plex Sans" pitchFamily="34" charset="0"/>
                <a:ea typeface="IBM Plex Sans" pitchFamily="34" charset="-122"/>
                <a:cs typeface="IBM Plex Sans" pitchFamily="34" charset="-120"/>
              </a:rPr>
              <a:t>API server binding'i yazar</a:t>
            </a:r>
            <a:endParaRPr lang="en-US" sz="1200" dirty="0"/>
          </a:p>
        </p:txBody>
      </p:sp>
      <p:sp>
        <p:nvSpPr>
          <p:cNvPr id="22" name="Shape 20"/>
          <p:cNvSpPr/>
          <p:nvPr/>
        </p:nvSpPr>
        <p:spPr>
          <a:xfrm>
            <a:off x="9945886" y="1750020"/>
            <a:ext cx="1433314" cy="1135162"/>
          </a:xfrm>
          <a:prstGeom prst="roundRect">
            <a:avLst>
              <a:gd name="adj" fmla="val 5594"/>
            </a:avLst>
          </a:prstGeom>
          <a:solidFill>
            <a:srgbClr val="B4570F"/>
          </a:solidFill>
          <a:ln/>
        </p:spPr>
      </p:sp>
      <p:sp>
        <p:nvSpPr>
          <p:cNvPr id="23" name="Text 21"/>
          <p:cNvSpPr/>
          <p:nvPr/>
        </p:nvSpPr>
        <p:spPr>
          <a:xfrm>
            <a:off x="10072886" y="1877020"/>
            <a:ext cx="123011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7</a:t>
            </a:r>
            <a:endParaRPr lang="en-US" sz="1200" dirty="0"/>
          </a:p>
        </p:txBody>
      </p:sp>
      <p:sp>
        <p:nvSpPr>
          <p:cNvPr id="24" name="Text 22"/>
          <p:cNvSpPr/>
          <p:nvPr/>
        </p:nvSpPr>
        <p:spPr>
          <a:xfrm>
            <a:off x="10072886" y="2141141"/>
            <a:ext cx="1230114"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5F4EF"/>
                </a:solidFill>
                <a:latin typeface="IBM Plex Sans" pitchFamily="34" charset="0"/>
                <a:ea typeface="IBM Plex Sans" pitchFamily="34" charset="-122"/>
                <a:cs typeface="IBM Plex Sans" pitchFamily="34" charset="-120"/>
              </a:rPr>
              <a:t>kubelet runtime'a başlatır</a:t>
            </a:r>
            <a:endParaRPr lang="en-US" sz="1200" dirty="0"/>
          </a:p>
        </p:txBody>
      </p:sp>
      <p:sp>
        <p:nvSpPr>
          <p:cNvPr id="25" name="Text 23"/>
          <p:cNvSpPr/>
          <p:nvPr/>
        </p:nvSpPr>
        <p:spPr>
          <a:xfrm>
            <a:off x="898144" y="3113782"/>
            <a:ext cx="10790428" cy="10160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Tüm bileşenler API server'ı </a:t>
            </a:r>
            <a:r>
              <a:rPr lang="en-US" sz="1300" b="1" dirty="0">
                <a:solidFill>
                  <a:srgbClr val="142033"/>
                </a:solidFill>
                <a:latin typeface="IBM Plex Sans" pitchFamily="34" charset="0"/>
                <a:ea typeface="IBM Plex Sans" pitchFamily="34" charset="-122"/>
                <a:cs typeface="IBM Plex Sans" pitchFamily="34" charset="-120"/>
              </a:rPr>
              <a:t>watch</a:t>
            </a:r>
            <a:r>
              <a:rPr lang="en-US" sz="1300" dirty="0">
                <a:solidFill>
                  <a:srgbClr val="45505F"/>
                </a:solidFill>
                <a:latin typeface="IBM Plex Sans" pitchFamily="34" charset="0"/>
                <a:ea typeface="IBM Plex Sans" pitchFamily="34" charset="-122"/>
                <a:cs typeface="IBM Plex Sans" pitchFamily="34" charset="-120"/>
              </a:rPr>
              <a:t> eder; değişiklik olunca haber alırlar. Kubelet adım 7'nin ardından durumu yine API server'a raporlar.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REST API'dir: kubectl de, curl da, controller'lar da aynı uç noktaları kullanır.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kubeadm kurulumunda tanım dosyası: </a:t>
            </a:r>
            <a:r>
              <a:rPr lang="en-US" sz="1300" b="1" dirty="0">
                <a:solidFill>
                  <a:srgbClr val="142033"/>
                </a:solidFill>
                <a:latin typeface="IBM Plex Sans" pitchFamily="34" charset="0"/>
                <a:ea typeface="IBM Plex Sans" pitchFamily="34" charset="-122"/>
                <a:cs typeface="IBM Plex Sans" pitchFamily="34" charset="-120"/>
              </a:rPr>
              <a:t>/etc/kubernetes/manifests/kube-apiserver.yaml</a:t>
            </a:r>
            <a:r>
              <a:rPr lang="en-US" sz="1300" dirty="0">
                <a:solidFill>
                  <a:srgbClr val="45505F"/>
                </a:solidFill>
                <a:latin typeface="IBM Plex Sans" pitchFamily="34" charset="0"/>
                <a:ea typeface="IBM Plex Sans" pitchFamily="34" charset="-122"/>
                <a:cs typeface="IBM Plex Sans" pitchFamily="34" charset="-120"/>
              </a:rPr>
              <a:t>. Parametreler (etcd adresleri, sertifikalar, admission plugin'leri, authorization-mode) burada görülür.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KUBE-CONTROLLER-MANAGER</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Controller: durumu izleyip düzelten döngü</a:t>
            </a:r>
            <a:endParaRPr lang="en-US" sz="3000" dirty="0"/>
          </a:p>
        </p:txBody>
      </p:sp>
      <p:sp>
        <p:nvSpPr>
          <p:cNvPr id="4" name="Text 2"/>
          <p:cNvSpPr/>
          <p:nvPr/>
        </p:nvSpPr>
        <p:spPr>
          <a:xfrm>
            <a:off x="812800" y="1775420"/>
            <a:ext cx="656666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033"/>
                </a:solidFill>
                <a:latin typeface="IBM Plex Sans" pitchFamily="34" charset="0"/>
                <a:ea typeface="IBM Plex Sans" pitchFamily="34" charset="-122"/>
                <a:cs typeface="IBM Plex Sans" pitchFamily="34" charset="-120"/>
              </a:rPr>
              <a:t>Her controller tek bir kaynak türünü izler ve gerçek durumu istenen duruma yaklaştırır: </a:t>
            </a:r>
            <a:r>
              <a:rPr lang="en-US" sz="1600" b="1" dirty="0">
                <a:solidFill>
                  <a:srgbClr val="142033"/>
                </a:solidFill>
                <a:latin typeface="IBM Plex Sans" pitchFamily="34" charset="0"/>
                <a:ea typeface="IBM Plex Sans" pitchFamily="34" charset="-122"/>
                <a:cs typeface="IBM Plex Sans" pitchFamily="34" charset="-120"/>
              </a:rPr>
              <a:t>observe → diff → act</a:t>
            </a:r>
            <a:r>
              <a:rPr lang="en-US" sz="1600" dirty="0">
                <a:solidFill>
                  <a:srgbClr val="142033"/>
                </a:solidFill>
                <a:latin typeface="IBM Plex Sans" pitchFamily="34" charset="0"/>
                <a:ea typeface="IBM Plex Sans" pitchFamily="34" charset="-122"/>
                <a:cs typeface="IBM Plex Sans" pitchFamily="34" charset="-120"/>
              </a:rPr>
              <a:t>.</a:t>
            </a:r>
            <a:endParaRPr lang="en-US" sz="1600" dirty="0"/>
          </a:p>
        </p:txBody>
      </p:sp>
      <p:sp>
        <p:nvSpPr>
          <p:cNvPr id="5" name="Text 3"/>
          <p:cNvSpPr/>
          <p:nvPr/>
        </p:nvSpPr>
        <p:spPr>
          <a:xfrm>
            <a:off x="898144" y="2471341"/>
            <a:ext cx="6473698"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Node controller:</a:t>
            </a:r>
            <a:r>
              <a:rPr lang="en-US" sz="1300" dirty="0">
                <a:solidFill>
                  <a:srgbClr val="45505F"/>
                </a:solidFill>
                <a:latin typeface="IBM Plex Sans" pitchFamily="34" charset="0"/>
                <a:ea typeface="IBM Plex Sans" pitchFamily="34" charset="-122"/>
                <a:cs typeface="IBM Plex Sans" pitchFamily="34" charset="-120"/>
              </a:rPr>
              <a:t> kubelet'ten düzenli heartbeat bekler. Gelmezse node'u NotReady/Unknown yapar ve taint ekler; pod'lar varsayılan 300 sn toleransın ardından tahliye edilir.</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Replication / ReplicaSet controller:</a:t>
            </a:r>
            <a:r>
              <a:rPr lang="en-US" sz="1300" dirty="0">
                <a:solidFill>
                  <a:srgbClr val="45505F"/>
                </a:solidFill>
                <a:latin typeface="IBM Plex Sans" pitchFamily="34" charset="0"/>
                <a:ea typeface="IBM Plex Sans" pitchFamily="34" charset="-122"/>
                <a:cs typeface="IBM Plex Sans" pitchFamily="34" charset="-120"/>
              </a:rPr>
              <a:t> istenen replika sayısını korur.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Diğerleri: Deployment, Job, CronJob, Namespace, Endpoint(Slice), ServiceAccount, PV-binder, garbage collector…</a:t>
            </a:r>
            <a:endParaRPr lang="en-US" sz="1300" dirty="0"/>
          </a:p>
        </p:txBody>
      </p:sp>
      <p:sp>
        <p:nvSpPr>
          <p:cNvPr id="6" name="Shape 4"/>
          <p:cNvSpPr/>
          <p:nvPr/>
        </p:nvSpPr>
        <p:spPr>
          <a:xfrm>
            <a:off x="7442200" y="1775420"/>
            <a:ext cx="3937000" cy="1338362"/>
          </a:xfrm>
          <a:prstGeom prst="roundRect">
            <a:avLst>
              <a:gd name="adj" fmla="val 5694"/>
            </a:avLst>
          </a:prstGeom>
          <a:solidFill>
            <a:srgbClr val="142033"/>
          </a:solidFill>
          <a:ln/>
        </p:spPr>
      </p:sp>
      <p:sp>
        <p:nvSpPr>
          <p:cNvPr id="7" name="Text 5"/>
          <p:cNvSpPr/>
          <p:nvPr/>
        </p:nvSpPr>
        <p:spPr>
          <a:xfrm>
            <a:off x="7620000" y="1953220"/>
            <a:ext cx="368884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BM Plex Sans" pitchFamily="34" charset="0"/>
                <a:ea typeface="IBM Plex Sans" pitchFamily="34" charset="-122"/>
                <a:cs typeface="IBM Plex Sans" pitchFamily="34" charset="-120"/>
              </a:rPr>
              <a:t>TEK BINARY, ÇOK CONTROLLER</a:t>
            </a:r>
            <a:endParaRPr lang="en-US" sz="1200" dirty="0"/>
          </a:p>
        </p:txBody>
      </p:sp>
      <p:sp>
        <p:nvSpPr>
          <p:cNvPr id="8" name="Text 6"/>
          <p:cNvSpPr/>
          <p:nvPr/>
        </p:nvSpPr>
        <p:spPr>
          <a:xfrm>
            <a:off x="7620000" y="2242741"/>
            <a:ext cx="3688842"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5F4EF"/>
                </a:solidFill>
                <a:latin typeface="IBM Plex Sans" pitchFamily="34" charset="0"/>
                <a:ea typeface="IBM Plex Sans" pitchFamily="34" charset="-122"/>
                <a:cs typeface="IBM Plex Sans" pitchFamily="34" charset="-120"/>
              </a:rPr>
              <a:t>Hepsi tek süreçte paketlenir. Hangilerinin açık olduğu </a:t>
            </a:r>
            <a:r>
              <a:rPr lang="en-US" sz="1300" b="1" dirty="0">
                <a:solidFill>
                  <a:srgbClr val="F5F4EF"/>
                </a:solidFill>
                <a:latin typeface="IBM Plex Sans" pitchFamily="34" charset="0"/>
                <a:ea typeface="IBM Plex Sans" pitchFamily="34" charset="-122"/>
                <a:cs typeface="IBM Plex Sans" pitchFamily="34" charset="-120"/>
              </a:rPr>
              <a:t>--controllers</a:t>
            </a:r>
            <a:r>
              <a:rPr lang="en-US" sz="1300" dirty="0">
                <a:solidFill>
                  <a:srgbClr val="F5F4EF"/>
                </a:solidFill>
                <a:latin typeface="IBM Plex Sans" pitchFamily="34" charset="0"/>
                <a:ea typeface="IBM Plex Sans" pitchFamily="34" charset="-122"/>
                <a:cs typeface="IBM Plex Sans" pitchFamily="34" charset="-120"/>
              </a:rPr>
              <a:t> parametresiyle belirlenir (varsayılan: hepsi).</a:t>
            </a:r>
            <a:endParaRPr lang="en-US" sz="1300" dirty="0"/>
          </a:p>
        </p:txBody>
      </p:sp>
      <p:sp>
        <p:nvSpPr>
          <p:cNvPr id="9" name="Shape 7"/>
          <p:cNvSpPr/>
          <p:nvPr/>
        </p:nvSpPr>
        <p:spPr>
          <a:xfrm>
            <a:off x="7445375" y="3218557"/>
            <a:ext cx="3930650" cy="1344712"/>
          </a:xfrm>
          <a:prstGeom prst="roundRect">
            <a:avLst>
              <a:gd name="adj" fmla="val 5431"/>
            </a:avLst>
          </a:prstGeom>
          <a:solidFill>
            <a:srgbClr val="FDFCF9"/>
          </a:solidFill>
          <a:ln w="6350">
            <a:solidFill>
              <a:srgbClr val="E2DFD6"/>
            </a:solidFill>
            <a:prstDash val="solid"/>
          </a:ln>
        </p:spPr>
      </p:sp>
      <p:sp>
        <p:nvSpPr>
          <p:cNvPr id="10" name="Text 8"/>
          <p:cNvSpPr/>
          <p:nvPr/>
        </p:nvSpPr>
        <p:spPr>
          <a:xfrm>
            <a:off x="7626350" y="3399532"/>
            <a:ext cx="367576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AYARLAR NEREDE?</a:t>
            </a:r>
            <a:endParaRPr lang="en-US" sz="1200" dirty="0"/>
          </a:p>
        </p:txBody>
      </p:sp>
      <p:sp>
        <p:nvSpPr>
          <p:cNvPr id="11" name="Text 9"/>
          <p:cNvSpPr/>
          <p:nvPr/>
        </p:nvSpPr>
        <p:spPr>
          <a:xfrm>
            <a:off x="7626350" y="3689052"/>
            <a:ext cx="3675761"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kubeadm: /etc/kubernetes/manifests/kube-controller-manager.yaml. Node izleme: --node-monitor-period, --node-monitor-grace-period.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KUBE-SCHEDULER</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Hangi pod hangi node'a gidecek?</a:t>
            </a:r>
            <a:endParaRPr lang="en-US" sz="3000" dirty="0"/>
          </a:p>
        </p:txBody>
      </p:sp>
      <p:sp>
        <p:nvSpPr>
          <p:cNvPr id="4" name="Shape 2"/>
          <p:cNvSpPr/>
          <p:nvPr/>
        </p:nvSpPr>
        <p:spPr>
          <a:xfrm>
            <a:off x="815975" y="1778595"/>
            <a:ext cx="3045817" cy="1946573"/>
          </a:xfrm>
          <a:prstGeom prst="roundRect">
            <a:avLst>
              <a:gd name="adj" fmla="val 3751"/>
            </a:avLst>
          </a:prstGeom>
          <a:solidFill>
            <a:srgbClr val="FDFCF9"/>
          </a:solidFill>
          <a:ln w="6350">
            <a:solidFill>
              <a:srgbClr val="E2DFD6"/>
            </a:solidFill>
            <a:prstDash val="solid"/>
          </a:ln>
        </p:spPr>
      </p:sp>
      <p:sp>
        <p:nvSpPr>
          <p:cNvPr id="5" name="Text 3"/>
          <p:cNvSpPr/>
          <p:nvPr/>
        </p:nvSpPr>
        <p:spPr>
          <a:xfrm>
            <a:off x="1022350" y="1984970"/>
            <a:ext cx="271205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AŞAMA 1</a:t>
            </a:r>
            <a:endParaRPr lang="en-US" sz="1200" dirty="0"/>
          </a:p>
        </p:txBody>
      </p:sp>
      <p:sp>
        <p:nvSpPr>
          <p:cNvPr id="6" name="Text 4"/>
          <p:cNvSpPr/>
          <p:nvPr/>
        </p:nvSpPr>
        <p:spPr>
          <a:xfrm>
            <a:off x="1022350" y="2274491"/>
            <a:ext cx="271205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Filtreleme</a:t>
            </a:r>
            <a:endParaRPr lang="en-US" sz="1600" dirty="0"/>
          </a:p>
        </p:txBody>
      </p:sp>
      <p:sp>
        <p:nvSpPr>
          <p:cNvPr id="7" name="Text 5"/>
          <p:cNvSpPr/>
          <p:nvPr/>
        </p:nvSpPr>
        <p:spPr>
          <a:xfrm>
            <a:off x="1022350" y="2594471"/>
            <a:ext cx="2712059"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Pod'u hiç alamayacak node'ları ele: yetersiz CPU/bellek, uyuşmayan nodeSelector/affinity, tolere edilmeyen taint, port çakışması.</a:t>
            </a:r>
            <a:endParaRPr lang="en-US" sz="1300" dirty="0"/>
          </a:p>
        </p:txBody>
      </p:sp>
      <p:pic>
        <p:nvPicPr>
          <p:cNvPr id="8" name="Image 0" descr="arrow-right"/>
          <p:cNvPicPr>
            <a:picLocks noChangeAspect="1"/>
          </p:cNvPicPr>
          <p:nvPr/>
        </p:nvPicPr>
        <p:blipFill>
          <a:blip r:embed="rId3"/>
          <a:srcRect/>
          <a:stretch/>
        </p:blipFill>
        <p:spPr>
          <a:xfrm>
            <a:off x="4017367" y="2624832"/>
            <a:ext cx="406400" cy="254000"/>
          </a:xfrm>
          <a:prstGeom prst="rect">
            <a:avLst/>
          </a:prstGeom>
        </p:spPr>
      </p:pic>
      <p:sp>
        <p:nvSpPr>
          <p:cNvPr id="9" name="Shape 6"/>
          <p:cNvSpPr/>
          <p:nvPr/>
        </p:nvSpPr>
        <p:spPr>
          <a:xfrm>
            <a:off x="4579342" y="1778595"/>
            <a:ext cx="3045916" cy="1946573"/>
          </a:xfrm>
          <a:prstGeom prst="roundRect">
            <a:avLst>
              <a:gd name="adj" fmla="val 3751"/>
            </a:avLst>
          </a:prstGeom>
          <a:solidFill>
            <a:srgbClr val="FDFCF9"/>
          </a:solidFill>
          <a:ln w="6350">
            <a:solidFill>
              <a:srgbClr val="E2DFD6"/>
            </a:solidFill>
            <a:prstDash val="solid"/>
          </a:ln>
        </p:spPr>
      </p:sp>
      <p:sp>
        <p:nvSpPr>
          <p:cNvPr id="10" name="Text 7"/>
          <p:cNvSpPr/>
          <p:nvPr/>
        </p:nvSpPr>
        <p:spPr>
          <a:xfrm>
            <a:off x="4785717" y="1984970"/>
            <a:ext cx="271216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AŞAMA 2</a:t>
            </a:r>
            <a:endParaRPr lang="en-US" sz="1200" dirty="0"/>
          </a:p>
        </p:txBody>
      </p:sp>
      <p:sp>
        <p:nvSpPr>
          <p:cNvPr id="11" name="Text 8"/>
          <p:cNvSpPr/>
          <p:nvPr/>
        </p:nvSpPr>
        <p:spPr>
          <a:xfrm>
            <a:off x="4785717" y="2274491"/>
            <a:ext cx="271216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Puanlama</a:t>
            </a:r>
            <a:endParaRPr lang="en-US" sz="1600" dirty="0"/>
          </a:p>
        </p:txBody>
      </p:sp>
      <p:sp>
        <p:nvSpPr>
          <p:cNvPr id="12" name="Text 9"/>
          <p:cNvSpPr/>
          <p:nvPr/>
        </p:nvSpPr>
        <p:spPr>
          <a:xfrm>
            <a:off x="4785717" y="2594471"/>
            <a:ext cx="2712161"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Kalan node'ları 0–100 arası puanla: pod yerleştikten sonra kalacak boş kaynak, affinity tercihleri, image'ın zaten olması…</a:t>
            </a:r>
            <a:endParaRPr lang="en-US" sz="1300" dirty="0"/>
          </a:p>
        </p:txBody>
      </p:sp>
      <p:pic>
        <p:nvPicPr>
          <p:cNvPr id="13" name="Image 1" descr="arrow-right"/>
          <p:cNvPicPr>
            <a:picLocks noChangeAspect="1"/>
          </p:cNvPicPr>
          <p:nvPr/>
        </p:nvPicPr>
        <p:blipFill>
          <a:blip r:embed="rId3"/>
          <a:srcRect/>
          <a:stretch/>
        </p:blipFill>
        <p:spPr>
          <a:xfrm>
            <a:off x="7780834" y="2624832"/>
            <a:ext cx="406400" cy="254000"/>
          </a:xfrm>
          <a:prstGeom prst="rect">
            <a:avLst/>
          </a:prstGeom>
        </p:spPr>
      </p:pic>
      <p:sp>
        <p:nvSpPr>
          <p:cNvPr id="14" name="Shape 10"/>
          <p:cNvSpPr/>
          <p:nvPr/>
        </p:nvSpPr>
        <p:spPr>
          <a:xfrm>
            <a:off x="8339634" y="1775420"/>
            <a:ext cx="3039566" cy="1952923"/>
          </a:xfrm>
          <a:prstGeom prst="roundRect">
            <a:avLst>
              <a:gd name="adj" fmla="val 3902"/>
            </a:avLst>
          </a:prstGeom>
          <a:solidFill>
            <a:srgbClr val="142033"/>
          </a:solidFill>
          <a:ln/>
        </p:spPr>
      </p:sp>
      <p:sp>
        <p:nvSpPr>
          <p:cNvPr id="15" name="Text 11"/>
          <p:cNvSpPr/>
          <p:nvPr/>
        </p:nvSpPr>
        <p:spPr>
          <a:xfrm>
            <a:off x="8542834" y="1978620"/>
            <a:ext cx="271216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BM Plex Sans" pitchFamily="34" charset="0"/>
                <a:ea typeface="IBM Plex Sans" pitchFamily="34" charset="-122"/>
                <a:cs typeface="IBM Plex Sans" pitchFamily="34" charset="-120"/>
              </a:rPr>
              <a:t>AŞAMA 3</a:t>
            </a:r>
            <a:endParaRPr lang="en-US" sz="1200" dirty="0"/>
          </a:p>
        </p:txBody>
      </p:sp>
      <p:sp>
        <p:nvSpPr>
          <p:cNvPr id="16" name="Text 12"/>
          <p:cNvSpPr/>
          <p:nvPr/>
        </p:nvSpPr>
        <p:spPr>
          <a:xfrm>
            <a:off x="8542834" y="2268141"/>
            <a:ext cx="271216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Binding</a:t>
            </a:r>
            <a:endParaRPr lang="en-US" sz="1600" dirty="0"/>
          </a:p>
        </p:txBody>
      </p:sp>
      <p:sp>
        <p:nvSpPr>
          <p:cNvPr id="17" name="Text 13"/>
          <p:cNvSpPr/>
          <p:nvPr/>
        </p:nvSpPr>
        <p:spPr>
          <a:xfrm>
            <a:off x="8542834" y="2588121"/>
            <a:ext cx="2712161"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En yüksek puanlı node seçilir, API server'a Binding gönderilir. Uygun node yoksa pod Pending kalır.</a:t>
            </a:r>
            <a:endParaRPr lang="en-US" sz="1300" dirty="0"/>
          </a:p>
        </p:txBody>
      </p:sp>
      <p:sp>
        <p:nvSpPr>
          <p:cNvPr id="18" name="Text 14"/>
          <p:cNvSpPr/>
          <p:nvPr/>
        </p:nvSpPr>
        <p:spPr>
          <a:xfrm>
            <a:off x="812800" y="3982343"/>
            <a:ext cx="10883392"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Bu adımlar </a:t>
            </a:r>
            <a:r>
              <a:rPr lang="en-US" sz="1300" b="1" dirty="0">
                <a:solidFill>
                  <a:srgbClr val="142033"/>
                </a:solidFill>
                <a:latin typeface="IBM Plex Sans" pitchFamily="34" charset="0"/>
                <a:ea typeface="IBM Plex Sans" pitchFamily="34" charset="-122"/>
                <a:cs typeface="IBM Plex Sans" pitchFamily="34" charset="-120"/>
              </a:rPr>
              <a:t>scheduling framework</a:t>
            </a:r>
            <a:r>
              <a:rPr lang="en-US" sz="1300" dirty="0">
                <a:solidFill>
                  <a:srgbClr val="45505F"/>
                </a:solidFill>
                <a:latin typeface="IBM Plex Sans" pitchFamily="34" charset="0"/>
                <a:ea typeface="IBM Plex Sans" pitchFamily="34" charset="-122"/>
                <a:cs typeface="IBM Plex Sans" pitchFamily="34" charset="-120"/>
              </a:rPr>
              <a:t>'teki eklenti noktalarıdır (queueSort, filter, score, bind…). Scheduler Profiles ile özelleştirilir — Scheduling bölümünde detaylandıracağız.</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KUBELET</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Node üzerindeki ajan</a:t>
            </a:r>
            <a:endParaRPr lang="en-US" sz="3000" dirty="0"/>
          </a:p>
        </p:txBody>
      </p:sp>
      <p:sp>
        <p:nvSpPr>
          <p:cNvPr id="4" name="Text 2"/>
          <p:cNvSpPr/>
          <p:nvPr/>
        </p:nvSpPr>
        <p:spPr>
          <a:xfrm>
            <a:off x="898144" y="1775420"/>
            <a:ext cx="6081268" cy="22542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Node'u cluster'a </a:t>
            </a:r>
            <a:r>
              <a:rPr lang="en-US" sz="1300" b="1" dirty="0">
                <a:solidFill>
                  <a:srgbClr val="142033"/>
                </a:solidFill>
                <a:latin typeface="IBM Plex Sans" pitchFamily="34" charset="0"/>
                <a:ea typeface="IBM Plex Sans" pitchFamily="34" charset="-122"/>
                <a:cs typeface="IBM Plex Sans" pitchFamily="34" charset="-120"/>
              </a:rPr>
              <a:t>kaydeder</a:t>
            </a:r>
            <a:r>
              <a:rPr lang="en-US" sz="1300" dirty="0">
                <a:solidFill>
                  <a:srgbClr val="45505F"/>
                </a:solidFill>
                <a:latin typeface="IBM Plex Sans" pitchFamily="34" charset="0"/>
                <a:ea typeface="IBM Plex Sans" pitchFamily="34" charset="-122"/>
                <a:cs typeface="IBM Plex Sans" pitchFamily="34" charset="-120"/>
              </a:rPr>
              <a:t> (register).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Kendisine atanan pod'ları izler; runtime'a CRI üzerinden "image çek, container başlat" talimatı verir.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Liveness / readiness / startup </a:t>
            </a:r>
            <a:r>
              <a:rPr lang="en-US" sz="1300" b="1" dirty="0">
                <a:solidFill>
                  <a:srgbClr val="142033"/>
                </a:solidFill>
                <a:latin typeface="IBM Plex Sans" pitchFamily="34" charset="0"/>
                <a:ea typeface="IBM Plex Sans" pitchFamily="34" charset="-122"/>
                <a:cs typeface="IBM Plex Sans" pitchFamily="34" charset="-120"/>
              </a:rPr>
              <a:t>probe</a:t>
            </a:r>
            <a:r>
              <a:rPr lang="en-US" sz="1300" dirty="0">
                <a:solidFill>
                  <a:srgbClr val="45505F"/>
                </a:solidFill>
                <a:latin typeface="IBM Plex Sans" pitchFamily="34" charset="0"/>
                <a:ea typeface="IBM Plex Sans" pitchFamily="34" charset="-122"/>
                <a:cs typeface="IBM Plex Sans" pitchFamily="34" charset="-120"/>
              </a:rPr>
              <a:t>'larını çalıştırır.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Pod ve node durumunu API server'a düzenli raporlar (heartbeat).</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Static pod'ları doğrudan bir dizinden okuyup çalıştırır.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cAdvisor gömülüdür; kaynak metriklerini sunar (metrics-server buradan toplar).</a:t>
            </a:r>
            <a:endParaRPr lang="en-US" sz="1300" dirty="0"/>
          </a:p>
        </p:txBody>
      </p:sp>
      <p:sp>
        <p:nvSpPr>
          <p:cNvPr id="5" name="Text 3"/>
          <p:cNvSpPr/>
          <p:nvPr/>
        </p:nvSpPr>
        <p:spPr>
          <a:xfrm>
            <a:off x="7061200" y="1775420"/>
            <a:ext cx="4318000" cy="3057922"/>
          </a:xfrm>
          <a:prstGeom prst="roundRect">
            <a:avLst>
              <a:gd name="adj" fmla="val 2492"/>
            </a:avLst>
          </a:prstGeom>
          <a:solidFill>
            <a:srgbClr val="1B2A41"/>
          </a:solidFill>
          <a:ln/>
        </p:spPr>
        <p:txBody>
          <a:bodyPr wrap="square" lIns="180882" tIns="180882" rIns="63534" bIns="1554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servis durumu</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systemctl status kubelet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journalctl -u kubelet -f</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çalıştığı parametreler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ps -aux | grep kubelet</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config dosyası</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/var/lib/kubelet/config.yaml</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API port'u</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10250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KUBE-PROXY</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Service IP'si gerçek bir arayüz değildir</a:t>
            </a:r>
            <a:endParaRPr lang="en-US" sz="3000" dirty="0"/>
          </a:p>
        </p:txBody>
      </p:sp>
      <p:sp>
        <p:nvSpPr>
          <p:cNvPr id="4" name="Text 2"/>
          <p:cNvSpPr/>
          <p:nvPr/>
        </p:nvSpPr>
        <p:spPr>
          <a:xfrm>
            <a:off x="812800" y="1775420"/>
            <a:ext cx="656666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033"/>
                </a:solidFill>
                <a:latin typeface="IBM Plex Sans" pitchFamily="34" charset="0"/>
                <a:ea typeface="IBM Plex Sans" pitchFamily="34" charset="-122"/>
                <a:cs typeface="IBM Plex Sans" pitchFamily="34" charset="-120"/>
              </a:rPr>
              <a:t>Bir Service'in IP'sine hiçbir container dinlemez. O IP'ye gelen paketi bir pod'a çeviren, her node'daki kube-proxy'nin yazdığı kurallardır.</a:t>
            </a:r>
            <a:endParaRPr lang="en-US" sz="1600" dirty="0"/>
          </a:p>
        </p:txBody>
      </p:sp>
      <p:sp>
        <p:nvSpPr>
          <p:cNvPr id="5" name="Text 3"/>
          <p:cNvSpPr/>
          <p:nvPr/>
        </p:nvSpPr>
        <p:spPr>
          <a:xfrm>
            <a:off x="898144" y="2471341"/>
            <a:ext cx="6473698" cy="10160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Yeni Service ve EndpointSlice'ları API server'dan izler.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Her </a:t>
            </a:r>
            <a:r>
              <a:rPr lang="en-US" sz="1300" dirty="0" err="1">
                <a:solidFill>
                  <a:srgbClr val="45505F"/>
                </a:solidFill>
                <a:latin typeface="IBM Plex Sans" pitchFamily="34" charset="0"/>
                <a:ea typeface="IBM Plex Sans" pitchFamily="34" charset="-122"/>
                <a:cs typeface="IBM Plex Sans" pitchFamily="34" charset="-120"/>
              </a:rPr>
              <a:t>node'da</a:t>
            </a:r>
            <a:r>
              <a:rPr lang="en-US" sz="1300" dirty="0">
                <a:solidFill>
                  <a:srgbClr val="45505F"/>
                </a:solidFill>
                <a:latin typeface="IBM Plex Sans" pitchFamily="34" charset="0"/>
                <a:ea typeface="IBM Plex Sans" pitchFamily="34" charset="-122"/>
                <a:cs typeface="IBM Plex Sans" pitchFamily="34" charset="-120"/>
              </a:rPr>
              <a:t> </a:t>
            </a:r>
            <a:r>
              <a:rPr lang="en-US" sz="1300" dirty="0" err="1">
                <a:solidFill>
                  <a:srgbClr val="45505F"/>
                </a:solidFill>
                <a:latin typeface="IBM Plex Sans" pitchFamily="34" charset="0"/>
                <a:ea typeface="IBM Plex Sans" pitchFamily="34" charset="-122"/>
                <a:cs typeface="IBM Plex Sans" pitchFamily="34" charset="-120"/>
              </a:rPr>
              <a:t>kurallar</a:t>
            </a:r>
            <a:r>
              <a:rPr lang="en-US" sz="1300" dirty="0">
                <a:solidFill>
                  <a:srgbClr val="45505F"/>
                </a:solidFill>
                <a:latin typeface="IBM Plex Sans" pitchFamily="34" charset="0"/>
                <a:ea typeface="IBM Plex Sans" pitchFamily="34" charset="-122"/>
                <a:cs typeface="IBM Plex Sans" pitchFamily="34" charset="-120"/>
              </a:rPr>
              <a:t> </a:t>
            </a:r>
            <a:r>
              <a:rPr lang="en-US" sz="1300" dirty="0" err="1">
                <a:solidFill>
                  <a:srgbClr val="45505F"/>
                </a:solidFill>
                <a:latin typeface="IBM Plex Sans" pitchFamily="34" charset="0"/>
                <a:ea typeface="IBM Plex Sans" pitchFamily="34" charset="-122"/>
                <a:cs typeface="IBM Plex Sans" pitchFamily="34" charset="-120"/>
              </a:rPr>
              <a:t>oluşturur</a:t>
            </a:r>
            <a:r>
              <a:rPr lang="en-US" sz="1300" dirty="0">
                <a:solidFill>
                  <a:srgbClr val="45505F"/>
                </a:solidFill>
                <a:latin typeface="IBM Plex Sans" pitchFamily="34" charset="0"/>
                <a:ea typeface="IBM Plex Sans" pitchFamily="34" charset="-122"/>
                <a:cs typeface="IBM Plex Sans" pitchFamily="34" charset="-120"/>
              </a:rPr>
              <a:t>: Service </a:t>
            </a:r>
            <a:r>
              <a:rPr lang="en-US" sz="1300" dirty="0" err="1">
                <a:solidFill>
                  <a:srgbClr val="45505F"/>
                </a:solidFill>
                <a:latin typeface="IBM Plex Sans" pitchFamily="34" charset="0"/>
                <a:ea typeface="IBM Plex Sans" pitchFamily="34" charset="-122"/>
                <a:cs typeface="IBM Plex Sans" pitchFamily="34" charset="-120"/>
              </a:rPr>
              <a:t>IP:port</a:t>
            </a:r>
            <a:r>
              <a:rPr lang="en-US" sz="1300" dirty="0">
                <a:solidFill>
                  <a:srgbClr val="45505F"/>
                </a:solidFill>
                <a:latin typeface="IBM Plex Sans" pitchFamily="34" charset="0"/>
                <a:ea typeface="IBM Plex Sans" pitchFamily="34" charset="-122"/>
                <a:cs typeface="IBM Plex Sans" pitchFamily="34" charset="-120"/>
              </a:rPr>
              <a:t> → pod </a:t>
            </a:r>
            <a:r>
              <a:rPr lang="en-US" sz="1300" dirty="0" err="1">
                <a:solidFill>
                  <a:srgbClr val="45505F"/>
                </a:solidFill>
                <a:latin typeface="IBM Plex Sans" pitchFamily="34" charset="0"/>
                <a:ea typeface="IBM Plex Sans" pitchFamily="34" charset="-122"/>
                <a:cs typeface="IBM Plex Sans" pitchFamily="34" charset="-120"/>
              </a:rPr>
              <a:t>IP:port</a:t>
            </a:r>
            <a:r>
              <a:rPr lang="en-US" sz="1300" dirty="0">
                <a:solidFill>
                  <a:srgbClr val="45505F"/>
                </a:solidFill>
                <a:latin typeface="IBM Plex Sans" pitchFamily="34" charset="0"/>
                <a:ea typeface="IBM Plex Sans" pitchFamily="34" charset="-122"/>
                <a:cs typeface="IBM Plex Sans" pitchFamily="34" charset="-120"/>
              </a:rPr>
              <a:t> (DNAT).</a:t>
            </a:r>
            <a:endParaRPr lang="en-US" sz="1300" dirty="0"/>
          </a:p>
          <a:p>
            <a:pPr marL="168656" indent="-168656" algn="l">
              <a:lnSpc>
                <a:spcPts val="1950"/>
              </a:lnSpc>
              <a:buSzPct val="100000"/>
              <a:buChar char="•"/>
            </a:pPr>
            <a:r>
              <a:rPr lang="en-US" sz="1300" dirty="0" err="1">
                <a:solidFill>
                  <a:srgbClr val="45505F"/>
                </a:solidFill>
                <a:latin typeface="IBM Plex Sans" pitchFamily="34" charset="0"/>
                <a:ea typeface="IBM Plex Sans" pitchFamily="34" charset="-122"/>
                <a:cs typeface="IBM Plex Sans" pitchFamily="34" charset="-120"/>
              </a:rPr>
              <a:t>Modlar</a:t>
            </a:r>
            <a:r>
              <a:rPr lang="en-US" sz="1300" dirty="0">
                <a:solidFill>
                  <a:srgbClr val="45505F"/>
                </a:solidFill>
                <a:latin typeface="IBM Plex Sans" pitchFamily="34" charset="0"/>
                <a:ea typeface="IBM Plex Sans" pitchFamily="34" charset="-122"/>
                <a:cs typeface="IBM Plex Sans" pitchFamily="34" charset="-120"/>
              </a:rPr>
              <a:t>: </a:t>
            </a:r>
            <a:r>
              <a:rPr lang="en-US" sz="1300" b="1" dirty="0">
                <a:solidFill>
                  <a:srgbClr val="142033"/>
                </a:solidFill>
                <a:latin typeface="IBM Plex Sans" pitchFamily="34" charset="0"/>
                <a:ea typeface="IBM Plex Sans" pitchFamily="34" charset="-122"/>
                <a:cs typeface="IBM Plex Sans" pitchFamily="34" charset="-120"/>
              </a:rPr>
              <a:t>iptables</a:t>
            </a:r>
            <a:r>
              <a:rPr lang="en-US" sz="1300" dirty="0">
                <a:solidFill>
                  <a:srgbClr val="45505F"/>
                </a:solidFill>
                <a:latin typeface="IBM Plex Sans" pitchFamily="34" charset="0"/>
                <a:ea typeface="IBM Plex Sans" pitchFamily="34" charset="-122"/>
                <a:cs typeface="IBM Plex Sans" pitchFamily="34" charset="-120"/>
              </a:rPr>
              <a:t> (</a:t>
            </a:r>
            <a:r>
              <a:rPr lang="en-US" sz="1300" dirty="0" err="1">
                <a:solidFill>
                  <a:srgbClr val="45505F"/>
                </a:solidFill>
                <a:latin typeface="IBM Plex Sans" pitchFamily="34" charset="0"/>
                <a:ea typeface="IBM Plex Sans" pitchFamily="34" charset="-122"/>
                <a:cs typeface="IBM Plex Sans" pitchFamily="34" charset="-120"/>
              </a:rPr>
              <a:t>varsayılan</a:t>
            </a:r>
            <a:r>
              <a:rPr lang="en-US" sz="1300" dirty="0">
                <a:solidFill>
                  <a:srgbClr val="45505F"/>
                </a:solidFill>
                <a:latin typeface="IBM Plex Sans" pitchFamily="34" charset="0"/>
                <a:ea typeface="IBM Plex Sans" pitchFamily="34" charset="-122"/>
                <a:cs typeface="IBM Plex Sans" pitchFamily="34" charset="-120"/>
              </a:rPr>
              <a:t>), </a:t>
            </a:r>
            <a:r>
              <a:rPr lang="en-US" sz="1300" b="1" dirty="0">
                <a:solidFill>
                  <a:srgbClr val="142033"/>
                </a:solidFill>
                <a:latin typeface="IBM Plex Sans" pitchFamily="34" charset="0"/>
                <a:ea typeface="IBM Plex Sans" pitchFamily="34" charset="-122"/>
                <a:cs typeface="IBM Plex Sans" pitchFamily="34" charset="-120"/>
              </a:rPr>
              <a:t>IPVS </a:t>
            </a:r>
            <a:r>
              <a:rPr lang="en-US" sz="1400" dirty="0"/>
              <a:t>(IP Virtual Server)</a:t>
            </a:r>
            <a:r>
              <a:rPr lang="en-US" sz="1300" b="1" dirty="0">
                <a:solidFill>
                  <a:srgbClr val="142033"/>
                </a:solidFill>
                <a:latin typeface="IBM Plex Sans" pitchFamily="34" charset="0"/>
                <a:ea typeface="IBM Plex Sans" pitchFamily="34" charset="-122"/>
                <a:cs typeface="IBM Plex Sans" pitchFamily="34" charset="-120"/>
              </a:rPr>
              <a:t> </a:t>
            </a:r>
            <a:r>
              <a:rPr lang="en-US" sz="1300" dirty="0">
                <a:solidFill>
                  <a:srgbClr val="45505F"/>
                </a:solidFill>
                <a:latin typeface="IBM Plex Sans" pitchFamily="34" charset="0"/>
                <a:ea typeface="IBM Plex Sans" pitchFamily="34" charset="-122"/>
                <a:cs typeface="IBM Plex Sans" pitchFamily="34" charset="-120"/>
              </a:rPr>
              <a:t>, yeni </a:t>
            </a:r>
            <a:r>
              <a:rPr lang="en-US" sz="1300" b="1" dirty="0" err="1">
                <a:solidFill>
                  <a:srgbClr val="142033"/>
                </a:solidFill>
                <a:latin typeface="IBM Plex Sans" pitchFamily="34" charset="0"/>
                <a:ea typeface="IBM Plex Sans" pitchFamily="34" charset="-122"/>
                <a:cs typeface="IBM Plex Sans" pitchFamily="34" charset="-120"/>
              </a:rPr>
              <a:t>nftables</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a:p>
            <a:pPr marL="168656" indent="-168656" algn="l">
              <a:lnSpc>
                <a:spcPts val="1950"/>
              </a:lnSpc>
              <a:buSzPct val="100000"/>
              <a:buChar char="•"/>
            </a:pPr>
            <a:r>
              <a:rPr lang="en-US" sz="1300" dirty="0" err="1">
                <a:solidFill>
                  <a:srgbClr val="45505F"/>
                </a:solidFill>
                <a:latin typeface="IBM Plex Sans" pitchFamily="34" charset="0"/>
                <a:ea typeface="IBM Plex Sans" pitchFamily="34" charset="-122"/>
                <a:cs typeface="IBM Plex Sans" pitchFamily="34" charset="-120"/>
              </a:rPr>
              <a:t>kubeadm</a:t>
            </a:r>
            <a:r>
              <a:rPr lang="en-US" sz="1300" dirty="0">
                <a:solidFill>
                  <a:srgbClr val="45505F"/>
                </a:solidFill>
                <a:latin typeface="IBM Plex Sans" pitchFamily="34" charset="0"/>
                <a:ea typeface="IBM Plex Sans" pitchFamily="34" charset="-122"/>
                <a:cs typeface="IBM Plex Sans" pitchFamily="34" charset="-120"/>
              </a:rPr>
              <a:t> onu her node'da bir </a:t>
            </a:r>
            <a:r>
              <a:rPr lang="en-US" sz="1300" b="1" dirty="0">
                <a:solidFill>
                  <a:srgbClr val="142033"/>
                </a:solidFill>
                <a:latin typeface="IBM Plex Sans" pitchFamily="34" charset="0"/>
                <a:ea typeface="IBM Plex Sans" pitchFamily="34" charset="-122"/>
                <a:cs typeface="IBM Plex Sans" pitchFamily="34" charset="-120"/>
              </a:rPr>
              <a:t>DaemonSet</a:t>
            </a:r>
            <a:r>
              <a:rPr lang="en-US" sz="1300" dirty="0">
                <a:solidFill>
                  <a:srgbClr val="45505F"/>
                </a:solidFill>
                <a:latin typeface="IBM Plex Sans" pitchFamily="34" charset="0"/>
                <a:ea typeface="IBM Plex Sans" pitchFamily="34" charset="-122"/>
                <a:cs typeface="IBM Plex Sans" pitchFamily="34" charset="-120"/>
              </a:rPr>
              <a:t> olarak çalıştırır.</a:t>
            </a:r>
            <a:endParaRPr lang="en-US" sz="1300" dirty="0"/>
          </a:p>
        </p:txBody>
      </p:sp>
      <p:sp>
        <p:nvSpPr>
          <p:cNvPr id="6" name="Text 4"/>
          <p:cNvSpPr/>
          <p:nvPr/>
        </p:nvSpPr>
        <p:spPr>
          <a:xfrm>
            <a:off x="7442200" y="1775420"/>
            <a:ext cx="3937000" cy="716161"/>
          </a:xfrm>
          <a:prstGeom prst="roundRect">
            <a:avLst>
              <a:gd name="adj" fmla="val 8867"/>
            </a:avLst>
          </a:prstGeom>
          <a:solidFill>
            <a:srgbClr val="DCE6F7"/>
          </a:solidFill>
          <a:ln/>
        </p:spPr>
        <p:txBody>
          <a:bodyPr wrap="square" lIns="53156" tIns="108401" rIns="53156" bIns="83001" rtlCol="0" anchor="t">
            <a:normAutofit/>
          </a:bodyPr>
          <a:lstStyle/>
          <a:p>
            <a:pPr marL="0" indent="0" algn="ctr">
              <a:lnSpc>
                <a:spcPts val="1820"/>
              </a:lnSpc>
              <a:buNone/>
            </a:pPr>
            <a:r>
              <a:rPr lang="en-US" sz="1300" dirty="0">
                <a:solidFill>
                  <a:srgbClr val="142033"/>
                </a:solidFill>
                <a:latin typeface="IBM Plex Sans" pitchFamily="34" charset="0"/>
                <a:ea typeface="IBM Plex Sans" pitchFamily="34" charset="-122"/>
                <a:cs typeface="IBM Plex Sans" pitchFamily="34" charset="-120"/>
              </a:rPr>
              <a:t>web pod → db-service</a:t>
            </a:r>
            <a:endParaRPr lang="en-US" sz="1300" dirty="0"/>
          </a:p>
          <a:p>
            <a:pPr marL="0" indent="0" algn="ctr">
              <a:lnSpc>
                <a:spcPts val="1820"/>
              </a:lnSpc>
              <a:buNone/>
            </a:pPr>
            <a:r>
              <a:rPr lang="en-US" sz="1300" dirty="0">
                <a:solidFill>
                  <a:srgbClr val="142033"/>
                </a:solidFill>
                <a:latin typeface="IBM Plex Sans" pitchFamily="34" charset="0"/>
                <a:ea typeface="IBM Plex Sans" pitchFamily="34" charset="-122"/>
                <a:cs typeface="IBM Plex Sans" pitchFamily="34" charset="-120"/>
              </a:rPr>
              <a:t>10.96.0.12:5432</a:t>
            </a:r>
            <a:endParaRPr lang="en-US" sz="1300" dirty="0"/>
          </a:p>
        </p:txBody>
      </p:sp>
      <p:pic>
        <p:nvPicPr>
          <p:cNvPr id="7" name="Image 0" descr="arrow-down"/>
          <p:cNvPicPr>
            <a:picLocks noChangeAspect="1"/>
          </p:cNvPicPr>
          <p:nvPr/>
        </p:nvPicPr>
        <p:blipFill>
          <a:blip r:embed="rId3"/>
          <a:srcRect/>
          <a:stretch/>
        </p:blipFill>
        <p:spPr>
          <a:xfrm>
            <a:off x="9283700" y="2580481"/>
            <a:ext cx="254000" cy="355600"/>
          </a:xfrm>
          <a:prstGeom prst="rect">
            <a:avLst/>
          </a:prstGeom>
        </p:spPr>
      </p:pic>
      <p:sp>
        <p:nvSpPr>
          <p:cNvPr id="8" name="Text 5"/>
          <p:cNvSpPr/>
          <p:nvPr/>
        </p:nvSpPr>
        <p:spPr>
          <a:xfrm>
            <a:off x="7442200" y="3024981"/>
            <a:ext cx="3937000" cy="485080"/>
          </a:xfrm>
          <a:prstGeom prst="roundRect">
            <a:avLst>
              <a:gd name="adj" fmla="val 13091"/>
            </a:avLst>
          </a:prstGeom>
          <a:solidFill>
            <a:srgbClr val="142033"/>
          </a:solidFill>
          <a:ln/>
        </p:spPr>
        <p:txBody>
          <a:bodyPr wrap="square" lIns="53156" tIns="108401" rIns="53156" bIns="83001" rtlCol="0" anchor="t">
            <a:normAutofit/>
          </a:bodyPr>
          <a:lstStyle/>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iptables kuralı (kube-proxy)</a:t>
            </a:r>
            <a:endParaRPr lang="en-US" sz="1300" dirty="0"/>
          </a:p>
        </p:txBody>
      </p:sp>
      <p:pic>
        <p:nvPicPr>
          <p:cNvPr id="9" name="Image 1" descr="arrow-down"/>
          <p:cNvPicPr>
            <a:picLocks noChangeAspect="1"/>
          </p:cNvPicPr>
          <p:nvPr/>
        </p:nvPicPr>
        <p:blipFill>
          <a:blip r:embed="rId3"/>
          <a:srcRect/>
          <a:stretch/>
        </p:blipFill>
        <p:spPr>
          <a:xfrm>
            <a:off x="9283700" y="3598962"/>
            <a:ext cx="254000" cy="355600"/>
          </a:xfrm>
          <a:prstGeom prst="rect">
            <a:avLst/>
          </a:prstGeom>
        </p:spPr>
      </p:pic>
      <p:sp>
        <p:nvSpPr>
          <p:cNvPr id="10" name="Text 6"/>
          <p:cNvSpPr/>
          <p:nvPr/>
        </p:nvSpPr>
        <p:spPr>
          <a:xfrm>
            <a:off x="7445375" y="4046637"/>
            <a:ext cx="3930650" cy="491430"/>
          </a:xfrm>
          <a:prstGeom prst="roundRect">
            <a:avLst>
              <a:gd name="adj" fmla="val 12275"/>
            </a:avLst>
          </a:prstGeom>
          <a:solidFill>
            <a:srgbClr val="FDFCF9"/>
          </a:solidFill>
          <a:ln w="6350">
            <a:solidFill>
              <a:srgbClr val="E2DFD6"/>
            </a:solidFill>
            <a:prstDash val="solid"/>
          </a:ln>
        </p:spPr>
        <p:txBody>
          <a:bodyPr wrap="square" lIns="57452" tIns="112506" rIns="57452" bIns="87106" rtlCol="0" anchor="t">
            <a:normAutofit/>
          </a:bodyPr>
          <a:lstStyle/>
          <a:p>
            <a:pPr marL="0" indent="0" algn="ctr">
              <a:lnSpc>
                <a:spcPts val="1820"/>
              </a:lnSpc>
              <a:buNone/>
            </a:pPr>
            <a:r>
              <a:rPr lang="en-US" sz="1300" dirty="0">
                <a:solidFill>
                  <a:srgbClr val="142033"/>
                </a:solidFill>
                <a:latin typeface="IBM Plex Sans" pitchFamily="34" charset="0"/>
                <a:ea typeface="IBM Plex Sans" pitchFamily="34" charset="-122"/>
                <a:cs typeface="IBM Plex Sans" pitchFamily="34" charset="-120"/>
              </a:rPr>
              <a:t>db pod 10.244.2.7:5432</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DOCKER VS CONTAINERD</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Kubernetes Docker'ı değil, CRI'ı konuşur</a:t>
            </a:r>
            <a:endParaRPr lang="en-US" sz="3000" dirty="0"/>
          </a:p>
        </p:txBody>
      </p:sp>
      <p:sp>
        <p:nvSpPr>
          <p:cNvPr id="4" name="Text 2"/>
          <p:cNvSpPr/>
          <p:nvPr/>
        </p:nvSpPr>
        <p:spPr>
          <a:xfrm>
            <a:off x="898144" y="1775420"/>
            <a:ext cx="5558028" cy="17589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CRI</a:t>
            </a:r>
            <a:r>
              <a:rPr lang="en-US" sz="1300" dirty="0">
                <a:solidFill>
                  <a:srgbClr val="45505F"/>
                </a:solidFill>
                <a:latin typeface="IBM Plex Sans" pitchFamily="34" charset="0"/>
                <a:ea typeface="IBM Plex Sans" pitchFamily="34" charset="-122"/>
                <a:cs typeface="IBM Plex Sans" pitchFamily="34" charset="-120"/>
              </a:rPr>
              <a:t> (Container Runtime Interface): kubelet ile runtime arasındaki standart arayüz. containerd ve CRI-O bunu destekler.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Docker CRI'ı desteklemediği için arada </a:t>
            </a:r>
            <a:r>
              <a:rPr lang="en-US" sz="1300" b="1" dirty="0">
                <a:solidFill>
                  <a:srgbClr val="142033"/>
                </a:solidFill>
                <a:latin typeface="IBM Plex Sans" pitchFamily="34" charset="0"/>
                <a:ea typeface="IBM Plex Sans" pitchFamily="34" charset="-122"/>
                <a:cs typeface="IBM Plex Sans" pitchFamily="34" charset="-120"/>
              </a:rPr>
              <a:t>dockershim</a:t>
            </a:r>
            <a:r>
              <a:rPr lang="en-US" sz="1300" dirty="0">
                <a:solidFill>
                  <a:srgbClr val="45505F"/>
                </a:solidFill>
                <a:latin typeface="IBM Plex Sans" pitchFamily="34" charset="0"/>
                <a:ea typeface="IBM Plex Sans" pitchFamily="34" charset="-122"/>
                <a:cs typeface="IBM Plex Sans" pitchFamily="34" charset="-120"/>
              </a:rPr>
              <a:t> vardı; Kubernetes </a:t>
            </a:r>
            <a:r>
              <a:rPr lang="en-US" sz="1300" b="1" dirty="0">
                <a:solidFill>
                  <a:srgbClr val="142033"/>
                </a:solidFill>
                <a:latin typeface="IBM Plex Sans" pitchFamily="34" charset="0"/>
                <a:ea typeface="IBM Plex Sans" pitchFamily="34" charset="-122"/>
                <a:cs typeface="IBM Plex Sans" pitchFamily="34" charset="-120"/>
              </a:rPr>
              <a:t>1.24</a:t>
            </a:r>
            <a:r>
              <a:rPr lang="en-US" sz="1300" dirty="0">
                <a:solidFill>
                  <a:srgbClr val="45505F"/>
                </a:solidFill>
                <a:latin typeface="IBM Plex Sans" pitchFamily="34" charset="0"/>
                <a:ea typeface="IBM Plex Sans" pitchFamily="34" charset="-122"/>
                <a:cs typeface="IBM Plex Sans" pitchFamily="34" charset="-120"/>
              </a:rPr>
              <a:t>'te kaldırıldı.</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Docker ile build edilen image'lar OCI uyumludur — containerd'de sorunsuz çalışır. Geliştirici için Docker hâlâ geçerli.</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containerd, Docker'ın içinden çıkmış, ayrı bir CNCF projesidir.</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65900" y="1788120"/>
          <a:ext cx="4813300" cy="1543645"/>
        </p:xfrm>
        <a:graphic>
          <a:graphicData uri="http://schemas.openxmlformats.org/drawingml/2006/table">
            <a:tbl>
              <a:tblPr/>
              <a:tblGrid>
                <a:gridCol w="1155192">
                  <a:extLst>
                    <a:ext uri="{9D8B030D-6E8A-4147-A177-3AD203B41FA5}">
                      <a16:colId xmlns:a16="http://schemas.microsoft.com/office/drawing/2014/main" val="20000"/>
                    </a:ext>
                  </a:extLst>
                </a:gridCol>
                <a:gridCol w="1732788">
                  <a:extLst>
                    <a:ext uri="{9D8B030D-6E8A-4147-A177-3AD203B41FA5}">
                      <a16:colId xmlns:a16="http://schemas.microsoft.com/office/drawing/2014/main" val="20001"/>
                    </a:ext>
                  </a:extLst>
                </a:gridCol>
                <a:gridCol w="1925320">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Araç</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Kime ait</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Kullanım</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ctr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containerd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Düşük seviye, debug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nerdctl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containerd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Docker benzeri CLI</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crictl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Kubernetes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Tüm CRI runtime'ları; node debug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812800" y="3762970"/>
            <a:ext cx="10566400" cy="552450"/>
          </a:xfrm>
          <a:prstGeom prst="roundRect">
            <a:avLst>
              <a:gd name="adj" fmla="val 11494"/>
            </a:avLst>
          </a:prstGeom>
          <a:solidFill>
            <a:srgbClr val="DCE6F7"/>
          </a:solidFill>
          <a:ln/>
        </p:spPr>
        <p:txBody>
          <a:bodyPr wrap="square" lIns="133801" tIns="133801" rIns="0" bIns="108401" rtlCol="0" anchor="t">
            <a:normAutofit/>
          </a:bodyPr>
          <a:lstStyle/>
          <a:p>
            <a:pPr marL="0" indent="0" algn="l">
              <a:lnSpc>
                <a:spcPts val="1950"/>
              </a:lnSpc>
              <a:buNone/>
            </a:pPr>
            <a:r>
              <a:rPr lang="en-US" sz="1300" dirty="0">
                <a:solidFill>
                  <a:srgbClr val="142033"/>
                </a:solidFill>
                <a:latin typeface="IBM Plex Sans" pitchFamily="34" charset="0"/>
                <a:ea typeface="IBM Plex Sans" pitchFamily="34" charset="-122"/>
                <a:cs typeface="IBM Plex Sans" pitchFamily="34" charset="-120"/>
              </a:rPr>
              <a:t>Node üzerinde sorun ararken: </a:t>
            </a:r>
            <a:r>
              <a:rPr lang="en-US" sz="1300" b="1" dirty="0">
                <a:solidFill>
                  <a:srgbClr val="142033"/>
                </a:solidFill>
                <a:latin typeface="IBM Plex Sans" pitchFamily="34" charset="0"/>
                <a:ea typeface="IBM Plex Sans" pitchFamily="34" charset="-122"/>
                <a:cs typeface="IBM Plex Sans" pitchFamily="34" charset="-120"/>
              </a:rPr>
              <a:t>crictl ps</a:t>
            </a:r>
            <a:r>
              <a:rPr lang="en-US" sz="1300" dirty="0">
                <a:solidFill>
                  <a:srgbClr val="142033"/>
                </a:solidFill>
                <a:latin typeface="IBM Plex Sans" pitchFamily="34" charset="0"/>
                <a:ea typeface="IBM Plex Sans" pitchFamily="34" charset="-122"/>
                <a:cs typeface="IBM Plex Sans" pitchFamily="34" charset="-120"/>
              </a:rPr>
              <a:t>, </a:t>
            </a:r>
            <a:r>
              <a:rPr lang="en-US" sz="1300" b="1" dirty="0">
                <a:solidFill>
                  <a:srgbClr val="142033"/>
                </a:solidFill>
                <a:latin typeface="IBM Plex Sans" pitchFamily="34" charset="0"/>
                <a:ea typeface="IBM Plex Sans" pitchFamily="34" charset="-122"/>
                <a:cs typeface="IBM Plex Sans" pitchFamily="34" charset="-120"/>
              </a:rPr>
              <a:t>crictl pods</a:t>
            </a:r>
            <a:r>
              <a:rPr lang="en-US" sz="1300" dirty="0">
                <a:solidFill>
                  <a:srgbClr val="142033"/>
                </a:solidFill>
                <a:latin typeface="IBM Plex Sans" pitchFamily="34" charset="0"/>
                <a:ea typeface="IBM Plex Sans" pitchFamily="34" charset="-122"/>
                <a:cs typeface="IBM Plex Sans" pitchFamily="34" charset="-120"/>
              </a:rPr>
              <a:t>, </a:t>
            </a:r>
            <a:r>
              <a:rPr lang="en-US" sz="1300" b="1" dirty="0">
                <a:solidFill>
                  <a:srgbClr val="142033"/>
                </a:solidFill>
                <a:latin typeface="IBM Plex Sans" pitchFamily="34" charset="0"/>
                <a:ea typeface="IBM Plex Sans" pitchFamily="34" charset="-122"/>
                <a:cs typeface="IBM Plex Sans" pitchFamily="34" charset="-120"/>
              </a:rPr>
              <a:t>crictl logs &lt;id&gt;</a:t>
            </a:r>
            <a:r>
              <a:rPr lang="en-US" sz="1300" dirty="0">
                <a:solidFill>
                  <a:srgbClr val="142033"/>
                </a:solidFill>
                <a:latin typeface="IBM Plex Sans" pitchFamily="34" charset="0"/>
                <a:ea typeface="IBM Plex Sans" pitchFamily="34" charset="-122"/>
                <a:cs typeface="IBM Plex Sans" pitchFamily="34" charset="-120"/>
              </a:rPr>
              <a:t> — docker komutları yerine bunlar.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POD</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En küçük birim neden container değil, Pod?</a:t>
            </a:r>
            <a:endParaRPr lang="en-US" sz="3000" dirty="0"/>
          </a:p>
        </p:txBody>
      </p:sp>
      <p:sp>
        <p:nvSpPr>
          <p:cNvPr id="4" name="Text 2"/>
          <p:cNvSpPr/>
          <p:nvPr/>
        </p:nvSpPr>
        <p:spPr>
          <a:xfrm>
            <a:off x="812800" y="1775420"/>
            <a:ext cx="669747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033"/>
                </a:solidFill>
                <a:latin typeface="IBM Plex Sans" pitchFamily="34" charset="0"/>
                <a:ea typeface="IBM Plex Sans" pitchFamily="34" charset="-122"/>
                <a:cs typeface="IBM Plex Sans" pitchFamily="34" charset="-120"/>
              </a:rPr>
              <a:t>Pod; aynı ağı, aynı depolamayı ve aynı yaşam döngüsünü paylaşan bir veya daha fazla container'ın sarmalayıcısıdır.</a:t>
            </a:r>
            <a:endParaRPr lang="en-US" sz="1600" dirty="0"/>
          </a:p>
        </p:txBody>
      </p:sp>
      <p:sp>
        <p:nvSpPr>
          <p:cNvPr id="5" name="Text 3"/>
          <p:cNvSpPr/>
          <p:nvPr/>
        </p:nvSpPr>
        <p:spPr>
          <a:xfrm>
            <a:off x="898144" y="2471341"/>
            <a:ext cx="6604508" cy="12636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Pod'daki container'lar tek bir IP'yi paylaşır; birbirine </a:t>
            </a:r>
            <a:r>
              <a:rPr lang="en-US" sz="1300" b="1" dirty="0">
                <a:solidFill>
                  <a:srgbClr val="142033"/>
                </a:solidFill>
                <a:latin typeface="IBM Plex Sans" pitchFamily="34" charset="0"/>
                <a:ea typeface="IBM Plex Sans" pitchFamily="34" charset="-122"/>
                <a:cs typeface="IBM Plex Sans" pitchFamily="34" charset="-120"/>
              </a:rPr>
              <a:t>localhost</a:t>
            </a:r>
            <a:r>
              <a:rPr lang="en-US" sz="1300" dirty="0">
                <a:solidFill>
                  <a:srgbClr val="45505F"/>
                </a:solidFill>
                <a:latin typeface="IBM Plex Sans" pitchFamily="34" charset="0"/>
                <a:ea typeface="IBM Plex Sans" pitchFamily="34" charset="-122"/>
                <a:cs typeface="IBM Plex Sans" pitchFamily="34" charset="-120"/>
              </a:rPr>
              <a:t> ile erişir.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Birlikte oluşturulur, birlikte silinir, aynı node'a yerleşir.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Ölçekleme = yeni </a:t>
            </a:r>
            <a:r>
              <a:rPr lang="en-US" sz="1300" b="1" dirty="0">
                <a:solidFill>
                  <a:srgbClr val="142033"/>
                </a:solidFill>
                <a:latin typeface="IBM Plex Sans" pitchFamily="34" charset="0"/>
                <a:ea typeface="IBM Plex Sans" pitchFamily="34" charset="-122"/>
                <a:cs typeface="IBM Plex Sans" pitchFamily="34" charset="-120"/>
              </a:rPr>
              <a:t>pod</a:t>
            </a:r>
            <a:r>
              <a:rPr lang="en-US" sz="1300" dirty="0">
                <a:solidFill>
                  <a:srgbClr val="45505F"/>
                </a:solidFill>
                <a:latin typeface="IBM Plex Sans" pitchFamily="34" charset="0"/>
                <a:ea typeface="IBM Plex Sans" pitchFamily="34" charset="-122"/>
                <a:cs typeface="IBM Plex Sans" pitchFamily="34" charset="-120"/>
              </a:rPr>
              <a:t> eklemek; mevcut pod'a container eklemek değil.</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Pod'lar geçicidir (ephemeral): ölen pod aynı IP ile geri gelmez, yerine yenisi oluşur.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Genelde 1 pod = 1 uygulama container'ı (+ gerekirse yardımcı container).</a:t>
            </a:r>
            <a:endParaRPr lang="en-US" sz="1300" dirty="0"/>
          </a:p>
        </p:txBody>
      </p:sp>
      <p:sp>
        <p:nvSpPr>
          <p:cNvPr id="6" name="Shape 4"/>
          <p:cNvSpPr/>
          <p:nvPr/>
        </p:nvSpPr>
        <p:spPr>
          <a:xfrm>
            <a:off x="7575550" y="1781770"/>
            <a:ext cx="3797300" cy="2532063"/>
          </a:xfrm>
          <a:prstGeom prst="roundRect">
            <a:avLst>
              <a:gd name="adj" fmla="val 3762"/>
            </a:avLst>
          </a:prstGeom>
          <a:solidFill>
            <a:srgbClr val="FDFCF9"/>
          </a:solidFill>
          <a:ln w="12700">
            <a:solidFill>
              <a:srgbClr val="2F6BD8"/>
            </a:solidFill>
            <a:prstDash val="solid"/>
          </a:ln>
        </p:spPr>
      </p:sp>
      <p:sp>
        <p:nvSpPr>
          <p:cNvPr id="7" name="Text 5"/>
          <p:cNvSpPr/>
          <p:nvPr/>
        </p:nvSpPr>
        <p:spPr>
          <a:xfrm>
            <a:off x="7759700" y="1965920"/>
            <a:ext cx="35318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POD · 10.244.1.5</a:t>
            </a:r>
            <a:endParaRPr lang="en-US" sz="1200" dirty="0"/>
          </a:p>
        </p:txBody>
      </p:sp>
      <p:sp>
        <p:nvSpPr>
          <p:cNvPr id="8" name="Text 6"/>
          <p:cNvSpPr/>
          <p:nvPr/>
        </p:nvSpPr>
        <p:spPr>
          <a:xfrm>
            <a:off x="7759700" y="2280841"/>
            <a:ext cx="3429000" cy="716161"/>
          </a:xfrm>
          <a:prstGeom prst="roundRect">
            <a:avLst>
              <a:gd name="adj" fmla="val 8867"/>
            </a:avLst>
          </a:prstGeom>
          <a:solidFill>
            <a:srgbClr val="142033"/>
          </a:solidFill>
          <a:ln/>
        </p:spPr>
        <p:txBody>
          <a:bodyPr wrap="square" lIns="108401" tIns="108401" rIns="13151" bIns="83001" rtlCol="0" anchor="t">
            <a:normAutofit/>
          </a:bodyPr>
          <a:lstStyle/>
          <a:p>
            <a:pPr marL="0" indent="0" algn="l">
              <a:lnSpc>
                <a:spcPts val="1820"/>
              </a:lnSpc>
              <a:buNone/>
            </a:pPr>
            <a:r>
              <a:rPr lang="en-US" sz="1300" dirty="0">
                <a:solidFill>
                  <a:srgbClr val="F5F4EF"/>
                </a:solidFill>
                <a:latin typeface="IBM Plex Sans" pitchFamily="34" charset="0"/>
                <a:ea typeface="IBM Plex Sans" pitchFamily="34" charset="-122"/>
                <a:cs typeface="IBM Plex Sans" pitchFamily="34" charset="-120"/>
              </a:rPr>
              <a:t>Uygulama container'ı</a:t>
            </a:r>
            <a:endParaRPr lang="en-US" sz="1300" dirty="0"/>
          </a:p>
          <a:p>
            <a:pPr marL="0" indent="0" algn="l">
              <a:lnSpc>
                <a:spcPts val="1820"/>
              </a:lnSpc>
              <a:buNone/>
            </a:pPr>
            <a:r>
              <a:rPr lang="en-US" sz="1300" dirty="0">
                <a:solidFill>
                  <a:srgbClr val="F5F4EF"/>
                </a:solidFill>
                <a:latin typeface="IBM Plex Sans" pitchFamily="34" charset="0"/>
                <a:ea typeface="IBM Plex Sans" pitchFamily="34" charset="-122"/>
                <a:cs typeface="IBM Plex Sans" pitchFamily="34" charset="-120"/>
              </a:rPr>
              <a:t>:8080</a:t>
            </a:r>
            <a:endParaRPr lang="en-US" sz="1300" dirty="0"/>
          </a:p>
        </p:txBody>
      </p:sp>
      <p:sp>
        <p:nvSpPr>
          <p:cNvPr id="9" name="Text 7"/>
          <p:cNvSpPr/>
          <p:nvPr/>
        </p:nvSpPr>
        <p:spPr>
          <a:xfrm>
            <a:off x="7759700" y="3098602"/>
            <a:ext cx="3429000" cy="716161"/>
          </a:xfrm>
          <a:prstGeom prst="roundRect">
            <a:avLst>
              <a:gd name="adj" fmla="val 8867"/>
            </a:avLst>
          </a:prstGeom>
          <a:solidFill>
            <a:srgbClr val="DCE6F7"/>
          </a:solidFill>
          <a:ln/>
        </p:spPr>
        <p:txBody>
          <a:bodyPr wrap="square" lIns="108401" tIns="108401" rIns="13151" bIns="83001" rtlCol="0" anchor="t">
            <a:normAutofit/>
          </a:bodyPr>
          <a:lstStyle/>
          <a:p>
            <a:pPr marL="0" indent="0" algn="l">
              <a:lnSpc>
                <a:spcPts val="1820"/>
              </a:lnSpc>
              <a:buNone/>
            </a:pPr>
            <a:r>
              <a:rPr lang="en-US" sz="1300" dirty="0">
                <a:solidFill>
                  <a:srgbClr val="142033"/>
                </a:solidFill>
                <a:latin typeface="IBM Plex Sans" pitchFamily="34" charset="0"/>
                <a:ea typeface="IBM Plex Sans" pitchFamily="34" charset="-122"/>
                <a:cs typeface="IBM Plex Sans" pitchFamily="34" charset="-120"/>
              </a:rPr>
              <a:t>Yardımcı (sidecar)</a:t>
            </a:r>
            <a:endParaRPr lang="en-US" sz="1300" dirty="0"/>
          </a:p>
          <a:p>
            <a:pPr marL="0" indent="0" algn="l">
              <a:lnSpc>
                <a:spcPts val="1820"/>
              </a:lnSpc>
              <a:buNone/>
            </a:pPr>
            <a:r>
              <a:rPr lang="en-US" sz="1300" dirty="0">
                <a:solidFill>
                  <a:srgbClr val="142033"/>
                </a:solidFill>
                <a:latin typeface="IBM Plex Sans" pitchFamily="34" charset="0"/>
                <a:ea typeface="IBM Plex Sans" pitchFamily="34" charset="-122"/>
                <a:cs typeface="IBM Plex Sans" pitchFamily="34" charset="-120"/>
              </a:rPr>
              <a:t>log toplayıcı</a:t>
            </a:r>
            <a:endParaRPr lang="en-US" sz="1300" dirty="0"/>
          </a:p>
        </p:txBody>
      </p:sp>
      <p:sp>
        <p:nvSpPr>
          <p:cNvPr id="10" name="Text 8"/>
          <p:cNvSpPr/>
          <p:nvPr/>
        </p:nvSpPr>
        <p:spPr>
          <a:xfrm>
            <a:off x="7759700" y="3916362"/>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Ortak: network namespace, IPC, volume'lar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POD TANIMI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Bir Pod'u YAML ile tanımlamak</a:t>
            </a:r>
            <a:endParaRPr lang="en-US" sz="3000" dirty="0"/>
          </a:p>
        </p:txBody>
      </p:sp>
      <p:sp>
        <p:nvSpPr>
          <p:cNvPr id="4" name="Text 2"/>
          <p:cNvSpPr/>
          <p:nvPr/>
        </p:nvSpPr>
        <p:spPr>
          <a:xfrm>
            <a:off x="812800" y="1775420"/>
            <a:ext cx="4826000" cy="3278882"/>
          </a:xfrm>
          <a:prstGeom prst="roundRect">
            <a:avLst>
              <a:gd name="adj" fmla="val 2324"/>
            </a:avLst>
          </a:prstGeom>
          <a:solidFill>
            <a:srgbClr val="1B2A41"/>
          </a:solidFill>
          <a:ln/>
        </p:spPr>
        <p:txBody>
          <a:bodyPr wrap="square" lIns="180882" tIns="180882" rIns="4829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Pod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myapp-pod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labels: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app: myapp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tier: frontend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containers: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nginx</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 nginx:1.27</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ports: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containerPort: 80</a:t>
            </a:r>
            <a:endParaRPr lang="en-US" sz="1200" dirty="0"/>
          </a:p>
        </p:txBody>
      </p:sp>
      <p:sp>
        <p:nvSpPr>
          <p:cNvPr id="5" name="Text 3"/>
          <p:cNvSpPr/>
          <p:nvPr/>
        </p:nvSpPr>
        <p:spPr>
          <a:xfrm>
            <a:off x="5892800" y="1775420"/>
            <a:ext cx="5486400" cy="1681361"/>
          </a:xfrm>
          <a:prstGeom prst="roundRect">
            <a:avLst>
              <a:gd name="adj" fmla="val 4532"/>
            </a:avLst>
          </a:prstGeom>
          <a:solidFill>
            <a:srgbClr val="1B2A41"/>
          </a:solidFill>
          <a:ln/>
        </p:spPr>
        <p:txBody>
          <a:bodyPr wrap="square" lIns="155482" tIns="155482" rIns="1558" bIns="1300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imperatif</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run nginx --image=nginx</a:t>
            </a: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dosyadan</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apply -f pod.yaml</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get pods -o wide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describe pod myapp-pod</a:t>
            </a:r>
            <a:endParaRPr lang="en-US" sz="1200" dirty="0"/>
          </a:p>
        </p:txBody>
      </p:sp>
      <p:sp>
        <p:nvSpPr>
          <p:cNvPr id="6" name="Text 4"/>
          <p:cNvSpPr/>
          <p:nvPr/>
        </p:nvSpPr>
        <p:spPr>
          <a:xfrm>
            <a:off x="5892800" y="3583781"/>
            <a:ext cx="5650992" cy="7683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Pod'un çalışırken değiştirilebilen alanları sınırlıdır (image, tolerations, activeDeadlineSeconds…). Diğer alanlar için pod silinip yeniden oluşturulur — ya da Deployment kullanılır.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MANIFEST YAPISI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Her nesnede aynı dört üst alan</a:t>
            </a:r>
            <a:endParaRPr lang="en-US" sz="3000" dirty="0"/>
          </a:p>
        </p:txBody>
      </p:sp>
      <p:sp>
        <p:nvSpPr>
          <p:cNvPr id="4" name="Shape 2"/>
          <p:cNvSpPr/>
          <p:nvPr/>
        </p:nvSpPr>
        <p:spPr>
          <a:xfrm>
            <a:off x="815975" y="1778595"/>
            <a:ext cx="5200650" cy="1194891"/>
          </a:xfrm>
          <a:prstGeom prst="roundRect">
            <a:avLst>
              <a:gd name="adj" fmla="val 6111"/>
            </a:avLst>
          </a:prstGeom>
          <a:solidFill>
            <a:srgbClr val="FDFCF9"/>
          </a:solidFill>
          <a:ln w="6350">
            <a:solidFill>
              <a:srgbClr val="E2DFD6"/>
            </a:solidFill>
            <a:prstDash val="solid"/>
          </a:ln>
        </p:spPr>
      </p:sp>
      <p:sp>
        <p:nvSpPr>
          <p:cNvPr id="5" name="Text 3"/>
          <p:cNvSpPr/>
          <p:nvPr/>
        </p:nvSpPr>
        <p:spPr>
          <a:xfrm>
            <a:off x="1022350" y="1984970"/>
            <a:ext cx="49315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JetBrains Mono" pitchFamily="49" charset="0"/>
                <a:ea typeface="JetBrains Mono" pitchFamily="49" charset="-122"/>
                <a:cs typeface="JetBrains Mono" pitchFamily="49" charset="-120"/>
              </a:rPr>
              <a:t>apiVersion</a:t>
            </a:r>
            <a:endParaRPr lang="en-US" sz="1600" dirty="0"/>
          </a:p>
        </p:txBody>
      </p:sp>
      <p:sp>
        <p:nvSpPr>
          <p:cNvPr id="6" name="Text 4"/>
          <p:cNvSpPr/>
          <p:nvPr/>
        </p:nvSpPr>
        <p:spPr>
          <a:xfrm>
            <a:off x="1022350" y="2304951"/>
            <a:ext cx="493153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Nesnenin API grubu ve sürümü: Pod, Service → </a:t>
            </a:r>
            <a:r>
              <a:rPr lang="en-US" sz="1300" b="1" dirty="0">
                <a:solidFill>
                  <a:srgbClr val="45505F"/>
                </a:solidFill>
                <a:latin typeface="IBM Plex Sans" pitchFamily="34" charset="0"/>
                <a:ea typeface="IBM Plex Sans" pitchFamily="34" charset="-122"/>
                <a:cs typeface="IBM Plex Sans" pitchFamily="34" charset="-120"/>
              </a:rPr>
              <a:t>v1</a:t>
            </a:r>
            <a:r>
              <a:rPr lang="en-US" sz="1300" dirty="0">
                <a:solidFill>
                  <a:srgbClr val="45505F"/>
                </a:solidFill>
                <a:latin typeface="IBM Plex Sans" pitchFamily="34" charset="0"/>
                <a:ea typeface="IBM Plex Sans" pitchFamily="34" charset="-122"/>
                <a:cs typeface="IBM Plex Sans" pitchFamily="34" charset="-120"/>
              </a:rPr>
              <a:t>; ReplicaSet, Deployment → </a:t>
            </a:r>
            <a:r>
              <a:rPr lang="en-US" sz="1300" b="1" dirty="0">
                <a:solidFill>
                  <a:srgbClr val="45505F"/>
                </a:solidFill>
                <a:latin typeface="IBM Plex Sans" pitchFamily="34" charset="0"/>
                <a:ea typeface="IBM Plex Sans" pitchFamily="34" charset="-122"/>
                <a:cs typeface="IBM Plex Sans" pitchFamily="34" charset="-120"/>
              </a:rPr>
              <a:t>apps/v1</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p:txBody>
      </p:sp>
      <p:sp>
        <p:nvSpPr>
          <p:cNvPr id="7" name="Shape 5"/>
          <p:cNvSpPr/>
          <p:nvPr/>
        </p:nvSpPr>
        <p:spPr>
          <a:xfrm>
            <a:off x="6175375" y="1778595"/>
            <a:ext cx="5200650" cy="1194891"/>
          </a:xfrm>
          <a:prstGeom prst="roundRect">
            <a:avLst>
              <a:gd name="adj" fmla="val 6111"/>
            </a:avLst>
          </a:prstGeom>
          <a:solidFill>
            <a:srgbClr val="FDFCF9"/>
          </a:solidFill>
          <a:ln w="6350">
            <a:solidFill>
              <a:srgbClr val="E2DFD6"/>
            </a:solidFill>
            <a:prstDash val="solid"/>
          </a:ln>
        </p:spPr>
      </p:sp>
      <p:sp>
        <p:nvSpPr>
          <p:cNvPr id="8" name="Text 6"/>
          <p:cNvSpPr/>
          <p:nvPr/>
        </p:nvSpPr>
        <p:spPr>
          <a:xfrm>
            <a:off x="6381750" y="1984970"/>
            <a:ext cx="49315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JetBrains Mono" pitchFamily="49" charset="0"/>
                <a:ea typeface="JetBrains Mono" pitchFamily="49" charset="-122"/>
                <a:cs typeface="JetBrains Mono" pitchFamily="49" charset="-120"/>
              </a:rPr>
              <a:t>kind</a:t>
            </a:r>
            <a:endParaRPr lang="en-US" sz="1600" dirty="0"/>
          </a:p>
        </p:txBody>
      </p:sp>
      <p:sp>
        <p:nvSpPr>
          <p:cNvPr id="9" name="Text 7"/>
          <p:cNvSpPr/>
          <p:nvPr/>
        </p:nvSpPr>
        <p:spPr>
          <a:xfrm>
            <a:off x="6381750" y="2304951"/>
            <a:ext cx="493153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Nesne türü: Pod, Service, Deployment, ConfigMap… Büyük harf duyarlıdır.</a:t>
            </a:r>
            <a:endParaRPr lang="en-US" sz="1300" dirty="0"/>
          </a:p>
        </p:txBody>
      </p:sp>
      <p:sp>
        <p:nvSpPr>
          <p:cNvPr id="10" name="Shape 8"/>
          <p:cNvSpPr/>
          <p:nvPr/>
        </p:nvSpPr>
        <p:spPr>
          <a:xfrm>
            <a:off x="815975" y="3132237"/>
            <a:ext cx="5200650" cy="1194891"/>
          </a:xfrm>
          <a:prstGeom prst="roundRect">
            <a:avLst>
              <a:gd name="adj" fmla="val 6111"/>
            </a:avLst>
          </a:prstGeom>
          <a:solidFill>
            <a:srgbClr val="FDFCF9"/>
          </a:solidFill>
          <a:ln w="6350">
            <a:solidFill>
              <a:srgbClr val="E2DFD6"/>
            </a:solidFill>
            <a:prstDash val="solid"/>
          </a:ln>
        </p:spPr>
      </p:sp>
      <p:sp>
        <p:nvSpPr>
          <p:cNvPr id="11" name="Text 9"/>
          <p:cNvSpPr/>
          <p:nvPr/>
        </p:nvSpPr>
        <p:spPr>
          <a:xfrm>
            <a:off x="1022350" y="3338612"/>
            <a:ext cx="49315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JetBrains Mono" pitchFamily="49" charset="0"/>
                <a:ea typeface="JetBrains Mono" pitchFamily="49" charset="-122"/>
                <a:cs typeface="JetBrains Mono" pitchFamily="49" charset="-120"/>
              </a:rPr>
              <a:t>metadata</a:t>
            </a:r>
            <a:endParaRPr lang="en-US" sz="1600" dirty="0"/>
          </a:p>
        </p:txBody>
      </p:sp>
      <p:sp>
        <p:nvSpPr>
          <p:cNvPr id="12" name="Text 10"/>
          <p:cNvSpPr/>
          <p:nvPr/>
        </p:nvSpPr>
        <p:spPr>
          <a:xfrm>
            <a:off x="1022350" y="3658592"/>
            <a:ext cx="493153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name, namespace, labels, annotations. Sözlüktür; yalnızca tanımlı alanlar kullanılır, label'lar ise serbesttir.</a:t>
            </a:r>
            <a:endParaRPr lang="en-US" sz="1300" dirty="0"/>
          </a:p>
        </p:txBody>
      </p:sp>
      <p:sp>
        <p:nvSpPr>
          <p:cNvPr id="13" name="Shape 11"/>
          <p:cNvSpPr/>
          <p:nvPr/>
        </p:nvSpPr>
        <p:spPr>
          <a:xfrm>
            <a:off x="6175375" y="3132237"/>
            <a:ext cx="5200650" cy="1194891"/>
          </a:xfrm>
          <a:prstGeom prst="roundRect">
            <a:avLst>
              <a:gd name="adj" fmla="val 6111"/>
            </a:avLst>
          </a:prstGeom>
          <a:solidFill>
            <a:srgbClr val="FDFCF9"/>
          </a:solidFill>
          <a:ln w="6350">
            <a:solidFill>
              <a:srgbClr val="E2DFD6"/>
            </a:solidFill>
            <a:prstDash val="solid"/>
          </a:ln>
        </p:spPr>
      </p:sp>
      <p:sp>
        <p:nvSpPr>
          <p:cNvPr id="14" name="Text 12"/>
          <p:cNvSpPr/>
          <p:nvPr/>
        </p:nvSpPr>
        <p:spPr>
          <a:xfrm>
            <a:off x="6381750" y="3338612"/>
            <a:ext cx="49315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JetBrains Mono" pitchFamily="49" charset="0"/>
                <a:ea typeface="JetBrains Mono" pitchFamily="49" charset="-122"/>
                <a:cs typeface="JetBrains Mono" pitchFamily="49" charset="-120"/>
              </a:rPr>
              <a:t>spec</a:t>
            </a:r>
            <a:endParaRPr lang="en-US" sz="1600" dirty="0"/>
          </a:p>
        </p:txBody>
      </p:sp>
      <p:sp>
        <p:nvSpPr>
          <p:cNvPr id="15" name="Text 13"/>
          <p:cNvSpPr/>
          <p:nvPr/>
        </p:nvSpPr>
        <p:spPr>
          <a:xfrm>
            <a:off x="6381750" y="3658592"/>
            <a:ext cx="493153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İstenen durum. Türe göre değişir. Sistem bir de </a:t>
            </a:r>
            <a:r>
              <a:rPr lang="en-US" sz="1300" b="1" dirty="0">
                <a:solidFill>
                  <a:srgbClr val="45505F"/>
                </a:solidFill>
                <a:latin typeface="IBM Plex Sans" pitchFamily="34" charset="0"/>
                <a:ea typeface="IBM Plex Sans" pitchFamily="34" charset="-122"/>
                <a:cs typeface="IBM Plex Sans" pitchFamily="34" charset="-120"/>
              </a:rPr>
              <a:t>status</a:t>
            </a:r>
            <a:r>
              <a:rPr lang="en-US" sz="1300" dirty="0">
                <a:solidFill>
                  <a:srgbClr val="45505F"/>
                </a:solidFill>
                <a:latin typeface="IBM Plex Sans" pitchFamily="34" charset="0"/>
                <a:ea typeface="IBM Plex Sans" pitchFamily="34" charset="-122"/>
                <a:cs typeface="IBM Plex Sans" pitchFamily="34" charset="-120"/>
              </a:rPr>
              <a:t> alanı ekler: gözlenen durum.</a:t>
            </a:r>
            <a:endParaRPr lang="en-US" sz="1300" dirty="0"/>
          </a:p>
        </p:txBody>
      </p:sp>
      <p:sp>
        <p:nvSpPr>
          <p:cNvPr id="16" name="Text 14"/>
          <p:cNvSpPr/>
          <p:nvPr/>
        </p:nvSpPr>
        <p:spPr>
          <a:xfrm>
            <a:off x="812800" y="4584303"/>
            <a:ext cx="10566400" cy="800100"/>
          </a:xfrm>
          <a:prstGeom prst="roundRect">
            <a:avLst>
              <a:gd name="adj" fmla="val 7937"/>
            </a:avLst>
          </a:prstGeom>
          <a:solidFill>
            <a:srgbClr val="DCE6F7"/>
          </a:solidFill>
          <a:ln/>
        </p:spPr>
        <p:txBody>
          <a:bodyPr wrap="square" lIns="133801" tIns="133801" rIns="0" bIns="108401" rtlCol="0" anchor="t">
            <a:normAutofit/>
          </a:bodyPr>
          <a:lstStyle/>
          <a:p>
            <a:pPr marL="0" indent="0" algn="l">
              <a:lnSpc>
                <a:spcPts val="1950"/>
              </a:lnSpc>
              <a:buNone/>
            </a:pPr>
            <a:r>
              <a:rPr lang="en-US" sz="1300" dirty="0">
                <a:solidFill>
                  <a:srgbClr val="142033"/>
                </a:solidFill>
                <a:latin typeface="IBM Plex Sans" pitchFamily="34" charset="0"/>
                <a:ea typeface="IBM Plex Sans" pitchFamily="34" charset="-122"/>
                <a:cs typeface="IBM Plex Sans" pitchFamily="34" charset="-120"/>
              </a:rPr>
              <a:t>Alan adını hatırlamıyorsanız: </a:t>
            </a:r>
            <a:r>
              <a:rPr lang="en-US" sz="1300" b="1" dirty="0">
                <a:solidFill>
                  <a:srgbClr val="142033"/>
                </a:solidFill>
                <a:latin typeface="IBM Plex Sans" pitchFamily="34" charset="0"/>
                <a:ea typeface="IBM Plex Sans" pitchFamily="34" charset="-122"/>
                <a:cs typeface="IBM Plex Sans" pitchFamily="34" charset="-120"/>
              </a:rPr>
              <a:t>kubectl explain pod.spec.containers</a:t>
            </a:r>
            <a:r>
              <a:rPr lang="en-US" sz="1300" dirty="0">
                <a:solidFill>
                  <a:srgbClr val="142033"/>
                </a:solidFill>
                <a:latin typeface="IBM Plex Sans" pitchFamily="34" charset="0"/>
                <a:ea typeface="IBM Plex Sans" pitchFamily="34" charset="-122"/>
                <a:cs typeface="IBM Plex Sans" pitchFamily="34" charset="-120"/>
              </a:rPr>
              <a:t> — sınavda da kullanılabilir. YAML'da girinti boşlukla yapılır, tab kullanılmaz.</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REPLICASET</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Her an N kopyanın çalışmasını garanti eder</a:t>
            </a:r>
            <a:endParaRPr lang="en-US" sz="3000" dirty="0"/>
          </a:p>
        </p:txBody>
      </p:sp>
      <p:sp>
        <p:nvSpPr>
          <p:cNvPr id="4" name="Text 2"/>
          <p:cNvSpPr/>
          <p:nvPr/>
        </p:nvSpPr>
        <p:spPr>
          <a:xfrm>
            <a:off x="898144" y="1775420"/>
            <a:ext cx="5950458" cy="17589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Yüksek erişilebilirlik:</a:t>
            </a:r>
            <a:r>
              <a:rPr lang="en-US" sz="1300" dirty="0">
                <a:solidFill>
                  <a:srgbClr val="45505F"/>
                </a:solidFill>
                <a:latin typeface="IBM Plex Sans" pitchFamily="34" charset="0"/>
                <a:ea typeface="IBM Plex Sans" pitchFamily="34" charset="-122"/>
                <a:cs typeface="IBM Plex Sans" pitchFamily="34" charset="-120"/>
              </a:rPr>
              <a:t> tek pod bile olsa, ölürse yenisini başlatır.</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Yük paylaşımı:</a:t>
            </a:r>
            <a:r>
              <a:rPr lang="en-US" sz="1300" dirty="0">
                <a:solidFill>
                  <a:srgbClr val="45505F"/>
                </a:solidFill>
                <a:latin typeface="IBM Plex Sans" pitchFamily="34" charset="0"/>
                <a:ea typeface="IBM Plex Sans" pitchFamily="34" charset="-122"/>
                <a:cs typeface="IBM Plex Sans" pitchFamily="34" charset="-120"/>
              </a:rPr>
              <a:t> birden çok node'a yayılan kopyalar.</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ReplicationController</a:t>
            </a:r>
            <a:r>
              <a:rPr lang="en-US" sz="1300" dirty="0">
                <a:solidFill>
                  <a:srgbClr val="45505F"/>
                </a:solidFill>
                <a:latin typeface="IBM Plex Sans" pitchFamily="34" charset="0"/>
                <a:ea typeface="IBM Plex Sans" pitchFamily="34" charset="-122"/>
                <a:cs typeface="IBM Plex Sans" pitchFamily="34" charset="-120"/>
              </a:rPr>
              <a:t> eski nesnedir; ReplicaSet onun yerini aldı.</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Farkı: ReplicaSet'te </a:t>
            </a:r>
            <a:r>
              <a:rPr lang="en-US" sz="1300" b="1" dirty="0">
                <a:solidFill>
                  <a:srgbClr val="142033"/>
                </a:solidFill>
                <a:latin typeface="IBM Plex Sans" pitchFamily="34" charset="0"/>
                <a:ea typeface="IBM Plex Sans" pitchFamily="34" charset="-122"/>
                <a:cs typeface="IBM Plex Sans" pitchFamily="34" charset="-120"/>
              </a:rPr>
              <a:t>selector</a:t>
            </a:r>
            <a:r>
              <a:rPr lang="en-US" sz="1300" dirty="0">
                <a:solidFill>
                  <a:srgbClr val="45505F"/>
                </a:solidFill>
                <a:latin typeface="IBM Plex Sans" pitchFamily="34" charset="0"/>
                <a:ea typeface="IBM Plex Sans" pitchFamily="34" charset="-122"/>
                <a:cs typeface="IBM Plex Sans" pitchFamily="34" charset="-120"/>
              </a:rPr>
              <a:t> zorunludur ve matchExpressions destekler.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Selector ile eşleşen, kendisinin oluşturmadığı mevcut pod'ları da sayar ve sahiplenir.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Pratikte ReplicaSet doğrudan değil, </a:t>
            </a:r>
            <a:r>
              <a:rPr lang="en-US" sz="1300" b="1" dirty="0">
                <a:solidFill>
                  <a:srgbClr val="142033"/>
                </a:solidFill>
                <a:latin typeface="IBM Plex Sans" pitchFamily="34" charset="0"/>
                <a:ea typeface="IBM Plex Sans" pitchFamily="34" charset="-122"/>
                <a:cs typeface="IBM Plex Sans" pitchFamily="34" charset="-120"/>
              </a:rPr>
              <a:t>Deployment</a:t>
            </a:r>
            <a:r>
              <a:rPr lang="en-US" sz="1300" dirty="0">
                <a:solidFill>
                  <a:srgbClr val="45505F"/>
                </a:solidFill>
                <a:latin typeface="IBM Plex Sans" pitchFamily="34" charset="0"/>
                <a:ea typeface="IBM Plex Sans" pitchFamily="34" charset="-122"/>
                <a:cs typeface="IBM Plex Sans" pitchFamily="34" charset="-120"/>
              </a:rPr>
              <a:t> üzerinden kullanılır.</a:t>
            </a:r>
            <a:endParaRPr lang="en-US" sz="1300" dirty="0"/>
          </a:p>
        </p:txBody>
      </p:sp>
      <p:sp>
        <p:nvSpPr>
          <p:cNvPr id="5" name="Text 3"/>
          <p:cNvSpPr/>
          <p:nvPr/>
        </p:nvSpPr>
        <p:spPr>
          <a:xfrm>
            <a:off x="812800" y="3635970"/>
            <a:ext cx="5867400" cy="525760"/>
          </a:xfrm>
          <a:prstGeom prst="roundRect">
            <a:avLst>
              <a:gd name="adj" fmla="val 14493"/>
            </a:avLst>
          </a:prstGeom>
          <a:solidFill>
            <a:srgbClr val="1B2A41"/>
          </a:solidFill>
          <a:ln/>
        </p:spPr>
        <p:txBody>
          <a:bodyPr wrap="square" lIns="130082" tIns="130082" rIns="0" bIns="1046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scale rs myapp-rs --replicas=6</a:t>
            </a:r>
            <a:endParaRPr lang="en-US" sz="1200" dirty="0"/>
          </a:p>
        </p:txBody>
      </p:sp>
      <p:sp>
        <p:nvSpPr>
          <p:cNvPr id="6" name="Text 4"/>
          <p:cNvSpPr/>
          <p:nvPr/>
        </p:nvSpPr>
        <p:spPr>
          <a:xfrm>
            <a:off x="6934200" y="1775420"/>
            <a:ext cx="4445000" cy="3720802"/>
          </a:xfrm>
          <a:prstGeom prst="roundRect">
            <a:avLst>
              <a:gd name="adj" fmla="val 2048"/>
            </a:avLst>
          </a:prstGeom>
          <a:solidFill>
            <a:srgbClr val="1B2A41"/>
          </a:solidFill>
          <a:ln/>
        </p:spPr>
        <p:txBody>
          <a:bodyPr wrap="square" lIns="180882" tIns="180882" rIns="5972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apps/v1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ReplicaSet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myapp-rs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replicas: 3</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selector: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matchLabels: {app: myapp}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template:  </a:t>
            </a:r>
            <a:r>
              <a:rPr lang="en-US" sz="1200" dirty="0">
                <a:solidFill>
                  <a:srgbClr val="8FA3BF"/>
                </a:solidFill>
                <a:latin typeface="JetBrains Mono" pitchFamily="49" charset="0"/>
                <a:ea typeface="JetBrains Mono" pitchFamily="49" charset="-122"/>
                <a:cs typeface="JetBrains Mono" pitchFamily="49" charset="-120"/>
              </a:rPr>
              <a:t># pod şablonu</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labels: {app: myapp}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containers: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nginx</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 nginx</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LABEL, SELECTOR, ANNOTATION</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Nesneleri birbirine bağlayan yapıştırıcı</a:t>
            </a:r>
            <a:endParaRPr lang="en-US" sz="3000" dirty="0"/>
          </a:p>
        </p:txBody>
      </p:sp>
      <p:sp>
        <p:nvSpPr>
          <p:cNvPr id="4" name="Shape 2"/>
          <p:cNvSpPr/>
          <p:nvPr/>
        </p:nvSpPr>
        <p:spPr>
          <a:xfrm>
            <a:off x="815975" y="1778595"/>
            <a:ext cx="3414117" cy="1657052"/>
          </a:xfrm>
          <a:prstGeom prst="roundRect">
            <a:avLst>
              <a:gd name="adj" fmla="val 4407"/>
            </a:avLst>
          </a:prstGeom>
          <a:solidFill>
            <a:srgbClr val="FDFCF9"/>
          </a:solidFill>
          <a:ln w="6350">
            <a:solidFill>
              <a:srgbClr val="E2DFD6"/>
            </a:solidFill>
            <a:prstDash val="solid"/>
          </a:ln>
        </p:spPr>
      </p:sp>
      <p:sp>
        <p:nvSpPr>
          <p:cNvPr id="5" name="Text 3"/>
          <p:cNvSpPr/>
          <p:nvPr/>
        </p:nvSpPr>
        <p:spPr>
          <a:xfrm>
            <a:off x="1022350" y="1984970"/>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Label</a:t>
            </a:r>
            <a:endParaRPr lang="en-US" sz="1600" dirty="0"/>
          </a:p>
        </p:txBody>
      </p:sp>
      <p:sp>
        <p:nvSpPr>
          <p:cNvPr id="6" name="Text 4"/>
          <p:cNvSpPr/>
          <p:nvPr/>
        </p:nvSpPr>
        <p:spPr>
          <a:xfrm>
            <a:off x="1022350" y="2304951"/>
            <a:ext cx="3091408"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Nesneye eklenen anahtar-değer etiketleri: app=web, tier=frontend, env=prod. Gruplamak ve seçmek için.</a:t>
            </a:r>
            <a:endParaRPr lang="en-US" sz="1300" dirty="0"/>
          </a:p>
        </p:txBody>
      </p:sp>
      <p:sp>
        <p:nvSpPr>
          <p:cNvPr id="7" name="Shape 5"/>
          <p:cNvSpPr/>
          <p:nvPr/>
        </p:nvSpPr>
        <p:spPr>
          <a:xfrm>
            <a:off x="4388842" y="1778595"/>
            <a:ext cx="3414216" cy="1657052"/>
          </a:xfrm>
          <a:prstGeom prst="roundRect">
            <a:avLst>
              <a:gd name="adj" fmla="val 4407"/>
            </a:avLst>
          </a:prstGeom>
          <a:solidFill>
            <a:srgbClr val="FDFCF9"/>
          </a:solidFill>
          <a:ln w="6350">
            <a:solidFill>
              <a:srgbClr val="E2DFD6"/>
            </a:solidFill>
            <a:prstDash val="solid"/>
          </a:ln>
        </p:spPr>
      </p:sp>
      <p:sp>
        <p:nvSpPr>
          <p:cNvPr id="8" name="Text 6"/>
          <p:cNvSpPr/>
          <p:nvPr/>
        </p:nvSpPr>
        <p:spPr>
          <a:xfrm>
            <a:off x="4595217" y="1984970"/>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Selector</a:t>
            </a:r>
            <a:endParaRPr lang="en-US" sz="1600" dirty="0"/>
          </a:p>
        </p:txBody>
      </p:sp>
      <p:sp>
        <p:nvSpPr>
          <p:cNvPr id="9" name="Text 7"/>
          <p:cNvSpPr/>
          <p:nvPr/>
        </p:nvSpPr>
        <p:spPr>
          <a:xfrm>
            <a:off x="4595217" y="2304951"/>
            <a:ext cx="3091510"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Label'a göre filtre. ReplicaSet hangi pod'ları sayacağını, Service hangi pod'lara trafik vereceğini selector ile bulur.</a:t>
            </a:r>
            <a:endParaRPr lang="en-US" sz="1300" dirty="0"/>
          </a:p>
        </p:txBody>
      </p:sp>
      <p:sp>
        <p:nvSpPr>
          <p:cNvPr id="10" name="Shape 8"/>
          <p:cNvSpPr/>
          <p:nvPr/>
        </p:nvSpPr>
        <p:spPr>
          <a:xfrm>
            <a:off x="7961809" y="1778595"/>
            <a:ext cx="3414216" cy="1657052"/>
          </a:xfrm>
          <a:prstGeom prst="roundRect">
            <a:avLst>
              <a:gd name="adj" fmla="val 4407"/>
            </a:avLst>
          </a:prstGeom>
          <a:solidFill>
            <a:srgbClr val="FDFCF9"/>
          </a:solidFill>
          <a:ln w="6350">
            <a:solidFill>
              <a:srgbClr val="E2DFD6"/>
            </a:solidFill>
            <a:prstDash val="solid"/>
          </a:ln>
        </p:spPr>
      </p:sp>
      <p:sp>
        <p:nvSpPr>
          <p:cNvPr id="11" name="Text 9"/>
          <p:cNvSpPr/>
          <p:nvPr/>
        </p:nvSpPr>
        <p:spPr>
          <a:xfrm>
            <a:off x="8168184" y="1984970"/>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Annotation</a:t>
            </a:r>
            <a:endParaRPr lang="en-US" sz="1600" dirty="0"/>
          </a:p>
        </p:txBody>
      </p:sp>
      <p:sp>
        <p:nvSpPr>
          <p:cNvPr id="12" name="Text 10"/>
          <p:cNvSpPr/>
          <p:nvPr/>
        </p:nvSpPr>
        <p:spPr>
          <a:xfrm>
            <a:off x="8168184" y="2304951"/>
            <a:ext cx="309151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Seçim için değil, bilgi için: build no, sorumlu ekip, araç ayarları. Selector'larda kullanılamaz.</a:t>
            </a:r>
            <a:endParaRPr lang="en-US" sz="1300" dirty="0"/>
          </a:p>
        </p:txBody>
      </p:sp>
      <p:sp>
        <p:nvSpPr>
          <p:cNvPr id="13" name="Text 11"/>
          <p:cNvSpPr/>
          <p:nvPr/>
        </p:nvSpPr>
        <p:spPr>
          <a:xfrm>
            <a:off x="812800" y="3692823"/>
            <a:ext cx="10566400" cy="1290241"/>
          </a:xfrm>
          <a:prstGeom prst="roundRect">
            <a:avLst>
              <a:gd name="adj" fmla="val 5906"/>
            </a:avLst>
          </a:prstGeom>
          <a:solidFill>
            <a:srgbClr val="1B2A41"/>
          </a:solidFill>
          <a:ln/>
        </p:spPr>
        <p:txBody>
          <a:bodyPr wrap="square" lIns="180882" tIns="180882" rIns="0"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get pods --selector app=App1,tier=frontend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get pods -l 'env in (prod,staging)' --show-labels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label pod web-1 env=prod        </a:t>
            </a:r>
            <a:r>
              <a:rPr lang="en-US" sz="1200" dirty="0">
                <a:solidFill>
                  <a:srgbClr val="8FA3BF"/>
                </a:solidFill>
                <a:latin typeface="JetBrains Mono" pitchFamily="49" charset="0"/>
                <a:ea typeface="JetBrains Mono" pitchFamily="49" charset="-122"/>
                <a:cs typeface="JetBrains Mono" pitchFamily="49" charset="-120"/>
              </a:rPr>
              <a:t># ekle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label pod web-1 env-           </a:t>
            </a:r>
            <a:r>
              <a:rPr lang="en-US" sz="1200" dirty="0">
                <a:solidFill>
                  <a:srgbClr val="8FA3BF"/>
                </a:solidFill>
                <a:latin typeface="JetBrains Mono" pitchFamily="49" charset="0"/>
                <a:ea typeface="JetBrains Mono" pitchFamily="49" charset="-122"/>
                <a:cs typeface="JetBrains Mono" pitchFamily="49" charset="-120"/>
              </a:rPr>
              <a:t># kaldır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DEPLOYMENT</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ReplicaSet'leri yöneten üst katman</a:t>
            </a:r>
            <a:endParaRPr lang="en-US" sz="3000" dirty="0"/>
          </a:p>
        </p:txBody>
      </p:sp>
      <p:sp>
        <p:nvSpPr>
          <p:cNvPr id="4" name="Text 2"/>
          <p:cNvSpPr/>
          <p:nvPr/>
        </p:nvSpPr>
        <p:spPr>
          <a:xfrm>
            <a:off x="812800" y="1775420"/>
            <a:ext cx="3937000" cy="485080"/>
          </a:xfrm>
          <a:prstGeom prst="roundRect">
            <a:avLst>
              <a:gd name="adj" fmla="val 13091"/>
            </a:avLst>
          </a:prstGeom>
          <a:solidFill>
            <a:srgbClr val="142033"/>
          </a:solidFill>
          <a:ln/>
        </p:spPr>
        <p:txBody>
          <a:bodyPr wrap="square" lIns="53156" tIns="108401" rIns="53156" bIns="83001" rtlCol="0" anchor="t">
            <a:normAutofit/>
          </a:bodyPr>
          <a:lstStyle/>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Deployment: myapp</a:t>
            </a:r>
            <a:endParaRPr lang="en-US" sz="1300" dirty="0"/>
          </a:p>
        </p:txBody>
      </p:sp>
      <p:pic>
        <p:nvPicPr>
          <p:cNvPr id="5" name="Image 0" descr="arrow-down"/>
          <p:cNvPicPr>
            <a:picLocks noChangeAspect="1"/>
          </p:cNvPicPr>
          <p:nvPr/>
        </p:nvPicPr>
        <p:blipFill>
          <a:blip r:embed="rId3"/>
          <a:srcRect/>
          <a:stretch/>
        </p:blipFill>
        <p:spPr>
          <a:xfrm>
            <a:off x="2654300" y="2349401"/>
            <a:ext cx="254000" cy="304800"/>
          </a:xfrm>
          <a:prstGeom prst="rect">
            <a:avLst/>
          </a:prstGeom>
        </p:spPr>
      </p:pic>
      <p:sp>
        <p:nvSpPr>
          <p:cNvPr id="6" name="Text 3"/>
          <p:cNvSpPr/>
          <p:nvPr/>
        </p:nvSpPr>
        <p:spPr>
          <a:xfrm>
            <a:off x="812800" y="2743101"/>
            <a:ext cx="1924050" cy="655241"/>
          </a:xfrm>
          <a:prstGeom prst="roundRect">
            <a:avLst>
              <a:gd name="adj" fmla="val 9691"/>
            </a:avLst>
          </a:prstGeom>
          <a:solidFill>
            <a:srgbClr val="DCE6F7"/>
          </a:solidFill>
          <a:ln/>
        </p:spPr>
        <p:txBody>
          <a:bodyPr wrap="square" lIns="70270" tIns="95701" rIns="70270" bIns="703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ReplicaSet v2</a:t>
            </a:r>
            <a:endParaRPr lang="en-US" sz="1200" dirty="0"/>
          </a:p>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3 pod</a:t>
            </a:r>
            <a:endParaRPr lang="en-US" sz="1200" dirty="0"/>
          </a:p>
        </p:txBody>
      </p:sp>
      <p:sp>
        <p:nvSpPr>
          <p:cNvPr id="7" name="Text 4"/>
          <p:cNvSpPr/>
          <p:nvPr/>
        </p:nvSpPr>
        <p:spPr>
          <a:xfrm>
            <a:off x="2825750" y="2743101"/>
            <a:ext cx="1924050" cy="655241"/>
          </a:xfrm>
          <a:prstGeom prst="roundRect">
            <a:avLst>
              <a:gd name="adj" fmla="val 9691"/>
            </a:avLst>
          </a:prstGeom>
          <a:solidFill>
            <a:srgbClr val="E8E4DA"/>
          </a:solidFill>
          <a:ln/>
        </p:spPr>
        <p:txBody>
          <a:bodyPr wrap="square" lIns="70270" tIns="95701" rIns="70270" bIns="70301" rtlCol="0" anchor="t">
            <a:normAutofit/>
          </a:bodyPr>
          <a:lstStyle/>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ReplicaSet v1</a:t>
            </a:r>
            <a:endParaRPr lang="en-US" sz="1200" dirty="0"/>
          </a:p>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0 pod (saklanır)</a:t>
            </a:r>
            <a:endParaRPr lang="en-US" sz="1200" dirty="0"/>
          </a:p>
        </p:txBody>
      </p:sp>
      <p:pic>
        <p:nvPicPr>
          <p:cNvPr id="8" name="Image 1" descr="arrow-down"/>
          <p:cNvPicPr>
            <a:picLocks noChangeAspect="1"/>
          </p:cNvPicPr>
          <p:nvPr/>
        </p:nvPicPr>
        <p:blipFill>
          <a:blip r:embed="rId3"/>
          <a:srcRect/>
          <a:stretch/>
        </p:blipFill>
        <p:spPr>
          <a:xfrm>
            <a:off x="2654300" y="3487241"/>
            <a:ext cx="254000" cy="304800"/>
          </a:xfrm>
          <a:prstGeom prst="rect">
            <a:avLst/>
          </a:prstGeom>
        </p:spPr>
      </p:pic>
      <p:sp>
        <p:nvSpPr>
          <p:cNvPr id="9" name="Text 5"/>
          <p:cNvSpPr/>
          <p:nvPr/>
        </p:nvSpPr>
        <p:spPr>
          <a:xfrm>
            <a:off x="815975" y="3884116"/>
            <a:ext cx="1246684" cy="422870"/>
          </a:xfrm>
          <a:prstGeom prst="roundRect">
            <a:avLst>
              <a:gd name="adj" fmla="val 14266"/>
            </a:avLst>
          </a:prstGeom>
          <a:solidFill>
            <a:srgbClr val="FDFCF9"/>
          </a:solidFill>
          <a:ln w="6350">
            <a:solidFill>
              <a:srgbClr val="E2DFD6"/>
            </a:solidFill>
            <a:prstDash val="solid"/>
          </a:ln>
        </p:spPr>
        <p:txBody>
          <a:bodyPr wrap="square" lIns="61706" tIns="87106" rIns="61706" bIns="61706" rtlCol="0" anchor="t">
            <a:normAutofit/>
          </a:bodyPr>
          <a:lstStyle/>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pod</a:t>
            </a:r>
            <a:endParaRPr lang="en-US" sz="1200" dirty="0"/>
          </a:p>
        </p:txBody>
      </p:sp>
      <p:sp>
        <p:nvSpPr>
          <p:cNvPr id="10" name="Text 6"/>
          <p:cNvSpPr/>
          <p:nvPr/>
        </p:nvSpPr>
        <p:spPr>
          <a:xfrm>
            <a:off x="2157909" y="3884116"/>
            <a:ext cx="1246783" cy="422870"/>
          </a:xfrm>
          <a:prstGeom prst="roundRect">
            <a:avLst>
              <a:gd name="adj" fmla="val 14266"/>
            </a:avLst>
          </a:prstGeom>
          <a:solidFill>
            <a:srgbClr val="FDFCF9"/>
          </a:solidFill>
          <a:ln w="6350">
            <a:solidFill>
              <a:srgbClr val="E2DFD6"/>
            </a:solidFill>
            <a:prstDash val="solid"/>
          </a:ln>
        </p:spPr>
        <p:txBody>
          <a:bodyPr wrap="square" lIns="61706" tIns="87106" rIns="61706" bIns="61706" rtlCol="0" anchor="t">
            <a:normAutofit/>
          </a:bodyPr>
          <a:lstStyle/>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pod</a:t>
            </a:r>
            <a:endParaRPr lang="en-US" sz="1200" dirty="0"/>
          </a:p>
        </p:txBody>
      </p:sp>
      <p:sp>
        <p:nvSpPr>
          <p:cNvPr id="11" name="Text 7"/>
          <p:cNvSpPr/>
          <p:nvPr/>
        </p:nvSpPr>
        <p:spPr>
          <a:xfrm>
            <a:off x="3499941" y="3884116"/>
            <a:ext cx="1246684" cy="422870"/>
          </a:xfrm>
          <a:prstGeom prst="roundRect">
            <a:avLst>
              <a:gd name="adj" fmla="val 14266"/>
            </a:avLst>
          </a:prstGeom>
          <a:solidFill>
            <a:srgbClr val="FDFCF9"/>
          </a:solidFill>
          <a:ln w="6350">
            <a:solidFill>
              <a:srgbClr val="E2DFD6"/>
            </a:solidFill>
            <a:prstDash val="solid"/>
          </a:ln>
        </p:spPr>
        <p:txBody>
          <a:bodyPr wrap="square" lIns="61706" tIns="87106" rIns="61706" bIns="61706" rtlCol="0" anchor="t">
            <a:normAutofit/>
          </a:bodyPr>
          <a:lstStyle/>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pod</a:t>
            </a:r>
            <a:endParaRPr lang="en-US" sz="1200" dirty="0"/>
          </a:p>
        </p:txBody>
      </p:sp>
      <p:sp>
        <p:nvSpPr>
          <p:cNvPr id="12" name="Text 8"/>
          <p:cNvSpPr/>
          <p:nvPr/>
        </p:nvSpPr>
        <p:spPr>
          <a:xfrm>
            <a:off x="5089144" y="2175966"/>
            <a:ext cx="6473698" cy="17589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Rolling update:</a:t>
            </a:r>
            <a:r>
              <a:rPr lang="en-US" sz="1300" dirty="0">
                <a:solidFill>
                  <a:srgbClr val="45505F"/>
                </a:solidFill>
                <a:latin typeface="IBM Plex Sans" pitchFamily="34" charset="0"/>
                <a:ea typeface="IBM Plex Sans" pitchFamily="34" charset="-122"/>
                <a:cs typeface="IBM Plex Sans" pitchFamily="34" charset="-120"/>
              </a:rPr>
              <a:t> image değişince yeni bir ReplicaSet açar, eskisini kademeli küçültür.</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Rollback:</a:t>
            </a:r>
            <a:r>
              <a:rPr lang="en-US" sz="1300" dirty="0">
                <a:solidFill>
                  <a:srgbClr val="45505F"/>
                </a:solidFill>
                <a:latin typeface="IBM Plex Sans" pitchFamily="34" charset="0"/>
                <a:ea typeface="IBM Plex Sans" pitchFamily="34" charset="-122"/>
                <a:cs typeface="IBM Plex Sans" pitchFamily="34" charset="-120"/>
              </a:rPr>
              <a:t> eski ReplicaSet'ler saklandığı için bir önceki revizyona dönebilir (revisionHistoryLimit, varsayılan 10).</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Pause / resume:</a:t>
            </a:r>
            <a:r>
              <a:rPr lang="en-US" sz="1300" dirty="0">
                <a:solidFill>
                  <a:srgbClr val="45505F"/>
                </a:solidFill>
                <a:latin typeface="IBM Plex Sans" pitchFamily="34" charset="0"/>
                <a:ea typeface="IBM Plex Sans" pitchFamily="34" charset="-122"/>
                <a:cs typeface="IBM Plex Sans" pitchFamily="34" charset="-120"/>
              </a:rPr>
              <a:t> birden çok değişikliği tek rollout'ta toplar.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Stateless uygulamalar için standart nesne. Stateful (DB) için </a:t>
            </a:r>
            <a:r>
              <a:rPr lang="en-US" sz="1300" b="1" dirty="0">
                <a:solidFill>
                  <a:srgbClr val="142033"/>
                </a:solidFill>
                <a:latin typeface="IBM Plex Sans" pitchFamily="34" charset="0"/>
                <a:ea typeface="IBM Plex Sans" pitchFamily="34" charset="-122"/>
                <a:cs typeface="IBM Plex Sans" pitchFamily="34" charset="-120"/>
              </a:rPr>
              <a:t>StatefulSet</a:t>
            </a:r>
            <a:r>
              <a:rPr lang="en-US" sz="1300" dirty="0">
                <a:solidFill>
                  <a:srgbClr val="45505F"/>
                </a:solidFill>
                <a:latin typeface="IBM Plex Sans" pitchFamily="34" charset="0"/>
                <a:ea typeface="IBM Plex Sans" pitchFamily="34" charset="-122"/>
                <a:cs typeface="IBM Plex Sans" pitchFamily="34" charset="-120"/>
              </a:rPr>
              <a:t>, node başına bir kopya için </a:t>
            </a:r>
            <a:r>
              <a:rPr lang="en-US" sz="1300" b="1" dirty="0">
                <a:solidFill>
                  <a:srgbClr val="142033"/>
                </a:solidFill>
                <a:latin typeface="IBM Plex Sans" pitchFamily="34" charset="0"/>
                <a:ea typeface="IBM Plex Sans" pitchFamily="34" charset="-122"/>
                <a:cs typeface="IBM Plex Sans" pitchFamily="34" charset="-120"/>
              </a:rPr>
              <a:t>DaemonSet</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DEPLOYMENT TANIMI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ReplicaSet'ten tek farkı: kind</a:t>
            </a:r>
            <a:endParaRPr lang="en-US" sz="3000" dirty="0"/>
          </a:p>
        </p:txBody>
      </p:sp>
      <p:sp>
        <p:nvSpPr>
          <p:cNvPr id="4" name="Text 2"/>
          <p:cNvSpPr/>
          <p:nvPr/>
        </p:nvSpPr>
        <p:spPr>
          <a:xfrm>
            <a:off x="812800" y="1775420"/>
            <a:ext cx="4826000" cy="3720802"/>
          </a:xfrm>
          <a:prstGeom prst="roundRect">
            <a:avLst>
              <a:gd name="adj" fmla="val 2048"/>
            </a:avLst>
          </a:prstGeom>
          <a:solidFill>
            <a:srgbClr val="1B2A41"/>
          </a:solidFill>
          <a:ln/>
        </p:spPr>
        <p:txBody>
          <a:bodyPr wrap="square" lIns="180882" tIns="180882" rIns="4829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apps/v1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a:t>
            </a:r>
            <a:r>
              <a:rPr lang="en-US" sz="1200" dirty="0">
                <a:solidFill>
                  <a:srgbClr val="F0A060"/>
                </a:solidFill>
                <a:latin typeface="JetBrains Mono" pitchFamily="49" charset="0"/>
                <a:ea typeface="JetBrains Mono" pitchFamily="49" charset="-122"/>
                <a:cs typeface="JetBrains Mono" pitchFamily="49" charset="-120"/>
              </a:rPr>
              <a:t>Deployment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myapp-deployment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replicas: 3</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selector: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matchLabels: {app: myapp}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template: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labels: {app: myapp}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containers: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nginx</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 nginx:1.27</a:t>
            </a:r>
            <a:endParaRPr lang="en-US" sz="1200" dirty="0"/>
          </a:p>
        </p:txBody>
      </p:sp>
      <p:sp>
        <p:nvSpPr>
          <p:cNvPr id="5" name="Text 3"/>
          <p:cNvSpPr/>
          <p:nvPr/>
        </p:nvSpPr>
        <p:spPr>
          <a:xfrm>
            <a:off x="5892800" y="1775420"/>
            <a:ext cx="5486400" cy="1460401"/>
          </a:xfrm>
          <a:prstGeom prst="roundRect">
            <a:avLst>
              <a:gd name="adj" fmla="val 5218"/>
            </a:avLst>
          </a:prstGeom>
          <a:solidFill>
            <a:srgbClr val="1B2A41"/>
          </a:solidFill>
          <a:ln/>
        </p:spPr>
        <p:txBody>
          <a:bodyPr wrap="square" lIns="155482" tIns="155482" rIns="1558"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create deployment web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--image=nginx --replicas=3</a:t>
            </a:r>
            <a:endParaRPr lang="en-US" sz="1200" dirty="0"/>
          </a:p>
          <a:p>
            <a:pPr marL="0" indent="0" algn="l">
              <a:lnSpc>
                <a:spcPts val="1740"/>
              </a:lnSpc>
              <a:buNone/>
            </a:pP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get deploy,rs,pods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get all</a:t>
            </a:r>
            <a:endParaRPr lang="en-US" sz="1200" dirty="0"/>
          </a:p>
        </p:txBody>
      </p:sp>
      <p:sp>
        <p:nvSpPr>
          <p:cNvPr id="6" name="Text 4"/>
          <p:cNvSpPr/>
          <p:nvPr/>
        </p:nvSpPr>
        <p:spPr>
          <a:xfrm>
            <a:off x="5892800" y="3362821"/>
            <a:ext cx="5650992"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Oluşturma zinciri: Deployment → ReplicaSet (adı: </a:t>
            </a:r>
            <a:r>
              <a:rPr lang="en-US" sz="1300" b="1" dirty="0">
                <a:solidFill>
                  <a:srgbClr val="142033"/>
                </a:solidFill>
                <a:latin typeface="IBM Plex Sans" pitchFamily="34" charset="0"/>
                <a:ea typeface="IBM Plex Sans" pitchFamily="34" charset="-122"/>
                <a:cs typeface="IBM Plex Sans" pitchFamily="34" charset="-120"/>
              </a:rPr>
              <a:t>myapp-deployment-&lt;hash&gt;</a:t>
            </a:r>
            <a:r>
              <a:rPr lang="en-US" sz="1300" dirty="0">
                <a:solidFill>
                  <a:srgbClr val="45505F"/>
                </a:solidFill>
                <a:latin typeface="IBM Plex Sans" pitchFamily="34" charset="0"/>
                <a:ea typeface="IBM Plex Sans" pitchFamily="34" charset="-122"/>
                <a:cs typeface="IBM Plex Sans" pitchFamily="34" charset="-120"/>
              </a:rPr>
              <a:t>) → Pod'lar (adı: </a:t>
            </a:r>
            <a:r>
              <a:rPr lang="en-US" sz="1300" b="1" dirty="0">
                <a:solidFill>
                  <a:srgbClr val="142033"/>
                </a:solidFill>
                <a:latin typeface="IBM Plex Sans" pitchFamily="34" charset="0"/>
                <a:ea typeface="IBM Plex Sans" pitchFamily="34" charset="-122"/>
                <a:cs typeface="IBM Plex Sans" pitchFamily="34" charset="-120"/>
              </a:rPr>
              <a:t>…-&lt;hash&gt;-&lt;rastgele&gt;</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p:txBody>
      </p:sp>
      <p:sp>
        <p:nvSpPr>
          <p:cNvPr id="7" name="Text 5"/>
          <p:cNvSpPr/>
          <p:nvPr/>
        </p:nvSpPr>
        <p:spPr>
          <a:xfrm>
            <a:off x="5892800" y="3985121"/>
            <a:ext cx="5650992"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Hash, pod template'inden üretilir; template değişince yeni ReplicaSet doğar.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SERVICE</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Değişen pod'ların önünde sabit bir adres</a:t>
            </a:r>
            <a:endParaRPr lang="en-US" sz="3000" dirty="0"/>
          </a:p>
        </p:txBody>
      </p:sp>
      <p:sp>
        <p:nvSpPr>
          <p:cNvPr id="4" name="Text 2"/>
          <p:cNvSpPr/>
          <p:nvPr/>
        </p:nvSpPr>
        <p:spPr>
          <a:xfrm>
            <a:off x="812800" y="1775420"/>
            <a:ext cx="682828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033"/>
                </a:solidFill>
                <a:latin typeface="IBM Plex Sans" pitchFamily="34" charset="0"/>
                <a:ea typeface="IBM Plex Sans" pitchFamily="34" charset="-122"/>
                <a:cs typeface="IBM Plex Sans" pitchFamily="34" charset="-120"/>
              </a:rPr>
              <a:t>Pod'lar ölür, yenisi farklı IP alır. Service, label selector ile seçtiği pod kümesine sabit bir IP, DNS adı ve yük dağıtımı sağlar.</a:t>
            </a:r>
            <a:endParaRPr lang="en-US" sz="1600" dirty="0"/>
          </a:p>
        </p:txBody>
      </p:sp>
      <p:sp>
        <p:nvSpPr>
          <p:cNvPr id="5" name="Text 3"/>
          <p:cNvSpPr/>
          <p:nvPr/>
        </p:nvSpPr>
        <p:spPr>
          <a:xfrm>
            <a:off x="898144" y="2496741"/>
            <a:ext cx="6735318" cy="10160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Uygulama katmanlarını gevşek bağlar: frontend → backend → db.</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Eşleşen pod'ların IP'leri </a:t>
            </a:r>
            <a:r>
              <a:rPr lang="en-US" sz="1300" b="1" dirty="0">
                <a:solidFill>
                  <a:srgbClr val="142033"/>
                </a:solidFill>
                <a:latin typeface="IBM Plex Sans" pitchFamily="34" charset="0"/>
                <a:ea typeface="IBM Plex Sans" pitchFamily="34" charset="-122"/>
                <a:cs typeface="IBM Plex Sans" pitchFamily="34" charset="-120"/>
              </a:rPr>
              <a:t>EndpointSlice</a:t>
            </a:r>
            <a:r>
              <a:rPr lang="en-US" sz="1300" dirty="0">
                <a:solidFill>
                  <a:srgbClr val="45505F"/>
                </a:solidFill>
                <a:latin typeface="IBM Plex Sans" pitchFamily="34" charset="0"/>
                <a:ea typeface="IBM Plex Sans" pitchFamily="34" charset="-122"/>
                <a:cs typeface="IBM Plex Sans" pitchFamily="34" charset="-120"/>
              </a:rPr>
              <a:t> nesnelerinde tutulur ve otomatik güncellenir.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Yalnızca </a:t>
            </a:r>
            <a:r>
              <a:rPr lang="en-US" sz="1300" b="1" dirty="0">
                <a:solidFill>
                  <a:srgbClr val="142033"/>
                </a:solidFill>
                <a:latin typeface="IBM Plex Sans" pitchFamily="34" charset="0"/>
                <a:ea typeface="IBM Plex Sans" pitchFamily="34" charset="-122"/>
                <a:cs typeface="IBM Plex Sans" pitchFamily="34" charset="-120"/>
              </a:rPr>
              <a:t>Ready</a:t>
            </a:r>
            <a:r>
              <a:rPr lang="en-US" sz="1300" dirty="0">
                <a:solidFill>
                  <a:srgbClr val="45505F"/>
                </a:solidFill>
                <a:latin typeface="IBM Plex Sans" pitchFamily="34" charset="0"/>
                <a:ea typeface="IBM Plex Sans" pitchFamily="34" charset="-122"/>
                <a:cs typeface="IBM Plex Sans" pitchFamily="34" charset="-120"/>
              </a:rPr>
              <a:t> durumdaki pod'lar trafik alır (readiness probe!).</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Service cluster genelindedir; tek bir node'a ait değildir.</a:t>
            </a:r>
            <a:endParaRPr lang="en-US" sz="1300" dirty="0"/>
          </a:p>
        </p:txBody>
      </p:sp>
      <p:sp>
        <p:nvSpPr>
          <p:cNvPr id="6" name="Shape 4"/>
          <p:cNvSpPr/>
          <p:nvPr/>
        </p:nvSpPr>
        <p:spPr>
          <a:xfrm>
            <a:off x="7699375" y="1778595"/>
            <a:ext cx="3676650" cy="768251"/>
          </a:xfrm>
          <a:prstGeom prst="roundRect">
            <a:avLst>
              <a:gd name="adj" fmla="val 9505"/>
            </a:avLst>
          </a:prstGeom>
          <a:solidFill>
            <a:srgbClr val="FDFCF9"/>
          </a:solidFill>
          <a:ln w="6350">
            <a:solidFill>
              <a:srgbClr val="E2DFD6"/>
            </a:solidFill>
            <a:prstDash val="solid"/>
          </a:ln>
        </p:spPr>
      </p:sp>
      <p:sp>
        <p:nvSpPr>
          <p:cNvPr id="7" name="Text 5"/>
          <p:cNvSpPr/>
          <p:nvPr/>
        </p:nvSpPr>
        <p:spPr>
          <a:xfrm>
            <a:off x="7854950" y="1934170"/>
            <a:ext cx="346646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ClusterIP</a:t>
            </a:r>
            <a:endParaRPr lang="en-US" sz="1600" dirty="0"/>
          </a:p>
        </p:txBody>
      </p:sp>
      <p:sp>
        <p:nvSpPr>
          <p:cNvPr id="8" name="Text 6"/>
          <p:cNvSpPr/>
          <p:nvPr/>
        </p:nvSpPr>
        <p:spPr>
          <a:xfrm>
            <a:off x="7854950" y="2177951"/>
            <a:ext cx="34664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Varsayılan. Yalnızca cluster içi.</a:t>
            </a:r>
            <a:endParaRPr lang="en-US" sz="1200" dirty="0"/>
          </a:p>
        </p:txBody>
      </p:sp>
      <p:sp>
        <p:nvSpPr>
          <p:cNvPr id="9" name="Shape 7"/>
          <p:cNvSpPr/>
          <p:nvPr/>
        </p:nvSpPr>
        <p:spPr>
          <a:xfrm>
            <a:off x="7699375" y="2654796"/>
            <a:ext cx="3676650" cy="768251"/>
          </a:xfrm>
          <a:prstGeom prst="roundRect">
            <a:avLst>
              <a:gd name="adj" fmla="val 9505"/>
            </a:avLst>
          </a:prstGeom>
          <a:solidFill>
            <a:srgbClr val="FDFCF9"/>
          </a:solidFill>
          <a:ln w="6350">
            <a:solidFill>
              <a:srgbClr val="E2DFD6"/>
            </a:solidFill>
            <a:prstDash val="solid"/>
          </a:ln>
        </p:spPr>
      </p:sp>
      <p:sp>
        <p:nvSpPr>
          <p:cNvPr id="10" name="Text 8"/>
          <p:cNvSpPr/>
          <p:nvPr/>
        </p:nvSpPr>
        <p:spPr>
          <a:xfrm>
            <a:off x="7854950" y="2810371"/>
            <a:ext cx="346646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NodePort</a:t>
            </a:r>
            <a:endParaRPr lang="en-US" sz="1600" dirty="0"/>
          </a:p>
        </p:txBody>
      </p:sp>
      <p:sp>
        <p:nvSpPr>
          <p:cNvPr id="11" name="Text 9"/>
          <p:cNvSpPr/>
          <p:nvPr/>
        </p:nvSpPr>
        <p:spPr>
          <a:xfrm>
            <a:off x="7854950" y="3054152"/>
            <a:ext cx="34664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Her node'da bir port açar.</a:t>
            </a:r>
            <a:endParaRPr lang="en-US" sz="1200" dirty="0"/>
          </a:p>
        </p:txBody>
      </p:sp>
      <p:sp>
        <p:nvSpPr>
          <p:cNvPr id="12" name="Shape 10"/>
          <p:cNvSpPr/>
          <p:nvPr/>
        </p:nvSpPr>
        <p:spPr>
          <a:xfrm>
            <a:off x="7699375" y="3530997"/>
            <a:ext cx="3676650" cy="768251"/>
          </a:xfrm>
          <a:prstGeom prst="roundRect">
            <a:avLst>
              <a:gd name="adj" fmla="val 9505"/>
            </a:avLst>
          </a:prstGeom>
          <a:solidFill>
            <a:srgbClr val="FDFCF9"/>
          </a:solidFill>
          <a:ln w="6350">
            <a:solidFill>
              <a:srgbClr val="E2DFD6"/>
            </a:solidFill>
            <a:prstDash val="solid"/>
          </a:ln>
        </p:spPr>
      </p:sp>
      <p:sp>
        <p:nvSpPr>
          <p:cNvPr id="13" name="Text 11"/>
          <p:cNvSpPr/>
          <p:nvPr/>
        </p:nvSpPr>
        <p:spPr>
          <a:xfrm>
            <a:off x="7854950" y="3686572"/>
            <a:ext cx="346646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LoadBalancer</a:t>
            </a:r>
            <a:endParaRPr lang="en-US" sz="1600" dirty="0"/>
          </a:p>
        </p:txBody>
      </p:sp>
      <p:sp>
        <p:nvSpPr>
          <p:cNvPr id="14" name="Text 12"/>
          <p:cNvSpPr/>
          <p:nvPr/>
        </p:nvSpPr>
        <p:spPr>
          <a:xfrm>
            <a:off x="7854950" y="3930352"/>
            <a:ext cx="34664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Harici yük dengeleyici ister.</a:t>
            </a:r>
            <a:endParaRPr lang="en-US" sz="1200" dirty="0"/>
          </a:p>
        </p:txBody>
      </p:sp>
      <p:sp>
        <p:nvSpPr>
          <p:cNvPr id="15" name="Shape 13"/>
          <p:cNvSpPr/>
          <p:nvPr/>
        </p:nvSpPr>
        <p:spPr>
          <a:xfrm>
            <a:off x="7696200" y="4404023"/>
            <a:ext cx="3683000" cy="761901"/>
          </a:xfrm>
          <a:prstGeom prst="roundRect">
            <a:avLst>
              <a:gd name="adj" fmla="val 10001"/>
            </a:avLst>
          </a:prstGeom>
          <a:solidFill>
            <a:srgbClr val="E8E4DA"/>
          </a:solidFill>
          <a:ln/>
        </p:spPr>
      </p:sp>
      <p:sp>
        <p:nvSpPr>
          <p:cNvPr id="16" name="Text 14"/>
          <p:cNvSpPr/>
          <p:nvPr/>
        </p:nvSpPr>
        <p:spPr>
          <a:xfrm>
            <a:off x="7848600" y="4556423"/>
            <a:ext cx="347954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ExternalName · Headless</a:t>
            </a:r>
            <a:endParaRPr lang="en-US" sz="1600" dirty="0"/>
          </a:p>
        </p:txBody>
      </p:sp>
      <p:sp>
        <p:nvSpPr>
          <p:cNvPr id="17" name="Text 15"/>
          <p:cNvSpPr/>
          <p:nvPr/>
        </p:nvSpPr>
        <p:spPr>
          <a:xfrm>
            <a:off x="7848600" y="4800203"/>
            <a:ext cx="34795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DNS CNAME · clusterIP: None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SERVICE headless </a:t>
            </a:r>
            <a:endParaRPr lang="en-US" sz="1200" dirty="0"/>
          </a:p>
        </p:txBody>
      </p:sp>
      <p:pic>
        <p:nvPicPr>
          <p:cNvPr id="21" name="Picture 20">
            <a:extLst>
              <a:ext uri="{FF2B5EF4-FFF2-40B4-BE49-F238E27FC236}">
                <a16:creationId xmlns:a16="http://schemas.microsoft.com/office/drawing/2014/main" id="{D50FD062-2090-401E-DA51-7566841A9AF7}"/>
              </a:ext>
            </a:extLst>
          </p:cNvPr>
          <p:cNvPicPr>
            <a:picLocks noChangeAspect="1"/>
          </p:cNvPicPr>
          <p:nvPr/>
        </p:nvPicPr>
        <p:blipFill>
          <a:blip r:embed="rId3"/>
          <a:stretch>
            <a:fillRect/>
          </a:stretch>
        </p:blipFill>
        <p:spPr>
          <a:xfrm>
            <a:off x="3108959" y="1203064"/>
            <a:ext cx="6268983" cy="5445515"/>
          </a:xfrm>
          <a:prstGeom prst="rect">
            <a:avLst/>
          </a:prstGeom>
        </p:spPr>
      </p:pic>
    </p:spTree>
    <p:extLst>
      <p:ext uri="{BB962C8B-B14F-4D97-AF65-F5344CB8AC3E}">
        <p14:creationId xmlns:p14="http://schemas.microsoft.com/office/powerpoint/2010/main" val="30727739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SERVICE · NODEPORT</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Üç port, üç farklı bakış açısı</a:t>
            </a:r>
            <a:endParaRPr lang="en-US" sz="3000" dirty="0"/>
          </a:p>
        </p:txBody>
      </p:sp>
      <p:sp>
        <p:nvSpPr>
          <p:cNvPr id="4" name="Text 2"/>
          <p:cNvSpPr/>
          <p:nvPr/>
        </p:nvSpPr>
        <p:spPr>
          <a:xfrm>
            <a:off x="812800" y="1781770"/>
            <a:ext cx="1756767" cy="655241"/>
          </a:xfrm>
          <a:prstGeom prst="roundRect">
            <a:avLst>
              <a:gd name="adj" fmla="val 9691"/>
            </a:avLst>
          </a:prstGeom>
          <a:solidFill>
            <a:srgbClr val="142033"/>
          </a:solidFill>
          <a:ln/>
        </p:spPr>
        <p:txBody>
          <a:bodyPr wrap="square" lIns="70301" tIns="95701" rIns="70301" bIns="70301" rtlCol="0" anchor="t">
            <a:normAutofit/>
          </a:bodyPr>
          <a:lstStyle/>
          <a:p>
            <a:pPr marL="0" indent="0" algn="ctr">
              <a:lnSpc>
                <a:spcPts val="1680"/>
              </a:lnSpc>
              <a:buNone/>
            </a:pPr>
            <a:r>
              <a:rPr lang="en-US" sz="1200" dirty="0">
                <a:solidFill>
                  <a:srgbClr val="F5F4EF"/>
                </a:solidFill>
                <a:latin typeface="IBM Plex Sans" pitchFamily="34" charset="0"/>
                <a:ea typeface="IBM Plex Sans" pitchFamily="34" charset="-122"/>
                <a:cs typeface="IBM Plex Sans" pitchFamily="34" charset="-120"/>
              </a:rPr>
              <a:t>Kullanıcı</a:t>
            </a:r>
            <a:endParaRPr lang="en-US" sz="1200" dirty="0"/>
          </a:p>
          <a:p>
            <a:pPr marL="0" indent="0" algn="ctr">
              <a:lnSpc>
                <a:spcPts val="1680"/>
              </a:lnSpc>
              <a:buNone/>
            </a:pPr>
            <a:r>
              <a:rPr lang="en-US" sz="1200" dirty="0">
                <a:solidFill>
                  <a:srgbClr val="F5F4EF"/>
                </a:solidFill>
                <a:latin typeface="IBM Plex Sans" pitchFamily="34" charset="0"/>
                <a:ea typeface="IBM Plex Sans" pitchFamily="34" charset="-122"/>
                <a:cs typeface="IBM Plex Sans" pitchFamily="34" charset="-120"/>
              </a:rPr>
              <a:t>node-ip:30008</a:t>
            </a:r>
            <a:endParaRPr lang="en-US" sz="1200" dirty="0"/>
          </a:p>
        </p:txBody>
      </p:sp>
      <p:pic>
        <p:nvPicPr>
          <p:cNvPr id="5" name="Image 0" descr="arrow-right"/>
          <p:cNvPicPr>
            <a:picLocks noChangeAspect="1"/>
          </p:cNvPicPr>
          <p:nvPr/>
        </p:nvPicPr>
        <p:blipFill>
          <a:blip r:embed="rId3"/>
          <a:srcRect/>
          <a:stretch/>
        </p:blipFill>
        <p:spPr>
          <a:xfrm>
            <a:off x="2658467" y="2007791"/>
            <a:ext cx="304800" cy="203200"/>
          </a:xfrm>
          <a:prstGeom prst="rect">
            <a:avLst/>
          </a:prstGeom>
        </p:spPr>
      </p:pic>
      <p:sp>
        <p:nvSpPr>
          <p:cNvPr id="6" name="Text 3"/>
          <p:cNvSpPr/>
          <p:nvPr/>
        </p:nvSpPr>
        <p:spPr>
          <a:xfrm>
            <a:off x="3052167" y="1781770"/>
            <a:ext cx="1756866" cy="655241"/>
          </a:xfrm>
          <a:prstGeom prst="roundRect">
            <a:avLst>
              <a:gd name="adj" fmla="val 9691"/>
            </a:avLst>
          </a:prstGeom>
          <a:solidFill>
            <a:srgbClr val="DCE6F7"/>
          </a:solidFill>
          <a:ln/>
        </p:spPr>
        <p:txBody>
          <a:bodyPr wrap="square" lIns="70301" tIns="95701" rIns="70301" bIns="703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Service</a:t>
            </a:r>
            <a:endParaRPr lang="en-US" sz="1200" dirty="0"/>
          </a:p>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:80</a:t>
            </a:r>
            <a:endParaRPr lang="en-US" sz="1200" dirty="0"/>
          </a:p>
        </p:txBody>
      </p:sp>
      <p:pic>
        <p:nvPicPr>
          <p:cNvPr id="7" name="Image 1" descr="arrow-right"/>
          <p:cNvPicPr>
            <a:picLocks noChangeAspect="1"/>
          </p:cNvPicPr>
          <p:nvPr/>
        </p:nvPicPr>
        <p:blipFill>
          <a:blip r:embed="rId3"/>
          <a:srcRect/>
          <a:stretch/>
        </p:blipFill>
        <p:spPr>
          <a:xfrm>
            <a:off x="4897934" y="2007791"/>
            <a:ext cx="304800" cy="203200"/>
          </a:xfrm>
          <a:prstGeom prst="rect">
            <a:avLst/>
          </a:prstGeom>
        </p:spPr>
      </p:pic>
      <p:sp>
        <p:nvSpPr>
          <p:cNvPr id="8" name="Text 4"/>
          <p:cNvSpPr/>
          <p:nvPr/>
        </p:nvSpPr>
        <p:spPr>
          <a:xfrm>
            <a:off x="5294809" y="1778595"/>
            <a:ext cx="1763216" cy="661591"/>
          </a:xfrm>
          <a:prstGeom prst="roundRect">
            <a:avLst>
              <a:gd name="adj" fmla="val 9118"/>
            </a:avLst>
          </a:prstGeom>
          <a:solidFill>
            <a:srgbClr val="FDFCF9"/>
          </a:solidFill>
          <a:ln w="6350">
            <a:solidFill>
              <a:srgbClr val="E2DFD6"/>
            </a:solidFill>
            <a:prstDash val="solid"/>
          </a:ln>
        </p:spPr>
        <p:txBody>
          <a:bodyPr wrap="square" lIns="74406" tIns="99806" rIns="74406" bIns="74406" rtlCol="0" anchor="t">
            <a:normAutofit/>
          </a:bodyPr>
          <a:lstStyle/>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Pod</a:t>
            </a:r>
            <a:endParaRPr lang="en-US" sz="1200" dirty="0"/>
          </a:p>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:80</a:t>
            </a:r>
            <a:endParaRPr lang="en-US" sz="1200" dirty="0"/>
          </a:p>
        </p:txBody>
      </p:sp>
      <p:sp>
        <p:nvSpPr>
          <p:cNvPr id="9" name="Text 5"/>
          <p:cNvSpPr/>
          <p:nvPr/>
        </p:nvSpPr>
        <p:spPr>
          <a:xfrm>
            <a:off x="898144" y="2570361"/>
            <a:ext cx="6342888"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targetPort:</a:t>
            </a:r>
            <a:r>
              <a:rPr lang="en-US" sz="1300" dirty="0">
                <a:solidFill>
                  <a:srgbClr val="45505F"/>
                </a:solidFill>
                <a:latin typeface="IBM Plex Sans" pitchFamily="34" charset="0"/>
                <a:ea typeface="IBM Plex Sans" pitchFamily="34" charset="-122"/>
                <a:cs typeface="IBM Plex Sans" pitchFamily="34" charset="-120"/>
              </a:rPr>
              <a:t> pod'un dinlediği port. Yazılmazsa port ile aynı.</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port:</a:t>
            </a:r>
            <a:r>
              <a:rPr lang="en-US" sz="1300" dirty="0">
                <a:solidFill>
                  <a:srgbClr val="45505F"/>
                </a:solidFill>
                <a:latin typeface="IBM Plex Sans" pitchFamily="34" charset="0"/>
                <a:ea typeface="IBM Plex Sans" pitchFamily="34" charset="-122"/>
                <a:cs typeface="IBM Plex Sans" pitchFamily="34" charset="-120"/>
              </a:rPr>
              <a:t> Service'in kendi portu. Zorunlu tek alan.</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nodePort:</a:t>
            </a:r>
            <a:r>
              <a:rPr lang="en-US" sz="1300" dirty="0">
                <a:solidFill>
                  <a:srgbClr val="45505F"/>
                </a:solidFill>
                <a:latin typeface="IBM Plex Sans" pitchFamily="34" charset="0"/>
                <a:ea typeface="IBM Plex Sans" pitchFamily="34" charset="-122"/>
                <a:cs typeface="IBM Plex Sans" pitchFamily="34" charset="-120"/>
              </a:rPr>
              <a:t> her node'da açılan port, aralık </a:t>
            </a:r>
            <a:r>
              <a:rPr lang="en-US" sz="1300" b="1" dirty="0">
                <a:solidFill>
                  <a:srgbClr val="142033"/>
                </a:solidFill>
                <a:latin typeface="IBM Plex Sans" pitchFamily="34" charset="0"/>
                <a:ea typeface="IBM Plex Sans" pitchFamily="34" charset="-122"/>
                <a:cs typeface="IBM Plex Sans" pitchFamily="34" charset="-120"/>
              </a:rPr>
              <a:t>30000–32767</a:t>
            </a:r>
            <a:r>
              <a:rPr lang="en-US" sz="1300" dirty="0">
                <a:solidFill>
                  <a:srgbClr val="45505F"/>
                </a:solidFill>
                <a:latin typeface="IBM Plex Sans" pitchFamily="34" charset="0"/>
                <a:ea typeface="IBM Plex Sans" pitchFamily="34" charset="-122"/>
                <a:cs typeface="IBM Plex Sans" pitchFamily="34" charset="-120"/>
              </a:rPr>
              <a:t>. Yazılmazsa rastgele atanır.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Pod'lar birden çok node'daysa hepsine yayılır; herhangi bir node'un IP'sinden erişilir.</a:t>
            </a:r>
            <a:endParaRPr lang="en-US" sz="1300" dirty="0"/>
          </a:p>
        </p:txBody>
      </p:sp>
      <p:sp>
        <p:nvSpPr>
          <p:cNvPr id="10" name="Text 6"/>
          <p:cNvSpPr/>
          <p:nvPr/>
        </p:nvSpPr>
        <p:spPr>
          <a:xfrm>
            <a:off x="7315200" y="1775420"/>
            <a:ext cx="4064000" cy="3057922"/>
          </a:xfrm>
          <a:prstGeom prst="roundRect">
            <a:avLst>
              <a:gd name="adj" fmla="val 2492"/>
            </a:avLst>
          </a:prstGeom>
          <a:solidFill>
            <a:srgbClr val="1B2A41"/>
          </a:solidFill>
          <a:ln/>
        </p:spPr>
        <p:txBody>
          <a:bodyPr wrap="square" lIns="180882" tIns="180882" rIns="7115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Service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myapp-service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type: NodePort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ports: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targetPort: 80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port: 80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nodePort: 30008</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selector: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app: myapp</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SERVICE · NODEPORT</a:t>
            </a:r>
            <a:endParaRPr lang="en-US" sz="1200" dirty="0"/>
          </a:p>
        </p:txBody>
      </p:sp>
      <p:pic>
        <p:nvPicPr>
          <p:cNvPr id="16" name="Picture 15">
            <a:extLst>
              <a:ext uri="{FF2B5EF4-FFF2-40B4-BE49-F238E27FC236}">
                <a16:creationId xmlns:a16="http://schemas.microsoft.com/office/drawing/2014/main" id="{2EC38AEF-1831-1F28-04F8-9180C30F7FBE}"/>
              </a:ext>
            </a:extLst>
          </p:cNvPr>
          <p:cNvPicPr>
            <a:picLocks noChangeAspect="1"/>
          </p:cNvPicPr>
          <p:nvPr/>
        </p:nvPicPr>
        <p:blipFill>
          <a:blip r:embed="rId3"/>
          <a:stretch>
            <a:fillRect/>
          </a:stretch>
        </p:blipFill>
        <p:spPr>
          <a:xfrm>
            <a:off x="3429000" y="1063024"/>
            <a:ext cx="5854902" cy="5760685"/>
          </a:xfrm>
          <a:prstGeom prst="rect">
            <a:avLst/>
          </a:prstGeom>
        </p:spPr>
      </p:pic>
    </p:spTree>
    <p:extLst>
      <p:ext uri="{BB962C8B-B14F-4D97-AF65-F5344CB8AC3E}">
        <p14:creationId xmlns:p14="http://schemas.microsoft.com/office/powerpoint/2010/main" val="41064781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SERVICE · CLUSTERIP</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Mikroservisler arası iç iletişim</a:t>
            </a:r>
            <a:endParaRPr lang="en-US" sz="3000" dirty="0"/>
          </a:p>
        </p:txBody>
      </p:sp>
      <p:sp>
        <p:nvSpPr>
          <p:cNvPr id="4" name="Text 2"/>
          <p:cNvSpPr/>
          <p:nvPr/>
        </p:nvSpPr>
        <p:spPr>
          <a:xfrm>
            <a:off x="812800" y="1882080"/>
            <a:ext cx="1799134" cy="441920"/>
          </a:xfrm>
          <a:prstGeom prst="roundRect">
            <a:avLst>
              <a:gd name="adj" fmla="val 14369"/>
            </a:avLst>
          </a:prstGeom>
          <a:solidFill>
            <a:srgbClr val="DCE6F7"/>
          </a:solidFill>
          <a:ln/>
        </p:spPr>
        <p:txBody>
          <a:bodyPr wrap="square" lIns="70301" tIns="95701" rIns="70301" bIns="703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front-end pod'ları</a:t>
            </a:r>
            <a:endParaRPr lang="en-US" sz="1200" dirty="0"/>
          </a:p>
        </p:txBody>
      </p:sp>
      <p:pic>
        <p:nvPicPr>
          <p:cNvPr id="5" name="Image 0" descr="arrow-right"/>
          <p:cNvPicPr>
            <a:picLocks noChangeAspect="1"/>
          </p:cNvPicPr>
          <p:nvPr/>
        </p:nvPicPr>
        <p:blipFill>
          <a:blip r:embed="rId3"/>
          <a:srcRect/>
          <a:stretch/>
        </p:blipFill>
        <p:spPr>
          <a:xfrm>
            <a:off x="2700834" y="2001441"/>
            <a:ext cx="304800" cy="203200"/>
          </a:xfrm>
          <a:prstGeom prst="rect">
            <a:avLst/>
          </a:prstGeom>
        </p:spPr>
      </p:pic>
      <p:sp>
        <p:nvSpPr>
          <p:cNvPr id="6" name="Text 3"/>
          <p:cNvSpPr/>
          <p:nvPr/>
        </p:nvSpPr>
        <p:spPr>
          <a:xfrm>
            <a:off x="3094534" y="1775420"/>
            <a:ext cx="1799233" cy="655241"/>
          </a:xfrm>
          <a:prstGeom prst="roundRect">
            <a:avLst>
              <a:gd name="adj" fmla="val 9691"/>
            </a:avLst>
          </a:prstGeom>
          <a:solidFill>
            <a:srgbClr val="142033"/>
          </a:solidFill>
          <a:ln/>
        </p:spPr>
        <p:txBody>
          <a:bodyPr wrap="square" lIns="70301" tIns="95701" rIns="70301" bIns="70301" rtlCol="0" anchor="t">
            <a:normAutofit/>
          </a:bodyPr>
          <a:lstStyle/>
          <a:p>
            <a:pPr marL="0" indent="0" algn="ctr">
              <a:lnSpc>
                <a:spcPts val="1680"/>
              </a:lnSpc>
              <a:buNone/>
            </a:pPr>
            <a:r>
              <a:rPr lang="en-US" sz="1200" dirty="0">
                <a:solidFill>
                  <a:srgbClr val="F5F4EF"/>
                </a:solidFill>
                <a:latin typeface="IBM Plex Sans" pitchFamily="34" charset="0"/>
                <a:ea typeface="IBM Plex Sans" pitchFamily="34" charset="-122"/>
                <a:cs typeface="IBM Plex Sans" pitchFamily="34" charset="-120"/>
              </a:rPr>
              <a:t>back-end</a:t>
            </a:r>
            <a:endParaRPr lang="en-US" sz="1200" dirty="0"/>
          </a:p>
          <a:p>
            <a:pPr marL="0" indent="0" algn="ctr">
              <a:lnSpc>
                <a:spcPts val="1680"/>
              </a:lnSpc>
              <a:buNone/>
            </a:pPr>
            <a:r>
              <a:rPr lang="en-US" sz="1200" dirty="0">
                <a:solidFill>
                  <a:srgbClr val="F5F4EF"/>
                </a:solidFill>
                <a:latin typeface="IBM Plex Sans" pitchFamily="34" charset="0"/>
                <a:ea typeface="IBM Plex Sans" pitchFamily="34" charset="-122"/>
                <a:cs typeface="IBM Plex Sans" pitchFamily="34" charset="-120"/>
              </a:rPr>
              <a:t>ClusterIP</a:t>
            </a:r>
            <a:endParaRPr lang="en-US" sz="1200" dirty="0"/>
          </a:p>
        </p:txBody>
      </p:sp>
      <p:pic>
        <p:nvPicPr>
          <p:cNvPr id="7" name="Image 1" descr="arrow-right"/>
          <p:cNvPicPr>
            <a:picLocks noChangeAspect="1"/>
          </p:cNvPicPr>
          <p:nvPr/>
        </p:nvPicPr>
        <p:blipFill>
          <a:blip r:embed="rId3"/>
          <a:srcRect/>
          <a:stretch/>
        </p:blipFill>
        <p:spPr>
          <a:xfrm>
            <a:off x="4982666" y="2001441"/>
            <a:ext cx="304800" cy="203200"/>
          </a:xfrm>
          <a:prstGeom prst="rect">
            <a:avLst/>
          </a:prstGeom>
        </p:spPr>
      </p:pic>
      <p:sp>
        <p:nvSpPr>
          <p:cNvPr id="8" name="Text 4"/>
          <p:cNvSpPr/>
          <p:nvPr/>
        </p:nvSpPr>
        <p:spPr>
          <a:xfrm>
            <a:off x="5379541" y="1878905"/>
            <a:ext cx="1805484" cy="448270"/>
          </a:xfrm>
          <a:prstGeom prst="roundRect">
            <a:avLst>
              <a:gd name="adj" fmla="val 13457"/>
            </a:avLst>
          </a:prstGeom>
          <a:solidFill>
            <a:srgbClr val="FDFCF9"/>
          </a:solidFill>
          <a:ln w="6350">
            <a:solidFill>
              <a:srgbClr val="E2DFD6"/>
            </a:solidFill>
            <a:prstDash val="solid"/>
          </a:ln>
        </p:spPr>
        <p:txBody>
          <a:bodyPr wrap="square" lIns="74406" tIns="99806" rIns="74406" bIns="74406" rtlCol="0" anchor="t">
            <a:normAutofit/>
          </a:bodyPr>
          <a:lstStyle/>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back-end pod'ları</a:t>
            </a:r>
            <a:endParaRPr lang="en-US" sz="1200" dirty="0"/>
          </a:p>
        </p:txBody>
      </p:sp>
      <p:sp>
        <p:nvSpPr>
          <p:cNvPr id="9" name="Text 5"/>
          <p:cNvSpPr/>
          <p:nvPr/>
        </p:nvSpPr>
        <p:spPr>
          <a:xfrm>
            <a:off x="898144" y="2557661"/>
            <a:ext cx="6473698" cy="12636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type yazılmazsa ClusterIP olur. Sadece cluster içinden erişilir.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Diğer pod'lar onu IP ile değil </a:t>
            </a:r>
            <a:r>
              <a:rPr lang="en-US" sz="1300" b="1" dirty="0">
                <a:solidFill>
                  <a:srgbClr val="142033"/>
                </a:solidFill>
                <a:latin typeface="IBM Plex Sans" pitchFamily="34" charset="0"/>
                <a:ea typeface="IBM Plex Sans" pitchFamily="34" charset="-122"/>
                <a:cs typeface="IBM Plex Sans" pitchFamily="34" charset="-120"/>
              </a:rPr>
              <a:t>DNS adıyla</a:t>
            </a:r>
            <a:r>
              <a:rPr lang="en-US" sz="1300" dirty="0">
                <a:solidFill>
                  <a:srgbClr val="45505F"/>
                </a:solidFill>
                <a:latin typeface="IBM Plex Sans" pitchFamily="34" charset="0"/>
                <a:ea typeface="IBM Plex Sans" pitchFamily="34" charset="-122"/>
                <a:cs typeface="IBM Plex Sans" pitchFamily="34" charset="-120"/>
              </a:rPr>
              <a:t> çağırır: </a:t>
            </a:r>
            <a:r>
              <a:rPr lang="en-US" sz="1300" b="1" dirty="0">
                <a:solidFill>
                  <a:srgbClr val="142033"/>
                </a:solidFill>
                <a:latin typeface="IBM Plex Sans" pitchFamily="34" charset="0"/>
                <a:ea typeface="IBM Plex Sans" pitchFamily="34" charset="-122"/>
                <a:cs typeface="IBM Plex Sans" pitchFamily="34" charset="-120"/>
              </a:rPr>
              <a:t>back-end</a:t>
            </a:r>
            <a:r>
              <a:rPr lang="en-US" sz="1300" dirty="0">
                <a:solidFill>
                  <a:srgbClr val="45505F"/>
                </a:solidFill>
                <a:latin typeface="IBM Plex Sans" pitchFamily="34" charset="0"/>
                <a:ea typeface="IBM Plex Sans" pitchFamily="34" charset="-122"/>
                <a:cs typeface="IBM Plex Sans" pitchFamily="34" charset="-120"/>
              </a:rPr>
              <a:t> veya back-end.&lt;ns&gt;.svc.cluster.local</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Headless</a:t>
            </a:r>
            <a:r>
              <a:rPr lang="en-US" sz="1300" dirty="0">
                <a:solidFill>
                  <a:srgbClr val="45505F"/>
                </a:solidFill>
                <a:latin typeface="IBM Plex Sans" pitchFamily="34" charset="0"/>
                <a:ea typeface="IBM Plex Sans" pitchFamily="34" charset="-122"/>
                <a:cs typeface="IBM Plex Sans" pitchFamily="34" charset="-120"/>
              </a:rPr>
              <a:t> (clusterIP: None): sanal IP yok; DNS doğrudan pod IP'lerini döndürür. StatefulSet'lerde kullanılır.</a:t>
            </a:r>
            <a:endParaRPr lang="en-US" sz="1300" dirty="0"/>
          </a:p>
        </p:txBody>
      </p:sp>
      <p:sp>
        <p:nvSpPr>
          <p:cNvPr id="10" name="Text 6"/>
          <p:cNvSpPr/>
          <p:nvPr/>
        </p:nvSpPr>
        <p:spPr>
          <a:xfrm>
            <a:off x="7442200" y="1775420"/>
            <a:ext cx="3937000" cy="3941763"/>
          </a:xfrm>
          <a:prstGeom prst="roundRect">
            <a:avLst>
              <a:gd name="adj" fmla="val 1935"/>
            </a:avLst>
          </a:prstGeom>
          <a:solidFill>
            <a:srgbClr val="1B2A41"/>
          </a:solidFill>
          <a:ln/>
        </p:spPr>
        <p:txBody>
          <a:bodyPr wrap="square" lIns="180882" tIns="180882" rIns="7496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Service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back-end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type: ClusterIP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ports: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targetPort: 80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port: 80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selector: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app: myapp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type: back-end</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imperatif</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expose deploy web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--port=80 --name=web-svc</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SERVICE · LOADBALANCER</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Kullanıcıya tek bir adres vermek</a:t>
            </a:r>
            <a:endParaRPr lang="en-US" sz="3000" dirty="0"/>
          </a:p>
        </p:txBody>
      </p:sp>
      <p:sp>
        <p:nvSpPr>
          <p:cNvPr id="4" name="Text 2"/>
          <p:cNvSpPr/>
          <p:nvPr/>
        </p:nvSpPr>
        <p:spPr>
          <a:xfrm>
            <a:off x="812800" y="1775420"/>
            <a:ext cx="695909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033"/>
                </a:solidFill>
                <a:latin typeface="IBM Plex Sans" pitchFamily="34" charset="0"/>
                <a:ea typeface="IBM Plex Sans" pitchFamily="34" charset="-122"/>
                <a:cs typeface="IBM Plex Sans" pitchFamily="34" charset="-120"/>
              </a:rPr>
              <a:t>NodePort ile kullanıcıya node IP'leri ve 30000+ portlar verilir; bu üretim için uygun değildir.</a:t>
            </a:r>
            <a:endParaRPr lang="en-US" sz="1600" dirty="0"/>
          </a:p>
        </p:txBody>
      </p:sp>
      <p:sp>
        <p:nvSpPr>
          <p:cNvPr id="5" name="Text 3"/>
          <p:cNvSpPr/>
          <p:nvPr/>
        </p:nvSpPr>
        <p:spPr>
          <a:xfrm>
            <a:off x="898144" y="2471341"/>
            <a:ext cx="6866128" cy="20066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type: LoadBalancer</a:t>
            </a:r>
            <a:r>
              <a:rPr lang="en-US" sz="1300" dirty="0">
                <a:solidFill>
                  <a:srgbClr val="45505F"/>
                </a:solidFill>
                <a:latin typeface="IBM Plex Sans" pitchFamily="34" charset="0"/>
                <a:ea typeface="IBM Plex Sans" pitchFamily="34" charset="-122"/>
                <a:cs typeface="IBM Plex Sans" pitchFamily="34" charset="-120"/>
              </a:rPr>
              <a:t> bir NodePort'un üzerine harici bir yük dengeleyici ekler.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Bulutta (AWS, Azure, GCP) cloud-controller-manager bunu otomatik oluşturur ve EXTERNAL-IP atar.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On-prem / bare metal ortamda karşılığı yoksa EXTERNAL-IP </a:t>
            </a:r>
            <a:r>
              <a:rPr lang="en-US" sz="1300" b="1" dirty="0">
                <a:solidFill>
                  <a:srgbClr val="142033"/>
                </a:solidFill>
                <a:latin typeface="IBM Plex Sans" pitchFamily="34" charset="0"/>
                <a:ea typeface="IBM Plex Sans" pitchFamily="34" charset="-122"/>
                <a:cs typeface="IBM Plex Sans" pitchFamily="34" charset="-120"/>
              </a:rPr>
              <a:t>&lt;pending&gt;</a:t>
            </a:r>
            <a:r>
              <a:rPr lang="en-US" sz="1300" dirty="0">
                <a:solidFill>
                  <a:srgbClr val="45505F"/>
                </a:solidFill>
                <a:latin typeface="IBM Plex Sans" pitchFamily="34" charset="0"/>
                <a:ea typeface="IBM Plex Sans" pitchFamily="34" charset="-122"/>
                <a:cs typeface="IBM Plex Sans" pitchFamily="34" charset="-120"/>
              </a:rPr>
              <a:t> kalır ve NodePort gibi davranır.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On-prem çözümler: </a:t>
            </a:r>
            <a:r>
              <a:rPr lang="en-US" sz="1300" b="1" dirty="0">
                <a:solidFill>
                  <a:srgbClr val="142033"/>
                </a:solidFill>
                <a:latin typeface="IBM Plex Sans" pitchFamily="34" charset="0"/>
                <a:ea typeface="IBM Plex Sans" pitchFamily="34" charset="-122"/>
                <a:cs typeface="IBM Plex Sans" pitchFamily="34" charset="-120"/>
              </a:rPr>
              <a:t>MetalLB</a:t>
            </a:r>
            <a:r>
              <a:rPr lang="en-US" sz="1300" dirty="0">
                <a:solidFill>
                  <a:srgbClr val="45505F"/>
                </a:solidFill>
                <a:latin typeface="IBM Plex Sans" pitchFamily="34" charset="0"/>
                <a:ea typeface="IBM Plex Sans" pitchFamily="34" charset="-122"/>
                <a:cs typeface="IBM Plex Sans" pitchFamily="34" charset="-120"/>
              </a:rPr>
              <a:t>, kube-vip, Cilium LB-IPAM, ya da altyapınızın sağladığı LB.</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Her servis için ayrı LB pahalıdır → HTTP trafiği için genelde </a:t>
            </a:r>
            <a:r>
              <a:rPr lang="en-US" sz="1300" b="1" dirty="0">
                <a:solidFill>
                  <a:srgbClr val="142033"/>
                </a:solidFill>
                <a:latin typeface="IBM Plex Sans" pitchFamily="34" charset="0"/>
                <a:ea typeface="IBM Plex Sans" pitchFamily="34" charset="-122"/>
                <a:cs typeface="IBM Plex Sans" pitchFamily="34" charset="-120"/>
              </a:rPr>
              <a:t>Ingress / Gateway</a:t>
            </a:r>
            <a:r>
              <a:rPr lang="en-US" sz="1300" dirty="0">
                <a:solidFill>
                  <a:srgbClr val="45505F"/>
                </a:solidFill>
                <a:latin typeface="IBM Plex Sans" pitchFamily="34" charset="0"/>
                <a:ea typeface="IBM Plex Sans" pitchFamily="34" charset="-122"/>
                <a:cs typeface="IBM Plex Sans" pitchFamily="34" charset="-120"/>
              </a:rPr>
              <a:t> tercih edilir.</a:t>
            </a:r>
            <a:endParaRPr lang="en-US" sz="1300" dirty="0"/>
          </a:p>
        </p:txBody>
      </p:sp>
      <p:sp>
        <p:nvSpPr>
          <p:cNvPr id="6" name="Text 4"/>
          <p:cNvSpPr/>
          <p:nvPr/>
        </p:nvSpPr>
        <p:spPr>
          <a:xfrm>
            <a:off x="7823200" y="1775420"/>
            <a:ext cx="3556000" cy="485080"/>
          </a:xfrm>
          <a:prstGeom prst="roundRect">
            <a:avLst>
              <a:gd name="adj" fmla="val 13091"/>
            </a:avLst>
          </a:prstGeom>
          <a:solidFill>
            <a:srgbClr val="142033"/>
          </a:solidFill>
          <a:ln/>
        </p:spPr>
        <p:txBody>
          <a:bodyPr wrap="square" lIns="58871" tIns="108401" rIns="58871" bIns="83001" rtlCol="0" anchor="t">
            <a:normAutofit/>
          </a:bodyPr>
          <a:lstStyle/>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vote.example.com</a:t>
            </a:r>
            <a:endParaRPr lang="en-US" sz="1300" dirty="0"/>
          </a:p>
        </p:txBody>
      </p:sp>
      <p:pic>
        <p:nvPicPr>
          <p:cNvPr id="7" name="Image 0" descr="arrow-down"/>
          <p:cNvPicPr>
            <a:picLocks noChangeAspect="1"/>
          </p:cNvPicPr>
          <p:nvPr/>
        </p:nvPicPr>
        <p:blipFill>
          <a:blip r:embed="rId3"/>
          <a:srcRect/>
          <a:stretch/>
        </p:blipFill>
        <p:spPr>
          <a:xfrm>
            <a:off x="9474200" y="2349401"/>
            <a:ext cx="254000" cy="304800"/>
          </a:xfrm>
          <a:prstGeom prst="rect">
            <a:avLst/>
          </a:prstGeom>
        </p:spPr>
      </p:pic>
      <p:sp>
        <p:nvSpPr>
          <p:cNvPr id="8" name="Text 5"/>
          <p:cNvSpPr/>
          <p:nvPr/>
        </p:nvSpPr>
        <p:spPr>
          <a:xfrm>
            <a:off x="7823200" y="2743101"/>
            <a:ext cx="3556000" cy="485080"/>
          </a:xfrm>
          <a:prstGeom prst="roundRect">
            <a:avLst>
              <a:gd name="adj" fmla="val 13091"/>
            </a:avLst>
          </a:prstGeom>
          <a:solidFill>
            <a:srgbClr val="DCE6F7"/>
          </a:solidFill>
          <a:ln/>
        </p:spPr>
        <p:txBody>
          <a:bodyPr wrap="square" lIns="58871" tIns="108401" rIns="58871" bIns="83001" rtlCol="0" anchor="t">
            <a:normAutofit/>
          </a:bodyPr>
          <a:lstStyle/>
          <a:p>
            <a:pPr marL="0" indent="0" algn="ctr">
              <a:lnSpc>
                <a:spcPts val="1820"/>
              </a:lnSpc>
              <a:buNone/>
            </a:pPr>
            <a:r>
              <a:rPr lang="en-US" sz="1300" dirty="0">
                <a:solidFill>
                  <a:srgbClr val="142033"/>
                </a:solidFill>
                <a:latin typeface="IBM Plex Sans" pitchFamily="34" charset="0"/>
                <a:ea typeface="IBM Plex Sans" pitchFamily="34" charset="-122"/>
                <a:cs typeface="IBM Plex Sans" pitchFamily="34" charset="-120"/>
              </a:rPr>
              <a:t>Harici LB · 203.0.113.10</a:t>
            </a:r>
            <a:endParaRPr lang="en-US" sz="1300" dirty="0"/>
          </a:p>
        </p:txBody>
      </p:sp>
      <p:pic>
        <p:nvPicPr>
          <p:cNvPr id="9" name="Image 1" descr="arrow-down"/>
          <p:cNvPicPr>
            <a:picLocks noChangeAspect="1"/>
          </p:cNvPicPr>
          <p:nvPr/>
        </p:nvPicPr>
        <p:blipFill>
          <a:blip r:embed="rId3"/>
          <a:srcRect/>
          <a:stretch/>
        </p:blipFill>
        <p:spPr>
          <a:xfrm>
            <a:off x="9474200" y="3317081"/>
            <a:ext cx="254000" cy="304800"/>
          </a:xfrm>
          <a:prstGeom prst="rect">
            <a:avLst/>
          </a:prstGeom>
        </p:spPr>
      </p:pic>
      <p:sp>
        <p:nvSpPr>
          <p:cNvPr id="10" name="Text 6"/>
          <p:cNvSpPr/>
          <p:nvPr/>
        </p:nvSpPr>
        <p:spPr>
          <a:xfrm>
            <a:off x="7826375" y="3713956"/>
            <a:ext cx="1733550" cy="422870"/>
          </a:xfrm>
          <a:prstGeom prst="roundRect">
            <a:avLst>
              <a:gd name="adj" fmla="val 14266"/>
            </a:avLst>
          </a:prstGeom>
          <a:solidFill>
            <a:srgbClr val="FDFCF9"/>
          </a:solidFill>
          <a:ln w="6350">
            <a:solidFill>
              <a:srgbClr val="E2DFD6"/>
            </a:solidFill>
            <a:prstDash val="solid"/>
          </a:ln>
        </p:spPr>
        <p:txBody>
          <a:bodyPr wrap="square" lIns="61706" tIns="87106" rIns="61706" bIns="61706" rtlCol="0" anchor="t">
            <a:normAutofit/>
          </a:bodyPr>
          <a:lstStyle/>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node1:31000</a:t>
            </a:r>
            <a:endParaRPr lang="en-US" sz="1200" dirty="0"/>
          </a:p>
        </p:txBody>
      </p:sp>
      <p:sp>
        <p:nvSpPr>
          <p:cNvPr id="11" name="Text 7"/>
          <p:cNvSpPr/>
          <p:nvPr/>
        </p:nvSpPr>
        <p:spPr>
          <a:xfrm>
            <a:off x="9642475" y="3713956"/>
            <a:ext cx="1733550" cy="422870"/>
          </a:xfrm>
          <a:prstGeom prst="roundRect">
            <a:avLst>
              <a:gd name="adj" fmla="val 14266"/>
            </a:avLst>
          </a:prstGeom>
          <a:solidFill>
            <a:srgbClr val="FDFCF9"/>
          </a:solidFill>
          <a:ln w="6350">
            <a:solidFill>
              <a:srgbClr val="E2DFD6"/>
            </a:solidFill>
            <a:prstDash val="solid"/>
          </a:ln>
        </p:spPr>
        <p:txBody>
          <a:bodyPr wrap="square" lIns="61706" tIns="87106" rIns="61706" bIns="61706" rtlCol="0" anchor="t">
            <a:normAutofit/>
          </a:bodyPr>
          <a:lstStyle/>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node2:31000</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KARŞILAŞTIRMA</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Hangi Service tipi ne zaman?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155626"/>
        </p:xfrm>
        <a:graphic>
          <a:graphicData uri="http://schemas.openxmlformats.org/drawingml/2006/table">
            <a:tbl>
              <a:tblPr/>
              <a:tblGrid>
                <a:gridCol w="2110740">
                  <a:extLst>
                    <a:ext uri="{9D8B030D-6E8A-4147-A177-3AD203B41FA5}">
                      <a16:colId xmlns:a16="http://schemas.microsoft.com/office/drawing/2014/main" val="20000"/>
                    </a:ext>
                  </a:extLst>
                </a:gridCol>
                <a:gridCol w="2955036">
                  <a:extLst>
                    <a:ext uri="{9D8B030D-6E8A-4147-A177-3AD203B41FA5}">
                      <a16:colId xmlns:a16="http://schemas.microsoft.com/office/drawing/2014/main" val="20001"/>
                    </a:ext>
                  </a:extLst>
                </a:gridCol>
                <a:gridCol w="2955036">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Tip</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Erişim</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Tipik kullanım</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Dikkat</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ClusterIP</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Yalnızca cluster içi, sanal IP</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Backend, DB, iç API</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Varsayılan tip</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NodePort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Her node IP'si : 30000–32767</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Test, basit dış erişim, LB arkası</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Node IP'leri açığa çıkar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LoadBalancer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Harici IP / DNS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Bulutta dış servis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Servis başına bir LB</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ExternalName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DNS CNAME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Cluster dışı servise iç ad</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Proxy yok, sadece DNS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Headless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Pod IP'leri doğrudan</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StatefulSet, istemci tarafı LB</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clusterIP: None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197747"/>
            <a:ext cx="1088339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Not: Her LoadBalancer bir NodePort'u, her NodePort da bir ClusterIP'yi içinde barındırır — tipler katmanlıdır.</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NAMESPACE</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Tek cluster içinde mantıksal izolasyon</a:t>
            </a:r>
            <a:endParaRPr lang="en-US" sz="3000" dirty="0"/>
          </a:p>
        </p:txBody>
      </p:sp>
      <p:sp>
        <p:nvSpPr>
          <p:cNvPr id="4" name="Text 2"/>
          <p:cNvSpPr/>
          <p:nvPr/>
        </p:nvSpPr>
        <p:spPr>
          <a:xfrm>
            <a:off x="898144" y="1775420"/>
            <a:ext cx="6866128"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Kaynakları gruplar: ekip, proje ya da ortam (dev / test / prod) bazında.</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Her namespace kendi </a:t>
            </a:r>
            <a:r>
              <a:rPr lang="en-US" sz="1300" b="1" dirty="0">
                <a:solidFill>
                  <a:srgbClr val="142033"/>
                </a:solidFill>
                <a:latin typeface="IBM Plex Sans" pitchFamily="34" charset="0"/>
                <a:ea typeface="IBM Plex Sans" pitchFamily="34" charset="-122"/>
                <a:cs typeface="IBM Plex Sans" pitchFamily="34" charset="-120"/>
              </a:rPr>
              <a:t>RBAC kuralları</a:t>
            </a:r>
            <a:r>
              <a:rPr lang="en-US" sz="1300" dirty="0">
                <a:solidFill>
                  <a:srgbClr val="45505F"/>
                </a:solidFill>
                <a:latin typeface="IBM Plex Sans" pitchFamily="34" charset="0"/>
                <a:ea typeface="IBM Plex Sans" pitchFamily="34" charset="-122"/>
                <a:cs typeface="IBM Plex Sans" pitchFamily="34" charset="-120"/>
              </a:rPr>
              <a:t>, </a:t>
            </a:r>
            <a:r>
              <a:rPr lang="en-US" sz="1300" b="1" dirty="0">
                <a:solidFill>
                  <a:srgbClr val="142033"/>
                </a:solidFill>
                <a:latin typeface="IBM Plex Sans" pitchFamily="34" charset="0"/>
                <a:ea typeface="IBM Plex Sans" pitchFamily="34" charset="-122"/>
                <a:cs typeface="IBM Plex Sans" pitchFamily="34" charset="-120"/>
              </a:rPr>
              <a:t>ResourceQuota</a:t>
            </a:r>
            <a:r>
              <a:rPr lang="en-US" sz="1300" dirty="0">
                <a:solidFill>
                  <a:srgbClr val="45505F"/>
                </a:solidFill>
                <a:latin typeface="IBM Plex Sans" pitchFamily="34" charset="0"/>
                <a:ea typeface="IBM Plex Sans" pitchFamily="34" charset="-122"/>
                <a:cs typeface="IBM Plex Sans" pitchFamily="34" charset="-120"/>
              </a:rPr>
              <a:t>'sı ve </a:t>
            </a:r>
            <a:r>
              <a:rPr lang="en-US" sz="1300" b="1" dirty="0">
                <a:solidFill>
                  <a:srgbClr val="142033"/>
                </a:solidFill>
                <a:latin typeface="IBM Plex Sans" pitchFamily="34" charset="0"/>
                <a:ea typeface="IBM Plex Sans" pitchFamily="34" charset="-122"/>
                <a:cs typeface="IBM Plex Sans" pitchFamily="34" charset="-120"/>
              </a:rPr>
              <a:t>NetworkPolicy</a:t>
            </a:r>
            <a:r>
              <a:rPr lang="en-US" sz="1300" dirty="0">
                <a:solidFill>
                  <a:srgbClr val="45505F"/>
                </a:solidFill>
                <a:latin typeface="IBM Plex Sans" pitchFamily="34" charset="0"/>
                <a:ea typeface="IBM Plex Sans" pitchFamily="34" charset="-122"/>
                <a:cs typeface="IBM Plex Sans" pitchFamily="34" charset="-120"/>
              </a:rPr>
              <a:t>'si olabilir.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İsimler namespace içinde tekil olmalıdır; farklı namespace'lerde aynı ad kullanılabilir.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Namespace bir </a:t>
            </a:r>
            <a:r>
              <a:rPr lang="en-US" sz="1300" b="1" dirty="0">
                <a:solidFill>
                  <a:srgbClr val="142033"/>
                </a:solidFill>
                <a:latin typeface="IBM Plex Sans" pitchFamily="34" charset="0"/>
                <a:ea typeface="IBM Plex Sans" pitchFamily="34" charset="-122"/>
                <a:cs typeface="IBM Plex Sans" pitchFamily="34" charset="-120"/>
              </a:rPr>
              <a:t>ağ sınırı değildir</a:t>
            </a:r>
            <a:r>
              <a:rPr lang="en-US" sz="1300" dirty="0">
                <a:solidFill>
                  <a:srgbClr val="45505F"/>
                </a:solidFill>
                <a:latin typeface="IBM Plex Sans" pitchFamily="34" charset="0"/>
                <a:ea typeface="IBM Plex Sans" pitchFamily="34" charset="-122"/>
                <a:cs typeface="IBM Plex Sans" pitchFamily="34" charset="-120"/>
              </a:rPr>
              <a:t>: varsayılan olarak tüm pod'lar birbirine erişir.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Node, PV, StorageClass, ClusterRole gibi nesneler namespace'e ait değildir (cluster-scoped).</a:t>
            </a:r>
            <a:endParaRPr lang="en-US" sz="1300" dirty="0"/>
          </a:p>
        </p:txBody>
      </p:sp>
      <p:sp>
        <p:nvSpPr>
          <p:cNvPr id="5" name="Text 3"/>
          <p:cNvSpPr/>
          <p:nvPr/>
        </p:nvSpPr>
        <p:spPr>
          <a:xfrm>
            <a:off x="812800" y="3388320"/>
            <a:ext cx="6756400" cy="967680"/>
          </a:xfrm>
          <a:prstGeom prst="roundRect">
            <a:avLst>
              <a:gd name="adj" fmla="val 7875"/>
            </a:avLst>
          </a:prstGeom>
          <a:solidFill>
            <a:srgbClr val="1B2A41"/>
          </a:solidFill>
          <a:ln/>
        </p:spPr>
        <p:txBody>
          <a:bodyPr wrap="square" lIns="130082" tIns="130082" rIns="0" bIns="1046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create namespace dev</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get pods -n dev    </a:t>
            </a:r>
            <a:r>
              <a:rPr lang="en-US" sz="1200" dirty="0">
                <a:solidFill>
                  <a:srgbClr val="8FA3BF"/>
                </a:solidFill>
                <a:latin typeface="JetBrains Mono" pitchFamily="49" charset="0"/>
                <a:ea typeface="JetBrains Mono" pitchFamily="49" charset="-122"/>
                <a:cs typeface="JetBrains Mono" pitchFamily="49" charset="-120"/>
              </a:rPr>
              <a:t># veya -A tümü</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config set-context --current --namespace=dev</a:t>
            </a:r>
            <a:endParaRPr lang="en-US" sz="1200" dirty="0"/>
          </a:p>
        </p:txBody>
      </p:sp>
      <p:sp>
        <p:nvSpPr>
          <p:cNvPr id="6" name="Text 4"/>
          <p:cNvSpPr/>
          <p:nvPr/>
        </p:nvSpPr>
        <p:spPr>
          <a:xfrm>
            <a:off x="7823200" y="1775420"/>
            <a:ext cx="366268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HAZIR GELENLER</a:t>
            </a:r>
            <a:endParaRPr lang="en-US" sz="1200" dirty="0"/>
          </a:p>
        </p:txBody>
      </p:sp>
      <p:sp>
        <p:nvSpPr>
          <p:cNvPr id="7" name="Text 5"/>
          <p:cNvSpPr/>
          <p:nvPr/>
        </p:nvSpPr>
        <p:spPr>
          <a:xfrm>
            <a:off x="7826375" y="2080816"/>
            <a:ext cx="3549650" cy="491430"/>
          </a:xfrm>
          <a:prstGeom prst="roundRect">
            <a:avLst>
              <a:gd name="adj" fmla="val 12275"/>
            </a:avLst>
          </a:prstGeom>
          <a:solidFill>
            <a:srgbClr val="FDFCF9"/>
          </a:solidFill>
          <a:ln w="6350">
            <a:solidFill>
              <a:srgbClr val="E2DFD6"/>
            </a:solidFill>
            <a:prstDash val="solid"/>
          </a:ln>
        </p:spPr>
        <p:txBody>
          <a:bodyPr wrap="square" lIns="112506" tIns="112506" rIns="13827"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default</a:t>
            </a:r>
            <a:r>
              <a:rPr lang="en-US" sz="1300" dirty="0">
                <a:solidFill>
                  <a:srgbClr val="45505F"/>
                </a:solidFill>
                <a:latin typeface="IBM Plex Sans" pitchFamily="34" charset="0"/>
                <a:ea typeface="IBM Plex Sans" pitchFamily="34" charset="-122"/>
                <a:cs typeface="IBM Plex Sans" pitchFamily="34" charset="-120"/>
              </a:rPr>
              <a:t> — namespace belirtilmezse</a:t>
            </a:r>
            <a:endParaRPr lang="en-US" sz="1300" dirty="0"/>
          </a:p>
        </p:txBody>
      </p:sp>
      <p:sp>
        <p:nvSpPr>
          <p:cNvPr id="8" name="Text 6"/>
          <p:cNvSpPr/>
          <p:nvPr/>
        </p:nvSpPr>
        <p:spPr>
          <a:xfrm>
            <a:off x="7826375" y="2667496"/>
            <a:ext cx="3549650" cy="491430"/>
          </a:xfrm>
          <a:prstGeom prst="roundRect">
            <a:avLst>
              <a:gd name="adj" fmla="val 12275"/>
            </a:avLst>
          </a:prstGeom>
          <a:solidFill>
            <a:srgbClr val="FDFCF9"/>
          </a:solidFill>
          <a:ln w="6350">
            <a:solidFill>
              <a:srgbClr val="E2DFD6"/>
            </a:solidFill>
            <a:prstDash val="solid"/>
          </a:ln>
        </p:spPr>
        <p:txBody>
          <a:bodyPr wrap="square" lIns="112506" tIns="112506" rIns="13827"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kube-system</a:t>
            </a:r>
            <a:r>
              <a:rPr lang="en-US" sz="1300" dirty="0">
                <a:solidFill>
                  <a:srgbClr val="45505F"/>
                </a:solidFill>
                <a:latin typeface="IBM Plex Sans" pitchFamily="34" charset="0"/>
                <a:ea typeface="IBM Plex Sans" pitchFamily="34" charset="-122"/>
                <a:cs typeface="IBM Plex Sans" pitchFamily="34" charset="-120"/>
              </a:rPr>
              <a:t> — control plane, DNS, proxy</a:t>
            </a:r>
            <a:endParaRPr lang="en-US" sz="1300" dirty="0"/>
          </a:p>
        </p:txBody>
      </p:sp>
      <p:sp>
        <p:nvSpPr>
          <p:cNvPr id="9" name="Text 7"/>
          <p:cNvSpPr/>
          <p:nvPr/>
        </p:nvSpPr>
        <p:spPr>
          <a:xfrm>
            <a:off x="7826375" y="3254177"/>
            <a:ext cx="3549650" cy="491430"/>
          </a:xfrm>
          <a:prstGeom prst="roundRect">
            <a:avLst>
              <a:gd name="adj" fmla="val 12275"/>
            </a:avLst>
          </a:prstGeom>
          <a:solidFill>
            <a:srgbClr val="FDFCF9"/>
          </a:solidFill>
          <a:ln w="6350">
            <a:solidFill>
              <a:srgbClr val="E2DFD6"/>
            </a:solidFill>
            <a:prstDash val="solid"/>
          </a:ln>
        </p:spPr>
        <p:txBody>
          <a:bodyPr wrap="square" lIns="112506" tIns="112506" rIns="13827"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kube-public</a:t>
            </a:r>
            <a:r>
              <a:rPr lang="en-US" sz="1300" dirty="0">
                <a:solidFill>
                  <a:srgbClr val="45505F"/>
                </a:solidFill>
                <a:latin typeface="IBM Plex Sans" pitchFamily="34" charset="0"/>
                <a:ea typeface="IBM Plex Sans" pitchFamily="34" charset="-122"/>
                <a:cs typeface="IBM Plex Sans" pitchFamily="34" charset="-120"/>
              </a:rPr>
              <a:t> — herkesin okuyabildiği</a:t>
            </a:r>
            <a:endParaRPr lang="en-US" sz="1300" dirty="0"/>
          </a:p>
        </p:txBody>
      </p:sp>
      <p:sp>
        <p:nvSpPr>
          <p:cNvPr id="10" name="Text 8"/>
          <p:cNvSpPr/>
          <p:nvPr/>
        </p:nvSpPr>
        <p:spPr>
          <a:xfrm>
            <a:off x="7826375" y="3840857"/>
            <a:ext cx="3549650" cy="722511"/>
          </a:xfrm>
          <a:prstGeom prst="roundRect">
            <a:avLst>
              <a:gd name="adj" fmla="val 8349"/>
            </a:avLst>
          </a:prstGeom>
          <a:solidFill>
            <a:srgbClr val="FDFCF9"/>
          </a:solidFill>
          <a:ln w="6350">
            <a:solidFill>
              <a:srgbClr val="E2DFD6"/>
            </a:solidFill>
            <a:prstDash val="solid"/>
          </a:ln>
        </p:spPr>
        <p:txBody>
          <a:bodyPr wrap="square" lIns="112506" tIns="112506" rIns="13827"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kube-node-lease</a:t>
            </a:r>
            <a:r>
              <a:rPr lang="en-US" sz="1300" dirty="0">
                <a:solidFill>
                  <a:srgbClr val="45505F"/>
                </a:solidFill>
                <a:latin typeface="IBM Plex Sans" pitchFamily="34" charset="0"/>
                <a:ea typeface="IBM Plex Sans" pitchFamily="34" charset="-122"/>
                <a:cs typeface="IBM Plex Sans" pitchFamily="34" charset="-120"/>
              </a:rPr>
              <a:t> — node heartbeat Lease'leri</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NAMESPACE · DNS VE KOTA</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Başka namespace'e erişmek ve sınır koymak</a:t>
            </a:r>
            <a:endParaRPr lang="en-US" sz="3000" dirty="0"/>
          </a:p>
        </p:txBody>
      </p:sp>
      <p:sp>
        <p:nvSpPr>
          <p:cNvPr id="4" name="Text 2"/>
          <p:cNvSpPr/>
          <p:nvPr/>
        </p:nvSpPr>
        <p:spPr>
          <a:xfrm>
            <a:off x="812800" y="1775420"/>
            <a:ext cx="617423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Servis DNS adı</a:t>
            </a:r>
            <a:endParaRPr lang="en-US" sz="1600" dirty="0"/>
          </a:p>
        </p:txBody>
      </p:sp>
      <p:sp>
        <p:nvSpPr>
          <p:cNvPr id="5" name="Text 3"/>
          <p:cNvSpPr/>
          <p:nvPr/>
        </p:nvSpPr>
        <p:spPr>
          <a:xfrm>
            <a:off x="812800" y="2146201"/>
            <a:ext cx="1193800" cy="383480"/>
          </a:xfrm>
          <a:prstGeom prst="roundRect">
            <a:avLst>
              <a:gd name="adj" fmla="val 13247"/>
            </a:avLst>
          </a:prstGeom>
          <a:solidFill>
            <a:srgbClr val="2F6BD8"/>
          </a:solidFill>
          <a:ln/>
        </p:spPr>
        <p:txBody>
          <a:bodyPr wrap="none" lIns="0" tIns="0" rIns="0" bIns="0" rtlCol="0" anchor="ctr">
            <a:normAutofit/>
          </a:bodyPr>
          <a:lstStyle/>
          <a:p>
            <a:pPr marL="0" indent="0" algn="ctr">
              <a:lnSpc>
                <a:spcPts val="1820"/>
              </a:lnSpc>
              <a:buNone/>
            </a:pPr>
            <a:r>
              <a:rPr lang="en-US" sz="1300" dirty="0">
                <a:solidFill>
                  <a:srgbClr val="F5F4EF"/>
                </a:solidFill>
                <a:latin typeface="JetBrains Mono" pitchFamily="49" charset="0"/>
                <a:ea typeface="JetBrains Mono" pitchFamily="49" charset="-122"/>
                <a:cs typeface="JetBrains Mono" pitchFamily="49" charset="-120"/>
              </a:rPr>
              <a:t>db-service</a:t>
            </a:r>
            <a:endParaRPr lang="en-US" sz="1300" dirty="0"/>
          </a:p>
        </p:txBody>
      </p:sp>
      <p:sp>
        <p:nvSpPr>
          <p:cNvPr id="6" name="Text 4"/>
          <p:cNvSpPr/>
          <p:nvPr/>
        </p:nvSpPr>
        <p:spPr>
          <a:xfrm>
            <a:off x="2044700" y="2146201"/>
            <a:ext cx="599480" cy="383480"/>
          </a:xfrm>
          <a:prstGeom prst="roundRect">
            <a:avLst>
              <a:gd name="adj" fmla="val 13247"/>
            </a:avLst>
          </a:prstGeom>
          <a:solidFill>
            <a:srgbClr val="B4570F"/>
          </a:solidFill>
          <a:ln/>
        </p:spPr>
        <p:txBody>
          <a:bodyPr wrap="none" lIns="0" tIns="0" rIns="0" bIns="0" rtlCol="0" anchor="ctr">
            <a:normAutofit/>
          </a:bodyPr>
          <a:lstStyle/>
          <a:p>
            <a:pPr marL="0" indent="0" algn="ctr">
              <a:lnSpc>
                <a:spcPts val="1820"/>
              </a:lnSpc>
              <a:buNone/>
            </a:pPr>
            <a:r>
              <a:rPr lang="en-US" sz="1300" dirty="0">
                <a:solidFill>
                  <a:srgbClr val="F5F4EF"/>
                </a:solidFill>
                <a:latin typeface="JetBrains Mono" pitchFamily="49" charset="0"/>
                <a:ea typeface="JetBrains Mono" pitchFamily="49" charset="-122"/>
                <a:cs typeface="JetBrains Mono" pitchFamily="49" charset="-120"/>
              </a:rPr>
              <a:t>.dev</a:t>
            </a:r>
            <a:endParaRPr lang="en-US" sz="1300" dirty="0"/>
          </a:p>
        </p:txBody>
      </p:sp>
      <p:sp>
        <p:nvSpPr>
          <p:cNvPr id="7" name="Text 5"/>
          <p:cNvSpPr/>
          <p:nvPr/>
        </p:nvSpPr>
        <p:spPr>
          <a:xfrm>
            <a:off x="2682280" y="2146201"/>
            <a:ext cx="599480" cy="383480"/>
          </a:xfrm>
          <a:prstGeom prst="roundRect">
            <a:avLst>
              <a:gd name="adj" fmla="val 13247"/>
            </a:avLst>
          </a:prstGeom>
          <a:solidFill>
            <a:srgbClr val="142033"/>
          </a:solidFill>
          <a:ln/>
        </p:spPr>
        <p:txBody>
          <a:bodyPr wrap="none" lIns="0" tIns="0" rIns="0" bIns="0" rtlCol="0" anchor="ctr">
            <a:normAutofit/>
          </a:bodyPr>
          <a:lstStyle/>
          <a:p>
            <a:pPr marL="0" indent="0" algn="ctr">
              <a:lnSpc>
                <a:spcPts val="1820"/>
              </a:lnSpc>
              <a:buNone/>
            </a:pPr>
            <a:r>
              <a:rPr lang="en-US" sz="1300" dirty="0">
                <a:solidFill>
                  <a:srgbClr val="F5F4EF"/>
                </a:solidFill>
                <a:latin typeface="JetBrains Mono" pitchFamily="49" charset="0"/>
                <a:ea typeface="JetBrains Mono" pitchFamily="49" charset="-122"/>
                <a:cs typeface="JetBrains Mono" pitchFamily="49" charset="-120"/>
              </a:rPr>
              <a:t>.svc</a:t>
            </a:r>
            <a:endParaRPr lang="en-US" sz="1300" dirty="0"/>
          </a:p>
        </p:txBody>
      </p:sp>
      <p:sp>
        <p:nvSpPr>
          <p:cNvPr id="8" name="Text 6"/>
          <p:cNvSpPr/>
          <p:nvPr/>
        </p:nvSpPr>
        <p:spPr>
          <a:xfrm>
            <a:off x="3319859" y="2146201"/>
            <a:ext cx="1590080" cy="383480"/>
          </a:xfrm>
          <a:prstGeom prst="roundRect">
            <a:avLst>
              <a:gd name="adj" fmla="val 13247"/>
            </a:avLst>
          </a:prstGeom>
          <a:solidFill>
            <a:srgbClr val="45505F"/>
          </a:solidFill>
          <a:ln/>
        </p:spPr>
        <p:txBody>
          <a:bodyPr wrap="none" lIns="0" tIns="0" rIns="0" bIns="0" rtlCol="0" anchor="ctr">
            <a:normAutofit/>
          </a:bodyPr>
          <a:lstStyle/>
          <a:p>
            <a:pPr marL="0" indent="0" algn="ctr">
              <a:lnSpc>
                <a:spcPts val="1820"/>
              </a:lnSpc>
              <a:buNone/>
            </a:pPr>
            <a:r>
              <a:rPr lang="en-US" sz="1300" dirty="0">
                <a:solidFill>
                  <a:srgbClr val="F5F4EF"/>
                </a:solidFill>
                <a:latin typeface="JetBrains Mono" pitchFamily="49" charset="0"/>
                <a:ea typeface="JetBrains Mono" pitchFamily="49" charset="-122"/>
                <a:cs typeface="JetBrains Mono" pitchFamily="49" charset="-120"/>
              </a:rPr>
              <a:t>.cluster.local</a:t>
            </a:r>
            <a:endParaRPr lang="en-US" sz="1300" dirty="0"/>
          </a:p>
        </p:txBody>
      </p:sp>
      <p:sp>
        <p:nvSpPr>
          <p:cNvPr id="9" name="Text 7"/>
          <p:cNvSpPr/>
          <p:nvPr/>
        </p:nvSpPr>
        <p:spPr>
          <a:xfrm>
            <a:off x="812800" y="2656681"/>
            <a:ext cx="617423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servis adı · namespace · alt alan (svc) · cluster domain.</a:t>
            </a:r>
            <a:endParaRPr lang="en-US" sz="1300" dirty="0"/>
          </a:p>
        </p:txBody>
      </p:sp>
      <p:sp>
        <p:nvSpPr>
          <p:cNvPr id="10" name="Text 8"/>
          <p:cNvSpPr/>
          <p:nvPr/>
        </p:nvSpPr>
        <p:spPr>
          <a:xfrm>
            <a:off x="812800" y="3031331"/>
            <a:ext cx="6174232"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Aynı namespace'ten sadece </a:t>
            </a:r>
            <a:r>
              <a:rPr lang="en-US" sz="1300" b="1" dirty="0">
                <a:solidFill>
                  <a:srgbClr val="142033"/>
                </a:solidFill>
                <a:latin typeface="IBM Plex Sans" pitchFamily="34" charset="0"/>
                <a:ea typeface="IBM Plex Sans" pitchFamily="34" charset="-122"/>
                <a:cs typeface="IBM Plex Sans" pitchFamily="34" charset="-120"/>
              </a:rPr>
              <a:t>db-service</a:t>
            </a:r>
            <a:r>
              <a:rPr lang="en-US" sz="1300" dirty="0">
                <a:solidFill>
                  <a:srgbClr val="45505F"/>
                </a:solidFill>
                <a:latin typeface="IBM Plex Sans" pitchFamily="34" charset="0"/>
                <a:ea typeface="IBM Plex Sans" pitchFamily="34" charset="-122"/>
                <a:cs typeface="IBM Plex Sans" pitchFamily="34" charset="-120"/>
              </a:rPr>
              <a:t>, başka namespace'ten </a:t>
            </a:r>
            <a:r>
              <a:rPr lang="en-US" sz="1300" b="1" dirty="0">
                <a:solidFill>
                  <a:srgbClr val="142033"/>
                </a:solidFill>
                <a:latin typeface="IBM Plex Sans" pitchFamily="34" charset="0"/>
                <a:ea typeface="IBM Plex Sans" pitchFamily="34" charset="-122"/>
                <a:cs typeface="IBM Plex Sans" pitchFamily="34" charset="-120"/>
              </a:rPr>
              <a:t>db-service.dev</a:t>
            </a:r>
            <a:r>
              <a:rPr lang="en-US" sz="1300" dirty="0">
                <a:solidFill>
                  <a:srgbClr val="45505F"/>
                </a:solidFill>
                <a:latin typeface="IBM Plex Sans" pitchFamily="34" charset="0"/>
                <a:ea typeface="IBM Plex Sans" pitchFamily="34" charset="-122"/>
                <a:cs typeface="IBM Plex Sans" pitchFamily="34" charset="-120"/>
              </a:rPr>
              <a:t> yeterlidir.</a:t>
            </a:r>
            <a:endParaRPr lang="en-US" sz="1300" dirty="0"/>
          </a:p>
        </p:txBody>
      </p:sp>
      <p:sp>
        <p:nvSpPr>
          <p:cNvPr id="11" name="Text 9"/>
          <p:cNvSpPr/>
          <p:nvPr/>
        </p:nvSpPr>
        <p:spPr>
          <a:xfrm>
            <a:off x="7061200" y="1775420"/>
            <a:ext cx="4318000" cy="3057922"/>
          </a:xfrm>
          <a:prstGeom prst="roundRect">
            <a:avLst>
              <a:gd name="adj" fmla="val 2492"/>
            </a:avLst>
          </a:prstGeom>
          <a:solidFill>
            <a:srgbClr val="1B2A41"/>
          </a:solidFill>
          <a:ln/>
        </p:spPr>
        <p:txBody>
          <a:bodyPr wrap="square" lIns="180882" tIns="180882" rIns="6353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ResourceQuota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compute-quota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namespace: dev</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hard: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pods: "10"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requests.cpu: "4"</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requests.memory: 5Gi</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limits.cpu: "10"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limits.memory: 10Gi</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IMPERATIVE VS DECLARATIVE</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"Nasıl yapılacağını" mı, "ne istediğini" mi söylersin?</a:t>
            </a:r>
            <a:endParaRPr lang="en-US" sz="3000" dirty="0"/>
          </a:p>
        </p:txBody>
      </p:sp>
      <p:sp>
        <p:nvSpPr>
          <p:cNvPr id="4" name="Shape 2"/>
          <p:cNvSpPr/>
          <p:nvPr/>
        </p:nvSpPr>
        <p:spPr>
          <a:xfrm>
            <a:off x="815975" y="1778595"/>
            <a:ext cx="5207000" cy="2510532"/>
          </a:xfrm>
          <a:prstGeom prst="roundRect">
            <a:avLst>
              <a:gd name="adj" fmla="val 2909"/>
            </a:avLst>
          </a:prstGeom>
          <a:solidFill>
            <a:srgbClr val="FDFCF9"/>
          </a:solidFill>
          <a:ln w="6350">
            <a:solidFill>
              <a:srgbClr val="E2DFD6"/>
            </a:solidFill>
            <a:prstDash val="solid"/>
          </a:ln>
        </p:spPr>
      </p:sp>
      <p:sp>
        <p:nvSpPr>
          <p:cNvPr id="5" name="Text 3"/>
          <p:cNvSpPr/>
          <p:nvPr/>
        </p:nvSpPr>
        <p:spPr>
          <a:xfrm>
            <a:off x="1022350" y="1984970"/>
            <a:ext cx="493807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Imperative</a:t>
            </a:r>
            <a:endParaRPr lang="en-US" sz="1600" dirty="0"/>
          </a:p>
        </p:txBody>
      </p:sp>
      <p:sp>
        <p:nvSpPr>
          <p:cNvPr id="6" name="Text 4"/>
          <p:cNvSpPr/>
          <p:nvPr/>
        </p:nvSpPr>
        <p:spPr>
          <a:xfrm>
            <a:off x="1022350" y="2330351"/>
            <a:ext cx="493807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Adım adım komut. Hızlı ama kayıt bırakmaz, tekrarlanamaz, nesne varsa hata verir.</a:t>
            </a:r>
            <a:endParaRPr lang="en-US" sz="1300" dirty="0"/>
          </a:p>
        </p:txBody>
      </p:sp>
      <p:sp>
        <p:nvSpPr>
          <p:cNvPr id="7" name="Text 5"/>
          <p:cNvSpPr/>
          <p:nvPr/>
        </p:nvSpPr>
        <p:spPr>
          <a:xfrm>
            <a:off x="1022350" y="2894112"/>
            <a:ext cx="4794250" cy="1188641"/>
          </a:xfrm>
          <a:prstGeom prst="roundRect">
            <a:avLst>
              <a:gd name="adj" fmla="val 5342"/>
            </a:avLst>
          </a:prstGeom>
          <a:solidFill>
            <a:srgbClr val="1B2A41"/>
          </a:solidFill>
          <a:ln/>
        </p:spPr>
        <p:txBody>
          <a:bodyPr wrap="square" lIns="133801" tIns="133801" rIns="0" bIns="108401"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run / create / expose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scale / set image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edit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replace -f / delete -f</a:t>
            </a:r>
            <a:endParaRPr lang="en-US" sz="1200" dirty="0"/>
          </a:p>
        </p:txBody>
      </p:sp>
      <p:sp>
        <p:nvSpPr>
          <p:cNvPr id="8" name="Shape 6"/>
          <p:cNvSpPr/>
          <p:nvPr/>
        </p:nvSpPr>
        <p:spPr>
          <a:xfrm>
            <a:off x="6178550" y="1775420"/>
            <a:ext cx="5200650" cy="2516882"/>
          </a:xfrm>
          <a:prstGeom prst="roundRect">
            <a:avLst>
              <a:gd name="adj" fmla="val 3028"/>
            </a:avLst>
          </a:prstGeom>
          <a:solidFill>
            <a:srgbClr val="142033"/>
          </a:solidFill>
          <a:ln/>
        </p:spPr>
      </p:sp>
      <p:sp>
        <p:nvSpPr>
          <p:cNvPr id="9" name="Text 7"/>
          <p:cNvSpPr/>
          <p:nvPr/>
        </p:nvSpPr>
        <p:spPr>
          <a:xfrm>
            <a:off x="6381750" y="1978620"/>
            <a:ext cx="493807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Declarative</a:t>
            </a:r>
            <a:endParaRPr lang="en-US" sz="1600" dirty="0"/>
          </a:p>
        </p:txBody>
      </p:sp>
      <p:sp>
        <p:nvSpPr>
          <p:cNvPr id="10" name="Text 8"/>
          <p:cNvSpPr/>
          <p:nvPr/>
        </p:nvSpPr>
        <p:spPr>
          <a:xfrm>
            <a:off x="6381750" y="2324001"/>
            <a:ext cx="493807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İstenen durum dosyada; sistem farkı kendisi kapatır. Git'te tutulur, gözden geçirilir — GitOps'un temeli.</a:t>
            </a:r>
            <a:endParaRPr lang="en-US" sz="1300" dirty="0"/>
          </a:p>
        </p:txBody>
      </p:sp>
      <p:sp>
        <p:nvSpPr>
          <p:cNvPr id="11" name="Text 9"/>
          <p:cNvSpPr/>
          <p:nvPr/>
        </p:nvSpPr>
        <p:spPr>
          <a:xfrm>
            <a:off x="6381750" y="2887762"/>
            <a:ext cx="4794250" cy="1188641"/>
          </a:xfrm>
          <a:prstGeom prst="roundRect">
            <a:avLst>
              <a:gd name="adj" fmla="val 5342"/>
            </a:avLst>
          </a:prstGeom>
          <a:solidFill>
            <a:srgbClr val="24395A"/>
          </a:solidFill>
          <a:ln/>
        </p:spPr>
        <p:txBody>
          <a:bodyPr wrap="square" lIns="133801" tIns="133801" rIns="0" bIns="108401"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apply -f nginx.yaml</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apply -f ./manifests/</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yoksa oluşturur, varsa günceller</a:t>
            </a:r>
            <a:endParaRPr lang="en-US" sz="1200" dirty="0"/>
          </a:p>
        </p:txBody>
      </p:sp>
      <p:sp>
        <p:nvSpPr>
          <p:cNvPr id="12" name="Text 10"/>
          <p:cNvSpPr/>
          <p:nvPr/>
        </p:nvSpPr>
        <p:spPr>
          <a:xfrm>
            <a:off x="812800" y="4546302"/>
            <a:ext cx="10566400" cy="552450"/>
          </a:xfrm>
          <a:prstGeom prst="roundRect">
            <a:avLst>
              <a:gd name="adj" fmla="val 11494"/>
            </a:avLst>
          </a:prstGeom>
          <a:solidFill>
            <a:srgbClr val="DCE6F7"/>
          </a:solidFill>
          <a:ln/>
        </p:spPr>
        <p:txBody>
          <a:bodyPr wrap="square" lIns="133801" tIns="133801" rIns="0" bIns="108401" rtlCol="0" anchor="t">
            <a:normAutofit/>
          </a:bodyPr>
          <a:lstStyle/>
          <a:p>
            <a:pPr marL="0" indent="0" algn="l">
              <a:lnSpc>
                <a:spcPts val="1950"/>
              </a:lnSpc>
              <a:buNone/>
            </a:pPr>
            <a:r>
              <a:rPr lang="en-US" sz="1300" dirty="0">
                <a:solidFill>
                  <a:srgbClr val="142033"/>
                </a:solidFill>
                <a:latin typeface="IBM Plex Sans" pitchFamily="34" charset="0"/>
                <a:ea typeface="IBM Plex Sans" pitchFamily="34" charset="-122"/>
                <a:cs typeface="IBM Plex Sans" pitchFamily="34" charset="-120"/>
              </a:rPr>
              <a:t>Sınav taktiği: imperatif komutla YAML üret, düzenle, apply et → </a:t>
            </a:r>
            <a:r>
              <a:rPr lang="en-US" sz="1300" b="1" dirty="0">
                <a:solidFill>
                  <a:srgbClr val="142033"/>
                </a:solidFill>
                <a:latin typeface="IBM Plex Sans" pitchFamily="34" charset="0"/>
                <a:ea typeface="IBM Plex Sans" pitchFamily="34" charset="-122"/>
                <a:cs typeface="IBM Plex Sans" pitchFamily="34" charset="-120"/>
              </a:rPr>
              <a:t>kubectl run nginx --image=nginx --dry-run=client -o yaml &gt; pod.yaml</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KUBECTL APPLY NASIL ÇALIŞIR</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Üç kaynağı karşılaştıran birleştirme</a:t>
            </a:r>
            <a:endParaRPr lang="en-US" sz="3000" dirty="0"/>
          </a:p>
        </p:txBody>
      </p:sp>
      <p:sp>
        <p:nvSpPr>
          <p:cNvPr id="4" name="Shape 2"/>
          <p:cNvSpPr/>
          <p:nvPr/>
        </p:nvSpPr>
        <p:spPr>
          <a:xfrm>
            <a:off x="815975" y="1778595"/>
            <a:ext cx="3431084" cy="1395512"/>
          </a:xfrm>
          <a:prstGeom prst="roundRect">
            <a:avLst>
              <a:gd name="adj" fmla="val 5233"/>
            </a:avLst>
          </a:prstGeom>
          <a:solidFill>
            <a:srgbClr val="FDFCF9"/>
          </a:solidFill>
          <a:ln w="6350">
            <a:solidFill>
              <a:srgbClr val="E2DFD6"/>
            </a:solidFill>
            <a:prstDash val="solid"/>
          </a:ln>
        </p:spPr>
      </p:sp>
      <p:sp>
        <p:nvSpPr>
          <p:cNvPr id="5" name="Text 3"/>
          <p:cNvSpPr/>
          <p:nvPr/>
        </p:nvSpPr>
        <p:spPr>
          <a:xfrm>
            <a:off x="1022350" y="1984970"/>
            <a:ext cx="31088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1 · YEREL DOSYA</a:t>
            </a:r>
            <a:endParaRPr lang="en-US" sz="1200" dirty="0"/>
          </a:p>
        </p:txBody>
      </p:sp>
      <p:sp>
        <p:nvSpPr>
          <p:cNvPr id="6" name="Text 4"/>
          <p:cNvSpPr/>
          <p:nvPr/>
        </p:nvSpPr>
        <p:spPr>
          <a:xfrm>
            <a:off x="1022350" y="2274491"/>
            <a:ext cx="310888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Sizin YAML'ınız: istenen yeni durum.</a:t>
            </a:r>
            <a:endParaRPr lang="en-US" sz="1300" dirty="0"/>
          </a:p>
        </p:txBody>
      </p:sp>
      <p:sp>
        <p:nvSpPr>
          <p:cNvPr id="7" name="Shape 5"/>
          <p:cNvSpPr/>
          <p:nvPr/>
        </p:nvSpPr>
        <p:spPr>
          <a:xfrm>
            <a:off x="4380409" y="1778595"/>
            <a:ext cx="3431183" cy="1395512"/>
          </a:xfrm>
          <a:prstGeom prst="roundRect">
            <a:avLst>
              <a:gd name="adj" fmla="val 5233"/>
            </a:avLst>
          </a:prstGeom>
          <a:solidFill>
            <a:srgbClr val="FDFCF9"/>
          </a:solidFill>
          <a:ln w="6350">
            <a:solidFill>
              <a:srgbClr val="E2DFD6"/>
            </a:solidFill>
            <a:prstDash val="solid"/>
          </a:ln>
        </p:spPr>
      </p:sp>
      <p:sp>
        <p:nvSpPr>
          <p:cNvPr id="8" name="Text 6"/>
          <p:cNvSpPr/>
          <p:nvPr/>
        </p:nvSpPr>
        <p:spPr>
          <a:xfrm>
            <a:off x="4586784" y="1984970"/>
            <a:ext cx="310898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2 · LAST APPLIED</a:t>
            </a:r>
            <a:endParaRPr lang="en-US" sz="1200" dirty="0"/>
          </a:p>
        </p:txBody>
      </p:sp>
      <p:sp>
        <p:nvSpPr>
          <p:cNvPr id="9" name="Text 7"/>
          <p:cNvSpPr/>
          <p:nvPr/>
        </p:nvSpPr>
        <p:spPr>
          <a:xfrm>
            <a:off x="4586784" y="2274491"/>
            <a:ext cx="310898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Bir önceki apply'ın JSON hali; canlı nesnede </a:t>
            </a:r>
            <a:r>
              <a:rPr lang="en-US" sz="1300" b="1" dirty="0">
                <a:solidFill>
                  <a:srgbClr val="45505F"/>
                </a:solidFill>
                <a:latin typeface="IBM Plex Sans" pitchFamily="34" charset="0"/>
                <a:ea typeface="IBM Plex Sans" pitchFamily="34" charset="-122"/>
                <a:cs typeface="IBM Plex Sans" pitchFamily="34" charset="-120"/>
              </a:rPr>
              <a:t>last-applied-configuration</a:t>
            </a:r>
            <a:r>
              <a:rPr lang="en-US" sz="1300" dirty="0">
                <a:solidFill>
                  <a:srgbClr val="45505F"/>
                </a:solidFill>
                <a:latin typeface="IBM Plex Sans" pitchFamily="34" charset="0"/>
                <a:ea typeface="IBM Plex Sans" pitchFamily="34" charset="-122"/>
                <a:cs typeface="IBM Plex Sans" pitchFamily="34" charset="-120"/>
              </a:rPr>
              <a:t> annotation'ında saklanır.</a:t>
            </a:r>
            <a:endParaRPr lang="en-US" sz="1300" dirty="0"/>
          </a:p>
        </p:txBody>
      </p:sp>
      <p:sp>
        <p:nvSpPr>
          <p:cNvPr id="10" name="Shape 8"/>
          <p:cNvSpPr/>
          <p:nvPr/>
        </p:nvSpPr>
        <p:spPr>
          <a:xfrm>
            <a:off x="7944941" y="1778595"/>
            <a:ext cx="3431084" cy="1395512"/>
          </a:xfrm>
          <a:prstGeom prst="roundRect">
            <a:avLst>
              <a:gd name="adj" fmla="val 5233"/>
            </a:avLst>
          </a:prstGeom>
          <a:solidFill>
            <a:srgbClr val="FDFCF9"/>
          </a:solidFill>
          <a:ln w="6350">
            <a:solidFill>
              <a:srgbClr val="E2DFD6"/>
            </a:solidFill>
            <a:prstDash val="solid"/>
          </a:ln>
        </p:spPr>
      </p:sp>
      <p:sp>
        <p:nvSpPr>
          <p:cNvPr id="11" name="Text 9"/>
          <p:cNvSpPr/>
          <p:nvPr/>
        </p:nvSpPr>
        <p:spPr>
          <a:xfrm>
            <a:off x="8151316" y="1984970"/>
            <a:ext cx="31088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3 · CANLI NESNE</a:t>
            </a:r>
            <a:endParaRPr lang="en-US" sz="1200" dirty="0"/>
          </a:p>
        </p:txBody>
      </p:sp>
      <p:sp>
        <p:nvSpPr>
          <p:cNvPr id="12" name="Text 10"/>
          <p:cNvSpPr/>
          <p:nvPr/>
        </p:nvSpPr>
        <p:spPr>
          <a:xfrm>
            <a:off x="8151316" y="2274491"/>
            <a:ext cx="310888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Cluster'daki gerçek tanım; status ve sistemin eklediği alanlarla birlikte.</a:t>
            </a:r>
            <a:endParaRPr lang="en-US" sz="1300" dirty="0"/>
          </a:p>
        </p:txBody>
      </p:sp>
      <p:sp>
        <p:nvSpPr>
          <p:cNvPr id="13" name="Text 11"/>
          <p:cNvSpPr/>
          <p:nvPr/>
        </p:nvSpPr>
        <p:spPr>
          <a:xfrm>
            <a:off x="898144" y="3431282"/>
            <a:ext cx="10790428" cy="10160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Dosyada değişen alan → canlı nesnede güncellenir.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Last-applied'da olup dosyadan </a:t>
            </a:r>
            <a:r>
              <a:rPr lang="en-US" sz="1300" b="1" dirty="0">
                <a:solidFill>
                  <a:srgbClr val="142033"/>
                </a:solidFill>
                <a:latin typeface="IBM Plex Sans" pitchFamily="34" charset="0"/>
                <a:ea typeface="IBM Plex Sans" pitchFamily="34" charset="-122"/>
                <a:cs typeface="IBM Plex Sans" pitchFamily="34" charset="-120"/>
              </a:rPr>
              <a:t>silinen</a:t>
            </a:r>
            <a:r>
              <a:rPr lang="en-US" sz="1300" dirty="0">
                <a:solidFill>
                  <a:srgbClr val="45505F"/>
                </a:solidFill>
                <a:latin typeface="IBM Plex Sans" pitchFamily="34" charset="0"/>
                <a:ea typeface="IBM Plex Sans" pitchFamily="34" charset="-122"/>
                <a:cs typeface="IBM Plex Sans" pitchFamily="34" charset="-120"/>
              </a:rPr>
              <a:t> alan → canlı nesneden de silinir. (Bu bilgi ancak annotation sayesinde bilinir.)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Başkasının eklediği, hiç apply edilmemiş alanlara dokunulmaz.</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Yeni yaklaşım: </a:t>
            </a:r>
            <a:r>
              <a:rPr lang="en-US" sz="1300" b="1" dirty="0">
                <a:solidFill>
                  <a:srgbClr val="142033"/>
                </a:solidFill>
                <a:latin typeface="IBM Plex Sans" pitchFamily="34" charset="0"/>
                <a:ea typeface="IBM Plex Sans" pitchFamily="34" charset="-122"/>
                <a:cs typeface="IBM Plex Sans" pitchFamily="34" charset="-120"/>
              </a:rPr>
              <a:t>server-side apply</a:t>
            </a:r>
            <a:r>
              <a:rPr lang="en-US" sz="1300" dirty="0">
                <a:solidFill>
                  <a:srgbClr val="45505F"/>
                </a:solidFill>
                <a:latin typeface="IBM Plex Sans" pitchFamily="34" charset="0"/>
                <a:ea typeface="IBM Plex Sans" pitchFamily="34" charset="-122"/>
                <a:cs typeface="IBM Plex Sans" pitchFamily="34" charset="-120"/>
              </a:rPr>
              <a:t> (--server-side) — alan sahipliğini (managedFields) sunucu takip eder.</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KUBECTL</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Günlük işlerin %90'ı bu komutlarla</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3325810"/>
        </p:xfrm>
        <a:graphic>
          <a:graphicData uri="http://schemas.openxmlformats.org/drawingml/2006/table">
            <a:tbl>
              <a:tblPr/>
              <a:tblGrid>
                <a:gridCol w="4432554">
                  <a:extLst>
                    <a:ext uri="{9D8B030D-6E8A-4147-A177-3AD203B41FA5}">
                      <a16:colId xmlns:a16="http://schemas.microsoft.com/office/drawing/2014/main" val="20000"/>
                    </a:ext>
                  </a:extLst>
                </a:gridCol>
                <a:gridCol w="6121146">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Komut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Ne yapar</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kubectl get pods -o wide -A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Tüm namespace'lerde pod'ları node ve IP ile listeler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kubectl describe pod web-1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Detay + Events: neden başlamadığını gösterir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kubectl logs web-1 -c app -f --previous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Container log'u; --previous: çöken önceki örnek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kubectl exec -it web-1 -- sh</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Container içinde komut / kabuk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kubectl apply -f dosya.yaml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Declarative oluştur / güncelle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kubectl get deploy web -o yaml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Canlı nesnenin tam tanımı</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kubectl explain deploy.spec --recursive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Alan dokümantasyonu</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kubectl api-resources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Kaynak türleri, kısaltmalar, namespaced mı</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8"/>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kubectl port-forward svc/web 8080:80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Yerelden servise geçici tünel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bg>
      <p:bgPr>
        <a:solidFill>
          <a:srgbClr val="142033"/>
        </a:solidFill>
        <a:effectLst/>
      </p:bgPr>
    </p:bg>
    <p:spTree>
      <p:nvGrpSpPr>
        <p:cNvPr id="1" name=""/>
        <p:cNvGrpSpPr/>
        <p:nvPr/>
      </p:nvGrpSpPr>
      <p:grpSpPr>
        <a:xfrm>
          <a:off x="0" y="0"/>
          <a:ext cx="0" cy="0"/>
          <a:chOff x="0" y="0"/>
          <a:chExt cx="0" cy="0"/>
        </a:xfrm>
      </p:grpSpPr>
      <p:sp>
        <p:nvSpPr>
          <p:cNvPr id="2" name="Text 0"/>
          <p:cNvSpPr/>
          <p:nvPr/>
        </p:nvSpPr>
        <p:spPr>
          <a:xfrm>
            <a:off x="812800" y="231775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IBM Plex Sans" pitchFamily="34" charset="0"/>
                <a:ea typeface="IBM Plex Sans" pitchFamily="34" charset="-122"/>
                <a:cs typeface="IBM Plex Sans" pitchFamily="34" charset="-120"/>
              </a:rPr>
              <a:t>BÖLÜM 03</a:t>
            </a:r>
            <a:endParaRPr lang="en-US" sz="1200" dirty="0"/>
          </a:p>
        </p:txBody>
      </p:sp>
      <p:sp>
        <p:nvSpPr>
          <p:cNvPr id="3" name="Text 1"/>
          <p:cNvSpPr>
            <a:spLocks noGrp="1"/>
          </p:cNvSpPr>
          <p:nvPr>
            <p:ph type="title"/>
          </p:nvPr>
        </p:nvSpPr>
        <p:spPr>
          <a:xfrm>
            <a:off x="812800" y="270887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4EF"/>
                </a:solidFill>
                <a:latin typeface="IBM Plex Sans" pitchFamily="34" charset="0"/>
                <a:ea typeface="IBM Plex Sans" pitchFamily="34" charset="-122"/>
                <a:cs typeface="IBM Plex Sans" pitchFamily="34" charset="-120"/>
              </a:rPr>
              <a:t>Scheduling</a:t>
            </a:r>
            <a:endParaRPr lang="en-US" sz="6000" dirty="0"/>
          </a:p>
        </p:txBody>
      </p:sp>
      <p:sp>
        <p:nvSpPr>
          <p:cNvPr id="4" name="Text 2"/>
          <p:cNvSpPr/>
          <p:nvPr/>
        </p:nvSpPr>
        <p:spPr>
          <a:xfrm>
            <a:off x="812800" y="3686770"/>
            <a:ext cx="7848600"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6D6"/>
                </a:solidFill>
                <a:latin typeface="IBM Plex Sans" pitchFamily="34" charset="0"/>
                <a:ea typeface="IBM Plex Sans" pitchFamily="34" charset="-122"/>
                <a:cs typeface="IBM Plex Sans" pitchFamily="34" charset="-120"/>
              </a:rPr>
              <a:t>Pod'ların hangi node'a gideceğini kontrol etmek: manuel atama, taint ve toleration, node affinity, kaynak istekleri, DaemonSet, static pod, öncelik ve admission controller'lar.</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6">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MANUEL SCHEDULING</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Scheduler yoksa pod sonsuza dek Pending kalır</a:t>
            </a:r>
            <a:endParaRPr lang="en-US" sz="3000" dirty="0"/>
          </a:p>
        </p:txBody>
      </p:sp>
      <p:sp>
        <p:nvSpPr>
          <p:cNvPr id="4" name="Text 2"/>
          <p:cNvSpPr/>
          <p:nvPr/>
        </p:nvSpPr>
        <p:spPr>
          <a:xfrm>
            <a:off x="898144" y="1775420"/>
            <a:ext cx="6081268" cy="17589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Scheduler, </a:t>
            </a:r>
            <a:r>
              <a:rPr lang="en-US" sz="1300" b="1" dirty="0">
                <a:solidFill>
                  <a:srgbClr val="142033"/>
                </a:solidFill>
                <a:latin typeface="IBM Plex Sans" pitchFamily="34" charset="0"/>
                <a:ea typeface="IBM Plex Sans" pitchFamily="34" charset="-122"/>
                <a:cs typeface="IBM Plex Sans" pitchFamily="34" charset="-120"/>
              </a:rPr>
              <a:t>nodeName</a:t>
            </a:r>
            <a:r>
              <a:rPr lang="en-US" sz="1300" dirty="0">
                <a:solidFill>
                  <a:srgbClr val="45505F"/>
                </a:solidFill>
                <a:latin typeface="IBM Plex Sans" pitchFamily="34" charset="0"/>
                <a:ea typeface="IBM Plex Sans" pitchFamily="34" charset="-122"/>
                <a:cs typeface="IBM Plex Sans" pitchFamily="34" charset="-120"/>
              </a:rPr>
              <a:t> alanı boş olan pod'ları arar ve doldurur.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Scheduler çalışmıyorsa (veya kendi atamanızı istiyorsanız) </a:t>
            </a:r>
            <a:r>
              <a:rPr lang="en-US" sz="1300" b="1" dirty="0">
                <a:solidFill>
                  <a:srgbClr val="142033"/>
                </a:solidFill>
                <a:latin typeface="IBM Plex Sans" pitchFamily="34" charset="0"/>
                <a:ea typeface="IBM Plex Sans" pitchFamily="34" charset="-122"/>
                <a:cs typeface="IBM Plex Sans" pitchFamily="34" charset="-120"/>
              </a:rPr>
              <a:t>nodeName</a:t>
            </a:r>
            <a:r>
              <a:rPr lang="en-US" sz="1300" dirty="0">
                <a:solidFill>
                  <a:srgbClr val="45505F"/>
                </a:solidFill>
                <a:latin typeface="IBM Plex Sans" pitchFamily="34" charset="0"/>
                <a:ea typeface="IBM Plex Sans" pitchFamily="34" charset="-122"/>
                <a:cs typeface="IBM Plex Sans" pitchFamily="34" charset="-120"/>
              </a:rPr>
              <a:t>'i pod'u oluştururken siz yazarsınız.</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nodeName </a:t>
            </a:r>
            <a:r>
              <a:rPr lang="en-US" sz="1300" b="1" dirty="0">
                <a:solidFill>
                  <a:srgbClr val="142033"/>
                </a:solidFill>
                <a:latin typeface="IBM Plex Sans" pitchFamily="34" charset="0"/>
                <a:ea typeface="IBM Plex Sans" pitchFamily="34" charset="-122"/>
                <a:cs typeface="IBM Plex Sans" pitchFamily="34" charset="-120"/>
              </a:rPr>
              <a:t>sonradan değiştirilemez</a:t>
            </a:r>
            <a:r>
              <a:rPr lang="en-US" sz="1300" dirty="0">
                <a:solidFill>
                  <a:srgbClr val="45505F"/>
                </a:solidFill>
                <a:latin typeface="IBM Plex Sans" pitchFamily="34" charset="0"/>
                <a:ea typeface="IBM Plex Sans" pitchFamily="34" charset="-122"/>
                <a:cs typeface="IBM Plex Sans" pitchFamily="34" charset="-120"/>
              </a:rPr>
              <a:t>. Var olan bir pod için bir </a:t>
            </a:r>
            <a:r>
              <a:rPr lang="en-US" sz="1300" b="1" dirty="0">
                <a:solidFill>
                  <a:srgbClr val="142033"/>
                </a:solidFill>
                <a:latin typeface="IBM Plex Sans" pitchFamily="34" charset="0"/>
                <a:ea typeface="IBM Plex Sans" pitchFamily="34" charset="-122"/>
                <a:cs typeface="IBM Plex Sans" pitchFamily="34" charset="-120"/>
              </a:rPr>
              <a:t>Binding</a:t>
            </a:r>
            <a:r>
              <a:rPr lang="en-US" sz="1300" dirty="0">
                <a:solidFill>
                  <a:srgbClr val="45505F"/>
                </a:solidFill>
                <a:latin typeface="IBM Plex Sans" pitchFamily="34" charset="0"/>
                <a:ea typeface="IBM Plex Sans" pitchFamily="34" charset="-122"/>
                <a:cs typeface="IBM Plex Sans" pitchFamily="34" charset="-120"/>
              </a:rPr>
              <a:t> nesnesi API'ye POST edilir — scheduler'ın yaptığını taklit etmek.</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nodeName ile scheduler tamamen atlanır: taint'ler ve kaynak kontrolü uygulanmaz.</a:t>
            </a:r>
            <a:endParaRPr lang="en-US" sz="1300" dirty="0"/>
          </a:p>
        </p:txBody>
      </p:sp>
      <p:sp>
        <p:nvSpPr>
          <p:cNvPr id="5" name="Text 3"/>
          <p:cNvSpPr/>
          <p:nvPr/>
        </p:nvSpPr>
        <p:spPr>
          <a:xfrm>
            <a:off x="7061200" y="1775420"/>
            <a:ext cx="4318000" cy="2395041"/>
          </a:xfrm>
          <a:prstGeom prst="roundRect">
            <a:avLst>
              <a:gd name="adj" fmla="val 3182"/>
            </a:avLst>
          </a:prstGeom>
          <a:solidFill>
            <a:srgbClr val="1B2A41"/>
          </a:solidFill>
          <a:ln/>
        </p:spPr>
        <p:txBody>
          <a:bodyPr wrap="square" lIns="180882" tIns="180882" rIns="6353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Pod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nginx</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nodeName: node02</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containers: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nginx</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 nginx</a:t>
            </a:r>
            <a:endParaRPr lang="en-US" sz="1200" dirty="0"/>
          </a:p>
        </p:txBody>
      </p:sp>
      <p:sp>
        <p:nvSpPr>
          <p:cNvPr id="6" name="Text 4"/>
          <p:cNvSpPr/>
          <p:nvPr/>
        </p:nvSpPr>
        <p:spPr>
          <a:xfrm>
            <a:off x="7061200" y="4297462"/>
            <a:ext cx="4318000" cy="1018480"/>
          </a:xfrm>
          <a:prstGeom prst="roundRect">
            <a:avLst>
              <a:gd name="adj" fmla="val 7482"/>
            </a:avLst>
          </a:prstGeom>
          <a:solidFill>
            <a:srgbClr val="1B2A41"/>
          </a:solidFill>
          <a:ln/>
        </p:spPr>
        <p:txBody>
          <a:bodyPr wrap="square" lIns="155482" tIns="155482" rIns="36610" bIns="1300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Binding (var olan pod)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Binding</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target: {kind: Node, name: node02}</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7">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TAINTS VE TOLERATIONS</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Node pod'u iter, pod tahammül eder</a:t>
            </a:r>
            <a:endParaRPr lang="en-US" sz="3000" dirty="0"/>
          </a:p>
        </p:txBody>
      </p:sp>
      <p:sp>
        <p:nvSpPr>
          <p:cNvPr id="4" name="Text 2"/>
          <p:cNvSpPr/>
          <p:nvPr/>
        </p:nvSpPr>
        <p:spPr>
          <a:xfrm>
            <a:off x="812800" y="1750020"/>
            <a:ext cx="6174232"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142033"/>
                </a:solidFill>
                <a:latin typeface="IBM Plex Sans" pitchFamily="34" charset="0"/>
                <a:ea typeface="IBM Plex Sans" pitchFamily="34" charset="-122"/>
                <a:cs typeface="IBM Plex Sans" pitchFamily="34" charset="-120"/>
              </a:rPr>
              <a:t>Taint</a:t>
            </a:r>
            <a:r>
              <a:rPr lang="en-US" sz="1300" dirty="0">
                <a:solidFill>
                  <a:srgbClr val="45505F"/>
                </a:solidFill>
                <a:latin typeface="IBM Plex Sans" pitchFamily="34" charset="0"/>
                <a:ea typeface="IBM Plex Sans" pitchFamily="34" charset="-122"/>
                <a:cs typeface="IBM Plex Sans" pitchFamily="34" charset="-120"/>
              </a:rPr>
              <a:t> node'a konur: "bu lekeye dayanamayan pod gelmesin". </a:t>
            </a:r>
            <a:r>
              <a:rPr lang="en-US" sz="1300" b="1" dirty="0">
                <a:solidFill>
                  <a:srgbClr val="142033"/>
                </a:solidFill>
                <a:latin typeface="IBM Plex Sans" pitchFamily="34" charset="0"/>
                <a:ea typeface="IBM Plex Sans" pitchFamily="34" charset="-122"/>
                <a:cs typeface="IBM Plex Sans" pitchFamily="34" charset="-120"/>
              </a:rPr>
              <a:t>Toleration</a:t>
            </a:r>
            <a:r>
              <a:rPr lang="en-US" sz="1300" dirty="0">
                <a:solidFill>
                  <a:srgbClr val="45505F"/>
                </a:solidFill>
                <a:latin typeface="IBM Plex Sans" pitchFamily="34" charset="0"/>
                <a:ea typeface="IBM Plex Sans" pitchFamily="34" charset="-122"/>
                <a:cs typeface="IBM Plex Sans" pitchFamily="34" charset="-120"/>
              </a:rPr>
              <a:t> pod'a konur: "ben bu lekeye dayanırım".</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72320"/>
          <a:ext cx="5981700" cy="1330324"/>
        </p:xfrm>
        <a:graphic>
          <a:graphicData uri="http://schemas.openxmlformats.org/drawingml/2006/table">
            <a:tbl>
              <a:tblPr/>
              <a:tblGrid>
                <a:gridCol w="2033778">
                  <a:extLst>
                    <a:ext uri="{9D8B030D-6E8A-4147-A177-3AD203B41FA5}">
                      <a16:colId xmlns:a16="http://schemas.microsoft.com/office/drawing/2014/main" val="20000"/>
                    </a:ext>
                  </a:extLst>
                </a:gridCol>
                <a:gridCol w="3947922">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Effect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Davranış</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NoSchedule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Tolere etmeyen yeni pod yerleşmez</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PreferNoSchedule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Mümkünse yerleştirme (garanti yok)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NoExecute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Yeni pod gelmez, mevcutlar da tahliye edilir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812800" y="3816945"/>
            <a:ext cx="5994400" cy="749300"/>
          </a:xfrm>
          <a:prstGeom prst="roundRect">
            <a:avLst>
              <a:gd name="adj" fmla="val 8475"/>
            </a:avLst>
          </a:prstGeom>
          <a:solidFill>
            <a:srgbClr val="DCE6F7"/>
          </a:solidFill>
          <a:ln/>
        </p:spPr>
        <p:txBody>
          <a:bodyPr wrap="square" lIns="108401" tIns="108401" rIns="0" bIns="83001" rtlCol="0" anchor="t">
            <a:normAutofit/>
          </a:bodyPr>
          <a:lstStyle/>
          <a:p>
            <a:pPr marL="0" indent="0" algn="l">
              <a:lnSpc>
                <a:spcPts val="1950"/>
              </a:lnSpc>
              <a:buNone/>
            </a:pPr>
            <a:r>
              <a:rPr lang="en-US" sz="1300" dirty="0">
                <a:solidFill>
                  <a:srgbClr val="142033"/>
                </a:solidFill>
                <a:latin typeface="IBM Plex Sans" pitchFamily="34" charset="0"/>
                <a:ea typeface="IBM Plex Sans" pitchFamily="34" charset="-122"/>
                <a:cs typeface="IBM Plex Sans" pitchFamily="34" charset="-120"/>
              </a:rPr>
              <a:t>Toleration pod'u o node'a </a:t>
            </a:r>
            <a:r>
              <a:rPr lang="en-US" sz="1300" b="1" dirty="0">
                <a:solidFill>
                  <a:srgbClr val="142033"/>
                </a:solidFill>
                <a:latin typeface="IBM Plex Sans" pitchFamily="34" charset="0"/>
                <a:ea typeface="IBM Plex Sans" pitchFamily="34" charset="-122"/>
                <a:cs typeface="IBM Plex Sans" pitchFamily="34" charset="-120"/>
              </a:rPr>
              <a:t>çekmez</a:t>
            </a:r>
            <a:r>
              <a:rPr lang="en-US" sz="1300" dirty="0">
                <a:solidFill>
                  <a:srgbClr val="142033"/>
                </a:solidFill>
                <a:latin typeface="IBM Plex Sans" pitchFamily="34" charset="0"/>
                <a:ea typeface="IBM Plex Sans" pitchFamily="34" charset="-122"/>
                <a:cs typeface="IBM Plex Sans" pitchFamily="34" charset="-120"/>
              </a:rPr>
              <a:t>; sadece izin verir. Pod yine başka bir node'a gidebilir.</a:t>
            </a:r>
            <a:endParaRPr lang="en-US" sz="1300" dirty="0"/>
          </a:p>
        </p:txBody>
      </p:sp>
      <p:sp>
        <p:nvSpPr>
          <p:cNvPr id="7" name="Text 4"/>
          <p:cNvSpPr/>
          <p:nvPr/>
        </p:nvSpPr>
        <p:spPr>
          <a:xfrm>
            <a:off x="7061200" y="1750020"/>
            <a:ext cx="4318000" cy="1460401"/>
          </a:xfrm>
          <a:prstGeom prst="roundRect">
            <a:avLst>
              <a:gd name="adj" fmla="val 5218"/>
            </a:avLst>
          </a:prstGeom>
          <a:solidFill>
            <a:srgbClr val="1B2A41"/>
          </a:solidFill>
          <a:ln/>
        </p:spPr>
        <p:txBody>
          <a:bodyPr wrap="square" lIns="155482" tIns="155482" rIns="36610"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taint nodes node1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app=blue:NoSchedule</a:t>
            </a: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kaldırmak için sona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taint nodes node1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app=blue:NoSchedule-</a:t>
            </a:r>
            <a:endParaRPr lang="en-US" sz="1200" dirty="0"/>
          </a:p>
        </p:txBody>
      </p:sp>
      <p:sp>
        <p:nvSpPr>
          <p:cNvPr id="8" name="Text 5"/>
          <p:cNvSpPr/>
          <p:nvPr/>
        </p:nvSpPr>
        <p:spPr>
          <a:xfrm>
            <a:off x="7061200" y="3337421"/>
            <a:ext cx="4318000" cy="1681361"/>
          </a:xfrm>
          <a:prstGeom prst="roundRect">
            <a:avLst>
              <a:gd name="adj" fmla="val 4532"/>
            </a:avLst>
          </a:prstGeom>
          <a:solidFill>
            <a:srgbClr val="1B2A41"/>
          </a:solidFill>
          <a:ln/>
        </p:spPr>
        <p:txBody>
          <a:bodyPr wrap="square" lIns="155482" tIns="155482" rIns="36610"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tolerations: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key: "app"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operator: "Equal"</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value: "blue"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effect: "NoSchedule"</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8">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NODESELECTOR VE NODE AFFINITY</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Pod'u belirli node'lara çekmek</a:t>
            </a:r>
            <a:endParaRPr lang="en-US" sz="3000" dirty="0"/>
          </a:p>
        </p:txBody>
      </p:sp>
      <p:sp>
        <p:nvSpPr>
          <p:cNvPr id="4" name="Text 2"/>
          <p:cNvSpPr/>
          <p:nvPr/>
        </p:nvSpPr>
        <p:spPr>
          <a:xfrm>
            <a:off x="812800" y="1750020"/>
            <a:ext cx="6043422"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142033"/>
                </a:solidFill>
                <a:latin typeface="IBM Plex Sans" pitchFamily="34" charset="0"/>
                <a:ea typeface="IBM Plex Sans" pitchFamily="34" charset="-122"/>
                <a:cs typeface="IBM Plex Sans" pitchFamily="34" charset="-120"/>
              </a:rPr>
              <a:t>nodeSelector</a:t>
            </a:r>
            <a:r>
              <a:rPr lang="en-US" sz="1300" dirty="0">
                <a:solidFill>
                  <a:srgbClr val="45505F"/>
                </a:solidFill>
                <a:latin typeface="IBM Plex Sans" pitchFamily="34" charset="0"/>
                <a:ea typeface="IBM Plex Sans" pitchFamily="34" charset="-122"/>
                <a:cs typeface="IBM Plex Sans" pitchFamily="34" charset="-120"/>
              </a:rPr>
              <a:t> basittir: node label'ı birebir eşleşmeli (</a:t>
            </a:r>
            <a:r>
              <a:rPr lang="en-US" sz="1300" b="1" dirty="0">
                <a:solidFill>
                  <a:srgbClr val="45505F"/>
                </a:solidFill>
                <a:latin typeface="IBM Plex Sans" pitchFamily="34" charset="0"/>
                <a:ea typeface="IBM Plex Sans" pitchFamily="34" charset="-122"/>
                <a:cs typeface="IBM Plex Sans" pitchFamily="34" charset="-120"/>
              </a:rPr>
              <a:t>size: Large</a:t>
            </a:r>
            <a:r>
              <a:rPr lang="en-US" sz="1300" dirty="0">
                <a:solidFill>
                  <a:srgbClr val="45505F"/>
                </a:solidFill>
                <a:latin typeface="IBM Plex Sans" pitchFamily="34" charset="0"/>
                <a:ea typeface="IBM Plex Sans" pitchFamily="34" charset="-122"/>
                <a:cs typeface="IBM Plex Sans" pitchFamily="34" charset="-120"/>
              </a:rPr>
              <a:t>). "Large veya Medium" ya da "Small olmasın" diyemez.</a:t>
            </a:r>
            <a:endParaRPr lang="en-US" sz="1300" dirty="0"/>
          </a:p>
        </p:txBody>
      </p:sp>
      <p:sp>
        <p:nvSpPr>
          <p:cNvPr id="5" name="Text 3"/>
          <p:cNvSpPr/>
          <p:nvPr/>
        </p:nvSpPr>
        <p:spPr>
          <a:xfrm>
            <a:off x="812800" y="2359620"/>
            <a:ext cx="6043422"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142033"/>
                </a:solidFill>
                <a:latin typeface="IBM Plex Sans" pitchFamily="34" charset="0"/>
                <a:ea typeface="IBM Plex Sans" pitchFamily="34" charset="-122"/>
                <a:cs typeface="IBM Plex Sans" pitchFamily="34" charset="-120"/>
              </a:rPr>
              <a:t>nodeAffinity</a:t>
            </a:r>
            <a:r>
              <a:rPr lang="en-US" sz="1300" dirty="0">
                <a:solidFill>
                  <a:srgbClr val="45505F"/>
                </a:solidFill>
                <a:latin typeface="IBM Plex Sans" pitchFamily="34" charset="0"/>
                <a:ea typeface="IBM Plex Sans" pitchFamily="34" charset="-122"/>
                <a:cs typeface="IBM Plex Sans" pitchFamily="34" charset="-120"/>
              </a:rPr>
              <a:t> ifade gücü verir: operatörler </a:t>
            </a:r>
            <a:r>
              <a:rPr lang="en-US" sz="1300" b="1" dirty="0">
                <a:solidFill>
                  <a:srgbClr val="45505F"/>
                </a:solidFill>
                <a:latin typeface="IBM Plex Sans" pitchFamily="34" charset="0"/>
                <a:ea typeface="IBM Plex Sans" pitchFamily="34" charset="-122"/>
                <a:cs typeface="IBM Plex Sans" pitchFamily="34" charset="-120"/>
              </a:rPr>
              <a:t>In, NotIn, Exists, DoesNotExist, Gt, Lt</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981920"/>
          <a:ext cx="5854700" cy="1211064"/>
        </p:xfrm>
        <a:graphic>
          <a:graphicData uri="http://schemas.openxmlformats.org/drawingml/2006/table">
            <a:tbl>
              <a:tblPr/>
              <a:tblGrid>
                <a:gridCol w="3044444">
                  <a:extLst>
                    <a:ext uri="{9D8B030D-6E8A-4147-A177-3AD203B41FA5}">
                      <a16:colId xmlns:a16="http://schemas.microsoft.com/office/drawing/2014/main" val="20000"/>
                    </a:ext>
                  </a:extLst>
                </a:gridCol>
                <a:gridCol w="2810256">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Tür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Etkisi</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required…IgnoredDuringExecution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Kural sağlanmazsa yerleşmez (zorunlu)</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preferred…IgnoredDuringExecution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Mümkünse uyar, yoksa başka yere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 4"/>
          <p:cNvSpPr/>
          <p:nvPr/>
        </p:nvSpPr>
        <p:spPr>
          <a:xfrm>
            <a:off x="812800" y="4307284"/>
            <a:ext cx="604342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"IgnoredDuringExecution": node label'ı sonradan değişse de çalışan pod'a dokunulmaz.</a:t>
            </a:r>
            <a:endParaRPr lang="en-US" sz="1200" dirty="0"/>
          </a:p>
        </p:txBody>
      </p:sp>
      <p:sp>
        <p:nvSpPr>
          <p:cNvPr id="8" name="Text 5"/>
          <p:cNvSpPr/>
          <p:nvPr/>
        </p:nvSpPr>
        <p:spPr>
          <a:xfrm>
            <a:off x="6934200" y="1750020"/>
            <a:ext cx="4445000" cy="3278882"/>
          </a:xfrm>
          <a:prstGeom prst="roundRect">
            <a:avLst>
              <a:gd name="adj" fmla="val 2324"/>
            </a:avLst>
          </a:prstGeom>
          <a:solidFill>
            <a:srgbClr val="1B2A41"/>
          </a:solidFill>
          <a:ln/>
        </p:spPr>
        <p:txBody>
          <a:bodyPr wrap="square" lIns="180882" tIns="180882" rIns="59724" bIns="1554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kubectl label nodes node1 size=Large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affinity:</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nodeAffinity:</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requiredDuringScheduling\</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IgnoredDuringExecution:</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nodeSelectorTerms: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matchExpressions: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key: size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operator: In</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values: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Large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Medium</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9">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BIRLIKTE KULLANIM</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Node'u bir uygulamaya ayırmak için ikisi de gerekir</a:t>
            </a:r>
            <a:endParaRPr lang="en-US" sz="3000" dirty="0"/>
          </a:p>
        </p:txBody>
      </p:sp>
      <p:sp>
        <p:nvSpPr>
          <p:cNvPr id="4" name="Shape 2"/>
          <p:cNvSpPr/>
          <p:nvPr/>
        </p:nvSpPr>
        <p:spPr>
          <a:xfrm>
            <a:off x="815975" y="1778595"/>
            <a:ext cx="3418384" cy="1425972"/>
          </a:xfrm>
          <a:prstGeom prst="roundRect">
            <a:avLst>
              <a:gd name="adj" fmla="val 5121"/>
            </a:avLst>
          </a:prstGeom>
          <a:solidFill>
            <a:srgbClr val="FDFCF9"/>
          </a:solidFill>
          <a:ln w="6350">
            <a:solidFill>
              <a:srgbClr val="E2DFD6"/>
            </a:solidFill>
            <a:prstDash val="solid"/>
          </a:ln>
        </p:spPr>
      </p:sp>
      <p:sp>
        <p:nvSpPr>
          <p:cNvPr id="5" name="Text 3"/>
          <p:cNvSpPr/>
          <p:nvPr/>
        </p:nvSpPr>
        <p:spPr>
          <a:xfrm>
            <a:off x="1022350" y="1984970"/>
            <a:ext cx="309580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Sadece taint</a:t>
            </a:r>
            <a:endParaRPr lang="en-US" sz="1600" dirty="0"/>
          </a:p>
        </p:txBody>
      </p:sp>
      <p:sp>
        <p:nvSpPr>
          <p:cNvPr id="6" name="Text 4"/>
          <p:cNvSpPr/>
          <p:nvPr/>
        </p:nvSpPr>
        <p:spPr>
          <a:xfrm>
            <a:off x="1022350" y="2304951"/>
            <a:ext cx="3095803"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Başka pod'lar mavi node'a gelemez. Ama mavi pod'lar da taint'siz bir node'a gidebilir.</a:t>
            </a:r>
            <a:endParaRPr lang="en-US" sz="1300" dirty="0"/>
          </a:p>
        </p:txBody>
      </p:sp>
      <p:sp>
        <p:nvSpPr>
          <p:cNvPr id="7" name="Shape 5"/>
          <p:cNvSpPr/>
          <p:nvPr/>
        </p:nvSpPr>
        <p:spPr>
          <a:xfrm>
            <a:off x="4393109" y="1778595"/>
            <a:ext cx="3418483" cy="1425972"/>
          </a:xfrm>
          <a:prstGeom prst="roundRect">
            <a:avLst>
              <a:gd name="adj" fmla="val 5121"/>
            </a:avLst>
          </a:prstGeom>
          <a:solidFill>
            <a:srgbClr val="FDFCF9"/>
          </a:solidFill>
          <a:ln w="6350">
            <a:solidFill>
              <a:srgbClr val="E2DFD6"/>
            </a:solidFill>
            <a:prstDash val="solid"/>
          </a:ln>
        </p:spPr>
      </p:sp>
      <p:sp>
        <p:nvSpPr>
          <p:cNvPr id="8" name="Text 6"/>
          <p:cNvSpPr/>
          <p:nvPr/>
        </p:nvSpPr>
        <p:spPr>
          <a:xfrm>
            <a:off x="4599484" y="1984970"/>
            <a:ext cx="309590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Sadece affinity</a:t>
            </a:r>
            <a:endParaRPr lang="en-US" sz="1600" dirty="0"/>
          </a:p>
        </p:txBody>
      </p:sp>
      <p:sp>
        <p:nvSpPr>
          <p:cNvPr id="9" name="Text 7"/>
          <p:cNvSpPr/>
          <p:nvPr/>
        </p:nvSpPr>
        <p:spPr>
          <a:xfrm>
            <a:off x="4599484" y="2304951"/>
            <a:ext cx="3095905"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Mavi pod'lar mavi node'a gider. Ama başka pod'lar da mavi node'a yerleşebilir.</a:t>
            </a:r>
            <a:endParaRPr lang="en-US" sz="1300" dirty="0"/>
          </a:p>
        </p:txBody>
      </p:sp>
      <p:sp>
        <p:nvSpPr>
          <p:cNvPr id="10" name="Shape 8"/>
          <p:cNvSpPr/>
          <p:nvPr/>
        </p:nvSpPr>
        <p:spPr>
          <a:xfrm>
            <a:off x="7967166" y="1775420"/>
            <a:ext cx="3412034" cy="1432322"/>
          </a:xfrm>
          <a:prstGeom prst="roundRect">
            <a:avLst>
              <a:gd name="adj" fmla="val 5320"/>
            </a:avLst>
          </a:prstGeom>
          <a:solidFill>
            <a:srgbClr val="142033"/>
          </a:solidFill>
          <a:ln/>
        </p:spPr>
      </p:sp>
      <p:sp>
        <p:nvSpPr>
          <p:cNvPr id="11" name="Text 9"/>
          <p:cNvSpPr/>
          <p:nvPr/>
        </p:nvSpPr>
        <p:spPr>
          <a:xfrm>
            <a:off x="8170366" y="1978620"/>
            <a:ext cx="309580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Taint + affinity</a:t>
            </a:r>
            <a:endParaRPr lang="en-US" sz="1600" dirty="0"/>
          </a:p>
        </p:txBody>
      </p:sp>
      <p:sp>
        <p:nvSpPr>
          <p:cNvPr id="12" name="Text 10"/>
          <p:cNvSpPr/>
          <p:nvPr/>
        </p:nvSpPr>
        <p:spPr>
          <a:xfrm>
            <a:off x="8170366" y="2298601"/>
            <a:ext cx="3095803"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Taint yabancıları dışarıda tutar, affinity mavi pod'ları içeri çeker. Node tamamen o uygulamaya ait olur.</a:t>
            </a:r>
            <a:endParaRPr lang="en-US" sz="1300" dirty="0"/>
          </a:p>
        </p:txBody>
      </p:sp>
      <p:sp>
        <p:nvSpPr>
          <p:cNvPr id="13" name="Text 11"/>
          <p:cNvSpPr/>
          <p:nvPr/>
        </p:nvSpPr>
        <p:spPr>
          <a:xfrm>
            <a:off x="812800" y="3461742"/>
            <a:ext cx="1088339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Örnek: GPU node'larına </a:t>
            </a:r>
            <a:r>
              <a:rPr lang="en-US" sz="1300" b="1" dirty="0">
                <a:solidFill>
                  <a:srgbClr val="142033"/>
                </a:solidFill>
                <a:latin typeface="IBM Plex Sans" pitchFamily="34" charset="0"/>
                <a:ea typeface="IBM Plex Sans" pitchFamily="34" charset="-122"/>
                <a:cs typeface="IBM Plex Sans" pitchFamily="34" charset="-120"/>
              </a:rPr>
              <a:t>gpu=true:NoSchedule</a:t>
            </a:r>
            <a:r>
              <a:rPr lang="en-US" sz="1300" dirty="0">
                <a:solidFill>
                  <a:srgbClr val="45505F"/>
                </a:solidFill>
                <a:latin typeface="IBM Plex Sans" pitchFamily="34" charset="0"/>
                <a:ea typeface="IBM Plex Sans" pitchFamily="34" charset="-122"/>
                <a:cs typeface="IBM Plex Sans" pitchFamily="34" charset="-120"/>
              </a:rPr>
              <a:t> taint'i + GPU iş yüklerine toleration ve </a:t>
            </a:r>
            <a:r>
              <a:rPr lang="en-US" sz="1300" b="1" dirty="0">
                <a:solidFill>
                  <a:srgbClr val="142033"/>
                </a:solidFill>
                <a:latin typeface="IBM Plex Sans" pitchFamily="34" charset="0"/>
                <a:ea typeface="IBM Plex Sans" pitchFamily="34" charset="-122"/>
                <a:cs typeface="IBM Plex Sans" pitchFamily="34" charset="-120"/>
              </a:rPr>
              <a:t>gpu=true</a:t>
            </a:r>
            <a:r>
              <a:rPr lang="en-US" sz="1300" dirty="0">
                <a:solidFill>
                  <a:srgbClr val="45505F"/>
                </a:solidFill>
                <a:latin typeface="IBM Plex Sans" pitchFamily="34" charset="0"/>
                <a:ea typeface="IBM Plex Sans" pitchFamily="34" charset="-122"/>
                <a:cs typeface="IBM Plex Sans" pitchFamily="34" charset="-120"/>
              </a:rPr>
              <a:t> node affinity'si.</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0">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RESOURCE REQUESTS VE LIMITS</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Request yerleşimi, limit tavanı belirler</a:t>
            </a:r>
            <a:endParaRPr lang="en-US" sz="3000" dirty="0"/>
          </a:p>
        </p:txBody>
      </p:sp>
      <p:sp>
        <p:nvSpPr>
          <p:cNvPr id="4" name="Text 2"/>
          <p:cNvSpPr/>
          <p:nvPr/>
        </p:nvSpPr>
        <p:spPr>
          <a:xfrm>
            <a:off x="898144" y="1750020"/>
            <a:ext cx="6604508" cy="17589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requests:</a:t>
            </a:r>
            <a:r>
              <a:rPr lang="en-US" sz="1300" dirty="0">
                <a:solidFill>
                  <a:srgbClr val="45505F"/>
                </a:solidFill>
                <a:latin typeface="IBM Plex Sans" pitchFamily="34" charset="0"/>
                <a:ea typeface="IBM Plex Sans" pitchFamily="34" charset="-122"/>
                <a:cs typeface="IBM Plex Sans" pitchFamily="34" charset="-120"/>
              </a:rPr>
              <a:t> scheduler bunu kullanır. Node'un boş (allocatable − istenen) kapasitesi yetmezse pod Pending: </a:t>
            </a:r>
            <a:r>
              <a:rPr lang="en-US" sz="1300" i="1" dirty="0">
                <a:solidFill>
                  <a:srgbClr val="45505F"/>
                </a:solidFill>
                <a:latin typeface="IBM Plex Sans" pitchFamily="34" charset="0"/>
                <a:ea typeface="IBM Plex Sans" pitchFamily="34" charset="-122"/>
                <a:cs typeface="IBM Plex Sans" pitchFamily="34" charset="-120"/>
              </a:rPr>
              <a:t>Insufficient cpu</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limits:</a:t>
            </a:r>
            <a:r>
              <a:rPr lang="en-US" sz="1300" dirty="0">
                <a:solidFill>
                  <a:srgbClr val="45505F"/>
                </a:solidFill>
                <a:latin typeface="IBM Plex Sans" pitchFamily="34" charset="0"/>
                <a:ea typeface="IBM Plex Sans" pitchFamily="34" charset="-122"/>
                <a:cs typeface="IBM Plex Sans" pitchFamily="34" charset="-120"/>
              </a:rPr>
              <a:t> çalışırken uygulanır (cgroups).</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CPU</a:t>
            </a:r>
            <a:r>
              <a:rPr lang="en-US" sz="1300" dirty="0">
                <a:solidFill>
                  <a:srgbClr val="45505F"/>
                </a:solidFill>
                <a:latin typeface="IBM Plex Sans" pitchFamily="34" charset="0"/>
                <a:ea typeface="IBM Plex Sans" pitchFamily="34" charset="-122"/>
                <a:cs typeface="IBM Plex Sans" pitchFamily="34" charset="-120"/>
              </a:rPr>
              <a:t> limiti aşılırsa → </a:t>
            </a:r>
            <a:r>
              <a:rPr lang="en-US" sz="1300" b="1" dirty="0">
                <a:solidFill>
                  <a:srgbClr val="45505F"/>
                </a:solidFill>
                <a:latin typeface="IBM Plex Sans" pitchFamily="34" charset="0"/>
                <a:ea typeface="IBM Plex Sans" pitchFamily="34" charset="-122"/>
                <a:cs typeface="IBM Plex Sans" pitchFamily="34" charset="-120"/>
              </a:rPr>
              <a:t>throttle</a:t>
            </a:r>
            <a:r>
              <a:rPr lang="en-US" sz="1300" dirty="0">
                <a:solidFill>
                  <a:srgbClr val="45505F"/>
                </a:solidFill>
                <a:latin typeface="IBM Plex Sans" pitchFamily="34" charset="0"/>
                <a:ea typeface="IBM Plex Sans" pitchFamily="34" charset="-122"/>
                <a:cs typeface="IBM Plex Sans" pitchFamily="34" charset="-120"/>
              </a:rPr>
              <a:t> edilir, ölmez.</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Bellek</a:t>
            </a:r>
            <a:r>
              <a:rPr lang="en-US" sz="1300" dirty="0">
                <a:solidFill>
                  <a:srgbClr val="45505F"/>
                </a:solidFill>
                <a:latin typeface="IBM Plex Sans" pitchFamily="34" charset="0"/>
                <a:ea typeface="IBM Plex Sans" pitchFamily="34" charset="-122"/>
                <a:cs typeface="IBM Plex Sans" pitchFamily="34" charset="-120"/>
              </a:rPr>
              <a:t> limiti aşılırsa → </a:t>
            </a:r>
            <a:r>
              <a:rPr lang="en-US" sz="1300" b="1" dirty="0">
                <a:solidFill>
                  <a:srgbClr val="45505F"/>
                </a:solidFill>
                <a:latin typeface="IBM Plex Sans" pitchFamily="34" charset="0"/>
                <a:ea typeface="IBM Plex Sans" pitchFamily="34" charset="-122"/>
                <a:cs typeface="IBM Plex Sans" pitchFamily="34" charset="-120"/>
              </a:rPr>
              <a:t>OOMKilled</a:t>
            </a:r>
            <a:r>
              <a:rPr lang="en-US" sz="1300" dirty="0">
                <a:solidFill>
                  <a:srgbClr val="45505F"/>
                </a:solidFill>
                <a:latin typeface="IBM Plex Sans" pitchFamily="34" charset="0"/>
                <a:ea typeface="IBM Plex Sans" pitchFamily="34" charset="-122"/>
                <a:cs typeface="IBM Plex Sans" pitchFamily="34" charset="-120"/>
              </a:rPr>
              <a:t>, container yeniden başlar.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Birimler: 1 CPU = 1 vCPU/çekirdek, </a:t>
            </a:r>
            <a:r>
              <a:rPr lang="en-US" sz="1300" b="1" dirty="0">
                <a:solidFill>
                  <a:srgbClr val="45505F"/>
                </a:solidFill>
                <a:latin typeface="IBM Plex Sans" pitchFamily="34" charset="0"/>
                <a:ea typeface="IBM Plex Sans" pitchFamily="34" charset="-122"/>
                <a:cs typeface="IBM Plex Sans" pitchFamily="34" charset="-120"/>
              </a:rPr>
              <a:t>100m</a:t>
            </a:r>
            <a:r>
              <a:rPr lang="en-US" sz="1300" dirty="0">
                <a:solidFill>
                  <a:srgbClr val="45505F"/>
                </a:solidFill>
                <a:latin typeface="IBM Plex Sans" pitchFamily="34" charset="0"/>
                <a:ea typeface="IBM Plex Sans" pitchFamily="34" charset="-122"/>
                <a:cs typeface="IBM Plex Sans" pitchFamily="34" charset="-120"/>
              </a:rPr>
              <a:t> = 0,1 CPU. Bellek: </a:t>
            </a:r>
            <a:r>
              <a:rPr lang="en-US" sz="1300" b="1" dirty="0">
                <a:solidFill>
                  <a:srgbClr val="45505F"/>
                </a:solidFill>
                <a:latin typeface="IBM Plex Sans" pitchFamily="34" charset="0"/>
                <a:ea typeface="IBM Plex Sans" pitchFamily="34" charset="-122"/>
                <a:cs typeface="IBM Plex Sans" pitchFamily="34" charset="-120"/>
              </a:rPr>
              <a:t>Mi/Gi</a:t>
            </a:r>
            <a:r>
              <a:rPr lang="en-US" sz="1300" dirty="0">
                <a:solidFill>
                  <a:srgbClr val="45505F"/>
                </a:solidFill>
                <a:latin typeface="IBM Plex Sans" pitchFamily="34" charset="0"/>
                <a:ea typeface="IBM Plex Sans" pitchFamily="34" charset="-122"/>
                <a:cs typeface="IBM Plex Sans" pitchFamily="34" charset="-120"/>
              </a:rPr>
              <a:t> (1024 tabanlı) ≠ M/G (1000 tabanlı).</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3610570"/>
          <a:ext cx="6489700" cy="1330324"/>
        </p:xfrm>
        <a:graphic>
          <a:graphicData uri="http://schemas.openxmlformats.org/drawingml/2006/table">
            <a:tbl>
              <a:tblPr/>
              <a:tblGrid>
                <a:gridCol w="1946910">
                  <a:extLst>
                    <a:ext uri="{9D8B030D-6E8A-4147-A177-3AD203B41FA5}">
                      <a16:colId xmlns:a16="http://schemas.microsoft.com/office/drawing/2014/main" val="20000"/>
                    </a:ext>
                  </a:extLst>
                </a:gridCol>
                <a:gridCol w="4542790">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QoS sınıfı</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Koşul · tahliye önceliği</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Guaranteed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request = limit (her container) · en son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Burstable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request &lt; limit veya kısmi · orta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BestEffort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hiç yok · ilk tahliye edilen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7569200" y="1750020"/>
            <a:ext cx="3810000" cy="3190875"/>
          </a:xfrm>
          <a:prstGeom prst="roundRect">
            <a:avLst>
              <a:gd name="adj" fmla="val 2388"/>
            </a:avLst>
          </a:prstGeom>
          <a:solidFill>
            <a:srgbClr val="1B2A41"/>
          </a:solidFill>
          <a:ln/>
        </p:spPr>
        <p:txBody>
          <a:bodyPr wrap="square" lIns="180882" tIns="180882" rIns="78774" bIns="1808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containers: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 myapp:1.0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resources: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requests: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cpu: "250m"</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memory: "256Mi"</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limits: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cpu: "500m"</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memory: "512Mi"</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1">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LIMITRANGE VE RESOURCEQUOTA</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Namespace düzeyinde varsayılanlar ve tavanlar</a:t>
            </a:r>
            <a:endParaRPr lang="en-US" sz="3000" dirty="0"/>
          </a:p>
        </p:txBody>
      </p:sp>
      <p:sp>
        <p:nvSpPr>
          <p:cNvPr id="4" name="Shape 2"/>
          <p:cNvSpPr/>
          <p:nvPr/>
        </p:nvSpPr>
        <p:spPr>
          <a:xfrm>
            <a:off x="815975" y="1778595"/>
            <a:ext cx="6242050" cy="1131391"/>
          </a:xfrm>
          <a:prstGeom prst="roundRect">
            <a:avLst>
              <a:gd name="adj" fmla="val 6454"/>
            </a:avLst>
          </a:prstGeom>
          <a:solidFill>
            <a:srgbClr val="FDFCF9"/>
          </a:solidFill>
          <a:ln w="6350">
            <a:solidFill>
              <a:srgbClr val="E2DFD6"/>
            </a:solidFill>
            <a:prstDash val="solid"/>
          </a:ln>
        </p:spPr>
      </p:sp>
      <p:sp>
        <p:nvSpPr>
          <p:cNvPr id="5" name="Text 3"/>
          <p:cNvSpPr/>
          <p:nvPr/>
        </p:nvSpPr>
        <p:spPr>
          <a:xfrm>
            <a:off x="996950" y="1959570"/>
            <a:ext cx="605650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LimitRange</a:t>
            </a:r>
            <a:endParaRPr lang="en-US" sz="1600" dirty="0"/>
          </a:p>
        </p:txBody>
      </p:sp>
      <p:sp>
        <p:nvSpPr>
          <p:cNvPr id="6" name="Text 4"/>
          <p:cNvSpPr/>
          <p:nvPr/>
        </p:nvSpPr>
        <p:spPr>
          <a:xfrm>
            <a:off x="996950" y="2266851"/>
            <a:ext cx="605650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Container/pod başına: değer verilmezse </a:t>
            </a:r>
            <a:r>
              <a:rPr lang="en-US" sz="1300" b="1" dirty="0">
                <a:solidFill>
                  <a:srgbClr val="45505F"/>
                </a:solidFill>
                <a:latin typeface="IBM Plex Sans" pitchFamily="34" charset="0"/>
                <a:ea typeface="IBM Plex Sans" pitchFamily="34" charset="-122"/>
                <a:cs typeface="IBM Plex Sans" pitchFamily="34" charset="-120"/>
              </a:rPr>
              <a:t>default</a:t>
            </a:r>
            <a:r>
              <a:rPr lang="en-US" sz="1300" dirty="0">
                <a:solidFill>
                  <a:srgbClr val="45505F"/>
                </a:solidFill>
                <a:latin typeface="IBM Plex Sans" pitchFamily="34" charset="0"/>
                <a:ea typeface="IBM Plex Sans" pitchFamily="34" charset="-122"/>
                <a:cs typeface="IBM Plex Sans" pitchFamily="34" charset="-120"/>
              </a:rPr>
              <a:t> ve </a:t>
            </a:r>
            <a:r>
              <a:rPr lang="en-US" sz="1300" b="1" dirty="0">
                <a:solidFill>
                  <a:srgbClr val="45505F"/>
                </a:solidFill>
                <a:latin typeface="IBM Plex Sans" pitchFamily="34" charset="0"/>
                <a:ea typeface="IBM Plex Sans" pitchFamily="34" charset="-122"/>
                <a:cs typeface="IBM Plex Sans" pitchFamily="34" charset="-120"/>
              </a:rPr>
              <a:t>defaultRequest</a:t>
            </a:r>
            <a:r>
              <a:rPr lang="en-US" sz="1300" dirty="0">
                <a:solidFill>
                  <a:srgbClr val="45505F"/>
                </a:solidFill>
                <a:latin typeface="IBM Plex Sans" pitchFamily="34" charset="0"/>
                <a:ea typeface="IBM Plex Sans" pitchFamily="34" charset="-122"/>
                <a:cs typeface="IBM Plex Sans" pitchFamily="34" charset="-120"/>
              </a:rPr>
              <a:t> atar; </a:t>
            </a:r>
            <a:r>
              <a:rPr lang="en-US" sz="1300" b="1" dirty="0">
                <a:solidFill>
                  <a:srgbClr val="45505F"/>
                </a:solidFill>
                <a:latin typeface="IBM Plex Sans" pitchFamily="34" charset="0"/>
                <a:ea typeface="IBM Plex Sans" pitchFamily="34" charset="-122"/>
                <a:cs typeface="IBM Plex Sans" pitchFamily="34" charset="-120"/>
              </a:rPr>
              <a:t>min</a:t>
            </a:r>
            <a:r>
              <a:rPr lang="en-US" sz="1300" dirty="0">
                <a:solidFill>
                  <a:srgbClr val="45505F"/>
                </a:solidFill>
                <a:latin typeface="IBM Plex Sans" pitchFamily="34" charset="0"/>
                <a:ea typeface="IBM Plex Sans" pitchFamily="34" charset="-122"/>
                <a:cs typeface="IBM Plex Sans" pitchFamily="34" charset="-120"/>
              </a:rPr>
              <a:t>/</a:t>
            </a:r>
            <a:r>
              <a:rPr lang="en-US" sz="1300" b="1" dirty="0">
                <a:solidFill>
                  <a:srgbClr val="45505F"/>
                </a:solidFill>
                <a:latin typeface="IBM Plex Sans" pitchFamily="34" charset="0"/>
                <a:ea typeface="IBM Plex Sans" pitchFamily="34" charset="-122"/>
                <a:cs typeface="IBM Plex Sans" pitchFamily="34" charset="-120"/>
              </a:rPr>
              <a:t>max</a:t>
            </a:r>
            <a:r>
              <a:rPr lang="en-US" sz="1300" dirty="0">
                <a:solidFill>
                  <a:srgbClr val="45505F"/>
                </a:solidFill>
                <a:latin typeface="IBM Plex Sans" pitchFamily="34" charset="0"/>
                <a:ea typeface="IBM Plex Sans" pitchFamily="34" charset="-122"/>
                <a:cs typeface="IBM Plex Sans" pitchFamily="34" charset="-120"/>
              </a:rPr>
              <a:t> dışını reddeder. Sadece yeni oluşturulan pod'lara uygulanır.</a:t>
            </a:r>
            <a:endParaRPr lang="en-US" sz="1300" dirty="0"/>
          </a:p>
        </p:txBody>
      </p:sp>
      <p:sp>
        <p:nvSpPr>
          <p:cNvPr id="7" name="Shape 5"/>
          <p:cNvSpPr/>
          <p:nvPr/>
        </p:nvSpPr>
        <p:spPr>
          <a:xfrm>
            <a:off x="815975" y="3043337"/>
            <a:ext cx="6242050" cy="1131391"/>
          </a:xfrm>
          <a:prstGeom prst="roundRect">
            <a:avLst>
              <a:gd name="adj" fmla="val 6454"/>
            </a:avLst>
          </a:prstGeom>
          <a:solidFill>
            <a:srgbClr val="FDFCF9"/>
          </a:solidFill>
          <a:ln w="6350">
            <a:solidFill>
              <a:srgbClr val="E2DFD6"/>
            </a:solidFill>
            <a:prstDash val="solid"/>
          </a:ln>
        </p:spPr>
      </p:sp>
      <p:sp>
        <p:nvSpPr>
          <p:cNvPr id="8" name="Text 6"/>
          <p:cNvSpPr/>
          <p:nvPr/>
        </p:nvSpPr>
        <p:spPr>
          <a:xfrm>
            <a:off x="996950" y="3224312"/>
            <a:ext cx="605650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ResourceQuota</a:t>
            </a:r>
            <a:endParaRPr lang="en-US" sz="1600" dirty="0"/>
          </a:p>
        </p:txBody>
      </p:sp>
      <p:sp>
        <p:nvSpPr>
          <p:cNvPr id="9" name="Text 7"/>
          <p:cNvSpPr/>
          <p:nvPr/>
        </p:nvSpPr>
        <p:spPr>
          <a:xfrm>
            <a:off x="996950" y="3531592"/>
            <a:ext cx="605650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Namespace'in </a:t>
            </a:r>
            <a:r>
              <a:rPr lang="en-US" sz="1300" b="1" dirty="0">
                <a:solidFill>
                  <a:srgbClr val="45505F"/>
                </a:solidFill>
                <a:latin typeface="IBM Plex Sans" pitchFamily="34" charset="0"/>
                <a:ea typeface="IBM Plex Sans" pitchFamily="34" charset="-122"/>
                <a:cs typeface="IBM Plex Sans" pitchFamily="34" charset="-120"/>
              </a:rPr>
              <a:t>toplamı</a:t>
            </a:r>
            <a:r>
              <a:rPr lang="en-US" sz="1300" dirty="0">
                <a:solidFill>
                  <a:srgbClr val="45505F"/>
                </a:solidFill>
                <a:latin typeface="IBM Plex Sans" pitchFamily="34" charset="0"/>
                <a:ea typeface="IBM Plex Sans" pitchFamily="34" charset="-122"/>
                <a:cs typeface="IBM Plex Sans" pitchFamily="34" charset="-120"/>
              </a:rPr>
              <a:t>: toplam CPU/bellek request ve limit'i, pod/servis/PVC sayısı.</a:t>
            </a:r>
            <a:endParaRPr lang="en-US" sz="1300" dirty="0"/>
          </a:p>
        </p:txBody>
      </p:sp>
      <p:sp>
        <p:nvSpPr>
          <p:cNvPr id="10" name="Text 8"/>
          <p:cNvSpPr/>
          <p:nvPr/>
        </p:nvSpPr>
        <p:spPr>
          <a:xfrm>
            <a:off x="7315200" y="1775420"/>
            <a:ext cx="4064000" cy="3720802"/>
          </a:xfrm>
          <a:prstGeom prst="roundRect">
            <a:avLst>
              <a:gd name="adj" fmla="val 2048"/>
            </a:avLst>
          </a:prstGeom>
          <a:solidFill>
            <a:srgbClr val="1B2A41"/>
          </a:solidFill>
          <a:ln/>
        </p:spPr>
        <p:txBody>
          <a:bodyPr wrap="square" lIns="180882" tIns="180882" rIns="7115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LimitRange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cpu-limits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limits: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type: Container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default: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cpu: 500m</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defaultRequest: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cpu: 250m</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max:</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cpu: "1"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min:</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cpu: 100m</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DAEMONSET</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Her node'da tam bir kopya</a:t>
            </a:r>
            <a:endParaRPr lang="en-US" sz="3000" dirty="0"/>
          </a:p>
        </p:txBody>
      </p:sp>
      <p:sp>
        <p:nvSpPr>
          <p:cNvPr id="4" name="Text 2"/>
          <p:cNvSpPr/>
          <p:nvPr/>
        </p:nvSpPr>
        <p:spPr>
          <a:xfrm>
            <a:off x="898144" y="1775420"/>
            <a:ext cx="6342888"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Yeni node eklenince pod otomatik oluşur, node çıkınca silinir.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Kullanım: </a:t>
            </a:r>
            <a:r>
              <a:rPr lang="en-US" sz="1300" b="1" dirty="0">
                <a:solidFill>
                  <a:srgbClr val="142033"/>
                </a:solidFill>
                <a:latin typeface="IBM Plex Sans" pitchFamily="34" charset="0"/>
                <a:ea typeface="IBM Plex Sans" pitchFamily="34" charset="-122"/>
                <a:cs typeface="IBM Plex Sans" pitchFamily="34" charset="-120"/>
              </a:rPr>
              <a:t>log toplayıcı</a:t>
            </a:r>
            <a:r>
              <a:rPr lang="en-US" sz="1300" dirty="0">
                <a:solidFill>
                  <a:srgbClr val="45505F"/>
                </a:solidFill>
                <a:latin typeface="IBM Plex Sans" pitchFamily="34" charset="0"/>
                <a:ea typeface="IBM Plex Sans" pitchFamily="34" charset="-122"/>
                <a:cs typeface="IBM Plex Sans" pitchFamily="34" charset="-120"/>
              </a:rPr>
              <a:t> (Promtail, Fluent Bit), </a:t>
            </a:r>
            <a:r>
              <a:rPr lang="en-US" sz="1300" b="1" dirty="0">
                <a:solidFill>
                  <a:srgbClr val="142033"/>
                </a:solidFill>
                <a:latin typeface="IBM Plex Sans" pitchFamily="34" charset="0"/>
                <a:ea typeface="IBM Plex Sans" pitchFamily="34" charset="-122"/>
                <a:cs typeface="IBM Plex Sans" pitchFamily="34" charset="-120"/>
              </a:rPr>
              <a:t>izleme ajanı</a:t>
            </a:r>
            <a:r>
              <a:rPr lang="en-US" sz="1300" dirty="0">
                <a:solidFill>
                  <a:srgbClr val="45505F"/>
                </a:solidFill>
                <a:latin typeface="IBM Plex Sans" pitchFamily="34" charset="0"/>
                <a:ea typeface="IBM Plex Sans" pitchFamily="34" charset="-122"/>
                <a:cs typeface="IBM Plex Sans" pitchFamily="34" charset="-120"/>
              </a:rPr>
              <a:t> (node-exporter), </a:t>
            </a:r>
            <a:r>
              <a:rPr lang="en-US" sz="1300" b="1" dirty="0">
                <a:solidFill>
                  <a:srgbClr val="142033"/>
                </a:solidFill>
                <a:latin typeface="IBM Plex Sans" pitchFamily="34" charset="0"/>
                <a:ea typeface="IBM Plex Sans" pitchFamily="34" charset="-122"/>
                <a:cs typeface="IBM Plex Sans" pitchFamily="34" charset="-120"/>
              </a:rPr>
              <a:t>kube-proxy</a:t>
            </a:r>
            <a:r>
              <a:rPr lang="en-US" sz="1300" dirty="0">
                <a:solidFill>
                  <a:srgbClr val="45505F"/>
                </a:solidFill>
                <a:latin typeface="IBM Plex Sans" pitchFamily="34" charset="0"/>
                <a:ea typeface="IBM Plex Sans" pitchFamily="34" charset="-122"/>
                <a:cs typeface="IBM Plex Sans" pitchFamily="34" charset="-120"/>
              </a:rPr>
              <a:t>, CNI ajanı (Calico, Cilium).</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Tanımı ReplicaSet'e çok benzer — </a:t>
            </a:r>
            <a:r>
              <a:rPr lang="en-US" sz="1300" b="1" dirty="0">
                <a:solidFill>
                  <a:srgbClr val="142033"/>
                </a:solidFill>
                <a:latin typeface="IBM Plex Sans" pitchFamily="34" charset="0"/>
                <a:ea typeface="IBM Plex Sans" pitchFamily="34" charset="-122"/>
                <a:cs typeface="IBM Plex Sans" pitchFamily="34" charset="-120"/>
              </a:rPr>
              <a:t>replicas</a:t>
            </a:r>
            <a:r>
              <a:rPr lang="en-US" sz="1300" dirty="0">
                <a:solidFill>
                  <a:srgbClr val="45505F"/>
                </a:solidFill>
                <a:latin typeface="IBM Plex Sans" pitchFamily="34" charset="0"/>
                <a:ea typeface="IBM Plex Sans" pitchFamily="34" charset="-122"/>
                <a:cs typeface="IBM Plex Sans" pitchFamily="34" charset="-120"/>
              </a:rPr>
              <a:t> alanı yoktur.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Kubernetes 1.12'den beri varsayılan scheduler'ı ve node affinity'yi kullanır.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Control plane taint'ini tolere ederse oraya da yerleşir.</a:t>
            </a:r>
            <a:endParaRPr lang="en-US" sz="1300" dirty="0"/>
          </a:p>
        </p:txBody>
      </p:sp>
      <p:sp>
        <p:nvSpPr>
          <p:cNvPr id="5" name="Text 3"/>
          <p:cNvSpPr/>
          <p:nvPr/>
        </p:nvSpPr>
        <p:spPr>
          <a:xfrm>
            <a:off x="812800" y="3388320"/>
            <a:ext cx="6248400" cy="525760"/>
          </a:xfrm>
          <a:prstGeom prst="roundRect">
            <a:avLst>
              <a:gd name="adj" fmla="val 14493"/>
            </a:avLst>
          </a:prstGeom>
          <a:solidFill>
            <a:srgbClr val="1B2A41"/>
          </a:solidFill>
          <a:ln/>
        </p:spPr>
        <p:txBody>
          <a:bodyPr wrap="square" lIns="130082" tIns="130082" rIns="0" bIns="1046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get daemonsets -A</a:t>
            </a:r>
            <a:endParaRPr lang="en-US" sz="1200" dirty="0"/>
          </a:p>
        </p:txBody>
      </p:sp>
      <p:sp>
        <p:nvSpPr>
          <p:cNvPr id="6" name="Text 4"/>
          <p:cNvSpPr/>
          <p:nvPr/>
        </p:nvSpPr>
        <p:spPr>
          <a:xfrm>
            <a:off x="7315200" y="1775420"/>
            <a:ext cx="4064000" cy="3941763"/>
          </a:xfrm>
          <a:prstGeom prst="roundRect">
            <a:avLst>
              <a:gd name="adj" fmla="val 1933"/>
            </a:avLst>
          </a:prstGeom>
          <a:solidFill>
            <a:srgbClr val="1B2A41"/>
          </a:solidFill>
          <a:ln/>
        </p:spPr>
        <p:txBody>
          <a:bodyPr wrap="square" lIns="180882" tIns="180882" rIns="7115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apps/v1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DaemonSet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monitoring-agent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selector: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matchLabels: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app: monitoring-agent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template: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labels: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app: monitoring-agent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containers: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agent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 monitoring-agent</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STATIC POD</a:t>
            </a:r>
            <a:endParaRPr lang="en-US" sz="1200" dirty="0"/>
          </a:p>
        </p:txBody>
      </p:sp>
      <p:sp>
        <p:nvSpPr>
          <p:cNvPr id="3" name="Text 1"/>
          <p:cNvSpPr>
            <a:spLocks noGrp="1"/>
          </p:cNvSpPr>
          <p:nvPr>
            <p:ph type="title"/>
          </p:nvPr>
        </p:nvSpPr>
        <p:spPr>
          <a:xfrm>
            <a:off x="812800" y="1102320"/>
            <a:ext cx="10883392" cy="863600"/>
          </a:xfrm>
          <a:prstGeom prst="rect">
            <a:avLst/>
          </a:prstGeom>
          <a:noFill/>
          <a:ln/>
        </p:spPr>
        <p:txBody>
          <a:bodyPr wrap="square" lIns="0" tIns="0" rIns="0" bIns="0" rtlCol="0" anchor="t">
            <a:normAutofit fontScale="90000"/>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API server olmadan kubelet'in kendi başına </a:t>
            </a:r>
            <a:r>
              <a:rPr lang="en-US" sz="3000" b="1" i="0" dirty="0" err="1">
                <a:solidFill>
                  <a:srgbClr val="142033"/>
                </a:solidFill>
                <a:latin typeface="IBM Plex Sans" pitchFamily="34" charset="0"/>
                <a:ea typeface="IBM Plex Sans" pitchFamily="34" charset="-122"/>
                <a:cs typeface="IBM Plex Sans" pitchFamily="34" charset="-120"/>
              </a:rPr>
              <a:t>çalıştırdığı</a:t>
            </a:r>
            <a:r>
              <a:rPr lang="en-US" sz="3000" b="1" i="0" dirty="0">
                <a:solidFill>
                  <a:srgbClr val="142033"/>
                </a:solidFill>
                <a:latin typeface="IBM Plex Sans" pitchFamily="34" charset="0"/>
                <a:ea typeface="IBM Plex Sans" pitchFamily="34" charset="-122"/>
                <a:cs typeface="IBM Plex Sans" pitchFamily="34" charset="-120"/>
              </a:rPr>
              <a:t> </a:t>
            </a:r>
            <a:r>
              <a:rPr lang="en-US" sz="3000" b="1" i="0" dirty="0" err="1">
                <a:solidFill>
                  <a:srgbClr val="142033"/>
                </a:solidFill>
                <a:latin typeface="IBM Plex Sans" pitchFamily="34" charset="0"/>
                <a:ea typeface="IBM Plex Sans" pitchFamily="34" charset="-122"/>
                <a:cs typeface="IBM Plex Sans" pitchFamily="34" charset="-120"/>
              </a:rPr>
              <a:t>pod’lar</a:t>
            </a:r>
            <a:br>
              <a:rPr lang="en-US" sz="3000" b="1" i="0" dirty="0">
                <a:solidFill>
                  <a:srgbClr val="142033"/>
                </a:solidFill>
                <a:latin typeface="IBM Plex Sans" pitchFamily="34" charset="0"/>
                <a:ea typeface="IBM Plex Sans" pitchFamily="34" charset="-122"/>
                <a:cs typeface="IBM Plex Sans" pitchFamily="34" charset="-120"/>
              </a:rPr>
            </a:br>
            <a:r>
              <a:rPr lang="en-US" sz="1600" dirty="0"/>
              <a:t>API Server </a:t>
            </a:r>
            <a:r>
              <a:rPr lang="en-US" sz="1600" dirty="0" err="1"/>
              <a:t>çalışmadan</a:t>
            </a:r>
            <a:r>
              <a:rPr lang="en-US" sz="1600" dirty="0"/>
              <a:t> Pod </a:t>
            </a:r>
            <a:r>
              <a:rPr lang="en-US" sz="1600" dirty="0" err="1"/>
              <a:t>oluşturamazsınız</a:t>
            </a:r>
            <a:r>
              <a:rPr lang="en-US" sz="1600" dirty="0"/>
              <a:t>. </a:t>
            </a:r>
            <a:r>
              <a:rPr lang="en-US" sz="1600" dirty="0" err="1"/>
              <a:t>Peki</a:t>
            </a:r>
            <a:r>
              <a:rPr lang="en-US" sz="1600" dirty="0"/>
              <a:t> API </a:t>
            </a:r>
            <a:r>
              <a:rPr lang="en-US" sz="1600" dirty="0" err="1"/>
              <a:t>Server'ın</a:t>
            </a:r>
            <a:r>
              <a:rPr lang="en-US" sz="1600" dirty="0"/>
              <a:t> </a:t>
            </a:r>
            <a:r>
              <a:rPr lang="en-US" sz="1600" dirty="0" err="1"/>
              <a:t>kendisini</a:t>
            </a:r>
            <a:r>
              <a:rPr lang="en-US" sz="1600" dirty="0"/>
              <a:t> </a:t>
            </a:r>
            <a:r>
              <a:rPr lang="en-US" sz="1600" dirty="0" err="1"/>
              <a:t>bir</a:t>
            </a:r>
            <a:r>
              <a:rPr lang="en-US" sz="1600" dirty="0"/>
              <a:t> Pod </a:t>
            </a:r>
            <a:r>
              <a:rPr lang="en-US" sz="1600" dirty="0" err="1"/>
              <a:t>olarak</a:t>
            </a:r>
            <a:r>
              <a:rPr lang="en-US" sz="1600" dirty="0"/>
              <a:t> </a:t>
            </a:r>
            <a:r>
              <a:rPr lang="en-US" sz="1600" dirty="0" err="1"/>
              <a:t>nasıl</a:t>
            </a:r>
            <a:r>
              <a:rPr lang="en-US" sz="1600" dirty="0"/>
              <a:t> </a:t>
            </a:r>
            <a:r>
              <a:rPr lang="en-US" sz="1600" dirty="0" err="1"/>
              <a:t>ayağa</a:t>
            </a:r>
            <a:r>
              <a:rPr lang="en-US" sz="1600" dirty="0"/>
              <a:t> </a:t>
            </a:r>
            <a:r>
              <a:rPr lang="en-US" sz="1600" dirty="0" err="1"/>
              <a:t>kaldıracaksınız</a:t>
            </a:r>
            <a:r>
              <a:rPr lang="en-US" sz="1600" dirty="0"/>
              <a:t>?</a:t>
            </a:r>
            <a:endParaRPr lang="en-US" sz="3000" dirty="0"/>
          </a:p>
        </p:txBody>
      </p:sp>
      <p:sp>
        <p:nvSpPr>
          <p:cNvPr id="4" name="Text 2"/>
          <p:cNvSpPr/>
          <p:nvPr/>
        </p:nvSpPr>
        <p:spPr>
          <a:xfrm>
            <a:off x="898144" y="2194520"/>
            <a:ext cx="6212078" cy="2006600"/>
          </a:xfrm>
          <a:prstGeom prst="rect">
            <a:avLst/>
          </a:prstGeom>
          <a:noFill/>
          <a:ln/>
        </p:spPr>
        <p:txBody>
          <a:bodyPr wrap="square" lIns="0" tIns="0" rIns="0" bIns="0" rtlCol="0" anchor="t">
            <a:normAutofit fontScale="85000" lnSpcReduction="10000"/>
          </a:bodyPr>
          <a:lstStyle/>
          <a:p>
            <a:pPr marL="168656" indent="-168656" algn="l">
              <a:lnSpc>
                <a:spcPts val="1950"/>
              </a:lnSpc>
              <a:buSzPct val="100000"/>
              <a:buChar char="•"/>
            </a:pPr>
            <a:r>
              <a:rPr lang="en-US" sz="1300" dirty="0" err="1">
                <a:solidFill>
                  <a:srgbClr val="45505F"/>
                </a:solidFill>
                <a:latin typeface="IBM Plex Sans" pitchFamily="34" charset="0"/>
                <a:ea typeface="IBM Plex Sans" pitchFamily="34" charset="-122"/>
                <a:cs typeface="IBM Plex Sans" pitchFamily="34" charset="-120"/>
              </a:rPr>
              <a:t>kubelet</a:t>
            </a:r>
            <a:r>
              <a:rPr lang="en-US" sz="1300" dirty="0">
                <a:solidFill>
                  <a:srgbClr val="45505F"/>
                </a:solidFill>
                <a:latin typeface="IBM Plex Sans" pitchFamily="34" charset="0"/>
                <a:ea typeface="IBM Plex Sans" pitchFamily="34" charset="-122"/>
                <a:cs typeface="IBM Plex Sans" pitchFamily="34" charset="-120"/>
              </a:rPr>
              <a:t> belirli bir dizini izler; oraya konan pod YAML'ını çalıştırır, dosya değişirse yeniden oluşturur, silinirse pod'u siler.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Sadece </a:t>
            </a:r>
            <a:r>
              <a:rPr lang="en-US" sz="1300" b="1" dirty="0">
                <a:solidFill>
                  <a:srgbClr val="142033"/>
                </a:solidFill>
                <a:latin typeface="IBM Plex Sans" pitchFamily="34" charset="0"/>
                <a:ea typeface="IBM Plex Sans" pitchFamily="34" charset="-122"/>
                <a:cs typeface="IBM Plex Sans" pitchFamily="34" charset="-120"/>
              </a:rPr>
              <a:t>Pod</a:t>
            </a:r>
            <a:r>
              <a:rPr lang="en-US" sz="1300" dirty="0">
                <a:solidFill>
                  <a:srgbClr val="45505F"/>
                </a:solidFill>
                <a:latin typeface="IBM Plex Sans" pitchFamily="34" charset="0"/>
                <a:ea typeface="IBM Plex Sans" pitchFamily="34" charset="-122"/>
                <a:cs typeface="IBM Plex Sans" pitchFamily="34" charset="-120"/>
              </a:rPr>
              <a:t> oluşturulabilir (Deployment, Service değil).</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Cluster'a bağlıysa API server'da salt okunur bir </a:t>
            </a:r>
            <a:r>
              <a:rPr lang="en-US" sz="1300" b="1" dirty="0">
                <a:solidFill>
                  <a:srgbClr val="142033"/>
                </a:solidFill>
                <a:latin typeface="IBM Plex Sans" pitchFamily="34" charset="0"/>
                <a:ea typeface="IBM Plex Sans" pitchFamily="34" charset="-122"/>
                <a:cs typeface="IBM Plex Sans" pitchFamily="34" charset="-120"/>
              </a:rPr>
              <a:t>mirror pod</a:t>
            </a:r>
            <a:r>
              <a:rPr lang="en-US" sz="1300" dirty="0">
                <a:solidFill>
                  <a:srgbClr val="45505F"/>
                </a:solidFill>
                <a:latin typeface="IBM Plex Sans" pitchFamily="34" charset="0"/>
                <a:ea typeface="IBM Plex Sans" pitchFamily="34" charset="-122"/>
                <a:cs typeface="IBM Plex Sans" pitchFamily="34" charset="-120"/>
              </a:rPr>
              <a:t> görünür; adının sonuna node adı eklenir (ör. </a:t>
            </a:r>
            <a:r>
              <a:rPr lang="en-US" sz="1300" b="1" dirty="0">
                <a:solidFill>
                  <a:srgbClr val="45505F"/>
                </a:solidFill>
                <a:latin typeface="IBM Plex Sans" pitchFamily="34" charset="0"/>
                <a:ea typeface="IBM Plex Sans" pitchFamily="34" charset="-122"/>
                <a:cs typeface="IBM Plex Sans" pitchFamily="34" charset="-120"/>
              </a:rPr>
              <a:t>etcd-controlplane</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kubectl ile silinemez/düzenlenemez — dosya düzenlenir.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kubeadm control plane'i tam böyle çalıştırır: apiserver, etcd, scheduler, controller-manager.</a:t>
            </a:r>
            <a:endParaRPr lang="en-US" sz="1300" dirty="0"/>
          </a:p>
        </p:txBody>
      </p:sp>
      <p:sp>
        <p:nvSpPr>
          <p:cNvPr id="5" name="Shape 3"/>
          <p:cNvSpPr/>
          <p:nvPr/>
        </p:nvSpPr>
        <p:spPr>
          <a:xfrm>
            <a:off x="7188200" y="2194520"/>
            <a:ext cx="4191000" cy="1516261"/>
          </a:xfrm>
          <a:prstGeom prst="roundRect">
            <a:avLst>
              <a:gd name="adj" fmla="val 5026"/>
            </a:avLst>
          </a:prstGeom>
          <a:solidFill>
            <a:srgbClr val="142033"/>
          </a:solidFill>
          <a:ln/>
        </p:spPr>
      </p:sp>
      <p:sp>
        <p:nvSpPr>
          <p:cNvPr id="6" name="Text 4"/>
          <p:cNvSpPr/>
          <p:nvPr/>
        </p:nvSpPr>
        <p:spPr>
          <a:xfrm>
            <a:off x="7366000" y="2372320"/>
            <a:ext cx="395046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BM Plex Sans" pitchFamily="34" charset="0"/>
                <a:ea typeface="IBM Plex Sans" pitchFamily="34" charset="-122"/>
                <a:cs typeface="IBM Plex Sans" pitchFamily="34" charset="-120"/>
              </a:rPr>
              <a:t>DIZIN NEREDEN BULUNUR</a:t>
            </a:r>
            <a:endParaRPr lang="en-US" sz="1200" dirty="0"/>
          </a:p>
        </p:txBody>
      </p:sp>
      <p:sp>
        <p:nvSpPr>
          <p:cNvPr id="7" name="Text 5"/>
          <p:cNvSpPr/>
          <p:nvPr/>
        </p:nvSpPr>
        <p:spPr>
          <a:xfrm>
            <a:off x="7366000" y="2649141"/>
            <a:ext cx="3950462" cy="90924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cat /var/lib/kubelet/config.yaml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grep staticPodPath</a:t>
            </a: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genelde: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/etc/kubernetes/manifests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200900" y="3850481"/>
          <a:ext cx="4178300" cy="1543645"/>
        </p:xfrm>
        <a:graphic>
          <a:graphicData uri="http://schemas.openxmlformats.org/drawingml/2006/table">
            <a:tbl>
              <a:tblPr/>
              <a:tblGrid>
                <a:gridCol w="167132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gridCol w="1253490">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Özellik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Static pod</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DaemonSet</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Kim oluşturur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kubelet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API + controller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Scheduler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yok sayar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kullanır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Tipik iş</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control plane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node ajanları</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PRIORITYCLASS</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Yer yetmezse kim önce?</a:t>
            </a:r>
            <a:endParaRPr lang="en-US" sz="3000" dirty="0"/>
          </a:p>
        </p:txBody>
      </p:sp>
      <p:sp>
        <p:nvSpPr>
          <p:cNvPr id="4" name="Text 2"/>
          <p:cNvSpPr/>
          <p:nvPr/>
        </p:nvSpPr>
        <p:spPr>
          <a:xfrm>
            <a:off x="898144" y="1775420"/>
            <a:ext cx="6473698" cy="2006600"/>
          </a:xfrm>
          <a:prstGeom prst="rect">
            <a:avLst/>
          </a:prstGeom>
          <a:noFill/>
          <a:ln/>
        </p:spPr>
        <p:txBody>
          <a:bodyPr wrap="square" lIns="0" tIns="0" rIns="0" bIns="0" rtlCol="0" anchor="t">
            <a:normAutofit fontScale="92500"/>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Cluster-scoped nesne; pod'lara sayısal bir öncelik verir. Büyük değer = yüksek öncelik.</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Kullanıcı aralığı ~ </a:t>
            </a:r>
            <a:r>
              <a:rPr lang="en-US" sz="1300" b="1" dirty="0">
                <a:solidFill>
                  <a:srgbClr val="142033"/>
                </a:solidFill>
                <a:latin typeface="IBM Plex Sans" pitchFamily="34" charset="0"/>
                <a:ea typeface="IBM Plex Sans" pitchFamily="34" charset="-122"/>
                <a:cs typeface="IBM Plex Sans" pitchFamily="34" charset="-120"/>
              </a:rPr>
              <a:t>1 milyara kadar</a:t>
            </a:r>
            <a:r>
              <a:rPr lang="en-US" sz="1300" dirty="0">
                <a:solidFill>
                  <a:srgbClr val="45505F"/>
                </a:solidFill>
                <a:latin typeface="IBM Plex Sans" pitchFamily="34" charset="0"/>
                <a:ea typeface="IBM Plex Sans" pitchFamily="34" charset="-122"/>
                <a:cs typeface="IBM Plex Sans" pitchFamily="34" charset="-120"/>
              </a:rPr>
              <a:t>; daha yüksek değerler sistem için ayrılmıştır (</a:t>
            </a:r>
            <a:r>
              <a:rPr lang="en-US" sz="1300" b="1" dirty="0">
                <a:solidFill>
                  <a:srgbClr val="45505F"/>
                </a:solidFill>
                <a:latin typeface="IBM Plex Sans" pitchFamily="34" charset="0"/>
                <a:ea typeface="IBM Plex Sans" pitchFamily="34" charset="-122"/>
                <a:cs typeface="IBM Plex Sans" pitchFamily="34" charset="-120"/>
              </a:rPr>
              <a:t>system-cluster-critical</a:t>
            </a:r>
            <a:r>
              <a:rPr lang="en-US" sz="1300" dirty="0">
                <a:solidFill>
                  <a:srgbClr val="45505F"/>
                </a:solidFill>
                <a:latin typeface="IBM Plex Sans" pitchFamily="34" charset="0"/>
                <a:ea typeface="IBM Plex Sans" pitchFamily="34" charset="-122"/>
                <a:cs typeface="IBM Plex Sans" pitchFamily="34" charset="-120"/>
              </a:rPr>
              <a:t>, </a:t>
            </a:r>
            <a:r>
              <a:rPr lang="en-US" sz="1300" b="1" dirty="0">
                <a:solidFill>
                  <a:srgbClr val="45505F"/>
                </a:solidFill>
                <a:latin typeface="IBM Plex Sans" pitchFamily="34" charset="0"/>
                <a:ea typeface="IBM Plex Sans" pitchFamily="34" charset="-122"/>
                <a:cs typeface="IBM Plex Sans" pitchFamily="34" charset="-120"/>
              </a:rPr>
              <a:t>system-node-critical</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Yüksek öncelikli pod yerleşemezse, scheduler düşük öncelikli pod'ları </a:t>
            </a:r>
            <a:r>
              <a:rPr lang="en-US" sz="1300" b="1" dirty="0">
                <a:solidFill>
                  <a:srgbClr val="142033"/>
                </a:solidFill>
                <a:latin typeface="IBM Plex Sans" pitchFamily="34" charset="0"/>
                <a:ea typeface="IBM Plex Sans" pitchFamily="34" charset="-122"/>
                <a:cs typeface="IBM Plex Sans" pitchFamily="34" charset="-120"/>
              </a:rPr>
              <a:t>preempt</a:t>
            </a:r>
            <a:r>
              <a:rPr lang="en-US" sz="1300" dirty="0">
                <a:solidFill>
                  <a:srgbClr val="45505F"/>
                </a:solidFill>
                <a:latin typeface="IBM Plex Sans" pitchFamily="34" charset="0"/>
                <a:ea typeface="IBM Plex Sans" pitchFamily="34" charset="-122"/>
                <a:cs typeface="IBM Plex Sans" pitchFamily="34" charset="-120"/>
              </a:rPr>
              <a:t> (tahliye) ederek yer açar.</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preemptionPolicy: Never</a:t>
            </a:r>
            <a:r>
              <a:rPr lang="en-US" sz="1300" dirty="0">
                <a:solidFill>
                  <a:srgbClr val="45505F"/>
                </a:solidFill>
                <a:latin typeface="IBM Plex Sans" pitchFamily="34" charset="0"/>
                <a:ea typeface="IBM Plex Sans" pitchFamily="34" charset="-122"/>
                <a:cs typeface="IBM Plex Sans" pitchFamily="34" charset="-120"/>
              </a:rPr>
              <a:t> → sırada </a:t>
            </a:r>
            <a:r>
              <a:rPr lang="en-US" sz="1300" dirty="0" err="1">
                <a:solidFill>
                  <a:srgbClr val="45505F"/>
                </a:solidFill>
                <a:latin typeface="IBM Plex Sans" pitchFamily="34" charset="0"/>
                <a:ea typeface="IBM Plex Sans" pitchFamily="34" charset="-122"/>
                <a:cs typeface="IBM Plex Sans" pitchFamily="34" charset="-120"/>
              </a:rPr>
              <a:t>öne</a:t>
            </a:r>
            <a:r>
              <a:rPr lang="en-US" sz="1300" dirty="0">
                <a:solidFill>
                  <a:srgbClr val="45505F"/>
                </a:solidFill>
                <a:latin typeface="IBM Plex Sans" pitchFamily="34" charset="0"/>
                <a:ea typeface="IBM Plex Sans" pitchFamily="34" charset="-122"/>
                <a:cs typeface="IBM Plex Sans" pitchFamily="34" charset="-120"/>
              </a:rPr>
              <a:t> </a:t>
            </a:r>
            <a:r>
              <a:rPr lang="en-US" sz="1300" dirty="0" err="1">
                <a:solidFill>
                  <a:srgbClr val="45505F"/>
                </a:solidFill>
                <a:latin typeface="IBM Plex Sans" pitchFamily="34" charset="0"/>
                <a:ea typeface="IBM Plex Sans" pitchFamily="34" charset="-122"/>
                <a:cs typeface="IBM Plex Sans" pitchFamily="34" charset="-120"/>
              </a:rPr>
              <a:t>geçer</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globalDefault: true</a:t>
            </a:r>
            <a:r>
              <a:rPr lang="en-US" sz="1300" dirty="0">
                <a:solidFill>
                  <a:srgbClr val="45505F"/>
                </a:solidFill>
                <a:latin typeface="IBM Plex Sans" pitchFamily="34" charset="0"/>
                <a:ea typeface="IBM Plex Sans" pitchFamily="34" charset="-122"/>
                <a:cs typeface="IBM Plex Sans" pitchFamily="34" charset="-120"/>
              </a:rPr>
              <a:t> → sınıf belirtmeyen pod'lar bunu alır (yoksa 0).</a:t>
            </a:r>
            <a:endParaRPr lang="en-US" sz="1300" dirty="0"/>
          </a:p>
        </p:txBody>
      </p:sp>
      <p:sp>
        <p:nvSpPr>
          <p:cNvPr id="5" name="Text 3"/>
          <p:cNvSpPr/>
          <p:nvPr/>
        </p:nvSpPr>
        <p:spPr>
          <a:xfrm>
            <a:off x="7442200" y="1775420"/>
            <a:ext cx="3937000" cy="3278882"/>
          </a:xfrm>
          <a:prstGeom prst="roundRect">
            <a:avLst>
              <a:gd name="adj" fmla="val 2324"/>
            </a:avLst>
          </a:prstGeom>
          <a:solidFill>
            <a:srgbClr val="1B2A41"/>
          </a:solidFill>
          <a:ln/>
        </p:spPr>
        <p:txBody>
          <a:bodyPr wrap="square" lIns="180882" tIns="180882" rIns="7496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scheduling.k8s.io/v1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PriorityClass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high-priority</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value: 1000000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globalDefault: false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preemptionPolicy: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PreemptLowerPriority</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description: "Kritik iş yükleri"</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pod içinde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priorityClassName: high-priority</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5">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ÇOKLU SCHEDULER VE PROFILLER</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Varsayılan mantık yetmediğinde</a:t>
            </a:r>
            <a:endParaRPr lang="en-US" sz="3000" dirty="0"/>
          </a:p>
        </p:txBody>
      </p:sp>
      <p:sp>
        <p:nvSpPr>
          <p:cNvPr id="4" name="Text 2"/>
          <p:cNvSpPr/>
          <p:nvPr/>
        </p:nvSpPr>
        <p:spPr>
          <a:xfrm>
            <a:off x="898144" y="1775420"/>
            <a:ext cx="6342888" cy="2254250"/>
          </a:xfrm>
          <a:prstGeom prst="rect">
            <a:avLst/>
          </a:prstGeom>
          <a:noFill/>
          <a:ln/>
        </p:spPr>
        <p:txBody>
          <a:bodyPr wrap="square" lIns="0" tIns="0" rIns="0" bIns="0" rtlCol="0" anchor="t">
            <a:normAutofit fontScale="92500"/>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Cluster'da birden çok scheduler çalışabilir; her birinin </a:t>
            </a:r>
            <a:r>
              <a:rPr lang="en-US" sz="1300" b="1" dirty="0">
                <a:solidFill>
                  <a:srgbClr val="142033"/>
                </a:solidFill>
                <a:latin typeface="IBM Plex Sans" pitchFamily="34" charset="0"/>
                <a:ea typeface="IBM Plex Sans" pitchFamily="34" charset="-122"/>
                <a:cs typeface="IBM Plex Sans" pitchFamily="34" charset="-120"/>
              </a:rPr>
              <a:t>benzersiz adı</a:t>
            </a:r>
            <a:r>
              <a:rPr lang="en-US" sz="1300" dirty="0">
                <a:solidFill>
                  <a:srgbClr val="45505F"/>
                </a:solidFill>
                <a:latin typeface="IBM Plex Sans" pitchFamily="34" charset="0"/>
                <a:ea typeface="IBM Plex Sans" pitchFamily="34" charset="-122"/>
                <a:cs typeface="IBM Plex Sans" pitchFamily="34" charset="-120"/>
              </a:rPr>
              <a:t> olur (KubeSchedulerConfiguration → profiles → schedulerName).</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Pod hangisini kullanacağını </a:t>
            </a:r>
            <a:r>
              <a:rPr lang="en-US" sz="1300" b="1" dirty="0">
                <a:solidFill>
                  <a:srgbClr val="142033"/>
                </a:solidFill>
                <a:latin typeface="IBM Plex Sans" pitchFamily="34" charset="0"/>
                <a:ea typeface="IBM Plex Sans" pitchFamily="34" charset="-122"/>
                <a:cs typeface="IBM Plex Sans" pitchFamily="34" charset="-120"/>
              </a:rPr>
              <a:t>spec.schedulerName</a:t>
            </a:r>
            <a:r>
              <a:rPr lang="en-US" sz="1300" dirty="0">
                <a:solidFill>
                  <a:srgbClr val="45505F"/>
                </a:solidFill>
                <a:latin typeface="IBM Plex Sans" pitchFamily="34" charset="0"/>
                <a:ea typeface="IBM Plex Sans" pitchFamily="34" charset="-122"/>
                <a:cs typeface="IBM Plex Sans" pitchFamily="34" charset="-120"/>
              </a:rPr>
              <a:t> ile seçer. Yanlış ad → pod Pending.</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Ek scheduler genelde bir pod/Deployment olarak çalıştırılır; birden çok kopyada </a:t>
            </a:r>
            <a:r>
              <a:rPr lang="en-US" sz="1300" b="1" dirty="0">
                <a:solidFill>
                  <a:srgbClr val="45505F"/>
                </a:solidFill>
                <a:latin typeface="IBM Plex Sans" pitchFamily="34" charset="0"/>
                <a:ea typeface="IBM Plex Sans" pitchFamily="34" charset="-122"/>
                <a:cs typeface="IBM Plex Sans" pitchFamily="34" charset="-120"/>
              </a:rPr>
              <a:t>leaderElection</a:t>
            </a:r>
            <a:r>
              <a:rPr lang="en-US" sz="1300" dirty="0">
                <a:solidFill>
                  <a:srgbClr val="45505F"/>
                </a:solidFill>
                <a:latin typeface="IBM Plex Sans" pitchFamily="34" charset="0"/>
                <a:ea typeface="IBM Plex Sans" pitchFamily="34" charset="-122"/>
                <a:cs typeface="IBM Plex Sans" pitchFamily="34" charset="-120"/>
              </a:rPr>
              <a:t> gerekir.</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Scheduler profiles:</a:t>
            </a:r>
            <a:r>
              <a:rPr lang="en-US" sz="1300" dirty="0">
                <a:solidFill>
                  <a:srgbClr val="45505F"/>
                </a:solidFill>
                <a:latin typeface="IBM Plex Sans" pitchFamily="34" charset="0"/>
                <a:ea typeface="IBM Plex Sans" pitchFamily="34" charset="-122"/>
                <a:cs typeface="IBM Plex Sans" pitchFamily="34" charset="-120"/>
              </a:rPr>
              <a:t> tek scheduler binary'sinde birden fazla profil. Her profil framework eklentilerini (filter, score, bind…) açıp kapatabilir — ayrı süreç yönetmeden.</a:t>
            </a:r>
            <a:endParaRPr lang="en-US" sz="1300" dirty="0"/>
          </a:p>
        </p:txBody>
      </p:sp>
      <p:sp>
        <p:nvSpPr>
          <p:cNvPr id="5" name="Text 3"/>
          <p:cNvSpPr/>
          <p:nvPr/>
        </p:nvSpPr>
        <p:spPr>
          <a:xfrm>
            <a:off x="812800" y="4131270"/>
            <a:ext cx="643585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Kim yerleştirdi? </a:t>
            </a:r>
            <a:r>
              <a:rPr lang="en-US" sz="1300" b="1" dirty="0">
                <a:solidFill>
                  <a:srgbClr val="142033"/>
                </a:solidFill>
                <a:latin typeface="IBM Plex Sans" pitchFamily="34" charset="0"/>
                <a:ea typeface="IBM Plex Sans" pitchFamily="34" charset="-122"/>
                <a:cs typeface="IBM Plex Sans" pitchFamily="34" charset="-120"/>
              </a:rPr>
              <a:t>kubectl get events -o wide</a:t>
            </a:r>
            <a:r>
              <a:rPr lang="en-US" sz="1300" dirty="0">
                <a:solidFill>
                  <a:srgbClr val="45505F"/>
                </a:solidFill>
                <a:latin typeface="IBM Plex Sans" pitchFamily="34" charset="0"/>
                <a:ea typeface="IBM Plex Sans" pitchFamily="34" charset="-122"/>
                <a:cs typeface="IBM Plex Sans" pitchFamily="34" charset="-120"/>
              </a:rPr>
              <a:t> → SOURCE sütunu.</a:t>
            </a:r>
            <a:endParaRPr lang="en-US" sz="1300" dirty="0"/>
          </a:p>
        </p:txBody>
      </p:sp>
      <p:sp>
        <p:nvSpPr>
          <p:cNvPr id="6" name="Text 4"/>
          <p:cNvSpPr/>
          <p:nvPr/>
        </p:nvSpPr>
        <p:spPr>
          <a:xfrm>
            <a:off x="7315200" y="1775420"/>
            <a:ext cx="4064000" cy="3278882"/>
          </a:xfrm>
          <a:prstGeom prst="roundRect">
            <a:avLst>
              <a:gd name="adj" fmla="val 2324"/>
            </a:avLst>
          </a:prstGeom>
          <a:solidFill>
            <a:srgbClr val="1B2A41"/>
          </a:solidFill>
          <a:ln/>
        </p:spPr>
        <p:txBody>
          <a:bodyPr wrap="square" lIns="180882" tIns="180882" rIns="7115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kubescheduler.config\</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.k8s.io/v1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KubeSchedulerConfiguration</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profiles: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schedulerName: my-scheduler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plugins: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score: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disabled: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TaintToleration</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schedulerName: my-scheduler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containers: [...]</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6">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ADMISSION CONTROLLER</a:t>
            </a:r>
            <a:endParaRPr lang="en-US" sz="1200" dirty="0"/>
          </a:p>
        </p:txBody>
      </p:sp>
      <p:sp>
        <p:nvSpPr>
          <p:cNvPr id="3" name="Text 1"/>
          <p:cNvSpPr>
            <a:spLocks noGrp="1"/>
          </p:cNvSpPr>
          <p:nvPr>
            <p:ph type="title"/>
          </p:nvPr>
        </p:nvSpPr>
        <p:spPr>
          <a:xfrm>
            <a:off x="812800" y="1102320"/>
            <a:ext cx="1137920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RBAC "kim yapabilir" der; admission "nasıl yapılabilir" der</a:t>
            </a:r>
            <a:endParaRPr lang="en-US" sz="3000" dirty="0"/>
          </a:p>
        </p:txBody>
      </p:sp>
      <p:sp>
        <p:nvSpPr>
          <p:cNvPr id="4" name="Text 2"/>
          <p:cNvSpPr/>
          <p:nvPr/>
        </p:nvSpPr>
        <p:spPr>
          <a:xfrm>
            <a:off x="812800" y="1750020"/>
            <a:ext cx="1788120" cy="441920"/>
          </a:xfrm>
          <a:prstGeom prst="roundRect">
            <a:avLst>
              <a:gd name="adj" fmla="val 14369"/>
            </a:avLst>
          </a:prstGeom>
          <a:solidFill>
            <a:srgbClr val="E8E4DA"/>
          </a:solidFill>
          <a:ln/>
        </p:spPr>
        <p:txBody>
          <a:bodyPr wrap="square" lIns="70301" tIns="95701" rIns="70301" bIns="703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Authentication</a:t>
            </a:r>
            <a:endParaRPr lang="en-US" sz="1200" dirty="0"/>
          </a:p>
        </p:txBody>
      </p:sp>
      <p:pic>
        <p:nvPicPr>
          <p:cNvPr id="5" name="Image 0" descr="arrow-right"/>
          <p:cNvPicPr>
            <a:picLocks noChangeAspect="1"/>
          </p:cNvPicPr>
          <p:nvPr/>
        </p:nvPicPr>
        <p:blipFill>
          <a:blip r:embed="rId3"/>
          <a:srcRect/>
          <a:stretch/>
        </p:blipFill>
        <p:spPr>
          <a:xfrm>
            <a:off x="2677120" y="1882080"/>
            <a:ext cx="254000" cy="177800"/>
          </a:xfrm>
          <a:prstGeom prst="rect">
            <a:avLst/>
          </a:prstGeom>
        </p:spPr>
      </p:pic>
      <p:sp>
        <p:nvSpPr>
          <p:cNvPr id="6" name="Text 3"/>
          <p:cNvSpPr/>
          <p:nvPr/>
        </p:nvSpPr>
        <p:spPr>
          <a:xfrm>
            <a:off x="3007320" y="1750020"/>
            <a:ext cx="1788220" cy="441920"/>
          </a:xfrm>
          <a:prstGeom prst="roundRect">
            <a:avLst>
              <a:gd name="adj" fmla="val 14369"/>
            </a:avLst>
          </a:prstGeom>
          <a:solidFill>
            <a:srgbClr val="E8E4DA"/>
          </a:solidFill>
          <a:ln/>
        </p:spPr>
        <p:txBody>
          <a:bodyPr wrap="square" lIns="70301" tIns="95701" rIns="70301" bIns="703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Authorization</a:t>
            </a:r>
            <a:endParaRPr lang="en-US" sz="1200" dirty="0"/>
          </a:p>
        </p:txBody>
      </p:sp>
      <p:pic>
        <p:nvPicPr>
          <p:cNvPr id="7" name="Image 1" descr="arrow-right"/>
          <p:cNvPicPr>
            <a:picLocks noChangeAspect="1"/>
          </p:cNvPicPr>
          <p:nvPr/>
        </p:nvPicPr>
        <p:blipFill>
          <a:blip r:embed="rId3"/>
          <a:srcRect/>
          <a:stretch/>
        </p:blipFill>
        <p:spPr>
          <a:xfrm>
            <a:off x="4871740" y="1882080"/>
            <a:ext cx="254000" cy="177800"/>
          </a:xfrm>
          <a:prstGeom prst="rect">
            <a:avLst/>
          </a:prstGeom>
        </p:spPr>
      </p:pic>
      <p:sp>
        <p:nvSpPr>
          <p:cNvPr id="8" name="Text 4"/>
          <p:cNvSpPr/>
          <p:nvPr/>
        </p:nvSpPr>
        <p:spPr>
          <a:xfrm>
            <a:off x="5201940" y="1750020"/>
            <a:ext cx="1788120" cy="441920"/>
          </a:xfrm>
          <a:prstGeom prst="roundRect">
            <a:avLst>
              <a:gd name="adj" fmla="val 14369"/>
            </a:avLst>
          </a:prstGeom>
          <a:solidFill>
            <a:srgbClr val="2F6BD8"/>
          </a:solidFill>
          <a:ln/>
        </p:spPr>
        <p:txBody>
          <a:bodyPr wrap="square" lIns="70301" tIns="95701" rIns="70301" bIns="70301" rtlCol="0" anchor="t">
            <a:normAutofit/>
          </a:bodyPr>
          <a:lstStyle/>
          <a:p>
            <a:pPr marL="0" indent="0" algn="ctr">
              <a:lnSpc>
                <a:spcPts val="1680"/>
              </a:lnSpc>
              <a:buNone/>
            </a:pPr>
            <a:r>
              <a:rPr lang="en-US" sz="1200" dirty="0">
                <a:solidFill>
                  <a:srgbClr val="F5F4EF"/>
                </a:solidFill>
                <a:latin typeface="IBM Plex Sans" pitchFamily="34" charset="0"/>
                <a:ea typeface="IBM Plex Sans" pitchFamily="34" charset="-122"/>
                <a:cs typeface="IBM Plex Sans" pitchFamily="34" charset="-120"/>
              </a:rPr>
              <a:t>Mutating</a:t>
            </a:r>
            <a:endParaRPr lang="en-US" sz="1200" dirty="0"/>
          </a:p>
        </p:txBody>
      </p:sp>
      <p:pic>
        <p:nvPicPr>
          <p:cNvPr id="9" name="Image 2" descr="arrow-right"/>
          <p:cNvPicPr>
            <a:picLocks noChangeAspect="1"/>
          </p:cNvPicPr>
          <p:nvPr/>
        </p:nvPicPr>
        <p:blipFill>
          <a:blip r:embed="rId3"/>
          <a:srcRect/>
          <a:stretch/>
        </p:blipFill>
        <p:spPr>
          <a:xfrm>
            <a:off x="7066260" y="1882080"/>
            <a:ext cx="254000" cy="177800"/>
          </a:xfrm>
          <a:prstGeom prst="rect">
            <a:avLst/>
          </a:prstGeom>
        </p:spPr>
      </p:pic>
      <p:sp>
        <p:nvSpPr>
          <p:cNvPr id="10" name="Text 5"/>
          <p:cNvSpPr/>
          <p:nvPr/>
        </p:nvSpPr>
        <p:spPr>
          <a:xfrm>
            <a:off x="7396460" y="1750020"/>
            <a:ext cx="1788220" cy="441920"/>
          </a:xfrm>
          <a:prstGeom prst="roundRect">
            <a:avLst>
              <a:gd name="adj" fmla="val 14369"/>
            </a:avLst>
          </a:prstGeom>
          <a:solidFill>
            <a:srgbClr val="142033"/>
          </a:solidFill>
          <a:ln/>
        </p:spPr>
        <p:txBody>
          <a:bodyPr wrap="square" lIns="70301" tIns="95701" rIns="70301" bIns="70301" rtlCol="0" anchor="t">
            <a:normAutofit/>
          </a:bodyPr>
          <a:lstStyle/>
          <a:p>
            <a:pPr marL="0" indent="0" algn="ctr">
              <a:lnSpc>
                <a:spcPts val="1680"/>
              </a:lnSpc>
              <a:buNone/>
            </a:pPr>
            <a:r>
              <a:rPr lang="en-US" sz="1200" dirty="0">
                <a:solidFill>
                  <a:srgbClr val="F5F4EF"/>
                </a:solidFill>
                <a:latin typeface="IBM Plex Sans" pitchFamily="34" charset="0"/>
                <a:ea typeface="IBM Plex Sans" pitchFamily="34" charset="-122"/>
                <a:cs typeface="IBM Plex Sans" pitchFamily="34" charset="-120"/>
              </a:rPr>
              <a:t>Validating</a:t>
            </a:r>
            <a:endParaRPr lang="en-US" sz="1200" dirty="0"/>
          </a:p>
        </p:txBody>
      </p:sp>
      <p:pic>
        <p:nvPicPr>
          <p:cNvPr id="11" name="Image 3" descr="arrow-right"/>
          <p:cNvPicPr>
            <a:picLocks noChangeAspect="1"/>
          </p:cNvPicPr>
          <p:nvPr/>
        </p:nvPicPr>
        <p:blipFill>
          <a:blip r:embed="rId3"/>
          <a:srcRect/>
          <a:stretch/>
        </p:blipFill>
        <p:spPr>
          <a:xfrm>
            <a:off x="9260880" y="1882080"/>
            <a:ext cx="254000" cy="177800"/>
          </a:xfrm>
          <a:prstGeom prst="rect">
            <a:avLst/>
          </a:prstGeom>
        </p:spPr>
      </p:pic>
      <p:sp>
        <p:nvSpPr>
          <p:cNvPr id="12" name="Text 6"/>
          <p:cNvSpPr/>
          <p:nvPr/>
        </p:nvSpPr>
        <p:spPr>
          <a:xfrm>
            <a:off x="9591080" y="1750020"/>
            <a:ext cx="1788120" cy="441920"/>
          </a:xfrm>
          <a:prstGeom prst="roundRect">
            <a:avLst>
              <a:gd name="adj" fmla="val 14369"/>
            </a:avLst>
          </a:prstGeom>
          <a:solidFill>
            <a:srgbClr val="E8E4DA"/>
          </a:solidFill>
          <a:ln/>
        </p:spPr>
        <p:txBody>
          <a:bodyPr wrap="square" lIns="70301" tIns="95701" rIns="70301" bIns="703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etcd</a:t>
            </a:r>
            <a:endParaRPr lang="en-US" sz="1200" dirty="0"/>
          </a:p>
        </p:txBody>
      </p:sp>
      <p:sp>
        <p:nvSpPr>
          <p:cNvPr id="13" name="Text 7"/>
          <p:cNvSpPr/>
          <p:nvPr/>
        </p:nvSpPr>
        <p:spPr>
          <a:xfrm>
            <a:off x="898144" y="2420541"/>
            <a:ext cx="6473698" cy="17589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Mutating</a:t>
            </a:r>
            <a:r>
              <a:rPr lang="en-US" sz="1300" dirty="0">
                <a:solidFill>
                  <a:srgbClr val="45505F"/>
                </a:solidFill>
                <a:latin typeface="IBM Plex Sans" pitchFamily="34" charset="0"/>
                <a:ea typeface="IBM Plex Sans" pitchFamily="34" charset="-122"/>
                <a:cs typeface="IBM Plex Sans" pitchFamily="34" charset="-120"/>
              </a:rPr>
              <a:t> isteği değiştirir (ör. DefaultStorageClass, ServiceAccount, sidecar enjeksiyonu). </a:t>
            </a:r>
            <a:r>
              <a:rPr lang="en-US" sz="1300" b="1" dirty="0">
                <a:solidFill>
                  <a:srgbClr val="142033"/>
                </a:solidFill>
                <a:latin typeface="IBM Plex Sans" pitchFamily="34" charset="0"/>
                <a:ea typeface="IBM Plex Sans" pitchFamily="34" charset="-122"/>
                <a:cs typeface="IBM Plex Sans" pitchFamily="34" charset="-120"/>
              </a:rPr>
              <a:t>Validating</a:t>
            </a:r>
            <a:r>
              <a:rPr lang="en-US" sz="1300" dirty="0">
                <a:solidFill>
                  <a:srgbClr val="45505F"/>
                </a:solidFill>
                <a:latin typeface="IBM Plex Sans" pitchFamily="34" charset="0"/>
                <a:ea typeface="IBM Plex Sans" pitchFamily="34" charset="-122"/>
                <a:cs typeface="IBM Plex Sans" pitchFamily="34" charset="-120"/>
              </a:rPr>
              <a:t> kabul/ret verir. Önce mutating çalışır.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Yerleşik örnekler: NamespaceLifecycle, LimitRanger, ResourceQuota, NodeRestriction, PodSecurity.</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Özel kurallar: </a:t>
            </a:r>
            <a:r>
              <a:rPr lang="en-US" sz="1300" b="1" dirty="0">
                <a:solidFill>
                  <a:srgbClr val="142033"/>
                </a:solidFill>
                <a:latin typeface="IBM Plex Sans" pitchFamily="34" charset="0"/>
                <a:ea typeface="IBM Plex Sans" pitchFamily="34" charset="-122"/>
                <a:cs typeface="IBM Plex Sans" pitchFamily="34" charset="-120"/>
              </a:rPr>
              <a:t>Mutating/ValidatingWebhookConfiguration</a:t>
            </a:r>
            <a:r>
              <a:rPr lang="en-US" sz="1300" dirty="0">
                <a:solidFill>
                  <a:srgbClr val="45505F"/>
                </a:solidFill>
                <a:latin typeface="IBM Plex Sans" pitchFamily="34" charset="0"/>
                <a:ea typeface="IBM Plex Sans" pitchFamily="34" charset="-122"/>
                <a:cs typeface="IBM Plex Sans" pitchFamily="34" charset="-120"/>
              </a:rPr>
              <a:t> → kendi webhook sunucunuz (AdmissionReview JSON alır, izin + patch döner). Daha yeni seçenek: CEL tabanlı ValidatingAdmissionPolicy.</a:t>
            </a:r>
            <a:endParaRPr lang="en-US" sz="1300" dirty="0"/>
          </a:p>
        </p:txBody>
      </p:sp>
      <p:sp>
        <p:nvSpPr>
          <p:cNvPr id="14" name="Text 8"/>
          <p:cNvSpPr/>
          <p:nvPr/>
        </p:nvSpPr>
        <p:spPr>
          <a:xfrm>
            <a:off x="7442200" y="2420541"/>
            <a:ext cx="3937000" cy="2344241"/>
          </a:xfrm>
          <a:prstGeom prst="roundRect">
            <a:avLst>
              <a:gd name="adj" fmla="val 3251"/>
            </a:avLst>
          </a:prstGeom>
          <a:solidFill>
            <a:srgbClr val="1B2A41"/>
          </a:solidFill>
          <a:ln/>
        </p:spPr>
        <p:txBody>
          <a:bodyPr wrap="square" lIns="155482" tIns="155482" rIns="48040" bIns="1300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etkin olanlar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kube-apiserver -h |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grep enable-admission-plugins</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manifest'te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--enable-admission-plugins=\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NodeRestriction,NamespaceAutoProvision</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--disable-admission-plugins=...</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7">
    <p:bg>
      <p:bgPr>
        <a:solidFill>
          <a:srgbClr val="142033"/>
        </a:solidFill>
        <a:effectLst/>
      </p:bgPr>
    </p:bg>
    <p:spTree>
      <p:nvGrpSpPr>
        <p:cNvPr id="1" name=""/>
        <p:cNvGrpSpPr/>
        <p:nvPr/>
      </p:nvGrpSpPr>
      <p:grpSpPr>
        <a:xfrm>
          <a:off x="0" y="0"/>
          <a:ext cx="0" cy="0"/>
          <a:chOff x="0" y="0"/>
          <a:chExt cx="0" cy="0"/>
        </a:xfrm>
      </p:grpSpPr>
      <p:sp>
        <p:nvSpPr>
          <p:cNvPr id="2" name="Text 0"/>
          <p:cNvSpPr/>
          <p:nvPr/>
        </p:nvSpPr>
        <p:spPr>
          <a:xfrm>
            <a:off x="812800" y="24600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IBM Plex Sans" pitchFamily="34" charset="0"/>
                <a:ea typeface="IBM Plex Sans" pitchFamily="34" charset="-122"/>
                <a:cs typeface="IBM Plex Sans" pitchFamily="34" charset="-120"/>
              </a:rPr>
              <a:t>BÖLÜM 04</a:t>
            </a:r>
            <a:endParaRPr lang="en-US" sz="1200" dirty="0"/>
          </a:p>
        </p:txBody>
      </p:sp>
      <p:sp>
        <p:nvSpPr>
          <p:cNvPr id="3" name="Text 1"/>
          <p:cNvSpPr>
            <a:spLocks noGrp="1"/>
          </p:cNvSpPr>
          <p:nvPr>
            <p:ph type="title"/>
          </p:nvPr>
        </p:nvSpPr>
        <p:spPr>
          <a:xfrm>
            <a:off x="812800" y="285115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4EF"/>
                </a:solidFill>
                <a:latin typeface="IBM Plex Sans" pitchFamily="34" charset="0"/>
                <a:ea typeface="IBM Plex Sans" pitchFamily="34" charset="-122"/>
                <a:cs typeface="IBM Plex Sans" pitchFamily="34" charset="-120"/>
              </a:rPr>
              <a:t>Uygulama Yaşam Döngüsü</a:t>
            </a:r>
            <a:endParaRPr lang="en-US" sz="6000" dirty="0"/>
          </a:p>
        </p:txBody>
      </p:sp>
      <p:sp>
        <p:nvSpPr>
          <p:cNvPr id="4" name="Text 2"/>
          <p:cNvSpPr/>
          <p:nvPr/>
        </p:nvSpPr>
        <p:spPr>
          <a:xfrm>
            <a:off x="812800" y="3829050"/>
            <a:ext cx="78486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6D6"/>
                </a:solidFill>
                <a:latin typeface="IBM Plex Sans" pitchFamily="34" charset="0"/>
                <a:ea typeface="IBM Plex Sans" pitchFamily="34" charset="-122"/>
                <a:cs typeface="IBM Plex Sans" pitchFamily="34" charset="-120"/>
              </a:rPr>
              <a:t>Rolling update ve rollback, command/args, ConfigMap ve Secret, çok container'lı pod'lar, health check'ler, otomatik ölçekleme ve log/metrik takibi.</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8">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DEPLOYMENT STRATEJILERI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Recreate mi, RollingUpdate mi?</a:t>
            </a:r>
            <a:endParaRPr lang="en-US" sz="3000" dirty="0"/>
          </a:p>
        </p:txBody>
      </p:sp>
      <p:sp>
        <p:nvSpPr>
          <p:cNvPr id="4" name="Shape 2"/>
          <p:cNvSpPr/>
          <p:nvPr/>
        </p:nvSpPr>
        <p:spPr>
          <a:xfrm>
            <a:off x="815975" y="1778595"/>
            <a:ext cx="5207000" cy="1771352"/>
          </a:xfrm>
          <a:prstGeom prst="roundRect">
            <a:avLst>
              <a:gd name="adj" fmla="val 4123"/>
            </a:avLst>
          </a:prstGeom>
          <a:solidFill>
            <a:srgbClr val="FDFCF9"/>
          </a:solidFill>
          <a:ln w="6350">
            <a:solidFill>
              <a:srgbClr val="E2DFD6"/>
            </a:solidFill>
            <a:prstDash val="solid"/>
          </a:ln>
        </p:spPr>
      </p:sp>
      <p:sp>
        <p:nvSpPr>
          <p:cNvPr id="5" name="Text 3"/>
          <p:cNvSpPr/>
          <p:nvPr/>
        </p:nvSpPr>
        <p:spPr>
          <a:xfrm>
            <a:off x="1022350" y="1984970"/>
            <a:ext cx="493807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Recreate</a:t>
            </a:r>
            <a:endParaRPr lang="en-US" sz="1600" dirty="0"/>
          </a:p>
        </p:txBody>
      </p:sp>
      <p:sp>
        <p:nvSpPr>
          <p:cNvPr id="6" name="Text 4"/>
          <p:cNvSpPr/>
          <p:nvPr/>
        </p:nvSpPr>
        <p:spPr>
          <a:xfrm>
            <a:off x="1022350" y="2330351"/>
            <a:ext cx="493807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Önce tüm eski pod'lar silinir, sonra yeniler başlar. Arada </a:t>
            </a:r>
            <a:r>
              <a:rPr lang="en-US" sz="1300" b="1" dirty="0">
                <a:solidFill>
                  <a:srgbClr val="45505F"/>
                </a:solidFill>
                <a:latin typeface="IBM Plex Sans" pitchFamily="34" charset="0"/>
                <a:ea typeface="IBM Plex Sans" pitchFamily="34" charset="-122"/>
                <a:cs typeface="IBM Plex Sans" pitchFamily="34" charset="-120"/>
              </a:rPr>
              <a:t>kesinti</a:t>
            </a:r>
            <a:r>
              <a:rPr lang="en-US" sz="1300" dirty="0">
                <a:solidFill>
                  <a:srgbClr val="45505F"/>
                </a:solidFill>
                <a:latin typeface="IBM Plex Sans" pitchFamily="34" charset="0"/>
                <a:ea typeface="IBM Plex Sans" pitchFamily="34" charset="-122"/>
                <a:cs typeface="IBM Plex Sans" pitchFamily="34" charset="-120"/>
              </a:rPr>
              <a:t> olur. İki sürümün aynı anda çalışamadığı durumlar için.</a:t>
            </a:r>
            <a:endParaRPr lang="en-US" sz="1300" dirty="0"/>
          </a:p>
        </p:txBody>
      </p:sp>
      <p:sp>
        <p:nvSpPr>
          <p:cNvPr id="7" name="Text 5"/>
          <p:cNvSpPr/>
          <p:nvPr/>
        </p:nvSpPr>
        <p:spPr>
          <a:xfrm>
            <a:off x="1022350" y="2894112"/>
            <a:ext cx="1327150" cy="365720"/>
          </a:xfrm>
          <a:prstGeom prst="roundRect">
            <a:avLst>
              <a:gd name="adj" fmla="val 13890"/>
            </a:avLst>
          </a:prstGeom>
          <a:solidFill>
            <a:srgbClr val="E8E4DA"/>
          </a:solidFill>
          <a:ln/>
        </p:spPr>
        <p:txBody>
          <a:bodyPr wrap="square" lIns="35921" tIns="61321" rIns="35921" bIns="35921" rtlCol="0" anchor="t">
            <a:normAutofit/>
          </a:bodyPr>
          <a:lstStyle/>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v1 v1 v1</a:t>
            </a:r>
            <a:endParaRPr lang="en-US" sz="1200" dirty="0"/>
          </a:p>
        </p:txBody>
      </p:sp>
      <p:sp>
        <p:nvSpPr>
          <p:cNvPr id="8" name="Text 6"/>
          <p:cNvSpPr/>
          <p:nvPr/>
        </p:nvSpPr>
        <p:spPr>
          <a:xfrm>
            <a:off x="2476500" y="2970312"/>
            <a:ext cx="203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a:t>
            </a:r>
            <a:endParaRPr lang="en-US" sz="1200" dirty="0"/>
          </a:p>
        </p:txBody>
      </p:sp>
      <p:sp>
        <p:nvSpPr>
          <p:cNvPr id="9" name="Text 7"/>
          <p:cNvSpPr/>
          <p:nvPr/>
        </p:nvSpPr>
        <p:spPr>
          <a:xfrm>
            <a:off x="2755900" y="2894112"/>
            <a:ext cx="1327150" cy="365720"/>
          </a:xfrm>
          <a:prstGeom prst="roundRect">
            <a:avLst>
              <a:gd name="adj" fmla="val 13890"/>
            </a:avLst>
          </a:prstGeom>
          <a:solidFill>
            <a:srgbClr val="F3D9C4"/>
          </a:solidFill>
          <a:ln/>
        </p:spPr>
        <p:txBody>
          <a:bodyPr wrap="square" lIns="35921" tIns="61321" rIns="35921" bIns="3592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 boş —</a:t>
            </a:r>
            <a:endParaRPr lang="en-US" sz="1200" dirty="0"/>
          </a:p>
        </p:txBody>
      </p:sp>
      <p:sp>
        <p:nvSpPr>
          <p:cNvPr id="10" name="Text 8"/>
          <p:cNvSpPr/>
          <p:nvPr/>
        </p:nvSpPr>
        <p:spPr>
          <a:xfrm>
            <a:off x="4210050" y="2970312"/>
            <a:ext cx="203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a:t>
            </a:r>
            <a:endParaRPr lang="en-US" sz="1200" dirty="0"/>
          </a:p>
        </p:txBody>
      </p:sp>
      <p:sp>
        <p:nvSpPr>
          <p:cNvPr id="11" name="Text 9"/>
          <p:cNvSpPr/>
          <p:nvPr/>
        </p:nvSpPr>
        <p:spPr>
          <a:xfrm>
            <a:off x="4489450" y="2894112"/>
            <a:ext cx="1327150" cy="365720"/>
          </a:xfrm>
          <a:prstGeom prst="roundRect">
            <a:avLst>
              <a:gd name="adj" fmla="val 13890"/>
            </a:avLst>
          </a:prstGeom>
          <a:solidFill>
            <a:srgbClr val="DCE6F7"/>
          </a:solidFill>
          <a:ln/>
        </p:spPr>
        <p:txBody>
          <a:bodyPr wrap="square" lIns="35921" tIns="61321" rIns="35921" bIns="3592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v2 v2 v2</a:t>
            </a:r>
            <a:endParaRPr lang="en-US" sz="1200" dirty="0"/>
          </a:p>
        </p:txBody>
      </p:sp>
      <p:sp>
        <p:nvSpPr>
          <p:cNvPr id="12" name="Shape 10"/>
          <p:cNvSpPr/>
          <p:nvPr/>
        </p:nvSpPr>
        <p:spPr>
          <a:xfrm>
            <a:off x="6178550" y="1775420"/>
            <a:ext cx="5200650" cy="1777702"/>
          </a:xfrm>
          <a:prstGeom prst="roundRect">
            <a:avLst>
              <a:gd name="adj" fmla="val 4286"/>
            </a:avLst>
          </a:prstGeom>
          <a:solidFill>
            <a:srgbClr val="142033"/>
          </a:solidFill>
          <a:ln/>
        </p:spPr>
      </p:sp>
      <p:sp>
        <p:nvSpPr>
          <p:cNvPr id="13" name="Text 11"/>
          <p:cNvSpPr/>
          <p:nvPr/>
        </p:nvSpPr>
        <p:spPr>
          <a:xfrm>
            <a:off x="6381750" y="1978620"/>
            <a:ext cx="493807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RollingUpdate · varsayılan</a:t>
            </a:r>
            <a:endParaRPr lang="en-US" sz="1600" dirty="0"/>
          </a:p>
        </p:txBody>
      </p:sp>
      <p:sp>
        <p:nvSpPr>
          <p:cNvPr id="14" name="Text 12"/>
          <p:cNvSpPr/>
          <p:nvPr/>
        </p:nvSpPr>
        <p:spPr>
          <a:xfrm>
            <a:off x="6381750" y="2324001"/>
            <a:ext cx="493807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Yeni ReplicaSet büyürken eskisi küçülür; kesinti olmaz. Hız iki parametreyle ayarlanır.</a:t>
            </a:r>
            <a:endParaRPr lang="en-US" sz="1300" dirty="0"/>
          </a:p>
        </p:txBody>
      </p:sp>
      <p:sp>
        <p:nvSpPr>
          <p:cNvPr id="15" name="Text 13"/>
          <p:cNvSpPr/>
          <p:nvPr/>
        </p:nvSpPr>
        <p:spPr>
          <a:xfrm>
            <a:off x="6381750" y="2887762"/>
            <a:ext cx="4938078"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6EDF5"/>
                </a:solidFill>
                <a:latin typeface="IBM Plex Sans" pitchFamily="34" charset="0"/>
                <a:ea typeface="IBM Plex Sans" pitchFamily="34" charset="-122"/>
                <a:cs typeface="IBM Plex Sans" pitchFamily="34" charset="-120"/>
              </a:rPr>
              <a:t>maxSurge</a:t>
            </a:r>
            <a:r>
              <a:rPr lang="en-US" sz="1300" dirty="0">
                <a:solidFill>
                  <a:srgbClr val="E6EDF5"/>
                </a:solidFill>
                <a:latin typeface="IBM Plex Sans" pitchFamily="34" charset="0"/>
                <a:ea typeface="IBM Plex Sans" pitchFamily="34" charset="-122"/>
                <a:cs typeface="IBM Plex Sans" pitchFamily="34" charset="-120"/>
              </a:rPr>
              <a:t> (25%): istenenden en fazla kaç fazla pod olabilir.</a:t>
            </a:r>
            <a:endParaRPr lang="en-US" sz="1300" dirty="0"/>
          </a:p>
          <a:p>
            <a:pPr marL="0" indent="0" algn="l">
              <a:lnSpc>
                <a:spcPts val="1820"/>
              </a:lnSpc>
              <a:buNone/>
            </a:pPr>
            <a:r>
              <a:rPr lang="en-US" sz="1300" b="1" dirty="0">
                <a:solidFill>
                  <a:srgbClr val="E6EDF5"/>
                </a:solidFill>
                <a:latin typeface="IBM Plex Sans" pitchFamily="34" charset="0"/>
                <a:ea typeface="IBM Plex Sans" pitchFamily="34" charset="-122"/>
                <a:cs typeface="IBM Plex Sans" pitchFamily="34" charset="-120"/>
              </a:rPr>
              <a:t>maxUnavailable</a:t>
            </a:r>
            <a:r>
              <a:rPr lang="en-US" sz="1300" dirty="0">
                <a:solidFill>
                  <a:srgbClr val="E6EDF5"/>
                </a:solidFill>
                <a:latin typeface="IBM Plex Sans" pitchFamily="34" charset="0"/>
                <a:ea typeface="IBM Plex Sans" pitchFamily="34" charset="-122"/>
                <a:cs typeface="IBM Plex Sans" pitchFamily="34" charset="-120"/>
              </a:rPr>
              <a:t> (25%): en fazla kaç pod eksik olabilir.</a:t>
            </a:r>
            <a:endParaRPr lang="en-US" sz="1300" dirty="0"/>
          </a:p>
        </p:txBody>
      </p:sp>
      <p:sp>
        <p:nvSpPr>
          <p:cNvPr id="16" name="Text 14"/>
          <p:cNvSpPr/>
          <p:nvPr/>
        </p:nvSpPr>
        <p:spPr>
          <a:xfrm>
            <a:off x="812800" y="3807123"/>
            <a:ext cx="1088339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Rollout yalnızca </a:t>
            </a:r>
            <a:r>
              <a:rPr lang="en-US" sz="1300" b="1" dirty="0">
                <a:solidFill>
                  <a:srgbClr val="142033"/>
                </a:solidFill>
                <a:latin typeface="IBM Plex Sans" pitchFamily="34" charset="0"/>
                <a:ea typeface="IBM Plex Sans" pitchFamily="34" charset="-122"/>
                <a:cs typeface="IBM Plex Sans" pitchFamily="34" charset="-120"/>
              </a:rPr>
              <a:t>pod template</a:t>
            </a:r>
            <a:r>
              <a:rPr lang="en-US" sz="1300" dirty="0">
                <a:solidFill>
                  <a:srgbClr val="45505F"/>
                </a:solidFill>
                <a:latin typeface="IBM Plex Sans" pitchFamily="34" charset="0"/>
                <a:ea typeface="IBM Plex Sans" pitchFamily="34" charset="-122"/>
                <a:cs typeface="IBM Plex Sans" pitchFamily="34" charset="-120"/>
              </a:rPr>
              <a:t> değiştiğinde tetiklenir (image, env, resources…). replicas değişikliği rollout değil, ölçeklemedir.</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9">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ROLLOUT VE ROLLBACK</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Her değişiklik bir revizyondur</a:t>
            </a:r>
            <a:endParaRPr lang="en-US" sz="3000" dirty="0"/>
          </a:p>
        </p:txBody>
      </p:sp>
      <p:sp>
        <p:nvSpPr>
          <p:cNvPr id="4" name="Text 2"/>
          <p:cNvSpPr/>
          <p:nvPr/>
        </p:nvSpPr>
        <p:spPr>
          <a:xfrm>
            <a:off x="812800" y="1775420"/>
            <a:ext cx="5207000" cy="3941763"/>
          </a:xfrm>
          <a:prstGeom prst="roundRect">
            <a:avLst>
              <a:gd name="adj" fmla="val 1933"/>
            </a:avLst>
          </a:prstGeom>
          <a:solidFill>
            <a:srgbClr val="1B2A41"/>
          </a:solidFill>
          <a:ln/>
        </p:spPr>
        <p:txBody>
          <a:bodyPr wrap="square" lIns="180882" tIns="180882" rIns="36864" bIns="1554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güncelle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set image deploy/web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nginx=nginx:1.28</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izle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rollout status deploy/web</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rollout history deploy/web</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geri al</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rollout undo deploy/web</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rollout undo deploy/web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--to-revision=2</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duraklat / devam / yeniden başlat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rollout pause|resume deploy/web</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rollout restart deploy/web</a:t>
            </a:r>
            <a:endParaRPr lang="en-US" sz="1200" dirty="0"/>
          </a:p>
        </p:txBody>
      </p:sp>
      <p:sp>
        <p:nvSpPr>
          <p:cNvPr id="5" name="Text 3"/>
          <p:cNvSpPr/>
          <p:nvPr/>
        </p:nvSpPr>
        <p:spPr>
          <a:xfrm>
            <a:off x="6359144" y="1775420"/>
            <a:ext cx="5165598" cy="2006600"/>
          </a:xfrm>
          <a:prstGeom prst="rect">
            <a:avLst/>
          </a:prstGeom>
          <a:noFill/>
          <a:ln/>
        </p:spPr>
        <p:txBody>
          <a:bodyPr wrap="square" lIns="0" tIns="0" rIns="0" bIns="0" rtlCol="0" anchor="t">
            <a:normAutofit fontScale="92500"/>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Undo, eski ReplicaSet'i yeniden büyütür; yenisini sıfırlar.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History'deki </a:t>
            </a:r>
            <a:r>
              <a:rPr lang="en-US" sz="1300" b="1" dirty="0">
                <a:solidFill>
                  <a:srgbClr val="142033"/>
                </a:solidFill>
                <a:latin typeface="IBM Plex Sans" pitchFamily="34" charset="0"/>
                <a:ea typeface="IBM Plex Sans" pitchFamily="34" charset="-122"/>
                <a:cs typeface="IBM Plex Sans" pitchFamily="34" charset="-120"/>
              </a:rPr>
              <a:t>CHANGE-CAUSE</a:t>
            </a:r>
            <a:r>
              <a:rPr lang="en-US" sz="1300" dirty="0">
                <a:solidFill>
                  <a:srgbClr val="45505F"/>
                </a:solidFill>
                <a:latin typeface="IBM Plex Sans" pitchFamily="34" charset="0"/>
                <a:ea typeface="IBM Plex Sans" pitchFamily="34" charset="-122"/>
                <a:cs typeface="IBM Plex Sans" pitchFamily="34" charset="-120"/>
              </a:rPr>
              <a:t> sütunu </a:t>
            </a:r>
            <a:r>
              <a:rPr lang="en-US" sz="1300" b="1" dirty="0">
                <a:solidFill>
                  <a:srgbClr val="45505F"/>
                </a:solidFill>
                <a:latin typeface="IBM Plex Sans" pitchFamily="34" charset="0"/>
                <a:ea typeface="IBM Plex Sans" pitchFamily="34" charset="-122"/>
                <a:cs typeface="IBM Plex Sans" pitchFamily="34" charset="-120"/>
              </a:rPr>
              <a:t>kubernetes.io/change-cause</a:t>
            </a:r>
            <a:r>
              <a:rPr lang="en-US" sz="1300" dirty="0">
                <a:solidFill>
                  <a:srgbClr val="45505F"/>
                </a:solidFill>
                <a:latin typeface="IBM Plex Sans" pitchFamily="34" charset="0"/>
                <a:ea typeface="IBM Plex Sans" pitchFamily="34" charset="-122"/>
                <a:cs typeface="IBM Plex Sans" pitchFamily="34" charset="-120"/>
              </a:rPr>
              <a:t> annotation'ından gelir. (--record parametresi kullanımdan kalktı.)</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rollout restart</a:t>
            </a:r>
            <a:r>
              <a:rPr lang="en-US" sz="1300" dirty="0">
                <a:solidFill>
                  <a:srgbClr val="45505F"/>
                </a:solidFill>
                <a:latin typeface="IBM Plex Sans" pitchFamily="34" charset="0"/>
                <a:ea typeface="IBM Plex Sans" pitchFamily="34" charset="-122"/>
                <a:cs typeface="IBM Plex Sans" pitchFamily="34" charset="-120"/>
              </a:rPr>
              <a:t>: image değişmeden pod'ları kademeli yeniler — ConfigMap değişikliğinden sonra kullanışlı.</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set image ile yapılan değişiklik YAML dosyasına yansımaz; GitOps'ta değişiklik Git'ten yapılır.</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0">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COMMAND VE ARGUMENTS</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ENTRYPOINT ↔ command, CMD ↔ args</a:t>
            </a:r>
            <a:endParaRPr lang="en-US" sz="3000" dirty="0"/>
          </a:p>
        </p:txBody>
      </p:sp>
      <p:sp>
        <p:nvSpPr>
          <p:cNvPr id="4" name="Text 2"/>
          <p:cNvSpPr/>
          <p:nvPr/>
        </p:nvSpPr>
        <p:spPr>
          <a:xfrm>
            <a:off x="812800" y="1775420"/>
            <a:ext cx="5867400" cy="1239441"/>
          </a:xfrm>
          <a:prstGeom prst="roundRect">
            <a:avLst>
              <a:gd name="adj" fmla="val 6148"/>
            </a:avLst>
          </a:prstGeom>
          <a:solidFill>
            <a:srgbClr val="1B2A41"/>
          </a:solidFill>
          <a:ln/>
        </p:spPr>
        <p:txBody>
          <a:bodyPr wrap="square" lIns="155482" tIns="155482" rIns="0" bIns="1300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Dockerfile (ubuntu-sleeper)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FROM ubuntu</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ENTRYPOINT ["sleep"]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CMD ["5"]</a:t>
            </a:r>
            <a:endParaRPr lang="en-US" sz="1200" dirty="0"/>
          </a:p>
        </p:txBody>
      </p:sp>
      <p:sp>
        <p:nvSpPr>
          <p:cNvPr id="5" name="Text 3"/>
          <p:cNvSpPr/>
          <p:nvPr/>
        </p:nvSpPr>
        <p:spPr>
          <a:xfrm>
            <a:off x="812800" y="3141861"/>
            <a:ext cx="5867400" cy="1681361"/>
          </a:xfrm>
          <a:prstGeom prst="roundRect">
            <a:avLst>
              <a:gd name="adj" fmla="val 4532"/>
            </a:avLst>
          </a:prstGeom>
          <a:solidFill>
            <a:srgbClr val="1B2A41"/>
          </a:solidFill>
          <a:ln/>
        </p:spPr>
        <p:txBody>
          <a:bodyPr wrap="square" lIns="155482" tIns="155482" rIns="0"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containers: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sleeper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 ubuntu-sleeper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command: ["sleep2.0"]  </a:t>
            </a:r>
            <a:r>
              <a:rPr lang="en-US" sz="1200" dirty="0">
                <a:solidFill>
                  <a:srgbClr val="8FA3BF"/>
                </a:solidFill>
                <a:latin typeface="JetBrains Mono" pitchFamily="49" charset="0"/>
                <a:ea typeface="JetBrains Mono" pitchFamily="49" charset="-122"/>
                <a:cs typeface="JetBrains Mono" pitchFamily="49" charset="-120"/>
              </a:rPr>
              <a:t># ENTRYPOINT'i ezer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args: ["10"]          </a:t>
            </a:r>
            <a:r>
              <a:rPr lang="en-US" sz="1200" dirty="0">
                <a:solidFill>
                  <a:srgbClr val="8FA3BF"/>
                </a:solidFill>
                <a:latin typeface="JetBrains Mono" pitchFamily="49" charset="0"/>
                <a:ea typeface="JetBrains Mono" pitchFamily="49" charset="-122"/>
                <a:cs typeface="JetBrains Mono" pitchFamily="49" charset="-120"/>
              </a:rPr>
              <a:t># CMD'yi ezer</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946900" y="1788120"/>
          <a:ext cx="4432300" cy="1876227"/>
        </p:xfrm>
        <a:graphic>
          <a:graphicData uri="http://schemas.openxmlformats.org/drawingml/2006/table">
            <a:tbl>
              <a:tblPr/>
              <a:tblGrid>
                <a:gridCol w="1329690">
                  <a:extLst>
                    <a:ext uri="{9D8B030D-6E8A-4147-A177-3AD203B41FA5}">
                      <a16:colId xmlns:a16="http://schemas.microsoft.com/office/drawing/2014/main" val="20000"/>
                    </a:ext>
                  </a:extLst>
                </a:gridCol>
                <a:gridCol w="3102610">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Pod'da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Çalışan süreç</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hiçbiri</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sleep 5</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args: ["10"]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sleep 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command: ["sleep2.0"]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sleep2.0 (CMD yok sayılır)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ikisi de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sleep2.0 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1">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CONFIGMAP</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Konfigürasyonu image'dan ayırmak</a:t>
            </a:r>
            <a:endParaRPr lang="en-US" sz="3000" dirty="0"/>
          </a:p>
        </p:txBody>
      </p:sp>
      <p:sp>
        <p:nvSpPr>
          <p:cNvPr id="4" name="Text 2"/>
          <p:cNvSpPr/>
          <p:nvPr/>
        </p:nvSpPr>
        <p:spPr>
          <a:xfrm>
            <a:off x="812800" y="1750020"/>
            <a:ext cx="6305042"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Hassas olmayan anahtar-değer verisi ve config dosyaları. Aynı image, farklı ortamlarda farklı ConfigMap ile çalışır.</a:t>
            </a:r>
            <a:endParaRPr lang="en-US" sz="1300" dirty="0"/>
          </a:p>
        </p:txBody>
      </p:sp>
      <p:sp>
        <p:nvSpPr>
          <p:cNvPr id="5" name="Text 3"/>
          <p:cNvSpPr/>
          <p:nvPr/>
        </p:nvSpPr>
        <p:spPr>
          <a:xfrm>
            <a:off x="812800" y="2359620"/>
            <a:ext cx="6121400" cy="967680"/>
          </a:xfrm>
          <a:prstGeom prst="roundRect">
            <a:avLst>
              <a:gd name="adj" fmla="val 7875"/>
            </a:avLst>
          </a:prstGeom>
          <a:solidFill>
            <a:srgbClr val="1B2A41"/>
          </a:solidFill>
          <a:ln/>
        </p:spPr>
        <p:txBody>
          <a:bodyPr wrap="square" lIns="130082" tIns="130082" rIns="0" bIns="1046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create configmap app-config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--from-literal=APP_COLOR=blue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--from-file=app.properties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3454301"/>
          <a:ext cx="6108700" cy="1543645"/>
        </p:xfrm>
        <a:graphic>
          <a:graphicData uri="http://schemas.openxmlformats.org/drawingml/2006/table">
            <a:tbl>
              <a:tblPr/>
              <a:tblGrid>
                <a:gridCol w="2199132">
                  <a:extLst>
                    <a:ext uri="{9D8B030D-6E8A-4147-A177-3AD203B41FA5}">
                      <a16:colId xmlns:a16="http://schemas.microsoft.com/office/drawing/2014/main" val="20000"/>
                    </a:ext>
                  </a:extLst>
                </a:gridCol>
                <a:gridCol w="3909568">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Kullanım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Davranış</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env.valueFrom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Tek anahtar → tek değişken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envFrom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Tüm anahtarlar → değişkenler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volume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Her anahtar bir dosya; güncellenince dosya da (gecikmeyle) güncellenir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7188200" y="1750020"/>
            <a:ext cx="4191000" cy="3720802"/>
          </a:xfrm>
          <a:prstGeom prst="roundRect">
            <a:avLst>
              <a:gd name="adj" fmla="val 2048"/>
            </a:avLst>
          </a:prstGeom>
          <a:solidFill>
            <a:srgbClr val="1B2A41"/>
          </a:solidFill>
          <a:ln/>
        </p:spPr>
        <p:txBody>
          <a:bodyPr wrap="square" lIns="180882" tIns="180882" rIns="6734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containers: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web</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 webapp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env:</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APP_COLOR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valueFrom:</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configMapKeyRef:</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app-config</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key: APP_COLOR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volumeMounts: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cfg</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mountPath: /etc/app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volumes: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cfg</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configMap: {name: app-config}</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SECRET</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ConfigMap gibi ama hassas veri için</a:t>
            </a:r>
            <a:endParaRPr lang="en-US" sz="3000" dirty="0"/>
          </a:p>
        </p:txBody>
      </p:sp>
      <p:sp>
        <p:nvSpPr>
          <p:cNvPr id="4" name="Text 2"/>
          <p:cNvSpPr/>
          <p:nvPr/>
        </p:nvSpPr>
        <p:spPr>
          <a:xfrm>
            <a:off x="898144" y="1775420"/>
            <a:ext cx="6604508"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Parola, token, sertifika, registry kimliği. Kullanım şekli ConfigMap ile aynı: </a:t>
            </a:r>
            <a:r>
              <a:rPr lang="en-US" sz="1300" b="1" dirty="0">
                <a:solidFill>
                  <a:srgbClr val="45505F"/>
                </a:solidFill>
                <a:latin typeface="IBM Plex Sans" pitchFamily="34" charset="0"/>
                <a:ea typeface="IBM Plex Sans" pitchFamily="34" charset="-122"/>
                <a:cs typeface="IBM Plex Sans" pitchFamily="34" charset="-120"/>
              </a:rPr>
              <a:t>secretKeyRef</a:t>
            </a:r>
            <a:r>
              <a:rPr lang="en-US" sz="1300" dirty="0">
                <a:solidFill>
                  <a:srgbClr val="45505F"/>
                </a:solidFill>
                <a:latin typeface="IBM Plex Sans" pitchFamily="34" charset="0"/>
                <a:ea typeface="IBM Plex Sans" pitchFamily="34" charset="-122"/>
                <a:cs typeface="IBM Plex Sans" pitchFamily="34" charset="-120"/>
              </a:rPr>
              <a:t>, </a:t>
            </a:r>
            <a:r>
              <a:rPr lang="en-US" sz="1300" b="1" dirty="0">
                <a:solidFill>
                  <a:srgbClr val="45505F"/>
                </a:solidFill>
                <a:latin typeface="IBM Plex Sans" pitchFamily="34" charset="0"/>
                <a:ea typeface="IBM Plex Sans" pitchFamily="34" charset="-122"/>
                <a:cs typeface="IBM Plex Sans" pitchFamily="34" charset="-120"/>
              </a:rPr>
              <a:t>secretRef</a:t>
            </a:r>
            <a:r>
              <a:rPr lang="en-US" sz="1300" dirty="0">
                <a:solidFill>
                  <a:srgbClr val="45505F"/>
                </a:solidFill>
                <a:latin typeface="IBM Plex Sans" pitchFamily="34" charset="0"/>
                <a:ea typeface="IBM Plex Sans" pitchFamily="34" charset="-122"/>
                <a:cs typeface="IBM Plex Sans" pitchFamily="34" charset="-120"/>
              </a:rPr>
              <a:t>, volume.</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Tipler: </a:t>
            </a:r>
            <a:r>
              <a:rPr lang="en-US" sz="1300" b="1" dirty="0">
                <a:solidFill>
                  <a:srgbClr val="142033"/>
                </a:solidFill>
                <a:latin typeface="IBM Plex Sans" pitchFamily="34" charset="0"/>
                <a:ea typeface="IBM Plex Sans" pitchFamily="34" charset="-122"/>
                <a:cs typeface="IBM Plex Sans" pitchFamily="34" charset="-120"/>
              </a:rPr>
              <a:t>Opaque</a:t>
            </a:r>
            <a:r>
              <a:rPr lang="en-US" sz="1300" dirty="0">
                <a:solidFill>
                  <a:srgbClr val="45505F"/>
                </a:solidFill>
                <a:latin typeface="IBM Plex Sans" pitchFamily="34" charset="0"/>
                <a:ea typeface="IBM Plex Sans" pitchFamily="34" charset="-122"/>
                <a:cs typeface="IBM Plex Sans" pitchFamily="34" charset="-120"/>
              </a:rPr>
              <a:t> (genel), </a:t>
            </a:r>
            <a:r>
              <a:rPr lang="en-US" sz="1300" b="1" dirty="0">
                <a:solidFill>
                  <a:srgbClr val="142033"/>
                </a:solidFill>
                <a:latin typeface="IBM Plex Sans" pitchFamily="34" charset="0"/>
                <a:ea typeface="IBM Plex Sans" pitchFamily="34" charset="-122"/>
                <a:cs typeface="IBM Plex Sans" pitchFamily="34" charset="-120"/>
              </a:rPr>
              <a:t>kubernetes.io/tls</a:t>
            </a:r>
            <a:r>
              <a:rPr lang="en-US" sz="1300" dirty="0">
                <a:solidFill>
                  <a:srgbClr val="45505F"/>
                </a:solidFill>
                <a:latin typeface="IBM Plex Sans" pitchFamily="34" charset="0"/>
                <a:ea typeface="IBM Plex Sans" pitchFamily="34" charset="-122"/>
                <a:cs typeface="IBM Plex Sans" pitchFamily="34" charset="-120"/>
              </a:rPr>
              <a:t>, </a:t>
            </a:r>
            <a:r>
              <a:rPr lang="en-US" sz="1300" b="1" dirty="0">
                <a:solidFill>
                  <a:srgbClr val="142033"/>
                </a:solidFill>
                <a:latin typeface="IBM Plex Sans" pitchFamily="34" charset="0"/>
                <a:ea typeface="IBM Plex Sans" pitchFamily="34" charset="-122"/>
                <a:cs typeface="IBM Plex Sans" pitchFamily="34" charset="-120"/>
              </a:rPr>
              <a:t>kubernetes.io/dockerconfigjson</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YAML'da </a:t>
            </a:r>
            <a:r>
              <a:rPr lang="en-US" sz="1300" b="1" dirty="0">
                <a:solidFill>
                  <a:srgbClr val="45505F"/>
                </a:solidFill>
                <a:latin typeface="IBM Plex Sans" pitchFamily="34" charset="0"/>
                <a:ea typeface="IBM Plex Sans" pitchFamily="34" charset="-122"/>
                <a:cs typeface="IBM Plex Sans" pitchFamily="34" charset="-120"/>
              </a:rPr>
              <a:t>data</a:t>
            </a:r>
            <a:r>
              <a:rPr lang="en-US" sz="1300" dirty="0">
                <a:solidFill>
                  <a:srgbClr val="45505F"/>
                </a:solidFill>
                <a:latin typeface="IBM Plex Sans" pitchFamily="34" charset="0"/>
                <a:ea typeface="IBM Plex Sans" pitchFamily="34" charset="-122"/>
                <a:cs typeface="IBM Plex Sans" pitchFamily="34" charset="-120"/>
              </a:rPr>
              <a:t> alanı base64 ister; </a:t>
            </a:r>
            <a:r>
              <a:rPr lang="en-US" sz="1300" b="1" dirty="0">
                <a:solidFill>
                  <a:srgbClr val="45505F"/>
                </a:solidFill>
                <a:latin typeface="IBM Plex Sans" pitchFamily="34" charset="0"/>
                <a:ea typeface="IBM Plex Sans" pitchFamily="34" charset="-122"/>
                <a:cs typeface="IBM Plex Sans" pitchFamily="34" charset="-120"/>
              </a:rPr>
              <a:t>stringData</a:t>
            </a:r>
            <a:r>
              <a:rPr lang="en-US" sz="1300" dirty="0">
                <a:solidFill>
                  <a:srgbClr val="45505F"/>
                </a:solidFill>
                <a:latin typeface="IBM Plex Sans" pitchFamily="34" charset="0"/>
                <a:ea typeface="IBM Plex Sans" pitchFamily="34" charset="-122"/>
                <a:cs typeface="IBM Plex Sans" pitchFamily="34" charset="-120"/>
              </a:rPr>
              <a:t> düz metin kabul eder.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Volume olarak mount edilince her anahtar bir dosya olur; node'da diske değil </a:t>
            </a:r>
            <a:r>
              <a:rPr lang="en-US" sz="1300" b="1" dirty="0">
                <a:solidFill>
                  <a:srgbClr val="45505F"/>
                </a:solidFill>
                <a:latin typeface="IBM Plex Sans" pitchFamily="34" charset="0"/>
                <a:ea typeface="IBM Plex Sans" pitchFamily="34" charset="-122"/>
                <a:cs typeface="IBM Plex Sans" pitchFamily="34" charset="-120"/>
              </a:rPr>
              <a:t>tmpfs</a:t>
            </a:r>
            <a:r>
              <a:rPr lang="en-US" sz="1300" dirty="0">
                <a:solidFill>
                  <a:srgbClr val="45505F"/>
                </a:solidFill>
                <a:latin typeface="IBM Plex Sans" pitchFamily="34" charset="0"/>
                <a:ea typeface="IBM Plex Sans" pitchFamily="34" charset="-122"/>
                <a:cs typeface="IBM Plex Sans" pitchFamily="34" charset="-120"/>
              </a:rPr>
              <a:t>'e (RAM) yazılır.</a:t>
            </a:r>
            <a:endParaRPr lang="en-US" sz="1300" dirty="0"/>
          </a:p>
        </p:txBody>
      </p:sp>
      <p:sp>
        <p:nvSpPr>
          <p:cNvPr id="5" name="Text 3"/>
          <p:cNvSpPr/>
          <p:nvPr/>
        </p:nvSpPr>
        <p:spPr>
          <a:xfrm>
            <a:off x="812800" y="3388320"/>
            <a:ext cx="6502400" cy="746720"/>
          </a:xfrm>
          <a:prstGeom prst="roundRect">
            <a:avLst>
              <a:gd name="adj" fmla="val 10205"/>
            </a:avLst>
          </a:prstGeom>
          <a:solidFill>
            <a:srgbClr val="1B2A41"/>
          </a:solidFill>
          <a:ln/>
        </p:spPr>
        <p:txBody>
          <a:bodyPr wrap="square" lIns="130082" tIns="130082" rIns="0" bIns="1046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create secret generic app-secret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--from-literal=DB_PASSWORD=paswrd</a:t>
            </a:r>
            <a:endParaRPr lang="en-US" sz="1200" dirty="0"/>
          </a:p>
        </p:txBody>
      </p:sp>
      <p:sp>
        <p:nvSpPr>
          <p:cNvPr id="6" name="Shape 4"/>
          <p:cNvSpPr/>
          <p:nvPr/>
        </p:nvSpPr>
        <p:spPr>
          <a:xfrm>
            <a:off x="7569200" y="1775420"/>
            <a:ext cx="3810000" cy="1236861"/>
          </a:xfrm>
          <a:prstGeom prst="roundRect">
            <a:avLst>
              <a:gd name="adj" fmla="val 6161"/>
            </a:avLst>
          </a:prstGeom>
          <a:solidFill>
            <a:srgbClr val="B4570F"/>
          </a:solidFill>
          <a:ln/>
        </p:spPr>
      </p:sp>
      <p:sp>
        <p:nvSpPr>
          <p:cNvPr id="7" name="Text 5"/>
          <p:cNvSpPr/>
          <p:nvPr/>
        </p:nvSpPr>
        <p:spPr>
          <a:xfrm>
            <a:off x="7772400" y="1978620"/>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F4EF"/>
                </a:solidFill>
                <a:latin typeface="IBM Plex Sans" pitchFamily="34" charset="0"/>
                <a:ea typeface="IBM Plex Sans" pitchFamily="34" charset="-122"/>
                <a:cs typeface="IBM Plex Sans" pitchFamily="34" charset="-120"/>
              </a:rPr>
              <a:t>KRITIK UYARI</a:t>
            </a:r>
            <a:endParaRPr lang="en-US" sz="1200" dirty="0"/>
          </a:p>
        </p:txBody>
      </p:sp>
      <p:sp>
        <p:nvSpPr>
          <p:cNvPr id="8" name="Text 6"/>
          <p:cNvSpPr/>
          <p:nvPr/>
        </p:nvSpPr>
        <p:spPr>
          <a:xfrm>
            <a:off x="7772400" y="2280841"/>
            <a:ext cx="3505708" cy="553641"/>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5F4EF"/>
                </a:solidFill>
                <a:latin typeface="IBM Plex Sans" pitchFamily="34" charset="0"/>
                <a:ea typeface="IBM Plex Sans" pitchFamily="34" charset="-122"/>
                <a:cs typeface="IBM Plex Sans" pitchFamily="34" charset="-120"/>
              </a:rPr>
              <a:t>Base64 şifreleme değildir. Bir encoding'dir; herkes çözebilir.</a:t>
            </a:r>
            <a:endParaRPr lang="en-US" sz="1600" dirty="0"/>
          </a:p>
        </p:txBody>
      </p:sp>
      <p:sp>
        <p:nvSpPr>
          <p:cNvPr id="9" name="Text 7"/>
          <p:cNvSpPr/>
          <p:nvPr/>
        </p:nvSpPr>
        <p:spPr>
          <a:xfrm>
            <a:off x="7569200" y="3139281"/>
            <a:ext cx="3810000" cy="1188641"/>
          </a:xfrm>
          <a:prstGeom prst="roundRect">
            <a:avLst>
              <a:gd name="adj" fmla="val 6411"/>
            </a:avLst>
          </a:prstGeom>
          <a:solidFill>
            <a:srgbClr val="1B2A41"/>
          </a:solidFill>
          <a:ln/>
        </p:spPr>
        <p:txBody>
          <a:bodyPr wrap="square" lIns="130082" tIns="130082" rIns="24926" bIns="1046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echo -n 'paswrd' | base64</a:t>
            </a: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cGFzd3Jk</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echo -n 'cGFzd3Jk' | base64 -d</a:t>
            </a: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paswrd</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SECRET GÜVENLIĞI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Secret'ları gerçekten korumak için</a:t>
            </a:r>
            <a:endParaRPr lang="en-US" sz="3000" dirty="0"/>
          </a:p>
        </p:txBody>
      </p:sp>
      <p:sp>
        <p:nvSpPr>
          <p:cNvPr id="4" name="Text 2"/>
          <p:cNvSpPr/>
          <p:nvPr/>
        </p:nvSpPr>
        <p:spPr>
          <a:xfrm>
            <a:off x="815975" y="1778595"/>
            <a:ext cx="5988050" cy="722511"/>
          </a:xfrm>
          <a:prstGeom prst="roundRect">
            <a:avLst>
              <a:gd name="adj" fmla="val 8349"/>
            </a:avLst>
          </a:prstGeom>
          <a:solidFill>
            <a:srgbClr val="FDFCF9"/>
          </a:solidFill>
          <a:ln w="6350">
            <a:solidFill>
              <a:srgbClr val="E2DFD6"/>
            </a:solidFill>
            <a:prstDash val="solid"/>
          </a:ln>
        </p:spPr>
        <p:txBody>
          <a:bodyPr wrap="square" lIns="112506" tIns="112506" rIns="0"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1 · Git'e koymayın.</a:t>
            </a:r>
            <a:r>
              <a:rPr lang="en-US" sz="1300" dirty="0">
                <a:solidFill>
                  <a:srgbClr val="45505F"/>
                </a:solidFill>
                <a:latin typeface="IBM Plex Sans" pitchFamily="34" charset="0"/>
                <a:ea typeface="IBM Plex Sans" pitchFamily="34" charset="-122"/>
                <a:cs typeface="IBM Plex Sans" pitchFamily="34" charset="-120"/>
              </a:rPr>
              <a:t> Base64'lü YAML commit'lemek parolayı yayınlamaktır. Sealed Secrets, SOPS veya External Secrets kullanın.</a:t>
            </a:r>
            <a:endParaRPr lang="en-US" sz="1300" dirty="0"/>
          </a:p>
        </p:txBody>
      </p:sp>
      <p:sp>
        <p:nvSpPr>
          <p:cNvPr id="5" name="Text 3"/>
          <p:cNvSpPr/>
          <p:nvPr/>
        </p:nvSpPr>
        <p:spPr>
          <a:xfrm>
            <a:off x="815975" y="2609056"/>
            <a:ext cx="5988050" cy="722511"/>
          </a:xfrm>
          <a:prstGeom prst="roundRect">
            <a:avLst>
              <a:gd name="adj" fmla="val 8349"/>
            </a:avLst>
          </a:prstGeom>
          <a:solidFill>
            <a:srgbClr val="FDFCF9"/>
          </a:solidFill>
          <a:ln w="6350">
            <a:solidFill>
              <a:srgbClr val="E2DFD6"/>
            </a:solidFill>
            <a:prstDash val="solid"/>
          </a:ln>
        </p:spPr>
        <p:txBody>
          <a:bodyPr wrap="square" lIns="112506" tIns="112506" rIns="0"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2 · etcd'de şifreleyin</a:t>
            </a:r>
            <a:r>
              <a:rPr lang="en-US" sz="1300" dirty="0">
                <a:solidFill>
                  <a:srgbClr val="45505F"/>
                </a:solidFill>
                <a:latin typeface="IBM Plex Sans" pitchFamily="34" charset="0"/>
                <a:ea typeface="IBM Plex Sans" pitchFamily="34" charset="-122"/>
                <a:cs typeface="IBM Plex Sans" pitchFamily="34" charset="-120"/>
              </a:rPr>
              <a:t> (encryption at rest). Varsayılan olarak etcd'de düz metin durur.</a:t>
            </a:r>
            <a:endParaRPr lang="en-US" sz="1300" dirty="0"/>
          </a:p>
        </p:txBody>
      </p:sp>
      <p:sp>
        <p:nvSpPr>
          <p:cNvPr id="6" name="Text 4"/>
          <p:cNvSpPr/>
          <p:nvPr/>
        </p:nvSpPr>
        <p:spPr>
          <a:xfrm>
            <a:off x="815975" y="3439517"/>
            <a:ext cx="5988050" cy="722511"/>
          </a:xfrm>
          <a:prstGeom prst="roundRect">
            <a:avLst>
              <a:gd name="adj" fmla="val 8349"/>
            </a:avLst>
          </a:prstGeom>
          <a:solidFill>
            <a:srgbClr val="FDFCF9"/>
          </a:solidFill>
          <a:ln w="6350">
            <a:solidFill>
              <a:srgbClr val="E2DFD6"/>
            </a:solidFill>
            <a:prstDash val="solid"/>
          </a:ln>
        </p:spPr>
        <p:txBody>
          <a:bodyPr wrap="square" lIns="112506" tIns="112506" rIns="0"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3 · RBAC ile kısıtlayın.</a:t>
            </a:r>
            <a:r>
              <a:rPr lang="en-US" sz="1300" dirty="0">
                <a:solidFill>
                  <a:srgbClr val="45505F"/>
                </a:solidFill>
                <a:latin typeface="IBM Plex Sans" pitchFamily="34" charset="0"/>
                <a:ea typeface="IBM Plex Sans" pitchFamily="34" charset="-122"/>
                <a:cs typeface="IBM Plex Sans" pitchFamily="34" charset="-120"/>
              </a:rPr>
              <a:t> Namespace'te pod oluşturabilen biri o namespace'in secret'larını mount ederek okuyabilir.</a:t>
            </a:r>
            <a:endParaRPr lang="en-US" sz="1300" dirty="0"/>
          </a:p>
        </p:txBody>
      </p:sp>
      <p:sp>
        <p:nvSpPr>
          <p:cNvPr id="7" name="Text 5"/>
          <p:cNvSpPr/>
          <p:nvPr/>
        </p:nvSpPr>
        <p:spPr>
          <a:xfrm>
            <a:off x="815975" y="4269978"/>
            <a:ext cx="5988050" cy="491430"/>
          </a:xfrm>
          <a:prstGeom prst="roundRect">
            <a:avLst>
              <a:gd name="adj" fmla="val 12275"/>
            </a:avLst>
          </a:prstGeom>
          <a:solidFill>
            <a:srgbClr val="FDFCF9"/>
          </a:solidFill>
          <a:ln w="6350">
            <a:solidFill>
              <a:srgbClr val="E2DFD6"/>
            </a:solidFill>
            <a:prstDash val="solid"/>
          </a:ln>
        </p:spPr>
        <p:txBody>
          <a:bodyPr wrap="square" lIns="112506" tIns="112506" rIns="0"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4 · Harici kasa:</a:t>
            </a:r>
            <a:r>
              <a:rPr lang="en-US" sz="1300" dirty="0">
                <a:solidFill>
                  <a:srgbClr val="45505F"/>
                </a:solidFill>
                <a:latin typeface="IBM Plex Sans" pitchFamily="34" charset="0"/>
                <a:ea typeface="IBM Plex Sans" pitchFamily="34" charset="-122"/>
                <a:cs typeface="IBM Plex Sans" pitchFamily="34" charset="-120"/>
              </a:rPr>
              <a:t> HashiCorp Vault, bulut KMS ve secret store'ları (CSI driver).</a:t>
            </a:r>
            <a:endParaRPr lang="en-US" sz="1300" dirty="0"/>
          </a:p>
        </p:txBody>
      </p:sp>
      <p:sp>
        <p:nvSpPr>
          <p:cNvPr id="8" name="Text 6"/>
          <p:cNvSpPr/>
          <p:nvPr/>
        </p:nvSpPr>
        <p:spPr>
          <a:xfrm>
            <a:off x="7061200" y="1775420"/>
            <a:ext cx="4318000" cy="3499842"/>
          </a:xfrm>
          <a:prstGeom prst="roundRect">
            <a:avLst>
              <a:gd name="adj" fmla="val 2177"/>
            </a:avLst>
          </a:prstGeom>
          <a:solidFill>
            <a:srgbClr val="1B2A41"/>
          </a:solidFill>
          <a:ln/>
        </p:spPr>
        <p:txBody>
          <a:bodyPr wrap="square" lIns="180882" tIns="180882" rIns="6353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apiserver.config.k8s.io/v1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EncryptionConfiguration</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resources: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resources: [secrets]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providers: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aescbc: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keys: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key1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secret: &lt;base64 32 byte&gt;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identity: {}</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kube-apiserver'a: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--encryption-provider-config=\</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/etc/kubernetes/enc/enc.yaml</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ÇOK CONTAINER'LI POD'LAR</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Init, sidecar ve diğer desenler</a:t>
            </a:r>
            <a:endParaRPr lang="en-US" sz="3000" dirty="0"/>
          </a:p>
        </p:txBody>
      </p:sp>
      <p:sp>
        <p:nvSpPr>
          <p:cNvPr id="4" name="Shape 2"/>
          <p:cNvSpPr/>
          <p:nvPr/>
        </p:nvSpPr>
        <p:spPr>
          <a:xfrm>
            <a:off x="815975" y="1778595"/>
            <a:ext cx="5200650" cy="1425972"/>
          </a:xfrm>
          <a:prstGeom prst="roundRect">
            <a:avLst>
              <a:gd name="adj" fmla="val 5121"/>
            </a:avLst>
          </a:prstGeom>
          <a:solidFill>
            <a:srgbClr val="FDFCF9"/>
          </a:solidFill>
          <a:ln w="6350">
            <a:solidFill>
              <a:srgbClr val="E2DFD6"/>
            </a:solidFill>
            <a:prstDash val="solid"/>
          </a:ln>
        </p:spPr>
      </p:sp>
      <p:sp>
        <p:nvSpPr>
          <p:cNvPr id="5" name="Text 3"/>
          <p:cNvSpPr/>
          <p:nvPr/>
        </p:nvSpPr>
        <p:spPr>
          <a:xfrm>
            <a:off x="1022350" y="1984970"/>
            <a:ext cx="49315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Init container</a:t>
            </a:r>
            <a:endParaRPr lang="en-US" sz="1600" dirty="0"/>
          </a:p>
        </p:txBody>
      </p:sp>
      <p:sp>
        <p:nvSpPr>
          <p:cNvPr id="6" name="Text 4"/>
          <p:cNvSpPr/>
          <p:nvPr/>
        </p:nvSpPr>
        <p:spPr>
          <a:xfrm>
            <a:off x="1022350" y="2304951"/>
            <a:ext cx="4931537"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Ana container'dan </a:t>
            </a:r>
            <a:r>
              <a:rPr lang="en-US" sz="1300" b="1" dirty="0">
                <a:solidFill>
                  <a:srgbClr val="45505F"/>
                </a:solidFill>
                <a:latin typeface="IBM Plex Sans" pitchFamily="34" charset="0"/>
                <a:ea typeface="IBM Plex Sans" pitchFamily="34" charset="-122"/>
                <a:cs typeface="IBM Plex Sans" pitchFamily="34" charset="-120"/>
              </a:rPr>
              <a:t>önce</a:t>
            </a:r>
            <a:r>
              <a:rPr lang="en-US" sz="1300" dirty="0">
                <a:solidFill>
                  <a:srgbClr val="45505F"/>
                </a:solidFill>
                <a:latin typeface="IBM Plex Sans" pitchFamily="34" charset="0"/>
                <a:ea typeface="IBM Plex Sans" pitchFamily="34" charset="-122"/>
                <a:cs typeface="IBM Plex Sans" pitchFamily="34" charset="-120"/>
              </a:rPr>
              <a:t>, sırayla ve tamamlanana kadar çalışır: DB'yi bekle, şema göç et, dosya indir. Biri başarısız olursa pod yeniden dener.</a:t>
            </a:r>
            <a:endParaRPr lang="en-US" sz="1300" dirty="0"/>
          </a:p>
        </p:txBody>
      </p:sp>
      <p:sp>
        <p:nvSpPr>
          <p:cNvPr id="7" name="Shape 5"/>
          <p:cNvSpPr/>
          <p:nvPr/>
        </p:nvSpPr>
        <p:spPr>
          <a:xfrm>
            <a:off x="6175375" y="1778595"/>
            <a:ext cx="5200650" cy="1425972"/>
          </a:xfrm>
          <a:prstGeom prst="roundRect">
            <a:avLst>
              <a:gd name="adj" fmla="val 5121"/>
            </a:avLst>
          </a:prstGeom>
          <a:solidFill>
            <a:srgbClr val="FDFCF9"/>
          </a:solidFill>
          <a:ln w="6350">
            <a:solidFill>
              <a:srgbClr val="E2DFD6"/>
            </a:solidFill>
            <a:prstDash val="solid"/>
          </a:ln>
        </p:spPr>
      </p:sp>
      <p:sp>
        <p:nvSpPr>
          <p:cNvPr id="8" name="Text 6"/>
          <p:cNvSpPr/>
          <p:nvPr/>
        </p:nvSpPr>
        <p:spPr>
          <a:xfrm>
            <a:off x="6381750" y="1984970"/>
            <a:ext cx="49315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Sidecar (yerleşik)</a:t>
            </a:r>
            <a:endParaRPr lang="en-US" sz="1600" dirty="0"/>
          </a:p>
        </p:txBody>
      </p:sp>
      <p:sp>
        <p:nvSpPr>
          <p:cNvPr id="9" name="Text 7"/>
          <p:cNvSpPr/>
          <p:nvPr/>
        </p:nvSpPr>
        <p:spPr>
          <a:xfrm>
            <a:off x="6381750" y="2304951"/>
            <a:ext cx="4931537"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5505F"/>
                </a:solidFill>
                <a:latin typeface="IBM Plex Sans" pitchFamily="34" charset="0"/>
                <a:ea typeface="IBM Plex Sans" pitchFamily="34" charset="-122"/>
                <a:cs typeface="IBM Plex Sans" pitchFamily="34" charset="-120"/>
              </a:rPr>
              <a:t>initContainers</a:t>
            </a:r>
            <a:r>
              <a:rPr lang="en-US" sz="1300" dirty="0">
                <a:solidFill>
                  <a:srgbClr val="45505F"/>
                </a:solidFill>
                <a:latin typeface="IBM Plex Sans" pitchFamily="34" charset="0"/>
                <a:ea typeface="IBM Plex Sans" pitchFamily="34" charset="-122"/>
                <a:cs typeface="IBM Plex Sans" pitchFamily="34" charset="-120"/>
              </a:rPr>
              <a:t> içinde </a:t>
            </a:r>
            <a:r>
              <a:rPr lang="en-US" sz="1300" b="1" dirty="0">
                <a:solidFill>
                  <a:srgbClr val="45505F"/>
                </a:solidFill>
                <a:latin typeface="IBM Plex Sans" pitchFamily="34" charset="0"/>
                <a:ea typeface="IBM Plex Sans" pitchFamily="34" charset="-122"/>
                <a:cs typeface="IBM Plex Sans" pitchFamily="34" charset="-120"/>
              </a:rPr>
              <a:t>restartPolicy: Always</a:t>
            </a:r>
            <a:r>
              <a:rPr lang="en-US" sz="1300" dirty="0">
                <a:solidFill>
                  <a:srgbClr val="45505F"/>
                </a:solidFill>
                <a:latin typeface="IBM Plex Sans" pitchFamily="34" charset="0"/>
                <a:ea typeface="IBM Plex Sans" pitchFamily="34" charset="-122"/>
                <a:cs typeface="IBM Plex Sans" pitchFamily="34" charset="-120"/>
              </a:rPr>
              <a:t> ile tanımlanır: ana container'dan önce başlar, pod boyunca çalışır, ondan sonra durur. Log taşıyıcı, proxy.</a:t>
            </a:r>
            <a:endParaRPr lang="en-US" sz="1300" dirty="0"/>
          </a:p>
        </p:txBody>
      </p:sp>
      <p:sp>
        <p:nvSpPr>
          <p:cNvPr id="10" name="Shape 8"/>
          <p:cNvSpPr/>
          <p:nvPr/>
        </p:nvSpPr>
        <p:spPr>
          <a:xfrm>
            <a:off x="815975" y="3363317"/>
            <a:ext cx="5200650" cy="1194891"/>
          </a:xfrm>
          <a:prstGeom prst="roundRect">
            <a:avLst>
              <a:gd name="adj" fmla="val 6111"/>
            </a:avLst>
          </a:prstGeom>
          <a:solidFill>
            <a:srgbClr val="FDFCF9"/>
          </a:solidFill>
          <a:ln w="6350">
            <a:solidFill>
              <a:srgbClr val="E2DFD6"/>
            </a:solidFill>
            <a:prstDash val="solid"/>
          </a:ln>
        </p:spPr>
      </p:sp>
      <p:sp>
        <p:nvSpPr>
          <p:cNvPr id="11" name="Text 9"/>
          <p:cNvSpPr/>
          <p:nvPr/>
        </p:nvSpPr>
        <p:spPr>
          <a:xfrm>
            <a:off x="1022350" y="3569692"/>
            <a:ext cx="49315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Co-located (klasik)</a:t>
            </a:r>
            <a:endParaRPr lang="en-US" sz="1600" dirty="0"/>
          </a:p>
        </p:txBody>
      </p:sp>
      <p:sp>
        <p:nvSpPr>
          <p:cNvPr id="12" name="Text 10"/>
          <p:cNvSpPr/>
          <p:nvPr/>
        </p:nvSpPr>
        <p:spPr>
          <a:xfrm>
            <a:off x="1022350" y="3889673"/>
            <a:ext cx="4931537"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5505F"/>
                </a:solidFill>
                <a:latin typeface="IBM Plex Sans" pitchFamily="34" charset="0"/>
                <a:ea typeface="IBM Plex Sans" pitchFamily="34" charset="-122"/>
                <a:cs typeface="IBM Plex Sans" pitchFamily="34" charset="-120"/>
              </a:rPr>
              <a:t>containers</a:t>
            </a:r>
            <a:r>
              <a:rPr lang="en-US" sz="1300" dirty="0">
                <a:solidFill>
                  <a:srgbClr val="45505F"/>
                </a:solidFill>
                <a:latin typeface="IBM Plex Sans" pitchFamily="34" charset="0"/>
                <a:ea typeface="IBM Plex Sans" pitchFamily="34" charset="-122"/>
                <a:cs typeface="IBM Plex Sans" pitchFamily="34" charset="-120"/>
              </a:rPr>
              <a:t> listesinde yan yana; başlama sırası garanti değildir. Eski sidecar yaklaşımı.</a:t>
            </a:r>
            <a:endParaRPr lang="en-US" sz="1300" dirty="0"/>
          </a:p>
        </p:txBody>
      </p:sp>
      <p:sp>
        <p:nvSpPr>
          <p:cNvPr id="13" name="Shape 11"/>
          <p:cNvSpPr/>
          <p:nvPr/>
        </p:nvSpPr>
        <p:spPr>
          <a:xfrm>
            <a:off x="6175375" y="3363317"/>
            <a:ext cx="5200650" cy="1194891"/>
          </a:xfrm>
          <a:prstGeom prst="roundRect">
            <a:avLst>
              <a:gd name="adj" fmla="val 6111"/>
            </a:avLst>
          </a:prstGeom>
          <a:solidFill>
            <a:srgbClr val="FDFCF9"/>
          </a:solidFill>
          <a:ln w="6350">
            <a:solidFill>
              <a:srgbClr val="E2DFD6"/>
            </a:solidFill>
            <a:prstDash val="solid"/>
          </a:ln>
        </p:spPr>
      </p:sp>
      <p:sp>
        <p:nvSpPr>
          <p:cNvPr id="14" name="Text 12"/>
          <p:cNvSpPr/>
          <p:nvPr/>
        </p:nvSpPr>
        <p:spPr>
          <a:xfrm>
            <a:off x="6381750" y="3569692"/>
            <a:ext cx="49315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Adapter · Ambassador</a:t>
            </a:r>
            <a:endParaRPr lang="en-US" sz="1600" dirty="0"/>
          </a:p>
        </p:txBody>
      </p:sp>
      <p:sp>
        <p:nvSpPr>
          <p:cNvPr id="15" name="Text 13"/>
          <p:cNvSpPr/>
          <p:nvPr/>
        </p:nvSpPr>
        <p:spPr>
          <a:xfrm>
            <a:off x="6381750" y="3889673"/>
            <a:ext cx="493153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Adapter çıktıyı standart biçime çevirir (log formatı); ambassador dış bağlantıyı vekâleten yönetir (DB proxy).</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5">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HEALTH CHECK · PROBE'LAR</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"Çalışıyor" ile "hazır" aynı şey değil</a:t>
            </a:r>
            <a:endParaRPr lang="en-US" sz="3000" dirty="0"/>
          </a:p>
        </p:txBody>
      </p:sp>
      <p:sp>
        <p:nvSpPr>
          <p:cNvPr id="4" name="Shape 2"/>
          <p:cNvSpPr/>
          <p:nvPr/>
        </p:nvSpPr>
        <p:spPr>
          <a:xfrm>
            <a:off x="815975" y="1778595"/>
            <a:ext cx="3414117" cy="1946573"/>
          </a:xfrm>
          <a:prstGeom prst="roundRect">
            <a:avLst>
              <a:gd name="adj" fmla="val 3751"/>
            </a:avLst>
          </a:prstGeom>
          <a:solidFill>
            <a:srgbClr val="FDFCF9"/>
          </a:solidFill>
          <a:ln w="6350">
            <a:solidFill>
              <a:srgbClr val="E2DFD6"/>
            </a:solidFill>
            <a:prstDash val="solid"/>
          </a:ln>
        </p:spPr>
      </p:sp>
      <p:sp>
        <p:nvSpPr>
          <p:cNvPr id="5" name="Text 3"/>
          <p:cNvSpPr/>
          <p:nvPr/>
        </p:nvSpPr>
        <p:spPr>
          <a:xfrm>
            <a:off x="1022350" y="1984970"/>
            <a:ext cx="30914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READINESS</a:t>
            </a:r>
            <a:endParaRPr lang="en-US" sz="1200" dirty="0"/>
          </a:p>
        </p:txBody>
      </p:sp>
      <p:sp>
        <p:nvSpPr>
          <p:cNvPr id="6" name="Text 4"/>
          <p:cNvSpPr/>
          <p:nvPr/>
        </p:nvSpPr>
        <p:spPr>
          <a:xfrm>
            <a:off x="1022350" y="2274491"/>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Trafik alabilir mi?</a:t>
            </a:r>
            <a:endParaRPr lang="en-US" sz="1600" dirty="0"/>
          </a:p>
        </p:txBody>
      </p:sp>
      <p:sp>
        <p:nvSpPr>
          <p:cNvPr id="7" name="Text 5"/>
          <p:cNvSpPr/>
          <p:nvPr/>
        </p:nvSpPr>
        <p:spPr>
          <a:xfrm>
            <a:off x="1022350" y="2594471"/>
            <a:ext cx="3091408"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Başarısızsa pod Service endpoint'lerinden </a:t>
            </a:r>
            <a:r>
              <a:rPr lang="en-US" sz="1300" b="1" dirty="0">
                <a:solidFill>
                  <a:srgbClr val="45505F"/>
                </a:solidFill>
                <a:latin typeface="IBM Plex Sans" pitchFamily="34" charset="0"/>
                <a:ea typeface="IBM Plex Sans" pitchFamily="34" charset="-122"/>
                <a:cs typeface="IBM Plex Sans" pitchFamily="34" charset="-120"/>
              </a:rPr>
              <a:t>çıkarılır</a:t>
            </a:r>
            <a:r>
              <a:rPr lang="en-US" sz="1300" dirty="0">
                <a:solidFill>
                  <a:srgbClr val="45505F"/>
                </a:solidFill>
                <a:latin typeface="IBM Plex Sans" pitchFamily="34" charset="0"/>
                <a:ea typeface="IBM Plex Sans" pitchFamily="34" charset="-122"/>
                <a:cs typeface="IBM Plex Sans" pitchFamily="34" charset="-120"/>
              </a:rPr>
              <a:t>, yeniden başlatılmaz. Isınma süresi, geçici bağımlılık kaybı.</a:t>
            </a:r>
            <a:endParaRPr lang="en-US" sz="1300" dirty="0"/>
          </a:p>
        </p:txBody>
      </p:sp>
      <p:sp>
        <p:nvSpPr>
          <p:cNvPr id="8" name="Shape 6"/>
          <p:cNvSpPr/>
          <p:nvPr/>
        </p:nvSpPr>
        <p:spPr>
          <a:xfrm>
            <a:off x="4388842" y="1778595"/>
            <a:ext cx="3414216" cy="1946573"/>
          </a:xfrm>
          <a:prstGeom prst="roundRect">
            <a:avLst>
              <a:gd name="adj" fmla="val 3751"/>
            </a:avLst>
          </a:prstGeom>
          <a:solidFill>
            <a:srgbClr val="FDFCF9"/>
          </a:solidFill>
          <a:ln w="6350">
            <a:solidFill>
              <a:srgbClr val="E2DFD6"/>
            </a:solidFill>
            <a:prstDash val="solid"/>
          </a:ln>
        </p:spPr>
      </p:sp>
      <p:sp>
        <p:nvSpPr>
          <p:cNvPr id="9" name="Text 7"/>
          <p:cNvSpPr/>
          <p:nvPr/>
        </p:nvSpPr>
        <p:spPr>
          <a:xfrm>
            <a:off x="4595217" y="1984970"/>
            <a:ext cx="309151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LIVENESS</a:t>
            </a:r>
            <a:endParaRPr lang="en-US" sz="1200" dirty="0"/>
          </a:p>
        </p:txBody>
      </p:sp>
      <p:sp>
        <p:nvSpPr>
          <p:cNvPr id="10" name="Text 8"/>
          <p:cNvSpPr/>
          <p:nvPr/>
        </p:nvSpPr>
        <p:spPr>
          <a:xfrm>
            <a:off x="4595217" y="2274491"/>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Hâlâ sağlıklı mı?</a:t>
            </a:r>
            <a:endParaRPr lang="en-US" sz="1600" dirty="0"/>
          </a:p>
        </p:txBody>
      </p:sp>
      <p:sp>
        <p:nvSpPr>
          <p:cNvPr id="11" name="Text 9"/>
          <p:cNvSpPr/>
          <p:nvPr/>
        </p:nvSpPr>
        <p:spPr>
          <a:xfrm>
            <a:off x="4595217" y="2594471"/>
            <a:ext cx="309151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Başarısızsa container </a:t>
            </a:r>
            <a:r>
              <a:rPr lang="en-US" sz="1300" b="1" dirty="0">
                <a:solidFill>
                  <a:srgbClr val="45505F"/>
                </a:solidFill>
                <a:latin typeface="IBM Plex Sans" pitchFamily="34" charset="0"/>
                <a:ea typeface="IBM Plex Sans" pitchFamily="34" charset="-122"/>
                <a:cs typeface="IBM Plex Sans" pitchFamily="34" charset="-120"/>
              </a:rPr>
              <a:t>yeniden başlatılır</a:t>
            </a:r>
            <a:r>
              <a:rPr lang="en-US" sz="1300" dirty="0">
                <a:solidFill>
                  <a:srgbClr val="45505F"/>
                </a:solidFill>
                <a:latin typeface="IBM Plex Sans" pitchFamily="34" charset="0"/>
                <a:ea typeface="IBM Plex Sans" pitchFamily="34" charset="-122"/>
                <a:cs typeface="IBM Plex Sans" pitchFamily="34" charset="-120"/>
              </a:rPr>
              <a:t>. Süreç ayakta ama kilitlenmiş (deadlock) uygulamalar için.</a:t>
            </a:r>
            <a:endParaRPr lang="en-US" sz="1300" dirty="0"/>
          </a:p>
        </p:txBody>
      </p:sp>
      <p:sp>
        <p:nvSpPr>
          <p:cNvPr id="12" name="Shape 10"/>
          <p:cNvSpPr/>
          <p:nvPr/>
        </p:nvSpPr>
        <p:spPr>
          <a:xfrm>
            <a:off x="7961809" y="1778595"/>
            <a:ext cx="3414216" cy="1946573"/>
          </a:xfrm>
          <a:prstGeom prst="roundRect">
            <a:avLst>
              <a:gd name="adj" fmla="val 3751"/>
            </a:avLst>
          </a:prstGeom>
          <a:solidFill>
            <a:srgbClr val="FDFCF9"/>
          </a:solidFill>
          <a:ln w="6350">
            <a:solidFill>
              <a:srgbClr val="E2DFD6"/>
            </a:solidFill>
            <a:prstDash val="solid"/>
          </a:ln>
        </p:spPr>
      </p:sp>
      <p:sp>
        <p:nvSpPr>
          <p:cNvPr id="13" name="Text 11"/>
          <p:cNvSpPr/>
          <p:nvPr/>
        </p:nvSpPr>
        <p:spPr>
          <a:xfrm>
            <a:off x="8168184" y="1984970"/>
            <a:ext cx="309151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STARTUP</a:t>
            </a:r>
            <a:endParaRPr lang="en-US" sz="1200" dirty="0"/>
          </a:p>
        </p:txBody>
      </p:sp>
      <p:sp>
        <p:nvSpPr>
          <p:cNvPr id="14" name="Text 12"/>
          <p:cNvSpPr/>
          <p:nvPr/>
        </p:nvSpPr>
        <p:spPr>
          <a:xfrm>
            <a:off x="8168184" y="2274491"/>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Açılış bitti mi?</a:t>
            </a:r>
            <a:endParaRPr lang="en-US" sz="1600" dirty="0"/>
          </a:p>
        </p:txBody>
      </p:sp>
      <p:sp>
        <p:nvSpPr>
          <p:cNvPr id="15" name="Text 13"/>
          <p:cNvSpPr/>
          <p:nvPr/>
        </p:nvSpPr>
        <p:spPr>
          <a:xfrm>
            <a:off x="8168184" y="2594471"/>
            <a:ext cx="309151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Başarılı olana kadar diğer iki probe </a:t>
            </a:r>
            <a:r>
              <a:rPr lang="en-US" sz="1300" b="1" dirty="0">
                <a:solidFill>
                  <a:srgbClr val="45505F"/>
                </a:solidFill>
                <a:latin typeface="IBM Plex Sans" pitchFamily="34" charset="0"/>
                <a:ea typeface="IBM Plex Sans" pitchFamily="34" charset="-122"/>
                <a:cs typeface="IBM Plex Sans" pitchFamily="34" charset="-120"/>
              </a:rPr>
              <a:t>çalışmaz</a:t>
            </a:r>
            <a:r>
              <a:rPr lang="en-US" sz="1300" dirty="0">
                <a:solidFill>
                  <a:srgbClr val="45505F"/>
                </a:solidFill>
                <a:latin typeface="IBM Plex Sans" pitchFamily="34" charset="0"/>
                <a:ea typeface="IBM Plex Sans" pitchFamily="34" charset="-122"/>
                <a:cs typeface="IBM Plex Sans" pitchFamily="34" charset="-120"/>
              </a:rPr>
              <a:t>. Yavaş açılan uygulamanın liveness'a takılıp öldürülmesini önler.</a:t>
            </a:r>
            <a:endParaRPr lang="en-US" sz="1300" dirty="0"/>
          </a:p>
        </p:txBody>
      </p:sp>
      <p:sp>
        <p:nvSpPr>
          <p:cNvPr id="16" name="Text 14"/>
          <p:cNvSpPr/>
          <p:nvPr/>
        </p:nvSpPr>
        <p:spPr>
          <a:xfrm>
            <a:off x="812800" y="3982343"/>
            <a:ext cx="2565400" cy="485080"/>
          </a:xfrm>
          <a:prstGeom prst="roundRect">
            <a:avLst>
              <a:gd name="adj" fmla="val 13091"/>
            </a:avLst>
          </a:prstGeom>
          <a:solidFill>
            <a:srgbClr val="142033"/>
          </a:solidFill>
          <a:ln/>
        </p:spPr>
        <p:txBody>
          <a:bodyPr wrap="square" lIns="73730" tIns="108401" rIns="73730" bIns="83001" rtlCol="0" anchor="t">
            <a:normAutofit/>
          </a:bodyPr>
          <a:lstStyle/>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httpGet</a:t>
            </a:r>
            <a:endParaRPr lang="en-US" sz="1300" dirty="0"/>
          </a:p>
        </p:txBody>
      </p:sp>
      <p:sp>
        <p:nvSpPr>
          <p:cNvPr id="17" name="Text 15"/>
          <p:cNvSpPr/>
          <p:nvPr/>
        </p:nvSpPr>
        <p:spPr>
          <a:xfrm>
            <a:off x="3479800" y="3982343"/>
            <a:ext cx="2565400" cy="485080"/>
          </a:xfrm>
          <a:prstGeom prst="roundRect">
            <a:avLst>
              <a:gd name="adj" fmla="val 13091"/>
            </a:avLst>
          </a:prstGeom>
          <a:solidFill>
            <a:srgbClr val="142033"/>
          </a:solidFill>
          <a:ln/>
        </p:spPr>
        <p:txBody>
          <a:bodyPr wrap="square" lIns="73730" tIns="108401" rIns="73730" bIns="83001" rtlCol="0" anchor="t">
            <a:normAutofit/>
          </a:bodyPr>
          <a:lstStyle/>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tcpSocket</a:t>
            </a:r>
            <a:endParaRPr lang="en-US" sz="1300" dirty="0"/>
          </a:p>
        </p:txBody>
      </p:sp>
      <p:sp>
        <p:nvSpPr>
          <p:cNvPr id="18" name="Text 16"/>
          <p:cNvSpPr/>
          <p:nvPr/>
        </p:nvSpPr>
        <p:spPr>
          <a:xfrm>
            <a:off x="6146800" y="3982343"/>
            <a:ext cx="2565400" cy="485080"/>
          </a:xfrm>
          <a:prstGeom prst="roundRect">
            <a:avLst>
              <a:gd name="adj" fmla="val 13091"/>
            </a:avLst>
          </a:prstGeom>
          <a:solidFill>
            <a:srgbClr val="142033"/>
          </a:solidFill>
          <a:ln/>
        </p:spPr>
        <p:txBody>
          <a:bodyPr wrap="square" lIns="73730" tIns="108401" rIns="73730" bIns="83001" rtlCol="0" anchor="t">
            <a:normAutofit/>
          </a:bodyPr>
          <a:lstStyle/>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exec (komut)</a:t>
            </a:r>
            <a:endParaRPr lang="en-US" sz="1300" dirty="0"/>
          </a:p>
        </p:txBody>
      </p:sp>
      <p:sp>
        <p:nvSpPr>
          <p:cNvPr id="19" name="Text 17"/>
          <p:cNvSpPr/>
          <p:nvPr/>
        </p:nvSpPr>
        <p:spPr>
          <a:xfrm>
            <a:off x="8813800" y="3982343"/>
            <a:ext cx="2565400" cy="485080"/>
          </a:xfrm>
          <a:prstGeom prst="roundRect">
            <a:avLst>
              <a:gd name="adj" fmla="val 13091"/>
            </a:avLst>
          </a:prstGeom>
          <a:solidFill>
            <a:srgbClr val="142033"/>
          </a:solidFill>
          <a:ln/>
        </p:spPr>
        <p:txBody>
          <a:bodyPr wrap="square" lIns="73730" tIns="108401" rIns="73730" bIns="83001" rtlCol="0" anchor="t">
            <a:normAutofit/>
          </a:bodyPr>
          <a:lstStyle/>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grpc</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6">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PROBE TANIMI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Zamanlama parametreleri</a:t>
            </a:r>
            <a:endParaRPr lang="en-US" sz="3000" dirty="0"/>
          </a:p>
        </p:txBody>
      </p:sp>
      <p:sp>
        <p:nvSpPr>
          <p:cNvPr id="4" name="Text 2"/>
          <p:cNvSpPr/>
          <p:nvPr/>
        </p:nvSpPr>
        <p:spPr>
          <a:xfrm>
            <a:off x="812800" y="1775420"/>
            <a:ext cx="4826000" cy="3720802"/>
          </a:xfrm>
          <a:prstGeom prst="roundRect">
            <a:avLst>
              <a:gd name="adj" fmla="val 2048"/>
            </a:avLst>
          </a:prstGeom>
          <a:solidFill>
            <a:srgbClr val="1B2A41"/>
          </a:solidFill>
          <a:ln/>
        </p:spPr>
        <p:txBody>
          <a:bodyPr wrap="square" lIns="180882" tIns="180882" rIns="48294"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containers: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web</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 webapp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startupProbe: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httpGet: {path: /healthz, port: 8080}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failureThreshold: 30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periodSeconds: 10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readinessProbe: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httpGet: {path: /ready, port: 8080}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periodSeconds: 5</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livenessProbe: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tcpSocket: {port: 8080}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initialDelaySeconds: 10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periodSeconds: 15</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failureThreshold: 3</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05500" y="1788120"/>
          <a:ext cx="5473700" cy="1995487"/>
        </p:xfrm>
        <a:graphic>
          <a:graphicData uri="http://schemas.openxmlformats.org/drawingml/2006/table">
            <a:tbl>
              <a:tblPr/>
              <a:tblGrid>
                <a:gridCol w="2846324">
                  <a:extLst>
                    <a:ext uri="{9D8B030D-6E8A-4147-A177-3AD203B41FA5}">
                      <a16:colId xmlns:a16="http://schemas.microsoft.com/office/drawing/2014/main" val="20000"/>
                    </a:ext>
                  </a:extLst>
                </a:gridCol>
                <a:gridCol w="2627376">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Parametre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Anlamı</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initialDelaySeconds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İlk denemeden önce bekleme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periodSeconds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Deneme aralığı (vars. 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timeoutSeconds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Yanıt bekleme (vars. 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failureThreshold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Kaç hatada başarısız (vars. 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successThreshold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Kaç başarıda sağlıklı (vars. 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5892800" y="3936008"/>
            <a:ext cx="5486400" cy="800100"/>
          </a:xfrm>
          <a:prstGeom prst="roundRect">
            <a:avLst>
              <a:gd name="adj" fmla="val 7937"/>
            </a:avLst>
          </a:prstGeom>
          <a:solidFill>
            <a:srgbClr val="DCE6F7"/>
          </a:solidFill>
          <a:ln/>
        </p:spPr>
        <p:txBody>
          <a:bodyPr wrap="square" lIns="133801" tIns="133801" rIns="0" bIns="108401" rtlCol="0" anchor="t">
            <a:normAutofit/>
          </a:bodyPr>
          <a:lstStyle/>
          <a:p>
            <a:pPr marL="0" indent="0" algn="l">
              <a:lnSpc>
                <a:spcPts val="1950"/>
              </a:lnSpc>
              <a:buNone/>
            </a:pPr>
            <a:r>
              <a:rPr lang="en-US" sz="1300" dirty="0">
                <a:solidFill>
                  <a:srgbClr val="142033"/>
                </a:solidFill>
                <a:latin typeface="IBM Plex Sans" pitchFamily="34" charset="0"/>
                <a:ea typeface="IBM Plex Sans" pitchFamily="34" charset="-122"/>
                <a:cs typeface="IBM Plex Sans" pitchFamily="34" charset="-120"/>
              </a:rPr>
              <a:t>Bu örnekte açılış için 30 × 10 = </a:t>
            </a:r>
            <a:r>
              <a:rPr lang="en-US" sz="1300" b="1" dirty="0">
                <a:solidFill>
                  <a:srgbClr val="142033"/>
                </a:solidFill>
                <a:latin typeface="IBM Plex Sans" pitchFamily="34" charset="0"/>
                <a:ea typeface="IBM Plex Sans" pitchFamily="34" charset="-122"/>
                <a:cs typeface="IBM Plex Sans" pitchFamily="34" charset="-120"/>
              </a:rPr>
              <a:t>300 saniye</a:t>
            </a:r>
            <a:r>
              <a:rPr lang="en-US" sz="1300" dirty="0">
                <a:solidFill>
                  <a:srgbClr val="142033"/>
                </a:solidFill>
                <a:latin typeface="IBM Plex Sans" pitchFamily="34" charset="0"/>
                <a:ea typeface="IBM Plex Sans" pitchFamily="34" charset="-122"/>
                <a:cs typeface="IBM Plex Sans" pitchFamily="34" charset="-120"/>
              </a:rPr>
              <a:t> tanınır; startup başarılı olunca readiness ve liveness devralır.</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7">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ÖLÇEKLEME</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Yatay mı, dikey mi; iş yükü mü, cluster mı?</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1437084"/>
        </p:xfrm>
        <a:graphic>
          <a:graphicData uri="http://schemas.openxmlformats.org/drawingml/2006/table">
            <a:tbl>
              <a:tblPr/>
              <a:tblGrid>
                <a:gridCol w="2321814">
                  <a:extLst>
                    <a:ext uri="{9D8B030D-6E8A-4147-A177-3AD203B41FA5}">
                      <a16:colId xmlns:a16="http://schemas.microsoft.com/office/drawing/2014/main" val="20000"/>
                    </a:ext>
                  </a:extLst>
                </a:gridCol>
                <a:gridCol w="4115943">
                  <a:extLst>
                    <a:ext uri="{9D8B030D-6E8A-4147-A177-3AD203B41FA5}">
                      <a16:colId xmlns:a16="http://schemas.microsoft.com/office/drawing/2014/main" val="20001"/>
                    </a:ext>
                  </a:extLst>
                </a:gridCol>
                <a:gridCol w="4115943">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Boyut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Yatay (scale out)</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Dikey (scale up)</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İş yükü</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HPA — pod sayısını artırır/azaltır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VPA — pod'un CPU/bellek request'ini ayarlar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Cluster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Cluster Autoscaler / Karpenter — node ekler/çıkarır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Node'ları daha büyük makinelerle değiştirmek</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Elle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kubectl scale deploy web --replicas=5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kubectl edit / in-place resize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3479205"/>
            <a:ext cx="5200650" cy="779661"/>
          </a:xfrm>
          <a:prstGeom prst="roundRect">
            <a:avLst>
              <a:gd name="adj" fmla="val 8145"/>
            </a:avLst>
          </a:prstGeom>
          <a:solidFill>
            <a:srgbClr val="DCE6F7"/>
          </a:solidFill>
          <a:ln/>
        </p:spPr>
        <p:txBody>
          <a:bodyPr wrap="square" lIns="133801" tIns="133801" rIns="0" bIns="108401"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Ön koşul:</a:t>
            </a:r>
            <a:r>
              <a:rPr lang="en-US" sz="1300" dirty="0">
                <a:solidFill>
                  <a:srgbClr val="142033"/>
                </a:solidFill>
                <a:latin typeface="IBM Plex Sans" pitchFamily="34" charset="0"/>
                <a:ea typeface="IBM Plex Sans" pitchFamily="34" charset="-122"/>
                <a:cs typeface="IBM Plex Sans" pitchFamily="34" charset="-120"/>
              </a:rPr>
              <a:t> HPA ve VPA'nın metrik okuyabilmesi için cluster'da </a:t>
            </a:r>
            <a:r>
              <a:rPr lang="en-US" sz="1300" b="1" dirty="0">
                <a:solidFill>
                  <a:srgbClr val="142033"/>
                </a:solidFill>
                <a:latin typeface="IBM Plex Sans" pitchFamily="34" charset="0"/>
                <a:ea typeface="IBM Plex Sans" pitchFamily="34" charset="-122"/>
                <a:cs typeface="IBM Plex Sans" pitchFamily="34" charset="-120"/>
              </a:rPr>
              <a:t>metrics-server</a:t>
            </a:r>
            <a:r>
              <a:rPr lang="en-US" sz="1300" dirty="0">
                <a:solidFill>
                  <a:srgbClr val="142033"/>
                </a:solidFill>
                <a:latin typeface="IBM Plex Sans" pitchFamily="34" charset="0"/>
                <a:ea typeface="IBM Plex Sans" pitchFamily="34" charset="-122"/>
                <a:cs typeface="IBM Plex Sans" pitchFamily="34" charset="-120"/>
              </a:rPr>
              <a:t> kurulu olmalı.</a:t>
            </a:r>
            <a:endParaRPr lang="en-US" sz="1300" dirty="0"/>
          </a:p>
        </p:txBody>
      </p:sp>
      <p:sp>
        <p:nvSpPr>
          <p:cNvPr id="6" name="Text 3"/>
          <p:cNvSpPr/>
          <p:nvPr/>
        </p:nvSpPr>
        <p:spPr>
          <a:xfrm>
            <a:off x="6169025" y="3482380"/>
            <a:ext cx="5207000" cy="773311"/>
          </a:xfrm>
          <a:prstGeom prst="roundRect">
            <a:avLst>
              <a:gd name="adj" fmla="val 7801"/>
            </a:avLst>
          </a:prstGeom>
          <a:solidFill>
            <a:srgbClr val="FDFCF9"/>
          </a:solidFill>
          <a:ln w="6350">
            <a:solidFill>
              <a:srgbClr val="E2DFD6"/>
            </a:solidFill>
            <a:prstDash val="solid"/>
          </a:ln>
        </p:spPr>
        <p:txBody>
          <a:bodyPr wrap="square" lIns="137906" tIns="137906" rIns="0" bIns="112506"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Olay tabanlı ölçekleme (kuyruk uzunluğu, Kafka lag) için </a:t>
            </a:r>
            <a:r>
              <a:rPr lang="en-US" sz="1300" b="1" dirty="0">
                <a:solidFill>
                  <a:srgbClr val="142033"/>
                </a:solidFill>
                <a:latin typeface="IBM Plex Sans" pitchFamily="34" charset="0"/>
                <a:ea typeface="IBM Plex Sans" pitchFamily="34" charset="-122"/>
                <a:cs typeface="IBM Plex Sans" pitchFamily="34" charset="-120"/>
              </a:rPr>
              <a:t>KEDA</a:t>
            </a:r>
            <a:r>
              <a:rPr lang="en-US" sz="1300" dirty="0">
                <a:solidFill>
                  <a:srgbClr val="45505F"/>
                </a:solidFill>
                <a:latin typeface="IBM Plex Sans" pitchFamily="34" charset="0"/>
                <a:ea typeface="IBM Plex Sans" pitchFamily="34" charset="-122"/>
                <a:cs typeface="IBM Plex Sans" pitchFamily="34" charset="-120"/>
              </a:rPr>
              <a:t> kullanılır.</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8">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HORIZONTAL POD AUTOSCALER</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Yüke göre replika sayısı</a:t>
            </a:r>
            <a:endParaRPr lang="en-US" sz="3000" dirty="0"/>
          </a:p>
        </p:txBody>
      </p:sp>
      <p:sp>
        <p:nvSpPr>
          <p:cNvPr id="4" name="Text 2"/>
          <p:cNvSpPr/>
          <p:nvPr/>
        </p:nvSpPr>
        <p:spPr>
          <a:xfrm>
            <a:off x="898144" y="1775420"/>
            <a:ext cx="6212078" cy="17589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Periyodik olarak (varsayılan 15 sn) metriği okur, hedefle karşılaştırır.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Hedef yüzdesi pod'un </a:t>
            </a:r>
            <a:r>
              <a:rPr lang="en-US" sz="1300" b="1" dirty="0">
                <a:solidFill>
                  <a:srgbClr val="142033"/>
                </a:solidFill>
                <a:latin typeface="IBM Plex Sans" pitchFamily="34" charset="0"/>
                <a:ea typeface="IBM Plex Sans" pitchFamily="34" charset="-122"/>
                <a:cs typeface="IBM Plex Sans" pitchFamily="34" charset="-120"/>
              </a:rPr>
              <a:t>request</a:t>
            </a:r>
            <a:r>
              <a:rPr lang="en-US" sz="1300" dirty="0">
                <a:solidFill>
                  <a:srgbClr val="45505F"/>
                </a:solidFill>
                <a:latin typeface="IBM Plex Sans" pitchFamily="34" charset="0"/>
                <a:ea typeface="IBM Plex Sans" pitchFamily="34" charset="-122"/>
                <a:cs typeface="IBM Plex Sans" pitchFamily="34" charset="-120"/>
              </a:rPr>
              <a:t>'ine göre hesaplanır — request yoksa CPU yüzdesiyle HPA çalışmaz.</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Kaynak metrikleri (CPU, bellek), custom ve external metrikler (Prometheus adapter).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Ani dalgalanmayı önlemek için küçültmede varsayılan 5 dk stabilizasyon penceresi.</a:t>
            </a:r>
            <a:endParaRPr lang="en-US" sz="1300" dirty="0"/>
          </a:p>
        </p:txBody>
      </p:sp>
      <p:sp>
        <p:nvSpPr>
          <p:cNvPr id="5" name="Text 3"/>
          <p:cNvSpPr/>
          <p:nvPr/>
        </p:nvSpPr>
        <p:spPr>
          <a:xfrm>
            <a:off x="812800" y="3635970"/>
            <a:ext cx="6121400" cy="766961"/>
          </a:xfrm>
          <a:prstGeom prst="roundRect">
            <a:avLst>
              <a:gd name="adj" fmla="val 8279"/>
            </a:avLst>
          </a:prstGeom>
          <a:solidFill>
            <a:srgbClr val="142033"/>
          </a:solidFill>
          <a:ln/>
        </p:spPr>
        <p:txBody>
          <a:bodyPr wrap="square" lIns="133801" tIns="133801" rIns="0" bIns="108401" rtlCol="0" anchor="t">
            <a:normAutofit/>
          </a:bodyPr>
          <a:lstStyle/>
          <a:p>
            <a:pPr marL="0" indent="0" algn="l">
              <a:lnSpc>
                <a:spcPts val="1820"/>
              </a:lnSpc>
              <a:buNone/>
            </a:pPr>
            <a:r>
              <a:rPr lang="en-US" sz="1300" dirty="0">
                <a:solidFill>
                  <a:srgbClr val="F5F4EF"/>
                </a:solidFill>
                <a:latin typeface="IBM Plex Sans" pitchFamily="34" charset="0"/>
                <a:ea typeface="IBM Plex Sans" pitchFamily="34" charset="-122"/>
                <a:cs typeface="IBM Plex Sans" pitchFamily="34" charset="-120"/>
              </a:rPr>
              <a:t>istenen = ⌈ mevcut × (mevcut metrik / hedef) ⌉</a:t>
            </a:r>
            <a:endParaRPr lang="en-US" sz="1300" dirty="0"/>
          </a:p>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4 pod × (%90 / %60) = 6 pod</a:t>
            </a:r>
            <a:endParaRPr lang="en-US" sz="1300" dirty="0"/>
          </a:p>
        </p:txBody>
      </p:sp>
      <p:sp>
        <p:nvSpPr>
          <p:cNvPr id="6" name="Text 4"/>
          <p:cNvSpPr/>
          <p:nvPr/>
        </p:nvSpPr>
        <p:spPr>
          <a:xfrm>
            <a:off x="812800" y="4529931"/>
            <a:ext cx="6121400" cy="746720"/>
          </a:xfrm>
          <a:prstGeom prst="roundRect">
            <a:avLst>
              <a:gd name="adj" fmla="val 10205"/>
            </a:avLst>
          </a:prstGeom>
          <a:solidFill>
            <a:srgbClr val="1B2A41"/>
          </a:solidFill>
          <a:ln/>
        </p:spPr>
        <p:txBody>
          <a:bodyPr wrap="square" lIns="130082" tIns="130082" rIns="0" bIns="1046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autoscale deploy web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--cpu-percent=60 --min=2 --max=10</a:t>
            </a:r>
            <a:endParaRPr lang="en-US" sz="1200" dirty="0"/>
          </a:p>
        </p:txBody>
      </p:sp>
      <p:sp>
        <p:nvSpPr>
          <p:cNvPr id="7" name="Text 5"/>
          <p:cNvSpPr/>
          <p:nvPr/>
        </p:nvSpPr>
        <p:spPr>
          <a:xfrm>
            <a:off x="7188200" y="1775420"/>
            <a:ext cx="4191000" cy="3501231"/>
          </a:xfrm>
          <a:prstGeom prst="roundRect">
            <a:avLst>
              <a:gd name="adj" fmla="val 2176"/>
            </a:avLst>
          </a:prstGeom>
          <a:solidFill>
            <a:srgbClr val="1B2A41"/>
          </a:solidFill>
          <a:ln/>
        </p:spPr>
        <p:txBody>
          <a:bodyPr wrap="square" lIns="155482" tIns="155482" rIns="40420"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autoscaling/v2</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HorizontalPodAutoscaler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scaleTargetRef:</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{apiVersion: apps/v1,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kind: Deployment, name: web}</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minReplicas: 2</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maxReplicas: 10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metrics: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type: Resource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resource: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cpu</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target: {type: Utilization,</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averageUtilization: 60}</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9">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VPA VE IN-PLACE RESIZE</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Pod sayısını değil, pod'un boyunu değiştirmek</a:t>
            </a:r>
            <a:endParaRPr lang="en-US" sz="3000" dirty="0"/>
          </a:p>
        </p:txBody>
      </p:sp>
      <p:sp>
        <p:nvSpPr>
          <p:cNvPr id="4" name="Shape 2"/>
          <p:cNvSpPr/>
          <p:nvPr/>
        </p:nvSpPr>
        <p:spPr>
          <a:xfrm>
            <a:off x="815975" y="1778595"/>
            <a:ext cx="5207000" cy="2895997"/>
          </a:xfrm>
          <a:prstGeom prst="roundRect">
            <a:avLst>
              <a:gd name="adj" fmla="val 2522"/>
            </a:avLst>
          </a:prstGeom>
          <a:solidFill>
            <a:srgbClr val="FDFCF9"/>
          </a:solidFill>
          <a:ln w="6350">
            <a:solidFill>
              <a:srgbClr val="E2DFD6"/>
            </a:solidFill>
            <a:prstDash val="solid"/>
          </a:ln>
        </p:spPr>
      </p:sp>
      <p:sp>
        <p:nvSpPr>
          <p:cNvPr id="5" name="Text 3"/>
          <p:cNvSpPr/>
          <p:nvPr/>
        </p:nvSpPr>
        <p:spPr>
          <a:xfrm>
            <a:off x="1022350" y="1984970"/>
            <a:ext cx="493807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Vertical Pod Autoscaler</a:t>
            </a:r>
            <a:endParaRPr lang="en-US" sz="1600" dirty="0"/>
          </a:p>
        </p:txBody>
      </p:sp>
      <p:sp>
        <p:nvSpPr>
          <p:cNvPr id="6" name="Text 4"/>
          <p:cNvSpPr/>
          <p:nvPr/>
        </p:nvSpPr>
        <p:spPr>
          <a:xfrm>
            <a:off x="1022350" y="2330351"/>
            <a:ext cx="4938078"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Ayrıca kurulur (yerleşik değil). Üç bileşen: </a:t>
            </a:r>
            <a:r>
              <a:rPr lang="en-US" sz="1300" b="1" dirty="0">
                <a:solidFill>
                  <a:srgbClr val="45505F"/>
                </a:solidFill>
                <a:latin typeface="IBM Plex Sans" pitchFamily="34" charset="0"/>
                <a:ea typeface="IBM Plex Sans" pitchFamily="34" charset="-122"/>
                <a:cs typeface="IBM Plex Sans" pitchFamily="34" charset="-120"/>
              </a:rPr>
              <a:t>recommender</a:t>
            </a:r>
            <a:r>
              <a:rPr lang="en-US" sz="1300" dirty="0">
                <a:solidFill>
                  <a:srgbClr val="45505F"/>
                </a:solidFill>
                <a:latin typeface="IBM Plex Sans" pitchFamily="34" charset="0"/>
                <a:ea typeface="IBM Plex Sans" pitchFamily="34" charset="-122"/>
                <a:cs typeface="IBM Plex Sans" pitchFamily="34" charset="-120"/>
              </a:rPr>
              <a:t> (öneri üretir), </a:t>
            </a:r>
            <a:r>
              <a:rPr lang="en-US" sz="1300" b="1" dirty="0">
                <a:solidFill>
                  <a:srgbClr val="45505F"/>
                </a:solidFill>
                <a:latin typeface="IBM Plex Sans" pitchFamily="34" charset="0"/>
                <a:ea typeface="IBM Plex Sans" pitchFamily="34" charset="-122"/>
                <a:cs typeface="IBM Plex Sans" pitchFamily="34" charset="-120"/>
              </a:rPr>
              <a:t>updater</a:t>
            </a:r>
            <a:r>
              <a:rPr lang="en-US" sz="1300" dirty="0">
                <a:solidFill>
                  <a:srgbClr val="45505F"/>
                </a:solidFill>
                <a:latin typeface="IBM Plex Sans" pitchFamily="34" charset="0"/>
                <a:ea typeface="IBM Plex Sans" pitchFamily="34" charset="-122"/>
                <a:cs typeface="IBM Plex Sans" pitchFamily="34" charset="-120"/>
              </a:rPr>
              <a:t> (gerekirse pod'u tahliye eder), </a:t>
            </a:r>
            <a:r>
              <a:rPr lang="en-US" sz="1300" b="1" dirty="0">
                <a:solidFill>
                  <a:srgbClr val="45505F"/>
                </a:solidFill>
                <a:latin typeface="IBM Plex Sans" pitchFamily="34" charset="0"/>
                <a:ea typeface="IBM Plex Sans" pitchFamily="34" charset="-122"/>
                <a:cs typeface="IBM Plex Sans" pitchFamily="34" charset="-120"/>
              </a:rPr>
              <a:t>admission controller</a:t>
            </a:r>
            <a:r>
              <a:rPr lang="en-US" sz="1300" dirty="0">
                <a:solidFill>
                  <a:srgbClr val="45505F"/>
                </a:solidFill>
                <a:latin typeface="IBM Plex Sans" pitchFamily="34" charset="0"/>
                <a:ea typeface="IBM Plex Sans" pitchFamily="34" charset="-122"/>
                <a:cs typeface="IBM Plex Sans" pitchFamily="34" charset="-120"/>
              </a:rPr>
              <a:t> (yeni pod'a önerilen değeri yazar).</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35050" y="3137892"/>
          <a:ext cx="4781550" cy="1330325"/>
        </p:xfrm>
        <a:graphic>
          <a:graphicData uri="http://schemas.openxmlformats.org/drawingml/2006/table">
            <a:tbl>
              <a:tblPr/>
              <a:tblGrid>
                <a:gridCol w="1625727">
                  <a:extLst>
                    <a:ext uri="{9D8B030D-6E8A-4147-A177-3AD203B41FA5}">
                      <a16:colId xmlns:a16="http://schemas.microsoft.com/office/drawing/2014/main" val="20000"/>
                    </a:ext>
                  </a:extLst>
                </a:gridCol>
                <a:gridCol w="3155823">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updateMode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Davranış</a:t>
                      </a:r>
                      <a:endParaRPr lang="en-US" sz="1200" dirty="0">
                        <a:latin typeface="IBM Plex Sans" charset="0"/>
                        <a:ea typeface="IBM Plex Sans" charset="0"/>
                        <a:cs typeface="IBM Plex Sans" charset="0"/>
                      </a:endParaRPr>
                    </a:p>
                  </a:txBody>
                  <a:tcPr marL="53340" marR="53340" marT="53340" marB="53340">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Off</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Sadece öneri</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Initial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Yalnız yeni pod'lara uygular</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Recreate / Auto</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Pod'u yeniden oluşturarak uygular</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Shape 5"/>
          <p:cNvSpPr/>
          <p:nvPr/>
        </p:nvSpPr>
        <p:spPr>
          <a:xfrm>
            <a:off x="6178550" y="1775420"/>
            <a:ext cx="5200650" cy="2902347"/>
          </a:xfrm>
          <a:prstGeom prst="roundRect">
            <a:avLst>
              <a:gd name="adj" fmla="val 2625"/>
            </a:avLst>
          </a:prstGeom>
          <a:solidFill>
            <a:srgbClr val="142033"/>
          </a:solidFill>
          <a:ln/>
        </p:spPr>
      </p:sp>
      <p:sp>
        <p:nvSpPr>
          <p:cNvPr id="9" name="Text 6"/>
          <p:cNvSpPr/>
          <p:nvPr/>
        </p:nvSpPr>
        <p:spPr>
          <a:xfrm>
            <a:off x="6381750" y="1978620"/>
            <a:ext cx="493807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In-place pod resize</a:t>
            </a:r>
            <a:endParaRPr lang="en-US" sz="1600" dirty="0"/>
          </a:p>
        </p:txBody>
      </p:sp>
      <p:sp>
        <p:nvSpPr>
          <p:cNvPr id="10" name="Text 7"/>
          <p:cNvSpPr/>
          <p:nvPr/>
        </p:nvSpPr>
        <p:spPr>
          <a:xfrm>
            <a:off x="6381750" y="2324001"/>
            <a:ext cx="493807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CPU/bellek request ve limit'i pod'u </a:t>
            </a:r>
            <a:r>
              <a:rPr lang="en-US" sz="1300" b="1" dirty="0">
                <a:solidFill>
                  <a:srgbClr val="F5F4EF"/>
                </a:solidFill>
                <a:latin typeface="IBM Plex Sans" pitchFamily="34" charset="0"/>
                <a:ea typeface="IBM Plex Sans" pitchFamily="34" charset="-122"/>
                <a:cs typeface="IBM Plex Sans" pitchFamily="34" charset="-120"/>
              </a:rPr>
              <a:t>yeniden başlatmadan</a:t>
            </a:r>
            <a:r>
              <a:rPr lang="en-US" sz="1300" dirty="0">
                <a:solidFill>
                  <a:srgbClr val="B9C6D6"/>
                </a:solidFill>
                <a:latin typeface="IBM Plex Sans" pitchFamily="34" charset="0"/>
                <a:ea typeface="IBM Plex Sans" pitchFamily="34" charset="-122"/>
                <a:cs typeface="IBM Plex Sans" pitchFamily="34" charset="-120"/>
              </a:rPr>
              <a:t> değiştirmek. 1.33'te beta ve varsayılan açık.</a:t>
            </a:r>
            <a:endParaRPr lang="en-US" sz="1300" dirty="0"/>
          </a:p>
        </p:txBody>
      </p:sp>
      <p:sp>
        <p:nvSpPr>
          <p:cNvPr id="11" name="Text 8"/>
          <p:cNvSpPr/>
          <p:nvPr/>
        </p:nvSpPr>
        <p:spPr>
          <a:xfrm>
            <a:off x="6381750" y="2887762"/>
            <a:ext cx="4938078"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resizePolicy</a:t>
            </a:r>
            <a:r>
              <a:rPr lang="en-US" sz="1300" dirty="0">
                <a:solidFill>
                  <a:srgbClr val="B9C6D6"/>
                </a:solidFill>
                <a:latin typeface="IBM Plex Sans" pitchFamily="34" charset="0"/>
                <a:ea typeface="IBM Plex Sans" pitchFamily="34" charset="-122"/>
                <a:cs typeface="IBM Plex Sans" pitchFamily="34" charset="-120"/>
              </a:rPr>
              <a:t> ile kaynak bazında NotRequired (sıcak değişim) veya RestartContainer seçilir. Stateful iş yükleri için kesintisiz dikey ölçekleme.</a:t>
            </a:r>
            <a:endParaRPr lang="en-US" sz="1300" dirty="0"/>
          </a:p>
        </p:txBody>
      </p:sp>
      <p:sp>
        <p:nvSpPr>
          <p:cNvPr id="12" name="Text 9"/>
          <p:cNvSpPr/>
          <p:nvPr/>
        </p:nvSpPr>
        <p:spPr>
          <a:xfrm>
            <a:off x="6381750" y="3682603"/>
            <a:ext cx="4794250" cy="695920"/>
          </a:xfrm>
          <a:prstGeom prst="roundRect">
            <a:avLst>
              <a:gd name="adj" fmla="val 9125"/>
            </a:avLst>
          </a:prstGeom>
          <a:solidFill>
            <a:srgbClr val="24395A"/>
          </a:solidFill>
          <a:ln/>
        </p:spPr>
        <p:txBody>
          <a:bodyPr wrap="square" lIns="108401" tIns="108401" rIns="0" bIns="83001"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patch pod web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--subresource resize --patch ...</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0">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LOG VE IZLEME</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Yerleşik olan az; gerisi ekosistemden</a:t>
            </a:r>
            <a:endParaRPr lang="en-US" sz="3000" dirty="0"/>
          </a:p>
        </p:txBody>
      </p:sp>
      <p:sp>
        <p:nvSpPr>
          <p:cNvPr id="4" name="Shape 2"/>
          <p:cNvSpPr/>
          <p:nvPr/>
        </p:nvSpPr>
        <p:spPr>
          <a:xfrm>
            <a:off x="815975" y="1778595"/>
            <a:ext cx="5200650" cy="2350492"/>
          </a:xfrm>
          <a:prstGeom prst="roundRect">
            <a:avLst>
              <a:gd name="adj" fmla="val 3107"/>
            </a:avLst>
          </a:prstGeom>
          <a:solidFill>
            <a:srgbClr val="FDFCF9"/>
          </a:solidFill>
          <a:ln w="6350">
            <a:solidFill>
              <a:srgbClr val="E2DFD6"/>
            </a:solidFill>
            <a:prstDash val="solid"/>
          </a:ln>
        </p:spPr>
      </p:sp>
      <p:sp>
        <p:nvSpPr>
          <p:cNvPr id="5" name="Text 3"/>
          <p:cNvSpPr/>
          <p:nvPr/>
        </p:nvSpPr>
        <p:spPr>
          <a:xfrm>
            <a:off x="1022350" y="1984970"/>
            <a:ext cx="49315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Metrikler</a:t>
            </a:r>
            <a:endParaRPr lang="en-US" sz="1600" dirty="0"/>
          </a:p>
        </p:txBody>
      </p:sp>
      <p:sp>
        <p:nvSpPr>
          <p:cNvPr id="6" name="Text 4"/>
          <p:cNvSpPr/>
          <p:nvPr/>
        </p:nvSpPr>
        <p:spPr>
          <a:xfrm>
            <a:off x="1022350" y="2330351"/>
            <a:ext cx="493153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kubelet içindeki </a:t>
            </a:r>
            <a:r>
              <a:rPr lang="en-US" sz="1300" b="1" dirty="0">
                <a:solidFill>
                  <a:srgbClr val="45505F"/>
                </a:solidFill>
                <a:latin typeface="IBM Plex Sans" pitchFamily="34" charset="0"/>
                <a:ea typeface="IBM Plex Sans" pitchFamily="34" charset="-122"/>
                <a:cs typeface="IBM Plex Sans" pitchFamily="34" charset="-120"/>
              </a:rPr>
              <a:t>cAdvisor</a:t>
            </a:r>
            <a:r>
              <a:rPr lang="en-US" sz="1300" dirty="0">
                <a:solidFill>
                  <a:srgbClr val="45505F"/>
                </a:solidFill>
                <a:latin typeface="IBM Plex Sans" pitchFamily="34" charset="0"/>
                <a:ea typeface="IBM Plex Sans" pitchFamily="34" charset="-122"/>
                <a:cs typeface="IBM Plex Sans" pitchFamily="34" charset="-120"/>
              </a:rPr>
              <a:t> container metriklerini sunar; </a:t>
            </a:r>
            <a:r>
              <a:rPr lang="en-US" sz="1300" b="1" dirty="0">
                <a:solidFill>
                  <a:srgbClr val="45505F"/>
                </a:solidFill>
                <a:latin typeface="IBM Plex Sans" pitchFamily="34" charset="0"/>
                <a:ea typeface="IBM Plex Sans" pitchFamily="34" charset="-122"/>
                <a:cs typeface="IBM Plex Sans" pitchFamily="34" charset="-120"/>
              </a:rPr>
              <a:t>metrics-server</a:t>
            </a:r>
            <a:r>
              <a:rPr lang="en-US" sz="1300" dirty="0">
                <a:solidFill>
                  <a:srgbClr val="45505F"/>
                </a:solidFill>
                <a:latin typeface="IBM Plex Sans" pitchFamily="34" charset="0"/>
                <a:ea typeface="IBM Plex Sans" pitchFamily="34" charset="-122"/>
                <a:cs typeface="IBM Plex Sans" pitchFamily="34" charset="-120"/>
              </a:rPr>
              <a:t> bunları toplayıp </a:t>
            </a:r>
            <a:r>
              <a:rPr lang="en-US" sz="1300" b="1" dirty="0">
                <a:solidFill>
                  <a:srgbClr val="45505F"/>
                </a:solidFill>
                <a:latin typeface="IBM Plex Sans" pitchFamily="34" charset="0"/>
                <a:ea typeface="IBM Plex Sans" pitchFamily="34" charset="-122"/>
                <a:cs typeface="IBM Plex Sans" pitchFamily="34" charset="-120"/>
              </a:rPr>
              <a:t>bellekte</a:t>
            </a:r>
            <a:r>
              <a:rPr lang="en-US" sz="1300" dirty="0">
                <a:solidFill>
                  <a:srgbClr val="45505F"/>
                </a:solidFill>
                <a:latin typeface="IBM Plex Sans" pitchFamily="34" charset="0"/>
                <a:ea typeface="IBM Plex Sans" pitchFamily="34" charset="-122"/>
                <a:cs typeface="IBM Plex Sans" pitchFamily="34" charset="-120"/>
              </a:rPr>
              <a:t> tutar (geçmiş yok).</a:t>
            </a:r>
            <a:endParaRPr lang="en-US" sz="1300" dirty="0"/>
          </a:p>
        </p:txBody>
      </p:sp>
      <p:sp>
        <p:nvSpPr>
          <p:cNvPr id="7" name="Text 5"/>
          <p:cNvSpPr/>
          <p:nvPr/>
        </p:nvSpPr>
        <p:spPr>
          <a:xfrm>
            <a:off x="1022350" y="2894112"/>
            <a:ext cx="4787900" cy="695920"/>
          </a:xfrm>
          <a:prstGeom prst="roundRect">
            <a:avLst>
              <a:gd name="adj" fmla="val 9125"/>
            </a:avLst>
          </a:prstGeom>
          <a:solidFill>
            <a:srgbClr val="1B2A41"/>
          </a:solidFill>
          <a:ln/>
        </p:spPr>
        <p:txBody>
          <a:bodyPr wrap="square" lIns="108401" tIns="108401" rIns="0" bIns="83001"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top node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top pod -A --sort-by=memory</a:t>
            </a:r>
            <a:endParaRPr lang="en-US" sz="1200" dirty="0"/>
          </a:p>
        </p:txBody>
      </p:sp>
      <p:sp>
        <p:nvSpPr>
          <p:cNvPr id="8" name="Text 6"/>
          <p:cNvSpPr/>
          <p:nvPr/>
        </p:nvSpPr>
        <p:spPr>
          <a:xfrm>
            <a:off x="1022350" y="3691632"/>
            <a:ext cx="493153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Geçmiş ve alarm için: Prometheus + Grafana.</a:t>
            </a:r>
            <a:endParaRPr lang="en-US" sz="1300" dirty="0"/>
          </a:p>
        </p:txBody>
      </p:sp>
      <p:sp>
        <p:nvSpPr>
          <p:cNvPr id="9" name="Shape 7"/>
          <p:cNvSpPr/>
          <p:nvPr/>
        </p:nvSpPr>
        <p:spPr>
          <a:xfrm>
            <a:off x="6175375" y="1778595"/>
            <a:ext cx="5200650" cy="2350492"/>
          </a:xfrm>
          <a:prstGeom prst="roundRect">
            <a:avLst>
              <a:gd name="adj" fmla="val 3107"/>
            </a:avLst>
          </a:prstGeom>
          <a:solidFill>
            <a:srgbClr val="FDFCF9"/>
          </a:solidFill>
          <a:ln w="6350">
            <a:solidFill>
              <a:srgbClr val="E2DFD6"/>
            </a:solidFill>
            <a:prstDash val="solid"/>
          </a:ln>
        </p:spPr>
      </p:sp>
      <p:sp>
        <p:nvSpPr>
          <p:cNvPr id="10" name="Text 8"/>
          <p:cNvSpPr/>
          <p:nvPr/>
        </p:nvSpPr>
        <p:spPr>
          <a:xfrm>
            <a:off x="6381750" y="1984970"/>
            <a:ext cx="49315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Loglar</a:t>
            </a:r>
            <a:endParaRPr lang="en-US" sz="1600" dirty="0"/>
          </a:p>
        </p:txBody>
      </p:sp>
      <p:sp>
        <p:nvSpPr>
          <p:cNvPr id="11" name="Text 9"/>
          <p:cNvSpPr/>
          <p:nvPr/>
        </p:nvSpPr>
        <p:spPr>
          <a:xfrm>
            <a:off x="6381750" y="2330351"/>
            <a:ext cx="493153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Container stdout/stderr'e yazar; runtime node'da </a:t>
            </a:r>
            <a:r>
              <a:rPr lang="en-US" sz="1300" b="1" dirty="0">
                <a:solidFill>
                  <a:srgbClr val="45505F"/>
                </a:solidFill>
                <a:latin typeface="IBM Plex Sans" pitchFamily="34" charset="0"/>
                <a:ea typeface="IBM Plex Sans" pitchFamily="34" charset="-122"/>
                <a:cs typeface="IBM Plex Sans" pitchFamily="34" charset="-120"/>
              </a:rPr>
              <a:t>/var/log/pods</a:t>
            </a:r>
            <a:r>
              <a:rPr lang="en-US" sz="1300" dirty="0">
                <a:solidFill>
                  <a:srgbClr val="45505F"/>
                </a:solidFill>
                <a:latin typeface="IBM Plex Sans" pitchFamily="34" charset="0"/>
                <a:ea typeface="IBM Plex Sans" pitchFamily="34" charset="-122"/>
                <a:cs typeface="IBM Plex Sans" pitchFamily="34" charset="-120"/>
              </a:rPr>
              <a:t> altına kaydeder. Pod silinince log da gider.</a:t>
            </a:r>
            <a:endParaRPr lang="en-US" sz="1300" dirty="0"/>
          </a:p>
        </p:txBody>
      </p:sp>
      <p:sp>
        <p:nvSpPr>
          <p:cNvPr id="12" name="Text 10"/>
          <p:cNvSpPr/>
          <p:nvPr/>
        </p:nvSpPr>
        <p:spPr>
          <a:xfrm>
            <a:off x="6381750" y="2894112"/>
            <a:ext cx="4787900" cy="695920"/>
          </a:xfrm>
          <a:prstGeom prst="roundRect">
            <a:avLst>
              <a:gd name="adj" fmla="val 9125"/>
            </a:avLst>
          </a:prstGeom>
          <a:solidFill>
            <a:srgbClr val="1B2A41"/>
          </a:solidFill>
          <a:ln/>
        </p:spPr>
        <p:txBody>
          <a:bodyPr wrap="square" lIns="108401" tIns="108401" rIns="0" bIns="83001"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logs -f web-1 -c 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logs web-1 --previous</a:t>
            </a:r>
            <a:endParaRPr lang="en-US" sz="1200" dirty="0"/>
          </a:p>
        </p:txBody>
      </p:sp>
      <p:sp>
        <p:nvSpPr>
          <p:cNvPr id="13" name="Text 11"/>
          <p:cNvSpPr/>
          <p:nvPr/>
        </p:nvSpPr>
        <p:spPr>
          <a:xfrm>
            <a:off x="6381750" y="3691632"/>
            <a:ext cx="493153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Merkezi log için: DaemonSet ajan (Promtail/Alloy) + Loki.</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1">
    <p:bg>
      <p:bgPr>
        <a:solidFill>
          <a:srgbClr val="142033"/>
        </a:solidFill>
        <a:effectLst/>
      </p:bgPr>
    </p:bg>
    <p:spTree>
      <p:nvGrpSpPr>
        <p:cNvPr id="1" name=""/>
        <p:cNvGrpSpPr/>
        <p:nvPr/>
      </p:nvGrpSpPr>
      <p:grpSpPr>
        <a:xfrm>
          <a:off x="0" y="0"/>
          <a:ext cx="0" cy="0"/>
          <a:chOff x="0" y="0"/>
          <a:chExt cx="0" cy="0"/>
        </a:xfrm>
      </p:grpSpPr>
      <p:sp>
        <p:nvSpPr>
          <p:cNvPr id="2" name="Text 0"/>
          <p:cNvSpPr/>
          <p:nvPr/>
        </p:nvSpPr>
        <p:spPr>
          <a:xfrm>
            <a:off x="812800" y="24600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IBM Plex Sans" pitchFamily="34" charset="0"/>
                <a:ea typeface="IBM Plex Sans" pitchFamily="34" charset="-122"/>
                <a:cs typeface="IBM Plex Sans" pitchFamily="34" charset="-120"/>
              </a:rPr>
              <a:t>BÖLÜM 05</a:t>
            </a:r>
            <a:endParaRPr lang="en-US" sz="1200" dirty="0"/>
          </a:p>
        </p:txBody>
      </p:sp>
      <p:sp>
        <p:nvSpPr>
          <p:cNvPr id="3" name="Text 1"/>
          <p:cNvSpPr>
            <a:spLocks noGrp="1"/>
          </p:cNvSpPr>
          <p:nvPr>
            <p:ph type="title"/>
          </p:nvPr>
        </p:nvSpPr>
        <p:spPr>
          <a:xfrm>
            <a:off x="812800" y="285115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4EF"/>
                </a:solidFill>
                <a:latin typeface="IBM Plex Sans" pitchFamily="34" charset="0"/>
                <a:ea typeface="IBM Plex Sans" pitchFamily="34" charset="-122"/>
                <a:cs typeface="IBM Plex Sans" pitchFamily="34" charset="-120"/>
              </a:rPr>
              <a:t>Cluster Bakımı</a:t>
            </a:r>
            <a:endParaRPr lang="en-US" sz="6000" dirty="0"/>
          </a:p>
        </p:txBody>
      </p:sp>
      <p:sp>
        <p:nvSpPr>
          <p:cNvPr id="4" name="Text 2"/>
          <p:cNvSpPr/>
          <p:nvPr/>
        </p:nvSpPr>
        <p:spPr>
          <a:xfrm>
            <a:off x="812800" y="3829050"/>
            <a:ext cx="78486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6D6"/>
                </a:solidFill>
                <a:latin typeface="IBM Plex Sans" pitchFamily="34" charset="0"/>
                <a:ea typeface="IBM Plex Sans" pitchFamily="34" charset="-122"/>
                <a:cs typeface="IBM Plex Sans" pitchFamily="34" charset="-120"/>
              </a:rPr>
              <a:t>Node bakımı (drain/cordon), sürüm uyumluluğu ve kubeadm ile cluster yükseltme, etcd yedekleme ve geri yükleme.</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OS YÜKSELTME / NODE BAKIMI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Node'u kesintisiz bakıma almak</a:t>
            </a:r>
            <a:endParaRPr lang="en-US" sz="3000" dirty="0"/>
          </a:p>
        </p:txBody>
      </p:sp>
      <p:sp>
        <p:nvSpPr>
          <p:cNvPr id="4" name="Shape 2"/>
          <p:cNvSpPr/>
          <p:nvPr/>
        </p:nvSpPr>
        <p:spPr>
          <a:xfrm>
            <a:off x="815975" y="1778595"/>
            <a:ext cx="3452217" cy="1847552"/>
          </a:xfrm>
          <a:prstGeom prst="roundRect">
            <a:avLst>
              <a:gd name="adj" fmla="val 3953"/>
            </a:avLst>
          </a:prstGeom>
          <a:solidFill>
            <a:srgbClr val="FDFCF9"/>
          </a:solidFill>
          <a:ln w="6350">
            <a:solidFill>
              <a:srgbClr val="E2DFD6"/>
            </a:solidFill>
            <a:prstDash val="solid"/>
          </a:ln>
        </p:spPr>
      </p:sp>
      <p:sp>
        <p:nvSpPr>
          <p:cNvPr id="5" name="Text 3"/>
          <p:cNvSpPr/>
          <p:nvPr/>
        </p:nvSpPr>
        <p:spPr>
          <a:xfrm>
            <a:off x="996950" y="1959570"/>
            <a:ext cx="31829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F"/>
                </a:solidFill>
                <a:latin typeface="IBM Plex Sans" pitchFamily="34" charset="0"/>
                <a:ea typeface="IBM Plex Sans" pitchFamily="34" charset="-122"/>
                <a:cs typeface="IBM Plex Sans" pitchFamily="34" charset="-120"/>
              </a:rPr>
              <a:t>1 · drain</a:t>
            </a:r>
            <a:endParaRPr lang="en-US" sz="1200" dirty="0"/>
          </a:p>
        </p:txBody>
      </p:sp>
      <p:sp>
        <p:nvSpPr>
          <p:cNvPr id="6" name="Text 4"/>
          <p:cNvSpPr/>
          <p:nvPr/>
        </p:nvSpPr>
        <p:spPr>
          <a:xfrm>
            <a:off x="996950" y="2249091"/>
            <a:ext cx="31829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033"/>
                </a:solidFill>
                <a:latin typeface="JetBrains Mono" pitchFamily="49" charset="0"/>
                <a:ea typeface="JetBrains Mono" pitchFamily="49" charset="-122"/>
                <a:cs typeface="JetBrains Mono" pitchFamily="49" charset="-120"/>
              </a:rPr>
              <a:t>kubectl drain node01 --ignore-daemonsets</a:t>
            </a:r>
            <a:endParaRPr lang="en-US" sz="1200" dirty="0"/>
          </a:p>
        </p:txBody>
      </p:sp>
      <p:sp>
        <p:nvSpPr>
          <p:cNvPr id="7" name="Text 5"/>
          <p:cNvSpPr/>
          <p:nvPr/>
        </p:nvSpPr>
        <p:spPr>
          <a:xfrm>
            <a:off x="996950" y="2751931"/>
            <a:ext cx="3182975"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Pod'lar tahliye edilir, controller'ları onları başka node'larda yeniden yaratır. Node aynı zamanda cordon'lanır.</a:t>
            </a:r>
            <a:endParaRPr lang="en-US" sz="1300" dirty="0"/>
          </a:p>
        </p:txBody>
      </p:sp>
      <p:sp>
        <p:nvSpPr>
          <p:cNvPr id="8" name="Shape 6"/>
          <p:cNvSpPr/>
          <p:nvPr/>
        </p:nvSpPr>
        <p:spPr>
          <a:xfrm>
            <a:off x="4376142" y="1778595"/>
            <a:ext cx="3452316" cy="1847552"/>
          </a:xfrm>
          <a:prstGeom prst="roundRect">
            <a:avLst>
              <a:gd name="adj" fmla="val 3953"/>
            </a:avLst>
          </a:prstGeom>
          <a:solidFill>
            <a:srgbClr val="FDFCF9"/>
          </a:solidFill>
          <a:ln w="6350">
            <a:solidFill>
              <a:srgbClr val="E2DFD6"/>
            </a:solidFill>
            <a:prstDash val="solid"/>
          </a:ln>
        </p:spPr>
      </p:sp>
      <p:sp>
        <p:nvSpPr>
          <p:cNvPr id="9" name="Text 7"/>
          <p:cNvSpPr/>
          <p:nvPr/>
        </p:nvSpPr>
        <p:spPr>
          <a:xfrm>
            <a:off x="4557117" y="1959570"/>
            <a:ext cx="318307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70F"/>
                </a:solidFill>
                <a:latin typeface="IBM Plex Sans" pitchFamily="34" charset="0"/>
                <a:ea typeface="IBM Plex Sans" pitchFamily="34" charset="-122"/>
                <a:cs typeface="IBM Plex Sans" pitchFamily="34" charset="-120"/>
              </a:rPr>
              <a:t>2 · bakım</a:t>
            </a:r>
            <a:endParaRPr lang="en-US" sz="1200" dirty="0"/>
          </a:p>
        </p:txBody>
      </p:sp>
      <p:sp>
        <p:nvSpPr>
          <p:cNvPr id="10" name="Text 8"/>
          <p:cNvSpPr/>
          <p:nvPr/>
        </p:nvSpPr>
        <p:spPr>
          <a:xfrm>
            <a:off x="4557117" y="2249091"/>
            <a:ext cx="31830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033"/>
                </a:solidFill>
                <a:latin typeface="JetBrains Mono" pitchFamily="49" charset="0"/>
                <a:ea typeface="JetBrains Mono" pitchFamily="49" charset="-122"/>
                <a:cs typeface="JetBrains Mono" pitchFamily="49" charset="-120"/>
              </a:rPr>
              <a:t>apt upgrade · reboot</a:t>
            </a:r>
            <a:endParaRPr lang="en-US" sz="1200" dirty="0"/>
          </a:p>
        </p:txBody>
      </p:sp>
      <p:sp>
        <p:nvSpPr>
          <p:cNvPr id="11" name="Text 9"/>
          <p:cNvSpPr/>
          <p:nvPr/>
        </p:nvSpPr>
        <p:spPr>
          <a:xfrm>
            <a:off x="4557117" y="2538611"/>
            <a:ext cx="318307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Node'a yeni pod gelmez (SchedulingDisabled).</a:t>
            </a:r>
            <a:endParaRPr lang="en-US" sz="1300" dirty="0"/>
          </a:p>
        </p:txBody>
      </p:sp>
      <p:sp>
        <p:nvSpPr>
          <p:cNvPr id="12" name="Shape 10"/>
          <p:cNvSpPr/>
          <p:nvPr/>
        </p:nvSpPr>
        <p:spPr>
          <a:xfrm>
            <a:off x="7933234" y="1775420"/>
            <a:ext cx="3445966" cy="1853902"/>
          </a:xfrm>
          <a:prstGeom prst="roundRect">
            <a:avLst>
              <a:gd name="adj" fmla="val 4110"/>
            </a:avLst>
          </a:prstGeom>
          <a:solidFill>
            <a:srgbClr val="142033"/>
          </a:solidFill>
          <a:ln/>
        </p:spPr>
      </p:sp>
      <p:sp>
        <p:nvSpPr>
          <p:cNvPr id="13" name="Text 11"/>
          <p:cNvSpPr/>
          <p:nvPr/>
        </p:nvSpPr>
        <p:spPr>
          <a:xfrm>
            <a:off x="8111034" y="1953220"/>
            <a:ext cx="318307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060"/>
                </a:solidFill>
                <a:latin typeface="IBM Plex Sans" pitchFamily="34" charset="0"/>
                <a:ea typeface="IBM Plex Sans" pitchFamily="34" charset="-122"/>
                <a:cs typeface="IBM Plex Sans" pitchFamily="34" charset="-120"/>
              </a:rPr>
              <a:t>3 · uncordon</a:t>
            </a:r>
            <a:endParaRPr lang="en-US" sz="1200" dirty="0"/>
          </a:p>
        </p:txBody>
      </p:sp>
      <p:sp>
        <p:nvSpPr>
          <p:cNvPr id="14" name="Text 12"/>
          <p:cNvSpPr/>
          <p:nvPr/>
        </p:nvSpPr>
        <p:spPr>
          <a:xfrm>
            <a:off x="8111034" y="2242741"/>
            <a:ext cx="31830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6EDF5"/>
                </a:solidFill>
                <a:latin typeface="JetBrains Mono" pitchFamily="49" charset="0"/>
                <a:ea typeface="JetBrains Mono" pitchFamily="49" charset="-122"/>
                <a:cs typeface="JetBrains Mono" pitchFamily="49" charset="-120"/>
              </a:rPr>
              <a:t>kubectl uncordon node01</a:t>
            </a:r>
            <a:endParaRPr lang="en-US" sz="1200" dirty="0"/>
          </a:p>
        </p:txBody>
      </p:sp>
      <p:sp>
        <p:nvSpPr>
          <p:cNvPr id="15" name="Text 13"/>
          <p:cNvSpPr/>
          <p:nvPr/>
        </p:nvSpPr>
        <p:spPr>
          <a:xfrm>
            <a:off x="8111034" y="2532261"/>
            <a:ext cx="318307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Node tekrar schedule edilebilir. Eski pod'lar geri </a:t>
            </a:r>
            <a:r>
              <a:rPr lang="en-US" sz="1300" b="1" dirty="0">
                <a:solidFill>
                  <a:srgbClr val="F5F4EF"/>
                </a:solidFill>
                <a:latin typeface="IBM Plex Sans" pitchFamily="34" charset="0"/>
                <a:ea typeface="IBM Plex Sans" pitchFamily="34" charset="-122"/>
                <a:cs typeface="IBM Plex Sans" pitchFamily="34" charset="-120"/>
              </a:rPr>
              <a:t>taşınmaz</a:t>
            </a:r>
            <a:r>
              <a:rPr lang="en-US" sz="1300" dirty="0">
                <a:solidFill>
                  <a:srgbClr val="B9C6D6"/>
                </a:solidFill>
                <a:latin typeface="IBM Plex Sans" pitchFamily="34" charset="0"/>
                <a:ea typeface="IBM Plex Sans" pitchFamily="34" charset="-122"/>
                <a:cs typeface="IBM Plex Sans" pitchFamily="34" charset="-120"/>
              </a:rPr>
              <a:t>; yeni pod'lar gelir.</a:t>
            </a:r>
            <a:endParaRPr lang="en-US" sz="1300" dirty="0"/>
          </a:p>
        </p:txBody>
      </p:sp>
      <p:sp>
        <p:nvSpPr>
          <p:cNvPr id="16" name="Text 14"/>
          <p:cNvSpPr/>
          <p:nvPr/>
        </p:nvSpPr>
        <p:spPr>
          <a:xfrm>
            <a:off x="898144" y="3883323"/>
            <a:ext cx="10790428" cy="7683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cordon</a:t>
            </a:r>
            <a:r>
              <a:rPr lang="en-US" sz="1300" dirty="0">
                <a:solidFill>
                  <a:srgbClr val="45505F"/>
                </a:solidFill>
                <a:latin typeface="IBM Plex Sans" pitchFamily="34" charset="0"/>
                <a:ea typeface="IBM Plex Sans" pitchFamily="34" charset="-122"/>
                <a:cs typeface="IBM Plex Sans" pitchFamily="34" charset="-120"/>
              </a:rPr>
              <a:t> yalnızca yeni yerleşimi durdurur, mevcut pod'lara dokunmaz.</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Bir ReplicaSet/Deployment'a ait olmayan "çıplak" pod varsa drain reddeder; </a:t>
            </a:r>
            <a:r>
              <a:rPr lang="en-US" sz="1300" b="1" dirty="0">
                <a:solidFill>
                  <a:srgbClr val="45505F"/>
                </a:solidFill>
                <a:latin typeface="IBM Plex Sans" pitchFamily="34" charset="0"/>
                <a:ea typeface="IBM Plex Sans" pitchFamily="34" charset="-122"/>
                <a:cs typeface="IBM Plex Sans" pitchFamily="34" charset="-120"/>
              </a:rPr>
              <a:t>--force</a:t>
            </a:r>
            <a:r>
              <a:rPr lang="en-US" sz="1300" dirty="0">
                <a:solidFill>
                  <a:srgbClr val="45505F"/>
                </a:solidFill>
                <a:latin typeface="IBM Plex Sans" pitchFamily="34" charset="0"/>
                <a:ea typeface="IBM Plex Sans" pitchFamily="34" charset="-122"/>
                <a:cs typeface="IBM Plex Sans" pitchFamily="34" charset="-120"/>
              </a:rPr>
              <a:t> ile o pod </a:t>
            </a:r>
            <a:r>
              <a:rPr lang="en-US" sz="1300" b="1" dirty="0">
                <a:solidFill>
                  <a:srgbClr val="45505F"/>
                </a:solidFill>
                <a:latin typeface="IBM Plex Sans" pitchFamily="34" charset="0"/>
                <a:ea typeface="IBM Plex Sans" pitchFamily="34" charset="-122"/>
                <a:cs typeface="IBM Plex Sans" pitchFamily="34" charset="-120"/>
              </a:rPr>
              <a:t>kalıcı olarak kaybolur</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Node kısa sürede dönerse sorun yok; uzun süre kapalı kalırsa pod'lar taint toleransı (300 sn) sonunda tahliye edilir.</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CLUSTER YÜKSELTME</a:t>
            </a:r>
            <a:endParaRPr lang="en-US" sz="1200" dirty="0"/>
          </a:p>
        </p:txBody>
      </p:sp>
      <p:sp>
        <p:nvSpPr>
          <p:cNvPr id="3" name="Text 1"/>
          <p:cNvSpPr>
            <a:spLocks noGrp="1"/>
          </p:cNvSpPr>
          <p:nvPr>
            <p:ph type="title"/>
          </p:nvPr>
        </p:nvSpPr>
        <p:spPr>
          <a:xfrm>
            <a:off x="812800" y="1102320"/>
            <a:ext cx="1137920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Önce control plane, sonra node'lar; her seferinde bir minor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2720"/>
          <a:ext cx="5854700" cy="1662906"/>
        </p:xfrm>
        <a:graphic>
          <a:graphicData uri="http://schemas.openxmlformats.org/drawingml/2006/table">
            <a:tbl>
              <a:tblPr/>
              <a:tblGrid>
                <a:gridCol w="3278632">
                  <a:extLst>
                    <a:ext uri="{9D8B030D-6E8A-4147-A177-3AD203B41FA5}">
                      <a16:colId xmlns:a16="http://schemas.microsoft.com/office/drawing/2014/main" val="20000"/>
                    </a:ext>
                  </a:extLst>
                </a:gridCol>
                <a:gridCol w="2576068">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Bileşen (API server = X)</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İzin verilen sürüm</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kube-apiserver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X (en yüksek)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controller-manager, scheduler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X, X-1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kubelet, kube-proxy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X … X-3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kubectl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X-1 … X+1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98144" y="3539927"/>
            <a:ext cx="5950458" cy="10160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Sürüm: </a:t>
            </a:r>
            <a:r>
              <a:rPr lang="en-US" sz="1300" b="1" dirty="0">
                <a:solidFill>
                  <a:srgbClr val="45505F"/>
                </a:solidFill>
                <a:latin typeface="IBM Plex Sans" pitchFamily="34" charset="0"/>
                <a:ea typeface="IBM Plex Sans" pitchFamily="34" charset="-122"/>
                <a:cs typeface="IBM Plex Sans" pitchFamily="34" charset="-120"/>
              </a:rPr>
              <a:t>major.minor.patch</a:t>
            </a:r>
            <a:r>
              <a:rPr lang="en-US" sz="1300" dirty="0">
                <a:solidFill>
                  <a:srgbClr val="45505F"/>
                </a:solidFill>
                <a:latin typeface="IBM Plex Sans" pitchFamily="34" charset="0"/>
                <a:ea typeface="IBM Plex Sans" pitchFamily="34" charset="-122"/>
                <a:cs typeface="IBM Plex Sans" pitchFamily="34" charset="-120"/>
              </a:rPr>
              <a:t> (1.33.2). Desteklenen: son 3 minor.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1.31 → 1.33 olmaz: önce 1.32, sonra 1.33.</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Control plane yükseltilirken çalışan pod'lar etkilenmez; yalnızca yönetim (kubectl, controller'lar) kısa süre durur.</a:t>
            </a:r>
            <a:endParaRPr lang="en-US" sz="1300" dirty="0"/>
          </a:p>
        </p:txBody>
      </p:sp>
      <p:sp>
        <p:nvSpPr>
          <p:cNvPr id="6" name="Text 3"/>
          <p:cNvSpPr/>
          <p:nvPr/>
        </p:nvSpPr>
        <p:spPr>
          <a:xfrm>
            <a:off x="6934200" y="1750020"/>
            <a:ext cx="4445000" cy="3449042"/>
          </a:xfrm>
          <a:prstGeom prst="roundRect">
            <a:avLst>
              <a:gd name="adj" fmla="val 2209"/>
            </a:avLst>
          </a:prstGeom>
          <a:solidFill>
            <a:srgbClr val="1B2A41"/>
          </a:solidFill>
          <a:ln/>
        </p:spPr>
        <p:txBody>
          <a:bodyPr wrap="square" lIns="155482" tIns="155482" rIns="32800" bIns="1300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control plane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apt install kubeadm=1.33.x-*</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kubeadm upgrade plan</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kubeadm upgrade apply v1.33.x</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drain controlplane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--ignore-daemonsets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apt install kubelet=1.33.x-* kubectl=...</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systemctl daemon-reload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systemctl restart kubelet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uncordon controlplane</a:t>
            </a: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her worker için (tek tek)</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drain → apt kubeadm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kubeadm upgrade node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apt kubelet → restart → uncordon</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YEDEKLEME VE GERI YÜKLEME</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etcd snapshot: cluster'ın tamamı tek dosyada</a:t>
            </a:r>
            <a:endParaRPr lang="en-US" sz="3000" dirty="0"/>
          </a:p>
        </p:txBody>
      </p:sp>
      <p:sp>
        <p:nvSpPr>
          <p:cNvPr id="4" name="Text 2"/>
          <p:cNvSpPr/>
          <p:nvPr/>
        </p:nvSpPr>
        <p:spPr>
          <a:xfrm>
            <a:off x="812800" y="1750020"/>
            <a:ext cx="5781802"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142033"/>
                </a:solidFill>
                <a:latin typeface="IBM Plex Sans" pitchFamily="34" charset="0"/>
                <a:ea typeface="IBM Plex Sans" pitchFamily="34" charset="-122"/>
                <a:cs typeface="IBM Plex Sans" pitchFamily="34" charset="-120"/>
              </a:rPr>
              <a:t>Ne yedeklenir?</a:t>
            </a:r>
            <a:r>
              <a:rPr lang="en-US" sz="1300" dirty="0">
                <a:solidFill>
                  <a:srgbClr val="45505F"/>
                </a:solidFill>
                <a:latin typeface="IBM Plex Sans" pitchFamily="34" charset="0"/>
                <a:ea typeface="IBM Plex Sans" pitchFamily="34" charset="-122"/>
                <a:cs typeface="IBM Plex Sans" pitchFamily="34" charset="-120"/>
              </a:rPr>
              <a:t> Kaynak tanımları (Git'te tutulmalı ya da </a:t>
            </a:r>
            <a:r>
              <a:rPr lang="en-US" sz="1300" b="1" dirty="0">
                <a:solidFill>
                  <a:srgbClr val="45505F"/>
                </a:solidFill>
                <a:latin typeface="IBM Plex Sans" pitchFamily="34" charset="0"/>
                <a:ea typeface="IBM Plex Sans" pitchFamily="34" charset="-122"/>
                <a:cs typeface="IBM Plex Sans" pitchFamily="34" charset="-120"/>
              </a:rPr>
              <a:t>kubectl get all -A -o yaml</a:t>
            </a:r>
            <a:r>
              <a:rPr lang="en-US" sz="1300" dirty="0">
                <a:solidFill>
                  <a:srgbClr val="45505F"/>
                </a:solidFill>
                <a:latin typeface="IBM Plex Sans" pitchFamily="34" charset="0"/>
                <a:ea typeface="IBM Plex Sans" pitchFamily="34" charset="-122"/>
                <a:cs typeface="IBM Plex Sans" pitchFamily="34" charset="-120"/>
              </a:rPr>
              <a:t>; Velero gibi araçlar), </a:t>
            </a:r>
            <a:r>
              <a:rPr lang="en-US" sz="1300" b="1" dirty="0">
                <a:solidFill>
                  <a:srgbClr val="45505F"/>
                </a:solidFill>
                <a:latin typeface="IBM Plex Sans" pitchFamily="34" charset="0"/>
                <a:ea typeface="IBM Plex Sans" pitchFamily="34" charset="-122"/>
                <a:cs typeface="IBM Plex Sans" pitchFamily="34" charset="-120"/>
              </a:rPr>
              <a:t>etcd</a:t>
            </a:r>
            <a:r>
              <a:rPr lang="en-US" sz="1300" dirty="0">
                <a:solidFill>
                  <a:srgbClr val="45505F"/>
                </a:solidFill>
                <a:latin typeface="IBM Plex Sans" pitchFamily="34" charset="0"/>
                <a:ea typeface="IBM Plex Sans" pitchFamily="34" charset="-122"/>
                <a:cs typeface="IBM Plex Sans" pitchFamily="34" charset="-120"/>
              </a:rPr>
              <a:t> verisi, persistent volume'lar.</a:t>
            </a:r>
            <a:endParaRPr lang="en-US" sz="1300" dirty="0"/>
          </a:p>
        </p:txBody>
      </p:sp>
      <p:sp>
        <p:nvSpPr>
          <p:cNvPr id="5" name="Text 3"/>
          <p:cNvSpPr/>
          <p:nvPr/>
        </p:nvSpPr>
        <p:spPr>
          <a:xfrm>
            <a:off x="812800" y="2359620"/>
            <a:ext cx="5781802"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142033"/>
                </a:solidFill>
                <a:latin typeface="IBM Plex Sans" pitchFamily="34" charset="0"/>
                <a:ea typeface="IBM Plex Sans" pitchFamily="34" charset="-122"/>
                <a:cs typeface="IBM Plex Sans" pitchFamily="34" charset="-120"/>
              </a:rPr>
              <a:t>Restore adımları:</a:t>
            </a:r>
            <a:endParaRPr lang="en-US" sz="1300" dirty="0"/>
          </a:p>
        </p:txBody>
      </p:sp>
      <p:sp>
        <p:nvSpPr>
          <p:cNvPr id="6" name="Text 4"/>
          <p:cNvSpPr/>
          <p:nvPr/>
        </p:nvSpPr>
        <p:spPr>
          <a:xfrm>
            <a:off x="883741" y="2721570"/>
            <a:ext cx="5703241" cy="1016000"/>
          </a:xfrm>
          <a:prstGeom prst="rect">
            <a:avLst/>
          </a:prstGeom>
          <a:noFill/>
          <a:ln/>
        </p:spPr>
        <p:txBody>
          <a:bodyPr wrap="square" lIns="0" tIns="0" rIns="0" bIns="0" rtlCol="0" anchor="t">
            <a:normAutofit/>
          </a:bodyPr>
          <a:lstStyle/>
          <a:p>
            <a:pPr marL="183059" indent="-183059" algn="l">
              <a:lnSpc>
                <a:spcPts val="1950"/>
              </a:lnSpc>
              <a:buSzPct val="100000"/>
              <a:buFontTx/>
              <a:buAutoNum type="arabicPeriod"/>
            </a:pPr>
            <a:r>
              <a:rPr lang="en-US" sz="1300" dirty="0">
                <a:solidFill>
                  <a:srgbClr val="45505F"/>
                </a:solidFill>
                <a:latin typeface="IBM Plex Sans" pitchFamily="34" charset="0"/>
                <a:ea typeface="IBM Plex Sans" pitchFamily="34" charset="-122"/>
                <a:cs typeface="IBM Plex Sans" pitchFamily="34" charset="-120"/>
              </a:rPr>
              <a:t>Snapshot'ı </a:t>
            </a:r>
            <a:r>
              <a:rPr lang="en-US" sz="1300" b="1" dirty="0">
                <a:solidFill>
                  <a:srgbClr val="45505F"/>
                </a:solidFill>
                <a:latin typeface="IBM Plex Sans" pitchFamily="34" charset="0"/>
                <a:ea typeface="IBM Plex Sans" pitchFamily="34" charset="-122"/>
                <a:cs typeface="IBM Plex Sans" pitchFamily="34" charset="-120"/>
              </a:rPr>
              <a:t>yeni bir data dizinine</a:t>
            </a:r>
            <a:r>
              <a:rPr lang="en-US" sz="1300" dirty="0">
                <a:solidFill>
                  <a:srgbClr val="45505F"/>
                </a:solidFill>
                <a:latin typeface="IBM Plex Sans" pitchFamily="34" charset="0"/>
                <a:ea typeface="IBM Plex Sans" pitchFamily="34" charset="-122"/>
                <a:cs typeface="IBM Plex Sans" pitchFamily="34" charset="-120"/>
              </a:rPr>
              <a:t> açın.</a:t>
            </a:r>
            <a:endParaRPr lang="en-US" sz="1300" dirty="0"/>
          </a:p>
          <a:p>
            <a:pPr marL="183059" indent="-183059" algn="l">
              <a:lnSpc>
                <a:spcPts val="1950"/>
              </a:lnSpc>
              <a:buSzPct val="100000"/>
              <a:buFontTx/>
              <a:buAutoNum type="arabicPeriod"/>
            </a:pPr>
            <a:r>
              <a:rPr lang="en-US" sz="1300" dirty="0">
                <a:solidFill>
                  <a:srgbClr val="45505F"/>
                </a:solidFill>
                <a:latin typeface="IBM Plex Sans" pitchFamily="34" charset="0"/>
                <a:ea typeface="IBM Plex Sans" pitchFamily="34" charset="-122"/>
                <a:cs typeface="IBM Plex Sans" pitchFamily="34" charset="-120"/>
              </a:rPr>
              <a:t>etcd static pod manifest'inde hostPath'i yeni dizine çevirin (</a:t>
            </a:r>
            <a:r>
              <a:rPr lang="en-US" sz="1300" b="1" dirty="0">
                <a:solidFill>
                  <a:srgbClr val="45505F"/>
                </a:solidFill>
                <a:latin typeface="IBM Plex Sans" pitchFamily="34" charset="0"/>
                <a:ea typeface="IBM Plex Sans" pitchFamily="34" charset="-122"/>
                <a:cs typeface="IBM Plex Sans" pitchFamily="34" charset="-120"/>
              </a:rPr>
              <a:t>/etc/kubernetes/manifests/etcd.yaml</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a:p>
            <a:pPr marL="183059" indent="-183059" algn="l">
              <a:lnSpc>
                <a:spcPts val="1950"/>
              </a:lnSpc>
              <a:buSzPct val="100000"/>
              <a:buFontTx/>
              <a:buAutoNum type="arabicPeriod"/>
            </a:pPr>
            <a:r>
              <a:rPr lang="en-US" sz="1300" dirty="0">
                <a:solidFill>
                  <a:srgbClr val="45505F"/>
                </a:solidFill>
                <a:latin typeface="IBM Plex Sans" pitchFamily="34" charset="0"/>
                <a:ea typeface="IBM Plex Sans" pitchFamily="34" charset="-122"/>
                <a:cs typeface="IBM Plex Sans" pitchFamily="34" charset="-120"/>
              </a:rPr>
              <a:t>etcd pod'u kendiliğinden yeniden başlar; durumu kontrol edin.</a:t>
            </a:r>
            <a:endParaRPr lang="en-US" sz="1300" dirty="0"/>
          </a:p>
        </p:txBody>
      </p:sp>
      <p:sp>
        <p:nvSpPr>
          <p:cNvPr id="7" name="Text 5"/>
          <p:cNvSpPr/>
          <p:nvPr/>
        </p:nvSpPr>
        <p:spPr>
          <a:xfrm>
            <a:off x="812800" y="3826470"/>
            <a:ext cx="578180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Harici etcd kullanılıyorsa: kube-apiserver'ı durdur, etcd servisini güncelle ve yeniden başlat.</a:t>
            </a:r>
            <a:endParaRPr lang="en-US" sz="1200" dirty="0"/>
          </a:p>
        </p:txBody>
      </p:sp>
      <p:sp>
        <p:nvSpPr>
          <p:cNvPr id="8" name="Text 6"/>
          <p:cNvSpPr/>
          <p:nvPr/>
        </p:nvSpPr>
        <p:spPr>
          <a:xfrm>
            <a:off x="6680200" y="1750020"/>
            <a:ext cx="4699000" cy="3007122"/>
          </a:xfrm>
          <a:prstGeom prst="roundRect">
            <a:avLst>
              <a:gd name="adj" fmla="val 2534"/>
            </a:avLst>
          </a:prstGeom>
          <a:solidFill>
            <a:srgbClr val="1B2A41"/>
          </a:solidFill>
          <a:ln/>
        </p:spPr>
        <p:txBody>
          <a:bodyPr wrap="square" lIns="155482" tIns="155482" rIns="25180" bIns="1300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yedek</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etcdctl snapshot save /opt/snap.db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--endpoints=https://127.0.0.1:2379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--cacert=/etc/kubernetes/pki/etcd/ca.crt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--cert=/etc/kubernetes/pki/etcd/server.crt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--key=/etc/kubernetes/pki/etcd/server.key</a:t>
            </a:r>
            <a:endParaRPr lang="en-US" sz="1200" dirty="0"/>
          </a:p>
          <a:p>
            <a:pPr marL="0" indent="0" algn="l">
              <a:lnSpc>
                <a:spcPts val="1740"/>
              </a:lnSpc>
              <a:buNone/>
            </a:pP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etcdutl snapshot status /opt/snap.db</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geri yükleme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etcdutl snapshot restore /opt/snap.db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--data-dir /var/lib/etcd-from-backup</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5">
    <p:bg>
      <p:bgPr>
        <a:solidFill>
          <a:srgbClr val="142033"/>
        </a:solidFill>
        <a:effectLst/>
      </p:bgPr>
    </p:bg>
    <p:spTree>
      <p:nvGrpSpPr>
        <p:cNvPr id="1" name=""/>
        <p:cNvGrpSpPr/>
        <p:nvPr/>
      </p:nvGrpSpPr>
      <p:grpSpPr>
        <a:xfrm>
          <a:off x="0" y="0"/>
          <a:ext cx="0" cy="0"/>
          <a:chOff x="0" y="0"/>
          <a:chExt cx="0" cy="0"/>
        </a:xfrm>
      </p:grpSpPr>
      <p:sp>
        <p:nvSpPr>
          <p:cNvPr id="2" name="Text 0"/>
          <p:cNvSpPr/>
          <p:nvPr/>
        </p:nvSpPr>
        <p:spPr>
          <a:xfrm>
            <a:off x="812800" y="231775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IBM Plex Sans" pitchFamily="34" charset="0"/>
                <a:ea typeface="IBM Plex Sans" pitchFamily="34" charset="-122"/>
                <a:cs typeface="IBM Plex Sans" pitchFamily="34" charset="-120"/>
              </a:rPr>
              <a:t>BÖLÜM 06</a:t>
            </a:r>
            <a:endParaRPr lang="en-US" sz="1200" dirty="0"/>
          </a:p>
        </p:txBody>
      </p:sp>
      <p:sp>
        <p:nvSpPr>
          <p:cNvPr id="3" name="Text 1"/>
          <p:cNvSpPr>
            <a:spLocks noGrp="1"/>
          </p:cNvSpPr>
          <p:nvPr>
            <p:ph type="title"/>
          </p:nvPr>
        </p:nvSpPr>
        <p:spPr>
          <a:xfrm>
            <a:off x="812800" y="270887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4EF"/>
                </a:solidFill>
                <a:latin typeface="IBM Plex Sans" pitchFamily="34" charset="0"/>
                <a:ea typeface="IBM Plex Sans" pitchFamily="34" charset="-122"/>
                <a:cs typeface="IBM Plex Sans" pitchFamily="34" charset="-120"/>
              </a:rPr>
              <a:t>Güvenlik</a:t>
            </a:r>
            <a:endParaRPr lang="en-US" sz="6000" dirty="0"/>
          </a:p>
        </p:txBody>
      </p:sp>
      <p:sp>
        <p:nvSpPr>
          <p:cNvPr id="4" name="Text 2"/>
          <p:cNvSpPr/>
          <p:nvPr/>
        </p:nvSpPr>
        <p:spPr>
          <a:xfrm>
            <a:off x="812800" y="3686770"/>
            <a:ext cx="7848600"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6D6"/>
                </a:solidFill>
                <a:latin typeface="IBM Plex Sans" pitchFamily="34" charset="0"/>
                <a:ea typeface="IBM Plex Sans" pitchFamily="34" charset="-122"/>
                <a:cs typeface="IBM Plex Sans" pitchFamily="34" charset="-120"/>
              </a:rPr>
              <a:t>Kimlik doğrulama, TLS sertifikaları, kubeconfig, API grupları, yetkilendirme ve RBAC, ServiceAccount, image ve container güvenliği, NetworkPolicy, CRD ve operatörler.</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6">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GÜVENLIK TEMELLERI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Savunma katmanları</a:t>
            </a:r>
            <a:endParaRPr lang="en-US" sz="3000" dirty="0"/>
          </a:p>
        </p:txBody>
      </p:sp>
      <p:sp>
        <p:nvSpPr>
          <p:cNvPr id="4" name="Shape 2"/>
          <p:cNvSpPr/>
          <p:nvPr/>
        </p:nvSpPr>
        <p:spPr>
          <a:xfrm>
            <a:off x="815975" y="1778595"/>
            <a:ext cx="3414117" cy="1425972"/>
          </a:xfrm>
          <a:prstGeom prst="roundRect">
            <a:avLst>
              <a:gd name="adj" fmla="val 5121"/>
            </a:avLst>
          </a:prstGeom>
          <a:solidFill>
            <a:srgbClr val="FDFCF9"/>
          </a:solidFill>
          <a:ln w="6350">
            <a:solidFill>
              <a:srgbClr val="E2DFD6"/>
            </a:solidFill>
            <a:prstDash val="solid"/>
          </a:ln>
        </p:spPr>
      </p:sp>
      <p:sp>
        <p:nvSpPr>
          <p:cNvPr id="5" name="Text 3"/>
          <p:cNvSpPr/>
          <p:nvPr/>
        </p:nvSpPr>
        <p:spPr>
          <a:xfrm>
            <a:off x="1022350" y="1984970"/>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Host</a:t>
            </a:r>
            <a:endParaRPr lang="en-US" sz="1600" dirty="0"/>
          </a:p>
        </p:txBody>
      </p:sp>
      <p:sp>
        <p:nvSpPr>
          <p:cNvPr id="6" name="Text 4"/>
          <p:cNvSpPr/>
          <p:nvPr/>
        </p:nvSpPr>
        <p:spPr>
          <a:xfrm>
            <a:off x="1022350" y="2304951"/>
            <a:ext cx="3091408"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Root girişi kapalı, yalnızca SSH anahtarı, yamalı OS. Node ele geçerse her şey ele geçer.</a:t>
            </a:r>
            <a:endParaRPr lang="en-US" sz="1300" dirty="0"/>
          </a:p>
        </p:txBody>
      </p:sp>
      <p:sp>
        <p:nvSpPr>
          <p:cNvPr id="7" name="Shape 5"/>
          <p:cNvSpPr/>
          <p:nvPr/>
        </p:nvSpPr>
        <p:spPr>
          <a:xfrm>
            <a:off x="4385667" y="1775420"/>
            <a:ext cx="3420566" cy="1432322"/>
          </a:xfrm>
          <a:prstGeom prst="roundRect">
            <a:avLst>
              <a:gd name="adj" fmla="val 5320"/>
            </a:avLst>
          </a:prstGeom>
          <a:solidFill>
            <a:srgbClr val="142033"/>
          </a:solidFill>
          <a:ln/>
        </p:spPr>
      </p:sp>
      <p:sp>
        <p:nvSpPr>
          <p:cNvPr id="8" name="Text 6"/>
          <p:cNvSpPr/>
          <p:nvPr/>
        </p:nvSpPr>
        <p:spPr>
          <a:xfrm>
            <a:off x="4588867" y="1978620"/>
            <a:ext cx="310459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kube-apiserver</a:t>
            </a:r>
            <a:endParaRPr lang="en-US" sz="1600" dirty="0"/>
          </a:p>
        </p:txBody>
      </p:sp>
      <p:sp>
        <p:nvSpPr>
          <p:cNvPr id="9" name="Text 7"/>
          <p:cNvSpPr/>
          <p:nvPr/>
        </p:nvSpPr>
        <p:spPr>
          <a:xfrm>
            <a:off x="4588867" y="2298601"/>
            <a:ext cx="3104591"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İlk savunma hattı. İki soru: </a:t>
            </a:r>
            <a:r>
              <a:rPr lang="en-US" sz="1300" b="1" dirty="0">
                <a:solidFill>
                  <a:srgbClr val="F5F4EF"/>
                </a:solidFill>
                <a:latin typeface="IBM Plex Sans" pitchFamily="34" charset="0"/>
                <a:ea typeface="IBM Plex Sans" pitchFamily="34" charset="-122"/>
                <a:cs typeface="IBM Plex Sans" pitchFamily="34" charset="-120"/>
              </a:rPr>
              <a:t>Kim erişebilir?</a:t>
            </a:r>
            <a:r>
              <a:rPr lang="en-US" sz="1300" dirty="0">
                <a:solidFill>
                  <a:srgbClr val="B9C6D6"/>
                </a:solidFill>
                <a:latin typeface="IBM Plex Sans" pitchFamily="34" charset="0"/>
                <a:ea typeface="IBM Plex Sans" pitchFamily="34" charset="-122"/>
                <a:cs typeface="IBM Plex Sans" pitchFamily="34" charset="-120"/>
              </a:rPr>
              <a:t> (authentication) </a:t>
            </a:r>
            <a:r>
              <a:rPr lang="en-US" sz="1300" b="1" dirty="0">
                <a:solidFill>
                  <a:srgbClr val="F5F4EF"/>
                </a:solidFill>
                <a:latin typeface="IBM Plex Sans" pitchFamily="34" charset="0"/>
                <a:ea typeface="IBM Plex Sans" pitchFamily="34" charset="-122"/>
                <a:cs typeface="IBM Plex Sans" pitchFamily="34" charset="-120"/>
              </a:rPr>
              <a:t>Ne yapabilir?</a:t>
            </a:r>
            <a:r>
              <a:rPr lang="en-US" sz="1300" dirty="0">
                <a:solidFill>
                  <a:srgbClr val="B9C6D6"/>
                </a:solidFill>
                <a:latin typeface="IBM Plex Sans" pitchFamily="34" charset="0"/>
                <a:ea typeface="IBM Plex Sans" pitchFamily="34" charset="-122"/>
                <a:cs typeface="IBM Plex Sans" pitchFamily="34" charset="-120"/>
              </a:rPr>
              <a:t> (authorization)</a:t>
            </a:r>
            <a:endParaRPr lang="en-US" sz="1300" dirty="0"/>
          </a:p>
        </p:txBody>
      </p:sp>
      <p:sp>
        <p:nvSpPr>
          <p:cNvPr id="10" name="Shape 8"/>
          <p:cNvSpPr/>
          <p:nvPr/>
        </p:nvSpPr>
        <p:spPr>
          <a:xfrm>
            <a:off x="7961809" y="1778595"/>
            <a:ext cx="3414216" cy="1425972"/>
          </a:xfrm>
          <a:prstGeom prst="roundRect">
            <a:avLst>
              <a:gd name="adj" fmla="val 5121"/>
            </a:avLst>
          </a:prstGeom>
          <a:solidFill>
            <a:srgbClr val="FDFCF9"/>
          </a:solidFill>
          <a:ln w="6350">
            <a:solidFill>
              <a:srgbClr val="E2DFD6"/>
            </a:solidFill>
            <a:prstDash val="solid"/>
          </a:ln>
        </p:spPr>
      </p:sp>
      <p:sp>
        <p:nvSpPr>
          <p:cNvPr id="11" name="Text 9"/>
          <p:cNvSpPr/>
          <p:nvPr/>
        </p:nvSpPr>
        <p:spPr>
          <a:xfrm>
            <a:off x="8168184" y="1984970"/>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TLS</a:t>
            </a:r>
            <a:endParaRPr lang="en-US" sz="1600" dirty="0"/>
          </a:p>
        </p:txBody>
      </p:sp>
      <p:sp>
        <p:nvSpPr>
          <p:cNvPr id="12" name="Text 10"/>
          <p:cNvSpPr/>
          <p:nvPr/>
        </p:nvSpPr>
        <p:spPr>
          <a:xfrm>
            <a:off x="8168184" y="2304951"/>
            <a:ext cx="309151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Bileşenler arası tüm trafik (apiserver, etcd, kubelet, scheduler…) karşılıklı TLS ile şifrelenir.</a:t>
            </a:r>
            <a:endParaRPr lang="en-US" sz="1300" dirty="0"/>
          </a:p>
        </p:txBody>
      </p:sp>
      <p:sp>
        <p:nvSpPr>
          <p:cNvPr id="13" name="Shape 11"/>
          <p:cNvSpPr/>
          <p:nvPr/>
        </p:nvSpPr>
        <p:spPr>
          <a:xfrm>
            <a:off x="815975" y="3363317"/>
            <a:ext cx="3414117" cy="1194891"/>
          </a:xfrm>
          <a:prstGeom prst="roundRect">
            <a:avLst>
              <a:gd name="adj" fmla="val 6111"/>
            </a:avLst>
          </a:prstGeom>
          <a:solidFill>
            <a:srgbClr val="FDFCF9"/>
          </a:solidFill>
          <a:ln w="6350">
            <a:solidFill>
              <a:srgbClr val="E2DFD6"/>
            </a:solidFill>
            <a:prstDash val="solid"/>
          </a:ln>
        </p:spPr>
      </p:sp>
      <p:sp>
        <p:nvSpPr>
          <p:cNvPr id="14" name="Text 12"/>
          <p:cNvSpPr/>
          <p:nvPr/>
        </p:nvSpPr>
        <p:spPr>
          <a:xfrm>
            <a:off x="1022350" y="3569692"/>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Ağ</a:t>
            </a:r>
            <a:endParaRPr lang="en-US" sz="1600" dirty="0"/>
          </a:p>
        </p:txBody>
      </p:sp>
      <p:sp>
        <p:nvSpPr>
          <p:cNvPr id="15" name="Text 13"/>
          <p:cNvSpPr/>
          <p:nvPr/>
        </p:nvSpPr>
        <p:spPr>
          <a:xfrm>
            <a:off x="1022350" y="3889673"/>
            <a:ext cx="309140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Varsayılan: tüm pod'lar birbirine erişir. NetworkPolicy ile kısıtlanır.</a:t>
            </a:r>
            <a:endParaRPr lang="en-US" sz="1300" dirty="0"/>
          </a:p>
        </p:txBody>
      </p:sp>
      <p:sp>
        <p:nvSpPr>
          <p:cNvPr id="16" name="Shape 14"/>
          <p:cNvSpPr/>
          <p:nvPr/>
        </p:nvSpPr>
        <p:spPr>
          <a:xfrm>
            <a:off x="4388842" y="3363317"/>
            <a:ext cx="3414216" cy="1194891"/>
          </a:xfrm>
          <a:prstGeom prst="roundRect">
            <a:avLst>
              <a:gd name="adj" fmla="val 6111"/>
            </a:avLst>
          </a:prstGeom>
          <a:solidFill>
            <a:srgbClr val="FDFCF9"/>
          </a:solidFill>
          <a:ln w="6350">
            <a:solidFill>
              <a:srgbClr val="E2DFD6"/>
            </a:solidFill>
            <a:prstDash val="solid"/>
          </a:ln>
        </p:spPr>
      </p:sp>
      <p:sp>
        <p:nvSpPr>
          <p:cNvPr id="17" name="Text 15"/>
          <p:cNvSpPr/>
          <p:nvPr/>
        </p:nvSpPr>
        <p:spPr>
          <a:xfrm>
            <a:off x="4595217" y="3569692"/>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Workload</a:t>
            </a:r>
            <a:endParaRPr lang="en-US" sz="1600" dirty="0"/>
          </a:p>
        </p:txBody>
      </p:sp>
      <p:sp>
        <p:nvSpPr>
          <p:cNvPr id="18" name="Text 16"/>
          <p:cNvSpPr/>
          <p:nvPr/>
        </p:nvSpPr>
        <p:spPr>
          <a:xfrm>
            <a:off x="4595217" y="3889673"/>
            <a:ext cx="309151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SecurityContext, Pod Security Standards, güvenilir image'lar.</a:t>
            </a:r>
            <a:endParaRPr lang="en-US" sz="1300" dirty="0"/>
          </a:p>
        </p:txBody>
      </p:sp>
      <p:sp>
        <p:nvSpPr>
          <p:cNvPr id="19" name="Shape 17"/>
          <p:cNvSpPr/>
          <p:nvPr/>
        </p:nvSpPr>
        <p:spPr>
          <a:xfrm>
            <a:off x="7961809" y="3363317"/>
            <a:ext cx="3414216" cy="1194891"/>
          </a:xfrm>
          <a:prstGeom prst="roundRect">
            <a:avLst>
              <a:gd name="adj" fmla="val 6111"/>
            </a:avLst>
          </a:prstGeom>
          <a:solidFill>
            <a:srgbClr val="FDFCF9"/>
          </a:solidFill>
          <a:ln w="6350">
            <a:solidFill>
              <a:srgbClr val="E2DFD6"/>
            </a:solidFill>
            <a:prstDash val="solid"/>
          </a:ln>
        </p:spPr>
      </p:sp>
      <p:sp>
        <p:nvSpPr>
          <p:cNvPr id="20" name="Text 18"/>
          <p:cNvSpPr/>
          <p:nvPr/>
        </p:nvSpPr>
        <p:spPr>
          <a:xfrm>
            <a:off x="8168184" y="3569692"/>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Veri</a:t>
            </a:r>
            <a:endParaRPr lang="en-US" sz="1600" dirty="0"/>
          </a:p>
        </p:txBody>
      </p:sp>
      <p:sp>
        <p:nvSpPr>
          <p:cNvPr id="21" name="Text 19"/>
          <p:cNvSpPr/>
          <p:nvPr/>
        </p:nvSpPr>
        <p:spPr>
          <a:xfrm>
            <a:off x="8168184" y="3889673"/>
            <a:ext cx="309151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Secret şifreleme, etcd erişim kontrolü, yedeklerin korunması.</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7">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AUTHENTICATION</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Kubernetes kullanıcı hesabı tutmaz</a:t>
            </a:r>
            <a:endParaRPr lang="en-US" sz="3000" dirty="0"/>
          </a:p>
        </p:txBody>
      </p:sp>
      <p:sp>
        <p:nvSpPr>
          <p:cNvPr id="4" name="Text 2"/>
          <p:cNvSpPr/>
          <p:nvPr/>
        </p:nvSpPr>
        <p:spPr>
          <a:xfrm>
            <a:off x="812800" y="1775420"/>
            <a:ext cx="7089902" cy="7683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İki tür kimlik vardır: </a:t>
            </a:r>
            <a:r>
              <a:rPr lang="en-US" sz="1300" b="1" dirty="0">
                <a:solidFill>
                  <a:srgbClr val="142033"/>
                </a:solidFill>
                <a:latin typeface="IBM Plex Sans" pitchFamily="34" charset="0"/>
                <a:ea typeface="IBM Plex Sans" pitchFamily="34" charset="-122"/>
                <a:cs typeface="IBM Plex Sans" pitchFamily="34" charset="-120"/>
              </a:rPr>
              <a:t>insanlar</a:t>
            </a:r>
            <a:r>
              <a:rPr lang="en-US" sz="1300" dirty="0">
                <a:solidFill>
                  <a:srgbClr val="45505F"/>
                </a:solidFill>
                <a:latin typeface="IBM Plex Sans" pitchFamily="34" charset="0"/>
                <a:ea typeface="IBM Plex Sans" pitchFamily="34" charset="-122"/>
                <a:cs typeface="IBM Plex Sans" pitchFamily="34" charset="-120"/>
              </a:rPr>
              <a:t> (admin, geliştirici) ve </a:t>
            </a:r>
            <a:r>
              <a:rPr lang="en-US" sz="1300" b="1" dirty="0">
                <a:solidFill>
                  <a:srgbClr val="142033"/>
                </a:solidFill>
                <a:latin typeface="IBM Plex Sans" pitchFamily="34" charset="0"/>
                <a:ea typeface="IBM Plex Sans" pitchFamily="34" charset="-122"/>
                <a:cs typeface="IBM Plex Sans" pitchFamily="34" charset="-120"/>
              </a:rPr>
              <a:t>makineler</a:t>
            </a:r>
            <a:r>
              <a:rPr lang="en-US" sz="1300" dirty="0">
                <a:solidFill>
                  <a:srgbClr val="45505F"/>
                </a:solidFill>
                <a:latin typeface="IBM Plex Sans" pitchFamily="34" charset="0"/>
                <a:ea typeface="IBM Plex Sans" pitchFamily="34" charset="-122"/>
                <a:cs typeface="IBM Plex Sans" pitchFamily="34" charset="-120"/>
              </a:rPr>
              <a:t> (uygulamalar, botlar). İnsan kullanıcı için "User" nesnesi yoktur; kimlik dışarıdan gelir. Makineler için </a:t>
            </a:r>
            <a:r>
              <a:rPr lang="en-US" sz="1300" b="1" dirty="0">
                <a:solidFill>
                  <a:srgbClr val="142033"/>
                </a:solidFill>
                <a:latin typeface="IBM Plex Sans" pitchFamily="34" charset="0"/>
                <a:ea typeface="IBM Plex Sans" pitchFamily="34" charset="-122"/>
                <a:cs typeface="IBM Plex Sans" pitchFamily="34" charset="-120"/>
              </a:rPr>
              <a:t>ServiceAccount</a:t>
            </a:r>
            <a:r>
              <a:rPr lang="en-US" sz="1300" dirty="0">
                <a:solidFill>
                  <a:srgbClr val="45505F"/>
                </a:solidFill>
                <a:latin typeface="IBM Plex Sans" pitchFamily="34" charset="0"/>
                <a:ea typeface="IBM Plex Sans" pitchFamily="34" charset="-122"/>
                <a:cs typeface="IBM Plex Sans" pitchFamily="34" charset="-120"/>
              </a:rPr>
              <a:t> nesnesi vardır.</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658070"/>
          <a:ext cx="6870700" cy="1995487"/>
        </p:xfrm>
        <a:graphic>
          <a:graphicData uri="http://schemas.openxmlformats.org/drawingml/2006/table">
            <a:tbl>
              <a:tblPr/>
              <a:tblGrid>
                <a:gridCol w="2610866">
                  <a:extLst>
                    <a:ext uri="{9D8B030D-6E8A-4147-A177-3AD203B41FA5}">
                      <a16:colId xmlns:a16="http://schemas.microsoft.com/office/drawing/2014/main" val="20000"/>
                    </a:ext>
                  </a:extLst>
                </a:gridCol>
                <a:gridCol w="4259834">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Yöntem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Durum</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X.509 client sertifikası</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Kubeadm admin'i bu; CN = kullanıcı, O = grup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OIDC (Keycloak, AD, Entra)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Kurumsal SSO için önerilen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ServiceAccount token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Pod'lar ve otomasyon için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Webhook token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Harici doğrulama servisi</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Statik dosya (parola/token)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Parola dosyası kaldırıldı; önerilmez</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7950200" y="1775420"/>
            <a:ext cx="3429000" cy="1569442"/>
          </a:xfrm>
          <a:prstGeom prst="roundRect">
            <a:avLst>
              <a:gd name="adj" fmla="val 4855"/>
            </a:avLst>
          </a:prstGeom>
          <a:solidFill>
            <a:srgbClr val="142033"/>
          </a:solidFill>
          <a:ln/>
        </p:spPr>
      </p:sp>
      <p:sp>
        <p:nvSpPr>
          <p:cNvPr id="7" name="Text 4"/>
          <p:cNvSpPr/>
          <p:nvPr/>
        </p:nvSpPr>
        <p:spPr>
          <a:xfrm>
            <a:off x="8128000" y="1953220"/>
            <a:ext cx="316560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BM Plex Sans" pitchFamily="34" charset="0"/>
                <a:ea typeface="IBM Plex Sans" pitchFamily="34" charset="-122"/>
                <a:cs typeface="IBM Plex Sans" pitchFamily="34" charset="-120"/>
              </a:rPr>
              <a:t>BAĞLANTI</a:t>
            </a:r>
            <a:endParaRPr lang="en-US" sz="1200" dirty="0"/>
          </a:p>
        </p:txBody>
      </p:sp>
      <p:sp>
        <p:nvSpPr>
          <p:cNvPr id="8" name="Text 5"/>
          <p:cNvSpPr/>
          <p:nvPr/>
        </p:nvSpPr>
        <p:spPr>
          <a:xfrm>
            <a:off x="8128000" y="2242741"/>
            <a:ext cx="3165602"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Kurumsal IAM platformları (ör. Keycloak) OIDC ile kube-apiserver'a bağlanır; grup üyeliği token'daki claim'den okunur ve RBAC'ta kullanılır.</a:t>
            </a:r>
            <a:endParaRPr lang="en-US" sz="1300" dirty="0"/>
          </a:p>
        </p:txBody>
      </p:sp>
      <p:sp>
        <p:nvSpPr>
          <p:cNvPr id="9" name="Text 6"/>
          <p:cNvSpPr/>
          <p:nvPr/>
        </p:nvSpPr>
        <p:spPr>
          <a:xfrm>
            <a:off x="7950200" y="3446463"/>
            <a:ext cx="3429000" cy="967680"/>
          </a:xfrm>
          <a:prstGeom prst="roundRect">
            <a:avLst>
              <a:gd name="adj" fmla="val 7875"/>
            </a:avLst>
          </a:prstGeom>
          <a:solidFill>
            <a:srgbClr val="1B2A41"/>
          </a:solidFill>
          <a:ln/>
        </p:spPr>
        <p:txBody>
          <a:bodyPr wrap="square" lIns="130082" tIns="130082" rIns="36356" bIns="1046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--oidc-issuer-url=...</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--oidc-client-id=...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--oidc-groups-claim=groups</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8">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TLS SERTIFIKALARI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Her bileşenin bir kimliği var</a:t>
            </a:r>
            <a:endParaRPr lang="en-US" sz="3000" dirty="0"/>
          </a:p>
        </p:txBody>
      </p:sp>
      <p:sp>
        <p:nvSpPr>
          <p:cNvPr id="4" name="Shape 2"/>
          <p:cNvSpPr/>
          <p:nvPr/>
        </p:nvSpPr>
        <p:spPr>
          <a:xfrm>
            <a:off x="812800" y="1750020"/>
            <a:ext cx="3412034" cy="1351062"/>
          </a:xfrm>
          <a:prstGeom prst="roundRect">
            <a:avLst>
              <a:gd name="adj" fmla="val 5640"/>
            </a:avLst>
          </a:prstGeom>
          <a:solidFill>
            <a:srgbClr val="142033"/>
          </a:solidFill>
          <a:ln/>
        </p:spPr>
      </p:sp>
      <p:sp>
        <p:nvSpPr>
          <p:cNvPr id="5" name="Text 3"/>
          <p:cNvSpPr/>
          <p:nvPr/>
        </p:nvSpPr>
        <p:spPr>
          <a:xfrm>
            <a:off x="990600" y="1927820"/>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BM Plex Sans" pitchFamily="34" charset="0"/>
                <a:ea typeface="IBM Plex Sans" pitchFamily="34" charset="-122"/>
                <a:cs typeface="IBM Plex Sans" pitchFamily="34" charset="-120"/>
              </a:rPr>
              <a:t>CA</a:t>
            </a:r>
            <a:endParaRPr lang="en-US" sz="1200" dirty="0"/>
          </a:p>
        </p:txBody>
      </p:sp>
      <p:sp>
        <p:nvSpPr>
          <p:cNvPr id="6" name="Text 4"/>
          <p:cNvSpPr/>
          <p:nvPr/>
        </p:nvSpPr>
        <p:spPr>
          <a:xfrm>
            <a:off x="990600" y="2217341"/>
            <a:ext cx="3148127"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Tüm sertifikaları imzalayan kök. ca.crt + ca.key. Key ele geçerse cluster ele geçer. etcd'nin ayrı bir CA'sı olabilir.</a:t>
            </a:r>
            <a:endParaRPr lang="en-US" sz="1300" dirty="0"/>
          </a:p>
        </p:txBody>
      </p:sp>
      <p:sp>
        <p:nvSpPr>
          <p:cNvPr id="7" name="Shape 5"/>
          <p:cNvSpPr/>
          <p:nvPr/>
        </p:nvSpPr>
        <p:spPr>
          <a:xfrm>
            <a:off x="4380409" y="1753195"/>
            <a:ext cx="3418483" cy="1344712"/>
          </a:xfrm>
          <a:prstGeom prst="roundRect">
            <a:avLst>
              <a:gd name="adj" fmla="val 5431"/>
            </a:avLst>
          </a:prstGeom>
          <a:solidFill>
            <a:srgbClr val="FDFCF9"/>
          </a:solidFill>
          <a:ln w="6350">
            <a:solidFill>
              <a:srgbClr val="E2DFD6"/>
            </a:solidFill>
            <a:prstDash val="solid"/>
          </a:ln>
        </p:spPr>
      </p:sp>
      <p:sp>
        <p:nvSpPr>
          <p:cNvPr id="8" name="Text 6"/>
          <p:cNvSpPr/>
          <p:nvPr/>
        </p:nvSpPr>
        <p:spPr>
          <a:xfrm>
            <a:off x="4561384" y="1934170"/>
            <a:ext cx="31482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SUNUCU</a:t>
            </a:r>
            <a:endParaRPr lang="en-US" sz="1200" dirty="0"/>
          </a:p>
        </p:txBody>
      </p:sp>
      <p:sp>
        <p:nvSpPr>
          <p:cNvPr id="9" name="Text 7"/>
          <p:cNvSpPr/>
          <p:nvPr/>
        </p:nvSpPr>
        <p:spPr>
          <a:xfrm>
            <a:off x="4561384" y="2223691"/>
            <a:ext cx="314822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kube-apiserver (SAN'larda tüm ad ve IP'ler), etcd server, kubelet server.</a:t>
            </a:r>
            <a:endParaRPr lang="en-US" sz="1300" dirty="0"/>
          </a:p>
        </p:txBody>
      </p:sp>
      <p:sp>
        <p:nvSpPr>
          <p:cNvPr id="10" name="Shape 8"/>
          <p:cNvSpPr/>
          <p:nvPr/>
        </p:nvSpPr>
        <p:spPr>
          <a:xfrm>
            <a:off x="7957641" y="1753195"/>
            <a:ext cx="3418384" cy="1344712"/>
          </a:xfrm>
          <a:prstGeom prst="roundRect">
            <a:avLst>
              <a:gd name="adj" fmla="val 5431"/>
            </a:avLst>
          </a:prstGeom>
          <a:solidFill>
            <a:srgbClr val="FDFCF9"/>
          </a:solidFill>
          <a:ln w="6350">
            <a:solidFill>
              <a:srgbClr val="E2DFD6"/>
            </a:solidFill>
            <a:prstDash val="solid"/>
          </a:ln>
        </p:spPr>
      </p:sp>
      <p:sp>
        <p:nvSpPr>
          <p:cNvPr id="11" name="Text 9"/>
          <p:cNvSpPr/>
          <p:nvPr/>
        </p:nvSpPr>
        <p:spPr>
          <a:xfrm>
            <a:off x="8138616" y="1934170"/>
            <a:ext cx="314812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İSTEMCI</a:t>
            </a:r>
            <a:endParaRPr lang="en-US" sz="1200" dirty="0"/>
          </a:p>
        </p:txBody>
      </p:sp>
      <p:sp>
        <p:nvSpPr>
          <p:cNvPr id="12" name="Text 10"/>
          <p:cNvSpPr/>
          <p:nvPr/>
        </p:nvSpPr>
        <p:spPr>
          <a:xfrm>
            <a:off x="8138616" y="2223691"/>
            <a:ext cx="3148127"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admin, scheduler, controller-manager, kube-proxy, apiserver→etcd, apiserver→kubelet, kubelet→apiserver.</a:t>
            </a:r>
            <a:endParaRPr lang="en-US" sz="1300" dirty="0"/>
          </a:p>
        </p:txBody>
      </p:sp>
      <p:sp>
        <p:nvSpPr>
          <p:cNvPr id="13" name="Text 11"/>
          <p:cNvSpPr/>
          <p:nvPr/>
        </p:nvSpPr>
        <p:spPr>
          <a:xfrm>
            <a:off x="898144" y="3329682"/>
            <a:ext cx="6342888"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kubeadm hepsini </a:t>
            </a:r>
            <a:r>
              <a:rPr lang="en-US" sz="1300" b="1" dirty="0">
                <a:solidFill>
                  <a:srgbClr val="142033"/>
                </a:solidFill>
                <a:latin typeface="IBM Plex Sans" pitchFamily="34" charset="0"/>
                <a:ea typeface="IBM Plex Sans" pitchFamily="34" charset="-122"/>
                <a:cs typeface="IBM Plex Sans" pitchFamily="34" charset="-120"/>
              </a:rPr>
              <a:t>/etc/kubernetes/pki</a:t>
            </a:r>
            <a:r>
              <a:rPr lang="en-US" sz="1300" dirty="0">
                <a:solidFill>
                  <a:srgbClr val="45505F"/>
                </a:solidFill>
                <a:latin typeface="IBM Plex Sans" pitchFamily="34" charset="0"/>
                <a:ea typeface="IBM Plex Sans" pitchFamily="34" charset="-122"/>
                <a:cs typeface="IBM Plex Sans" pitchFamily="34" charset="-120"/>
              </a:rPr>
              <a:t> altına üretir. Sertifikalar 1 yıl, CA 10 yıl geçerli; kubeadm upgrade sırasında yenilenir.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Kubelet sertifikasında CN </a:t>
            </a:r>
            <a:r>
              <a:rPr lang="en-US" sz="1300" b="1" dirty="0">
                <a:solidFill>
                  <a:srgbClr val="45505F"/>
                </a:solidFill>
                <a:latin typeface="IBM Plex Sans" pitchFamily="34" charset="0"/>
                <a:ea typeface="IBM Plex Sans" pitchFamily="34" charset="-122"/>
                <a:cs typeface="IBM Plex Sans" pitchFamily="34" charset="-120"/>
              </a:rPr>
              <a:t>system:node:&lt;node&gt;</a:t>
            </a:r>
            <a:r>
              <a:rPr lang="en-US" sz="1300" dirty="0">
                <a:solidFill>
                  <a:srgbClr val="45505F"/>
                </a:solidFill>
                <a:latin typeface="IBM Plex Sans" pitchFamily="34" charset="0"/>
                <a:ea typeface="IBM Plex Sans" pitchFamily="34" charset="-122"/>
                <a:cs typeface="IBM Plex Sans" pitchFamily="34" charset="-120"/>
              </a:rPr>
              <a:t>, grup </a:t>
            </a:r>
            <a:r>
              <a:rPr lang="en-US" sz="1300" b="1" dirty="0">
                <a:solidFill>
                  <a:srgbClr val="45505F"/>
                </a:solidFill>
                <a:latin typeface="IBM Plex Sans" pitchFamily="34" charset="0"/>
                <a:ea typeface="IBM Plex Sans" pitchFamily="34" charset="-122"/>
                <a:cs typeface="IBM Plex Sans" pitchFamily="34" charset="-120"/>
              </a:rPr>
              <a:t>system:nodes</a:t>
            </a:r>
            <a:r>
              <a:rPr lang="en-US" sz="1300" dirty="0">
                <a:solidFill>
                  <a:srgbClr val="45505F"/>
                </a:solidFill>
                <a:latin typeface="IBM Plex Sans" pitchFamily="34" charset="0"/>
                <a:ea typeface="IBM Plex Sans" pitchFamily="34" charset="-122"/>
                <a:cs typeface="IBM Plex Sans" pitchFamily="34" charset="-120"/>
              </a:rPr>
              <a:t> olmalı (Node authorizer için).</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Yeni kullanıcı: CSR oluştur → </a:t>
            </a:r>
            <a:r>
              <a:rPr lang="en-US" sz="1300" b="1" dirty="0">
                <a:solidFill>
                  <a:srgbClr val="45505F"/>
                </a:solidFill>
                <a:latin typeface="IBM Plex Sans" pitchFamily="34" charset="0"/>
                <a:ea typeface="IBM Plex Sans" pitchFamily="34" charset="-122"/>
                <a:cs typeface="IBM Plex Sans" pitchFamily="34" charset="-120"/>
              </a:rPr>
              <a:t>CertificateSigningRequest</a:t>
            </a:r>
            <a:r>
              <a:rPr lang="en-US" sz="1300" dirty="0">
                <a:solidFill>
                  <a:srgbClr val="45505F"/>
                </a:solidFill>
                <a:latin typeface="IBM Plex Sans" pitchFamily="34" charset="0"/>
                <a:ea typeface="IBM Plex Sans" pitchFamily="34" charset="-122"/>
                <a:cs typeface="IBM Plex Sans" pitchFamily="34" charset="-120"/>
              </a:rPr>
              <a:t> nesnesi → </a:t>
            </a:r>
            <a:r>
              <a:rPr lang="en-US" sz="1300" b="1" dirty="0">
                <a:solidFill>
                  <a:srgbClr val="45505F"/>
                </a:solidFill>
                <a:latin typeface="IBM Plex Sans" pitchFamily="34" charset="0"/>
                <a:ea typeface="IBM Plex Sans" pitchFamily="34" charset="-122"/>
                <a:cs typeface="IBM Plex Sans" pitchFamily="34" charset="-120"/>
              </a:rPr>
              <a:t>kubectl certificate approve</a:t>
            </a:r>
            <a:r>
              <a:rPr lang="en-US" sz="1300" dirty="0">
                <a:solidFill>
                  <a:srgbClr val="45505F"/>
                </a:solidFill>
                <a:latin typeface="IBM Plex Sans" pitchFamily="34" charset="0"/>
                <a:ea typeface="IBM Plex Sans" pitchFamily="34" charset="-122"/>
                <a:cs typeface="IBM Plex Sans" pitchFamily="34" charset="-120"/>
              </a:rPr>
              <a:t>. İmzalamayı controller-manager yapar.</a:t>
            </a:r>
            <a:endParaRPr lang="en-US" sz="1300" dirty="0"/>
          </a:p>
        </p:txBody>
      </p:sp>
      <p:sp>
        <p:nvSpPr>
          <p:cNvPr id="14" name="Text 12"/>
          <p:cNvSpPr/>
          <p:nvPr/>
        </p:nvSpPr>
        <p:spPr>
          <a:xfrm>
            <a:off x="7315200" y="3329682"/>
            <a:ext cx="4064000" cy="1485900"/>
          </a:xfrm>
          <a:prstGeom prst="roundRect">
            <a:avLst>
              <a:gd name="adj" fmla="val 5128"/>
            </a:avLst>
          </a:prstGeom>
          <a:solidFill>
            <a:srgbClr val="1B2A41"/>
          </a:solidFill>
          <a:ln/>
        </p:spPr>
        <p:txBody>
          <a:bodyPr wrap="square" lIns="155482" tIns="155482" rIns="44230"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openssl x509 -in apiserver.crt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-text -noout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kubeadm certs check-expiration</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kubeadm certs renew all</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get csr</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9">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KUBECONFIG</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Hangi cluster'a, hangi kimlikle?</a:t>
            </a:r>
            <a:endParaRPr lang="en-US" sz="3000" dirty="0"/>
          </a:p>
        </p:txBody>
      </p:sp>
      <p:sp>
        <p:nvSpPr>
          <p:cNvPr id="4" name="Text 2"/>
          <p:cNvSpPr/>
          <p:nvPr/>
        </p:nvSpPr>
        <p:spPr>
          <a:xfrm>
            <a:off x="815975" y="1778595"/>
            <a:ext cx="1979017" cy="722511"/>
          </a:xfrm>
          <a:prstGeom prst="roundRect">
            <a:avLst>
              <a:gd name="adj" fmla="val 8349"/>
            </a:avLst>
          </a:prstGeom>
          <a:solidFill>
            <a:srgbClr val="FDFCF9"/>
          </a:solidFill>
          <a:ln w="6350">
            <a:solidFill>
              <a:srgbClr val="E2DFD6"/>
            </a:solidFill>
            <a:prstDash val="solid"/>
          </a:ln>
        </p:spPr>
        <p:txBody>
          <a:bodyPr wrap="square" lIns="86726" tIns="112506" rIns="86726" bIns="87106" rtlCol="0" anchor="t">
            <a:normAutofit/>
          </a:bodyPr>
          <a:lstStyle/>
          <a:p>
            <a:pPr marL="0" indent="0" algn="ctr">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clusters</a:t>
            </a:r>
            <a:endParaRPr lang="en-US" sz="1300" dirty="0"/>
          </a:p>
          <a:p>
            <a:pPr marL="0" indent="0" algn="ctr">
              <a:lnSpc>
                <a:spcPts val="1820"/>
              </a:lnSpc>
              <a:buNone/>
            </a:pPr>
            <a:r>
              <a:rPr lang="en-US" sz="1300" dirty="0">
                <a:solidFill>
                  <a:srgbClr val="45505F"/>
                </a:solidFill>
                <a:latin typeface="IBM Plex Sans" pitchFamily="34" charset="0"/>
                <a:ea typeface="IBM Plex Sans" pitchFamily="34" charset="-122"/>
                <a:cs typeface="IBM Plex Sans" pitchFamily="34" charset="-120"/>
              </a:rPr>
              <a:t>sunucu + CA</a:t>
            </a:r>
            <a:endParaRPr lang="en-US" sz="1300" dirty="0"/>
          </a:p>
        </p:txBody>
      </p:sp>
      <p:sp>
        <p:nvSpPr>
          <p:cNvPr id="5" name="Text 3"/>
          <p:cNvSpPr/>
          <p:nvPr/>
        </p:nvSpPr>
        <p:spPr>
          <a:xfrm>
            <a:off x="2887067" y="1775420"/>
            <a:ext cx="1972766" cy="728861"/>
          </a:xfrm>
          <a:prstGeom prst="roundRect">
            <a:avLst>
              <a:gd name="adj" fmla="val 8712"/>
            </a:avLst>
          </a:prstGeom>
          <a:solidFill>
            <a:srgbClr val="2F6BD8"/>
          </a:solidFill>
          <a:ln/>
        </p:spPr>
        <p:txBody>
          <a:bodyPr wrap="square" lIns="82620" tIns="108401" rIns="82620" bIns="83001" rtlCol="0" anchor="t">
            <a:normAutofit/>
          </a:bodyPr>
          <a:lstStyle/>
          <a:p>
            <a:pPr marL="0" indent="0" algn="ctr">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contexts</a:t>
            </a:r>
            <a:endParaRPr lang="en-US" sz="1300" dirty="0"/>
          </a:p>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user @ cluster</a:t>
            </a:r>
            <a:endParaRPr lang="en-US" sz="1300" dirty="0"/>
          </a:p>
        </p:txBody>
      </p:sp>
      <p:sp>
        <p:nvSpPr>
          <p:cNvPr id="6" name="Text 4"/>
          <p:cNvSpPr/>
          <p:nvPr/>
        </p:nvSpPr>
        <p:spPr>
          <a:xfrm>
            <a:off x="4951909" y="1778595"/>
            <a:ext cx="1979116" cy="722511"/>
          </a:xfrm>
          <a:prstGeom prst="roundRect">
            <a:avLst>
              <a:gd name="adj" fmla="val 8349"/>
            </a:avLst>
          </a:prstGeom>
          <a:solidFill>
            <a:srgbClr val="FDFCF9"/>
          </a:solidFill>
          <a:ln w="6350">
            <a:solidFill>
              <a:srgbClr val="E2DFD6"/>
            </a:solidFill>
            <a:prstDash val="solid"/>
          </a:ln>
        </p:spPr>
        <p:txBody>
          <a:bodyPr wrap="square" lIns="86725" tIns="112506" rIns="86725" bIns="87106" rtlCol="0" anchor="t">
            <a:normAutofit/>
          </a:bodyPr>
          <a:lstStyle/>
          <a:p>
            <a:pPr marL="0" indent="0" algn="ctr">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users</a:t>
            </a:r>
            <a:endParaRPr lang="en-US" sz="1300" dirty="0"/>
          </a:p>
          <a:p>
            <a:pPr marL="0" indent="0" algn="ctr">
              <a:lnSpc>
                <a:spcPts val="1820"/>
              </a:lnSpc>
              <a:buNone/>
            </a:pPr>
            <a:r>
              <a:rPr lang="en-US" sz="1300" dirty="0">
                <a:solidFill>
                  <a:srgbClr val="45505F"/>
                </a:solidFill>
                <a:latin typeface="IBM Plex Sans" pitchFamily="34" charset="0"/>
                <a:ea typeface="IBM Plex Sans" pitchFamily="34" charset="-122"/>
                <a:cs typeface="IBM Plex Sans" pitchFamily="34" charset="-120"/>
              </a:rPr>
              <a:t>sertifika / token</a:t>
            </a:r>
            <a:endParaRPr lang="en-US" sz="1300" dirty="0"/>
          </a:p>
        </p:txBody>
      </p:sp>
      <p:sp>
        <p:nvSpPr>
          <p:cNvPr id="7" name="Text 5"/>
          <p:cNvSpPr/>
          <p:nvPr/>
        </p:nvSpPr>
        <p:spPr>
          <a:xfrm>
            <a:off x="898144" y="2631281"/>
            <a:ext cx="6212078"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Varsayılan dosya </a:t>
            </a:r>
            <a:r>
              <a:rPr lang="en-US" sz="1300" b="1" dirty="0">
                <a:solidFill>
                  <a:srgbClr val="142033"/>
                </a:solidFill>
                <a:latin typeface="IBM Plex Sans" pitchFamily="34" charset="0"/>
                <a:ea typeface="IBM Plex Sans" pitchFamily="34" charset="-122"/>
                <a:cs typeface="IBM Plex Sans" pitchFamily="34" charset="-120"/>
              </a:rPr>
              <a:t>~/.kube/config</a:t>
            </a:r>
            <a:r>
              <a:rPr lang="en-US" sz="1300" dirty="0">
                <a:solidFill>
                  <a:srgbClr val="45505F"/>
                </a:solidFill>
                <a:latin typeface="IBM Plex Sans" pitchFamily="34" charset="0"/>
                <a:ea typeface="IBM Plex Sans" pitchFamily="34" charset="-122"/>
                <a:cs typeface="IBM Plex Sans" pitchFamily="34" charset="-120"/>
              </a:rPr>
              <a:t>; başka dosya: </a:t>
            </a:r>
            <a:r>
              <a:rPr lang="en-US" sz="1300" b="1" dirty="0">
                <a:solidFill>
                  <a:srgbClr val="45505F"/>
                </a:solidFill>
                <a:latin typeface="IBM Plex Sans" pitchFamily="34" charset="0"/>
                <a:ea typeface="IBM Plex Sans" pitchFamily="34" charset="-122"/>
                <a:cs typeface="IBM Plex Sans" pitchFamily="34" charset="-120"/>
              </a:rPr>
              <a:t>--kubeconfig</a:t>
            </a:r>
            <a:r>
              <a:rPr lang="en-US" sz="1300" dirty="0">
                <a:solidFill>
                  <a:srgbClr val="45505F"/>
                </a:solidFill>
                <a:latin typeface="IBM Plex Sans" pitchFamily="34" charset="0"/>
                <a:ea typeface="IBM Plex Sans" pitchFamily="34" charset="-122"/>
                <a:cs typeface="IBM Plex Sans" pitchFamily="34" charset="-120"/>
              </a:rPr>
              <a:t> ya da KUBECONFIG değişkeni.</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current-context</a:t>
            </a:r>
            <a:r>
              <a:rPr lang="en-US" sz="1300" dirty="0">
                <a:solidFill>
                  <a:srgbClr val="45505F"/>
                </a:solidFill>
                <a:latin typeface="IBM Plex Sans" pitchFamily="34" charset="0"/>
                <a:ea typeface="IBM Plex Sans" pitchFamily="34" charset="-122"/>
                <a:cs typeface="IBM Plex Sans" pitchFamily="34" charset="-120"/>
              </a:rPr>
              <a:t> hangi bağlamın kullanılacağını belirler.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Context'e </a:t>
            </a:r>
            <a:r>
              <a:rPr lang="en-US" sz="1300" b="1" dirty="0">
                <a:solidFill>
                  <a:srgbClr val="45505F"/>
                </a:solidFill>
                <a:latin typeface="IBM Plex Sans" pitchFamily="34" charset="0"/>
                <a:ea typeface="IBM Plex Sans" pitchFamily="34" charset="-122"/>
                <a:cs typeface="IBM Plex Sans" pitchFamily="34" charset="-120"/>
              </a:rPr>
              <a:t>namespace</a:t>
            </a:r>
            <a:r>
              <a:rPr lang="en-US" sz="1300" dirty="0">
                <a:solidFill>
                  <a:srgbClr val="45505F"/>
                </a:solidFill>
                <a:latin typeface="IBM Plex Sans" pitchFamily="34" charset="0"/>
                <a:ea typeface="IBM Plex Sans" pitchFamily="34" charset="-122"/>
                <a:cs typeface="IBM Plex Sans" pitchFamily="34" charset="-120"/>
              </a:rPr>
              <a:t> eklenebilir: o bağlamda varsayılan namespace olur.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Sertifika dosya yoluyla (certificate-authority) ya da gömülü base64 (…-data) verilir.</a:t>
            </a:r>
            <a:endParaRPr lang="en-US" sz="1300" dirty="0"/>
          </a:p>
        </p:txBody>
      </p:sp>
      <p:sp>
        <p:nvSpPr>
          <p:cNvPr id="8" name="Text 6"/>
          <p:cNvSpPr/>
          <p:nvPr/>
        </p:nvSpPr>
        <p:spPr>
          <a:xfrm>
            <a:off x="7188200" y="1775420"/>
            <a:ext cx="4191000" cy="3007122"/>
          </a:xfrm>
          <a:prstGeom prst="roundRect">
            <a:avLst>
              <a:gd name="adj" fmla="val 2534"/>
            </a:avLst>
          </a:prstGeom>
          <a:solidFill>
            <a:srgbClr val="1B2A41"/>
          </a:solidFill>
          <a:ln/>
        </p:spPr>
        <p:txBody>
          <a:bodyPr wrap="square" lIns="155482" tIns="155482" rIns="40420"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config view</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config get-contexts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config use-context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dev-user@prod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config set-context --current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--namespace=finance</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kubectl'siz API çağrısı</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curl https://cp:6443/api/v1/pods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--key admin.key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--cert admin.crt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--cacert ca.crt</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0">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API GRUPLARI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Grup → sürüm → kaynak → fiil</a:t>
            </a:r>
            <a:endParaRPr lang="en-US" sz="3000" dirty="0"/>
          </a:p>
        </p:txBody>
      </p:sp>
      <p:sp>
        <p:nvSpPr>
          <p:cNvPr id="4" name="Shape 2"/>
          <p:cNvSpPr/>
          <p:nvPr/>
        </p:nvSpPr>
        <p:spPr>
          <a:xfrm>
            <a:off x="815975" y="1778595"/>
            <a:ext cx="5200650" cy="1425972"/>
          </a:xfrm>
          <a:prstGeom prst="roundRect">
            <a:avLst>
              <a:gd name="adj" fmla="val 5121"/>
            </a:avLst>
          </a:prstGeom>
          <a:solidFill>
            <a:srgbClr val="FDFCF9"/>
          </a:solidFill>
          <a:ln w="6350">
            <a:solidFill>
              <a:srgbClr val="E2DFD6"/>
            </a:solidFill>
            <a:prstDash val="solid"/>
          </a:ln>
        </p:spPr>
      </p:sp>
      <p:sp>
        <p:nvSpPr>
          <p:cNvPr id="5" name="Text 3"/>
          <p:cNvSpPr/>
          <p:nvPr/>
        </p:nvSpPr>
        <p:spPr>
          <a:xfrm>
            <a:off x="1022350" y="1984970"/>
            <a:ext cx="49315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JetBrains Mono" pitchFamily="49" charset="0"/>
                <a:ea typeface="JetBrains Mono" pitchFamily="49" charset="-122"/>
                <a:cs typeface="JetBrains Mono" pitchFamily="49" charset="-120"/>
              </a:rPr>
              <a:t>/api/v1</a:t>
            </a:r>
            <a:endParaRPr lang="en-US" sz="1600" dirty="0"/>
          </a:p>
        </p:txBody>
      </p:sp>
      <p:sp>
        <p:nvSpPr>
          <p:cNvPr id="6" name="Text 4"/>
          <p:cNvSpPr/>
          <p:nvPr/>
        </p:nvSpPr>
        <p:spPr>
          <a:xfrm>
            <a:off x="1022350" y="2304951"/>
            <a:ext cx="4931537"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5505F"/>
                </a:solidFill>
                <a:latin typeface="IBM Plex Sans" pitchFamily="34" charset="0"/>
                <a:ea typeface="IBM Plex Sans" pitchFamily="34" charset="-122"/>
                <a:cs typeface="IBM Plex Sans" pitchFamily="34" charset="-120"/>
              </a:rPr>
              <a:t>Core grup</a:t>
            </a:r>
            <a:r>
              <a:rPr lang="en-US" sz="1300" dirty="0">
                <a:solidFill>
                  <a:srgbClr val="45505F"/>
                </a:solidFill>
                <a:latin typeface="IBM Plex Sans" pitchFamily="34" charset="0"/>
                <a:ea typeface="IBM Plex Sans" pitchFamily="34" charset="-122"/>
                <a:cs typeface="IBM Plex Sans" pitchFamily="34" charset="-120"/>
              </a:rPr>
              <a:t> (apiGroups: ""). pods, services, namespaces, nodes, configmaps, secrets, PV, PVC, serviceaccounts, events…</a:t>
            </a:r>
            <a:endParaRPr lang="en-US" sz="1300" dirty="0"/>
          </a:p>
        </p:txBody>
      </p:sp>
      <p:sp>
        <p:nvSpPr>
          <p:cNvPr id="7" name="Shape 5"/>
          <p:cNvSpPr/>
          <p:nvPr/>
        </p:nvSpPr>
        <p:spPr>
          <a:xfrm>
            <a:off x="6175375" y="1778595"/>
            <a:ext cx="5200650" cy="1425972"/>
          </a:xfrm>
          <a:prstGeom prst="roundRect">
            <a:avLst>
              <a:gd name="adj" fmla="val 5121"/>
            </a:avLst>
          </a:prstGeom>
          <a:solidFill>
            <a:srgbClr val="FDFCF9"/>
          </a:solidFill>
          <a:ln w="6350">
            <a:solidFill>
              <a:srgbClr val="E2DFD6"/>
            </a:solidFill>
            <a:prstDash val="solid"/>
          </a:ln>
        </p:spPr>
      </p:sp>
      <p:sp>
        <p:nvSpPr>
          <p:cNvPr id="8" name="Text 6"/>
          <p:cNvSpPr/>
          <p:nvPr/>
        </p:nvSpPr>
        <p:spPr>
          <a:xfrm>
            <a:off x="6381750" y="1984970"/>
            <a:ext cx="49315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JetBrains Mono" pitchFamily="49" charset="0"/>
                <a:ea typeface="JetBrains Mono" pitchFamily="49" charset="-122"/>
                <a:cs typeface="JetBrains Mono" pitchFamily="49" charset="-120"/>
              </a:rPr>
              <a:t>/apis/…</a:t>
            </a:r>
            <a:endParaRPr lang="en-US" sz="1600" dirty="0"/>
          </a:p>
        </p:txBody>
      </p:sp>
      <p:sp>
        <p:nvSpPr>
          <p:cNvPr id="9" name="Text 7"/>
          <p:cNvSpPr/>
          <p:nvPr/>
        </p:nvSpPr>
        <p:spPr>
          <a:xfrm>
            <a:off x="6381750" y="2304951"/>
            <a:ext cx="4931537"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5505F"/>
                </a:solidFill>
                <a:latin typeface="IBM Plex Sans" pitchFamily="34" charset="0"/>
                <a:ea typeface="IBM Plex Sans" pitchFamily="34" charset="-122"/>
                <a:cs typeface="IBM Plex Sans" pitchFamily="34" charset="-120"/>
              </a:rPr>
              <a:t>Named gruplar:</a:t>
            </a:r>
            <a:r>
              <a:rPr lang="en-US" sz="1300" dirty="0">
                <a:solidFill>
                  <a:srgbClr val="45505F"/>
                </a:solidFill>
                <a:latin typeface="IBM Plex Sans" pitchFamily="34" charset="0"/>
                <a:ea typeface="IBM Plex Sans" pitchFamily="34" charset="-122"/>
                <a:cs typeface="IBM Plex Sans" pitchFamily="34" charset="-120"/>
              </a:rPr>
              <a:t> apps (deployments), networking.k8s.io (ingress, networkpolicy), rbac.authorization.k8s.io, storage.k8s.io, batch, autoscaling, certificates.k8s.io…</a:t>
            </a:r>
            <a:endParaRPr lang="en-US" sz="1300" dirty="0"/>
          </a:p>
        </p:txBody>
      </p:sp>
      <p:sp>
        <p:nvSpPr>
          <p:cNvPr id="10" name="Text 8"/>
          <p:cNvSpPr/>
          <p:nvPr/>
        </p:nvSpPr>
        <p:spPr>
          <a:xfrm>
            <a:off x="812800" y="3461742"/>
            <a:ext cx="6305042" cy="1264841"/>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Her kaynak üzerinde </a:t>
            </a:r>
            <a:r>
              <a:rPr lang="en-US" sz="1300" b="1" dirty="0">
                <a:solidFill>
                  <a:srgbClr val="142033"/>
                </a:solidFill>
                <a:latin typeface="IBM Plex Sans" pitchFamily="34" charset="0"/>
                <a:ea typeface="IBM Plex Sans" pitchFamily="34" charset="-122"/>
                <a:cs typeface="IBM Plex Sans" pitchFamily="34" charset="-120"/>
              </a:rPr>
              <a:t>fiiller</a:t>
            </a:r>
            <a:r>
              <a:rPr lang="en-US" sz="1300" dirty="0">
                <a:solidFill>
                  <a:srgbClr val="45505F"/>
                </a:solidFill>
                <a:latin typeface="IBM Plex Sans" pitchFamily="34" charset="0"/>
                <a:ea typeface="IBM Plex Sans" pitchFamily="34" charset="-122"/>
                <a:cs typeface="IBM Plex Sans" pitchFamily="34" charset="-120"/>
              </a:rPr>
              <a:t> (verbs): get, list, watch, create, update, patch, delete, deletecollection. RBAC kuralları tam olarak bu üçlüyle yazılır: </a:t>
            </a:r>
            <a:r>
              <a:rPr lang="en-US" sz="1300" b="1" dirty="0">
                <a:solidFill>
                  <a:srgbClr val="142033"/>
                </a:solidFill>
                <a:latin typeface="IBM Plex Sans" pitchFamily="34" charset="0"/>
                <a:ea typeface="IBM Plex Sans" pitchFamily="34" charset="-122"/>
                <a:cs typeface="IBM Plex Sans" pitchFamily="34" charset="-120"/>
              </a:rPr>
              <a:t>apiGroups + resources + verbs</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p:txBody>
      </p:sp>
      <p:sp>
        <p:nvSpPr>
          <p:cNvPr id="11" name="Text 9"/>
          <p:cNvSpPr/>
          <p:nvPr/>
        </p:nvSpPr>
        <p:spPr>
          <a:xfrm>
            <a:off x="7188200" y="3461742"/>
            <a:ext cx="4191000" cy="1239441"/>
          </a:xfrm>
          <a:prstGeom prst="roundRect">
            <a:avLst>
              <a:gd name="adj" fmla="val 6148"/>
            </a:avLst>
          </a:prstGeom>
          <a:solidFill>
            <a:srgbClr val="1B2A41"/>
          </a:solidFill>
          <a:ln/>
        </p:spPr>
        <p:txBody>
          <a:bodyPr wrap="square" lIns="155482" tIns="155482" rIns="40420"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api-resources -o wide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api-versions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proxy &amp;  </a:t>
            </a:r>
            <a:r>
              <a:rPr lang="en-US" sz="1200" dirty="0">
                <a:solidFill>
                  <a:srgbClr val="8FA3BF"/>
                </a:solidFill>
                <a:latin typeface="JetBrains Mono" pitchFamily="49" charset="0"/>
                <a:ea typeface="JetBrains Mono" pitchFamily="49" charset="-122"/>
                <a:cs typeface="JetBrains Mono" pitchFamily="49" charset="-120"/>
              </a:rPr>
              <a:t># :8001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curl localhost:8001/apis/apps/v1</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1">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AUTHORIZATION</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Kimliği doğrulanmış istek ne yapabilir?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155627"/>
        </p:xfrm>
        <a:graphic>
          <a:graphicData uri="http://schemas.openxmlformats.org/drawingml/2006/table">
            <a:tbl>
              <a:tblPr/>
              <a:tblGrid>
                <a:gridCol w="2321814">
                  <a:extLst>
                    <a:ext uri="{9D8B030D-6E8A-4147-A177-3AD203B41FA5}">
                      <a16:colId xmlns:a16="http://schemas.microsoft.com/office/drawing/2014/main" val="20000"/>
                    </a:ext>
                  </a:extLst>
                </a:gridCol>
                <a:gridCol w="8231886">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Mod</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Açıklama</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Node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Kubelet'lerin (system:nodes grubu) yalnızca kendi node'larıyla ilgili nesneleri okuyup yazmasına izin verir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RBAC</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Rol ve bağlamalarla izin; standart yöntem</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ABAC</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Kullanıcı başına JSON politika dosyası; her değişiklikte API server yeniden başlar — terk edildi</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Webhook</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Kararı dış servise sor (ör. Open Policy Agent)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AlwaysAllow / AlwaysDeny</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Test amaçlı</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197747"/>
            <a:ext cx="10566400" cy="552450"/>
          </a:xfrm>
          <a:prstGeom prst="roundRect">
            <a:avLst>
              <a:gd name="adj" fmla="val 11494"/>
            </a:avLst>
          </a:prstGeom>
          <a:solidFill>
            <a:srgbClr val="DCE6F7"/>
          </a:solidFill>
          <a:ln/>
        </p:spPr>
        <p:txBody>
          <a:bodyPr wrap="square" lIns="133801" tIns="133801" rIns="0" bIns="108401" rtlCol="0" anchor="t">
            <a:normAutofit/>
          </a:bodyPr>
          <a:lstStyle/>
          <a:p>
            <a:pPr marL="0" indent="0" algn="l">
              <a:lnSpc>
                <a:spcPts val="1950"/>
              </a:lnSpc>
              <a:buNone/>
            </a:pPr>
            <a:r>
              <a:rPr lang="en-US" sz="1300" b="1" dirty="0">
                <a:solidFill>
                  <a:srgbClr val="142033"/>
                </a:solidFill>
                <a:latin typeface="IBM Plex Sans" pitchFamily="34" charset="0"/>
                <a:ea typeface="IBM Plex Sans" pitchFamily="34" charset="-122"/>
                <a:cs typeface="IBM Plex Sans" pitchFamily="34" charset="-120"/>
              </a:rPr>
              <a:t>--authorization-mode=Node,RBAC</a:t>
            </a:r>
            <a:r>
              <a:rPr lang="en-US" sz="1300" dirty="0">
                <a:solidFill>
                  <a:srgbClr val="142033"/>
                </a:solidFill>
                <a:latin typeface="IBM Plex Sans" pitchFamily="34" charset="0"/>
                <a:ea typeface="IBM Plex Sans" pitchFamily="34" charset="-122"/>
                <a:cs typeface="IBM Plex Sans" pitchFamily="34" charset="-120"/>
              </a:rPr>
              <a:t> → sırayla denenir. Bir modül reddederse sonrakine geçer; ilk </a:t>
            </a:r>
            <a:r>
              <a:rPr lang="en-US" sz="1300" b="1" dirty="0">
                <a:solidFill>
                  <a:srgbClr val="142033"/>
                </a:solidFill>
                <a:latin typeface="IBM Plex Sans" pitchFamily="34" charset="0"/>
                <a:ea typeface="IBM Plex Sans" pitchFamily="34" charset="-122"/>
                <a:cs typeface="IBM Plex Sans" pitchFamily="34" charset="-120"/>
              </a:rPr>
              <a:t>izin veren</a:t>
            </a:r>
            <a:r>
              <a:rPr lang="en-US" sz="1300" dirty="0">
                <a:solidFill>
                  <a:srgbClr val="142033"/>
                </a:solidFill>
                <a:latin typeface="IBM Plex Sans" pitchFamily="34" charset="0"/>
                <a:ea typeface="IBM Plex Sans" pitchFamily="34" charset="-122"/>
                <a:cs typeface="IBM Plex Sans" pitchFamily="34" charset="-120"/>
              </a:rPr>
              <a:t> modülde karar verilir.</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RBAC · ROLE VE ROLEBINDING</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Ne yapılabilir + kim yapabilir</a:t>
            </a:r>
            <a:endParaRPr lang="en-US" sz="3000" dirty="0"/>
          </a:p>
        </p:txBody>
      </p:sp>
      <p:sp>
        <p:nvSpPr>
          <p:cNvPr id="4" name="Text 2"/>
          <p:cNvSpPr/>
          <p:nvPr/>
        </p:nvSpPr>
        <p:spPr>
          <a:xfrm>
            <a:off x="812800" y="1775420"/>
            <a:ext cx="5181600" cy="2786162"/>
          </a:xfrm>
          <a:prstGeom prst="roundRect">
            <a:avLst>
              <a:gd name="adj" fmla="val 2735"/>
            </a:avLst>
          </a:prstGeom>
          <a:solidFill>
            <a:srgbClr val="1B2A41"/>
          </a:solidFill>
          <a:ln/>
        </p:spPr>
        <p:txBody>
          <a:bodyPr wrap="square" lIns="155482" tIns="155482" rIns="10702"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rbac.authorization.k8s.io/v1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Role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 {name: developer, namespace: dev}</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rules: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apiGroups: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resources: ["pods"]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verbs: ["get","list","create"]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apiGroups: ["apps"]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resources: ["deployments"]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verbs: ["get","list"]</a:t>
            </a:r>
            <a:endParaRPr lang="en-US" sz="1200" dirty="0"/>
          </a:p>
        </p:txBody>
      </p:sp>
      <p:sp>
        <p:nvSpPr>
          <p:cNvPr id="5" name="Text 3"/>
          <p:cNvSpPr/>
          <p:nvPr/>
        </p:nvSpPr>
        <p:spPr>
          <a:xfrm>
            <a:off x="6197600" y="1775420"/>
            <a:ext cx="5181600" cy="2786162"/>
          </a:xfrm>
          <a:prstGeom prst="roundRect">
            <a:avLst>
              <a:gd name="adj" fmla="val 2735"/>
            </a:avLst>
          </a:prstGeom>
          <a:solidFill>
            <a:srgbClr val="1B2A41"/>
          </a:solidFill>
          <a:ln/>
        </p:spPr>
        <p:txBody>
          <a:bodyPr wrap="square" lIns="155482" tIns="155482" rIns="10702"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rbac.authorization.k8s.io/v1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RoleBinding</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 {name: dev-binding, namespace: dev}</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subjects: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kind: User  </a:t>
            </a:r>
            <a:r>
              <a:rPr lang="en-US" sz="1200" dirty="0">
                <a:solidFill>
                  <a:srgbClr val="8FA3BF"/>
                </a:solidFill>
                <a:latin typeface="JetBrains Mono" pitchFamily="49" charset="0"/>
                <a:ea typeface="JetBrains Mono" pitchFamily="49" charset="-122"/>
                <a:cs typeface="JetBrains Mono" pitchFamily="49" charset="-120"/>
              </a:rPr>
              <a:t># Group, ServiceAccount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dev-user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apiGroup: rbac.authorization.k8s.io</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roleRef:</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kind: Role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developer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apiGroup: rbac.authorization.k8s.io</a:t>
            </a:r>
            <a:endParaRPr lang="en-US" sz="1200" dirty="0"/>
          </a:p>
        </p:txBody>
      </p:sp>
      <p:sp>
        <p:nvSpPr>
          <p:cNvPr id="6" name="Text 4"/>
          <p:cNvSpPr/>
          <p:nvPr/>
        </p:nvSpPr>
        <p:spPr>
          <a:xfrm>
            <a:off x="812800" y="4815582"/>
            <a:ext cx="10566400" cy="746720"/>
          </a:xfrm>
          <a:prstGeom prst="roundRect">
            <a:avLst>
              <a:gd name="adj" fmla="val 10205"/>
            </a:avLst>
          </a:prstGeom>
          <a:solidFill>
            <a:srgbClr val="142033"/>
          </a:solidFill>
          <a:ln/>
        </p:spPr>
        <p:txBody>
          <a:bodyPr wrap="square" lIns="130082" tIns="130082" rIns="0" bIns="1046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create role developer --verb=get,list --resource=pods -n dev</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auth can-i create deployments --as dev-user -n dev</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CLUSTERROLE VE CLUSTERROLEBINDING</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Namespace'e sığmayan izinler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1437084"/>
        </p:xfrm>
        <a:graphic>
          <a:graphicData uri="http://schemas.openxmlformats.org/drawingml/2006/table">
            <a:tbl>
              <a:tblPr/>
              <a:tblGrid>
                <a:gridCol w="3166110">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5065776">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Bağlama</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Rol</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Sonuç</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RoleBinding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Role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Tek namespace'te izin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RoleBinding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ClusterRole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Ortak tanımlı rol, yine tek namespace'te uygulanır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ClusterRoleBinding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ClusterRole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5505F"/>
                          </a:solidFill>
                          <a:latin typeface="IBM Plex Sans" pitchFamily="34" charset="0"/>
                          <a:ea typeface="IBM Plex Sans" pitchFamily="34" charset="-122"/>
                          <a:cs typeface="IBM Plex Sans" pitchFamily="34" charset="-120"/>
                        </a:rPr>
                        <a:t>Tüm namespace'lerde + cluster-scoped kaynaklarda</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815975" y="3482380"/>
            <a:ext cx="5207000" cy="1425972"/>
          </a:xfrm>
          <a:prstGeom prst="roundRect">
            <a:avLst>
              <a:gd name="adj" fmla="val 5121"/>
            </a:avLst>
          </a:prstGeom>
          <a:solidFill>
            <a:srgbClr val="FDFCF9"/>
          </a:solidFill>
          <a:ln w="6350">
            <a:solidFill>
              <a:srgbClr val="E2DFD6"/>
            </a:solidFill>
            <a:prstDash val="solid"/>
          </a:ln>
        </p:spPr>
      </p:sp>
      <p:sp>
        <p:nvSpPr>
          <p:cNvPr id="6" name="Text 3"/>
          <p:cNvSpPr/>
          <p:nvPr/>
        </p:nvSpPr>
        <p:spPr>
          <a:xfrm>
            <a:off x="1022350" y="3688755"/>
            <a:ext cx="493807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Cluster-scoped kaynaklar</a:t>
            </a:r>
            <a:endParaRPr lang="en-US" sz="1600" dirty="0"/>
          </a:p>
        </p:txBody>
      </p:sp>
      <p:sp>
        <p:nvSpPr>
          <p:cNvPr id="7" name="Text 4"/>
          <p:cNvSpPr/>
          <p:nvPr/>
        </p:nvSpPr>
        <p:spPr>
          <a:xfrm>
            <a:off x="1022350" y="4008735"/>
            <a:ext cx="4938078"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nodes, persistentvolumes, namespaces, storageclasses, clusterroles, certificatesigningrequests. Bunlar için yalnızca ClusterRole kullanılabilir.</a:t>
            </a:r>
            <a:endParaRPr lang="en-US" sz="1300" dirty="0"/>
          </a:p>
        </p:txBody>
      </p:sp>
      <p:sp>
        <p:nvSpPr>
          <p:cNvPr id="8" name="Shape 5"/>
          <p:cNvSpPr/>
          <p:nvPr/>
        </p:nvSpPr>
        <p:spPr>
          <a:xfrm>
            <a:off x="6178550" y="3479205"/>
            <a:ext cx="5200650" cy="1432322"/>
          </a:xfrm>
          <a:prstGeom prst="roundRect">
            <a:avLst>
              <a:gd name="adj" fmla="val 5320"/>
            </a:avLst>
          </a:prstGeom>
          <a:solidFill>
            <a:srgbClr val="142033"/>
          </a:solidFill>
          <a:ln/>
        </p:spPr>
      </p:sp>
      <p:sp>
        <p:nvSpPr>
          <p:cNvPr id="9" name="Text 6"/>
          <p:cNvSpPr/>
          <p:nvPr/>
        </p:nvSpPr>
        <p:spPr>
          <a:xfrm>
            <a:off x="6381750" y="3682405"/>
            <a:ext cx="493807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Hazır roller</a:t>
            </a:r>
            <a:endParaRPr lang="en-US" sz="1600" dirty="0"/>
          </a:p>
        </p:txBody>
      </p:sp>
      <p:sp>
        <p:nvSpPr>
          <p:cNvPr id="10" name="Text 7"/>
          <p:cNvSpPr/>
          <p:nvPr/>
        </p:nvSpPr>
        <p:spPr>
          <a:xfrm>
            <a:off x="6381750" y="4002385"/>
            <a:ext cx="4938078"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cluster-admin</a:t>
            </a:r>
            <a:r>
              <a:rPr lang="en-US" sz="1300" dirty="0">
                <a:solidFill>
                  <a:srgbClr val="B9C6D6"/>
                </a:solidFill>
                <a:latin typeface="IBM Plex Sans" pitchFamily="34" charset="0"/>
                <a:ea typeface="IBM Plex Sans" pitchFamily="34" charset="-122"/>
                <a:cs typeface="IBM Plex Sans" pitchFamily="34" charset="-120"/>
              </a:rPr>
              <a:t> (her şey), </a:t>
            </a:r>
            <a:r>
              <a:rPr lang="en-US" sz="1300" b="1" dirty="0">
                <a:solidFill>
                  <a:srgbClr val="F5F4EF"/>
                </a:solidFill>
                <a:latin typeface="IBM Plex Sans" pitchFamily="34" charset="0"/>
                <a:ea typeface="IBM Plex Sans" pitchFamily="34" charset="-122"/>
                <a:cs typeface="IBM Plex Sans" pitchFamily="34" charset="-120"/>
              </a:rPr>
              <a:t>admin</a:t>
            </a:r>
            <a:r>
              <a:rPr lang="en-US" sz="1300" dirty="0">
                <a:solidFill>
                  <a:srgbClr val="B9C6D6"/>
                </a:solidFill>
                <a:latin typeface="IBM Plex Sans" pitchFamily="34" charset="0"/>
                <a:ea typeface="IBM Plex Sans" pitchFamily="34" charset="-122"/>
                <a:cs typeface="IBM Plex Sans" pitchFamily="34" charset="-120"/>
              </a:rPr>
              <a:t>, </a:t>
            </a:r>
            <a:r>
              <a:rPr lang="en-US" sz="1300" b="1" dirty="0">
                <a:solidFill>
                  <a:srgbClr val="F5F4EF"/>
                </a:solidFill>
                <a:latin typeface="IBM Plex Sans" pitchFamily="34" charset="0"/>
                <a:ea typeface="IBM Plex Sans" pitchFamily="34" charset="-122"/>
                <a:cs typeface="IBM Plex Sans" pitchFamily="34" charset="-120"/>
              </a:rPr>
              <a:t>edit</a:t>
            </a:r>
            <a:r>
              <a:rPr lang="en-US" sz="1300" dirty="0">
                <a:solidFill>
                  <a:srgbClr val="B9C6D6"/>
                </a:solidFill>
                <a:latin typeface="IBM Plex Sans" pitchFamily="34" charset="0"/>
                <a:ea typeface="IBM Plex Sans" pitchFamily="34" charset="-122"/>
                <a:cs typeface="IBM Plex Sans" pitchFamily="34" charset="-120"/>
              </a:rPr>
              <a:t>, </a:t>
            </a:r>
            <a:r>
              <a:rPr lang="en-US" sz="1300" b="1" dirty="0">
                <a:solidFill>
                  <a:srgbClr val="F5F4EF"/>
                </a:solidFill>
                <a:latin typeface="IBM Plex Sans" pitchFamily="34" charset="0"/>
                <a:ea typeface="IBM Plex Sans" pitchFamily="34" charset="-122"/>
                <a:cs typeface="IBM Plex Sans" pitchFamily="34" charset="-120"/>
              </a:rPr>
              <a:t>view</a:t>
            </a:r>
            <a:r>
              <a:rPr lang="en-US" sz="1300" dirty="0">
                <a:solidFill>
                  <a:srgbClr val="B9C6D6"/>
                </a:solidFill>
                <a:latin typeface="IBM Plex Sans" pitchFamily="34" charset="0"/>
                <a:ea typeface="IBM Plex Sans" pitchFamily="34" charset="-122"/>
                <a:cs typeface="IBM Plex Sans" pitchFamily="34" charset="-120"/>
              </a:rPr>
              <a:t>. Yeni rol yazmadan önce bunlara bakın.</a:t>
            </a:r>
            <a:endParaRPr lang="en-US" sz="1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SERVICEACCOUNT</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Uygulamaların kimliği</a:t>
            </a:r>
            <a:endParaRPr lang="en-US" sz="3000" dirty="0"/>
          </a:p>
        </p:txBody>
      </p:sp>
      <p:sp>
        <p:nvSpPr>
          <p:cNvPr id="4" name="Text 2"/>
          <p:cNvSpPr/>
          <p:nvPr/>
        </p:nvSpPr>
        <p:spPr>
          <a:xfrm>
            <a:off x="898144" y="1775420"/>
            <a:ext cx="6342888" cy="22542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Prometheus, Jenkins, ArgoCD ya da kendi uygulamanız API'ye erişecekse bir ServiceAccount kullanır; izinleri RBAC ile verilir.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Her namespace'te </a:t>
            </a:r>
            <a:r>
              <a:rPr lang="en-US" sz="1300" b="1" dirty="0">
                <a:solidFill>
                  <a:srgbClr val="142033"/>
                </a:solidFill>
                <a:latin typeface="IBM Plex Sans" pitchFamily="34" charset="0"/>
                <a:ea typeface="IBM Plex Sans" pitchFamily="34" charset="-122"/>
                <a:cs typeface="IBM Plex Sans" pitchFamily="34" charset="-120"/>
              </a:rPr>
              <a:t>default</a:t>
            </a:r>
            <a:r>
              <a:rPr lang="en-US" sz="1300" dirty="0">
                <a:solidFill>
                  <a:srgbClr val="45505F"/>
                </a:solidFill>
                <a:latin typeface="IBM Plex Sans" pitchFamily="34" charset="0"/>
                <a:ea typeface="IBM Plex Sans" pitchFamily="34" charset="-122"/>
                <a:cs typeface="IBM Plex Sans" pitchFamily="34" charset="-120"/>
              </a:rPr>
              <a:t> SA vardır; belirtilmezse pod onu alır.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Token pod'a </a:t>
            </a:r>
            <a:r>
              <a:rPr lang="en-US" sz="1300" b="1" dirty="0">
                <a:solidFill>
                  <a:srgbClr val="45505F"/>
                </a:solidFill>
                <a:latin typeface="IBM Plex Sans" pitchFamily="34" charset="0"/>
                <a:ea typeface="IBM Plex Sans" pitchFamily="34" charset="-122"/>
                <a:cs typeface="IBM Plex Sans" pitchFamily="34" charset="-120"/>
              </a:rPr>
              <a:t>/var/run/secrets/kubernetes.io/serviceaccount/</a:t>
            </a:r>
            <a:r>
              <a:rPr lang="en-US" sz="1300" dirty="0">
                <a:solidFill>
                  <a:srgbClr val="45505F"/>
                </a:solidFill>
                <a:latin typeface="IBM Plex Sans" pitchFamily="34" charset="0"/>
                <a:ea typeface="IBM Plex Sans" pitchFamily="34" charset="-122"/>
                <a:cs typeface="IBM Plex Sans" pitchFamily="34" charset="-120"/>
              </a:rPr>
              <a:t> altına otomatik mount edilir.</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1.22+</a:t>
            </a:r>
            <a:r>
              <a:rPr lang="en-US" sz="1300" dirty="0">
                <a:solidFill>
                  <a:srgbClr val="45505F"/>
                </a:solidFill>
                <a:latin typeface="IBM Plex Sans" pitchFamily="34" charset="0"/>
                <a:ea typeface="IBM Plex Sans" pitchFamily="34" charset="-122"/>
                <a:cs typeface="IBM Plex Sans" pitchFamily="34" charset="-120"/>
              </a:rPr>
              <a:t>: TokenRequest API ile süreli, audience'a bağlı token'lar (projected volume).</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1.24+</a:t>
            </a:r>
            <a:r>
              <a:rPr lang="en-US" sz="1300" dirty="0">
                <a:solidFill>
                  <a:srgbClr val="45505F"/>
                </a:solidFill>
                <a:latin typeface="IBM Plex Sans" pitchFamily="34" charset="0"/>
                <a:ea typeface="IBM Plex Sans" pitchFamily="34" charset="-122"/>
                <a:cs typeface="IBM Plex Sans" pitchFamily="34" charset="-120"/>
              </a:rPr>
              <a:t>: SA oluşturulunca otomatik süresiz token Secret'ı </a:t>
            </a:r>
            <a:r>
              <a:rPr lang="en-US" sz="1300" b="1" dirty="0">
                <a:solidFill>
                  <a:srgbClr val="45505F"/>
                </a:solidFill>
                <a:latin typeface="IBM Plex Sans" pitchFamily="34" charset="0"/>
                <a:ea typeface="IBM Plex Sans" pitchFamily="34" charset="-122"/>
                <a:cs typeface="IBM Plex Sans" pitchFamily="34" charset="-120"/>
              </a:rPr>
              <a:t>yaratılmaz</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Gerekmiyorsa: </a:t>
            </a:r>
            <a:r>
              <a:rPr lang="en-US" sz="1300" b="1" dirty="0">
                <a:solidFill>
                  <a:srgbClr val="45505F"/>
                </a:solidFill>
                <a:latin typeface="IBM Plex Sans" pitchFamily="34" charset="0"/>
                <a:ea typeface="IBM Plex Sans" pitchFamily="34" charset="-122"/>
                <a:cs typeface="IBM Plex Sans" pitchFamily="34" charset="-120"/>
              </a:rPr>
              <a:t>automountServiceAccountToken: false</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p:txBody>
      </p:sp>
      <p:sp>
        <p:nvSpPr>
          <p:cNvPr id="5" name="Text 3"/>
          <p:cNvSpPr/>
          <p:nvPr/>
        </p:nvSpPr>
        <p:spPr>
          <a:xfrm>
            <a:off x="7315200" y="1775420"/>
            <a:ext cx="4064000" cy="3449042"/>
          </a:xfrm>
          <a:prstGeom prst="roundRect">
            <a:avLst>
              <a:gd name="adj" fmla="val 2209"/>
            </a:avLst>
          </a:prstGeom>
          <a:solidFill>
            <a:srgbClr val="1B2A41"/>
          </a:solidFill>
          <a:ln/>
        </p:spPr>
        <p:txBody>
          <a:bodyPr wrap="square" lIns="155482" tIns="155482" rIns="44230"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create sa dashboard-sa</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kısa ömürlü token</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create token dashboard-sa</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pod'da kullanım</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serviceAccountName: dashboard-sa</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RBAC subject olarak</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subjects: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kind: ServiceAccount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dashboard-sa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namespace: default</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5">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IMAGE GÜVENLIĞI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Image adı kısaltmadır; özel registry kimlik ister</a:t>
            </a:r>
            <a:endParaRPr lang="en-US" sz="3000" dirty="0"/>
          </a:p>
        </p:txBody>
      </p:sp>
      <p:sp>
        <p:nvSpPr>
          <p:cNvPr id="4" name="Text 2"/>
          <p:cNvSpPr/>
          <p:nvPr/>
        </p:nvSpPr>
        <p:spPr>
          <a:xfrm>
            <a:off x="812800" y="1851620"/>
            <a:ext cx="106432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033"/>
                </a:solidFill>
                <a:latin typeface="IBM Plex Sans" pitchFamily="34" charset="0"/>
                <a:ea typeface="IBM Plex Sans" pitchFamily="34" charset="-122"/>
                <a:cs typeface="IBM Plex Sans" pitchFamily="34" charset="-120"/>
              </a:rPr>
              <a:t>image: nginx</a:t>
            </a:r>
            <a:endParaRPr lang="en-US" sz="1300" dirty="0"/>
          </a:p>
        </p:txBody>
      </p:sp>
      <p:sp>
        <p:nvSpPr>
          <p:cNvPr id="5" name="Text 3"/>
          <p:cNvSpPr/>
          <p:nvPr/>
        </p:nvSpPr>
        <p:spPr>
          <a:xfrm>
            <a:off x="1877120" y="1851620"/>
            <a:ext cx="14992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a:t>
            </a:r>
            <a:endParaRPr lang="en-US" sz="1300" dirty="0"/>
          </a:p>
        </p:txBody>
      </p:sp>
      <p:sp>
        <p:nvSpPr>
          <p:cNvPr id="6" name="Text 4"/>
          <p:cNvSpPr/>
          <p:nvPr/>
        </p:nvSpPr>
        <p:spPr>
          <a:xfrm>
            <a:off x="2103239" y="1775420"/>
            <a:ext cx="1094780" cy="383480"/>
          </a:xfrm>
          <a:prstGeom prst="roundRect">
            <a:avLst>
              <a:gd name="adj" fmla="val 13247"/>
            </a:avLst>
          </a:prstGeom>
          <a:solidFill>
            <a:srgbClr val="B4570F"/>
          </a:solidFill>
          <a:ln/>
        </p:spPr>
        <p:txBody>
          <a:bodyPr wrap="none" lIns="0" tIns="0" rIns="0" bIns="0" rtlCol="0" anchor="ctr">
            <a:normAutofit/>
          </a:bodyPr>
          <a:lstStyle/>
          <a:p>
            <a:pPr marL="0" indent="0" algn="ctr">
              <a:lnSpc>
                <a:spcPts val="1820"/>
              </a:lnSpc>
              <a:buNone/>
            </a:pPr>
            <a:r>
              <a:rPr lang="en-US" sz="1300" dirty="0">
                <a:solidFill>
                  <a:srgbClr val="F5F4EF"/>
                </a:solidFill>
                <a:latin typeface="JetBrains Mono" pitchFamily="49" charset="0"/>
                <a:ea typeface="JetBrains Mono" pitchFamily="49" charset="-122"/>
                <a:cs typeface="JetBrains Mono" pitchFamily="49" charset="-120"/>
              </a:rPr>
              <a:t>docker.io</a:t>
            </a:r>
            <a:endParaRPr lang="en-US" sz="1300" dirty="0"/>
          </a:p>
        </p:txBody>
      </p:sp>
      <p:sp>
        <p:nvSpPr>
          <p:cNvPr id="7" name="Text 5"/>
          <p:cNvSpPr/>
          <p:nvPr/>
        </p:nvSpPr>
        <p:spPr>
          <a:xfrm>
            <a:off x="3248819" y="1775420"/>
            <a:ext cx="995759" cy="383480"/>
          </a:xfrm>
          <a:prstGeom prst="roundRect">
            <a:avLst>
              <a:gd name="adj" fmla="val 13247"/>
            </a:avLst>
          </a:prstGeom>
          <a:solidFill>
            <a:srgbClr val="2F6BD8"/>
          </a:solidFill>
          <a:ln/>
        </p:spPr>
        <p:txBody>
          <a:bodyPr wrap="none" lIns="0" tIns="0" rIns="0" bIns="0" rtlCol="0" anchor="ctr">
            <a:normAutofit/>
          </a:bodyPr>
          <a:lstStyle/>
          <a:p>
            <a:pPr marL="0" indent="0" algn="ctr">
              <a:lnSpc>
                <a:spcPts val="1820"/>
              </a:lnSpc>
              <a:buNone/>
            </a:pPr>
            <a:r>
              <a:rPr lang="en-US" sz="1300" dirty="0">
                <a:solidFill>
                  <a:srgbClr val="F5F4EF"/>
                </a:solidFill>
                <a:latin typeface="JetBrains Mono" pitchFamily="49" charset="0"/>
                <a:ea typeface="JetBrains Mono" pitchFamily="49" charset="-122"/>
                <a:cs typeface="JetBrains Mono" pitchFamily="49" charset="-120"/>
              </a:rPr>
              <a:t>/library</a:t>
            </a:r>
            <a:endParaRPr lang="en-US" sz="1300" dirty="0"/>
          </a:p>
        </p:txBody>
      </p:sp>
      <p:sp>
        <p:nvSpPr>
          <p:cNvPr id="8" name="Text 6"/>
          <p:cNvSpPr/>
          <p:nvPr/>
        </p:nvSpPr>
        <p:spPr>
          <a:xfrm>
            <a:off x="4295378" y="1775420"/>
            <a:ext cx="797620" cy="383480"/>
          </a:xfrm>
          <a:prstGeom prst="roundRect">
            <a:avLst>
              <a:gd name="adj" fmla="val 13247"/>
            </a:avLst>
          </a:prstGeom>
          <a:solidFill>
            <a:srgbClr val="142033"/>
          </a:solidFill>
          <a:ln/>
        </p:spPr>
        <p:txBody>
          <a:bodyPr wrap="none" lIns="0" tIns="0" rIns="0" bIns="0" rtlCol="0" anchor="ctr">
            <a:normAutofit/>
          </a:bodyPr>
          <a:lstStyle/>
          <a:p>
            <a:pPr marL="0" indent="0" algn="ctr">
              <a:lnSpc>
                <a:spcPts val="1820"/>
              </a:lnSpc>
              <a:buNone/>
            </a:pPr>
            <a:r>
              <a:rPr lang="en-US" sz="1300" dirty="0">
                <a:solidFill>
                  <a:srgbClr val="F5F4EF"/>
                </a:solidFill>
                <a:latin typeface="JetBrains Mono" pitchFamily="49" charset="0"/>
                <a:ea typeface="JetBrains Mono" pitchFamily="49" charset="-122"/>
                <a:cs typeface="JetBrains Mono" pitchFamily="49" charset="-120"/>
              </a:rPr>
              <a:t>/nginx</a:t>
            </a:r>
            <a:endParaRPr lang="en-US" sz="1300" dirty="0"/>
          </a:p>
        </p:txBody>
      </p:sp>
      <p:sp>
        <p:nvSpPr>
          <p:cNvPr id="9" name="Text 7"/>
          <p:cNvSpPr/>
          <p:nvPr/>
        </p:nvSpPr>
        <p:spPr>
          <a:xfrm>
            <a:off x="5143798" y="1775420"/>
            <a:ext cx="896640" cy="383480"/>
          </a:xfrm>
          <a:prstGeom prst="roundRect">
            <a:avLst>
              <a:gd name="adj" fmla="val 13247"/>
            </a:avLst>
          </a:prstGeom>
          <a:solidFill>
            <a:srgbClr val="45505F"/>
          </a:solidFill>
          <a:ln/>
        </p:spPr>
        <p:txBody>
          <a:bodyPr wrap="none" lIns="0" tIns="0" rIns="0" bIns="0" rtlCol="0" anchor="ctr">
            <a:normAutofit/>
          </a:bodyPr>
          <a:lstStyle/>
          <a:p>
            <a:pPr marL="0" indent="0" algn="ctr">
              <a:lnSpc>
                <a:spcPts val="1820"/>
              </a:lnSpc>
              <a:buNone/>
            </a:pPr>
            <a:r>
              <a:rPr lang="en-US" sz="1300" dirty="0">
                <a:solidFill>
                  <a:srgbClr val="F5F4EF"/>
                </a:solidFill>
                <a:latin typeface="JetBrains Mono" pitchFamily="49" charset="0"/>
                <a:ea typeface="JetBrains Mono" pitchFamily="49" charset="-122"/>
                <a:cs typeface="JetBrains Mono" pitchFamily="49" charset="-120"/>
              </a:rPr>
              <a:t>:latest</a:t>
            </a:r>
            <a:endParaRPr lang="en-US" sz="1300" dirty="0"/>
          </a:p>
        </p:txBody>
      </p:sp>
      <p:sp>
        <p:nvSpPr>
          <p:cNvPr id="10" name="Text 8"/>
          <p:cNvSpPr/>
          <p:nvPr/>
        </p:nvSpPr>
        <p:spPr>
          <a:xfrm>
            <a:off x="6192838" y="1860451"/>
            <a:ext cx="21894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registry · hesap · repo · tag</a:t>
            </a:r>
            <a:endParaRPr lang="en-US" sz="1200" dirty="0"/>
          </a:p>
        </p:txBody>
      </p:sp>
      <p:sp>
        <p:nvSpPr>
          <p:cNvPr id="11" name="Text 9"/>
          <p:cNvSpPr/>
          <p:nvPr/>
        </p:nvSpPr>
        <p:spPr>
          <a:xfrm>
            <a:off x="898144" y="2412901"/>
            <a:ext cx="6212078"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Özel registry (Nexus, Harbor, GitLab): tam adres yazılır, kimlik bir </a:t>
            </a:r>
            <a:r>
              <a:rPr lang="en-US" sz="1300" b="1" dirty="0">
                <a:solidFill>
                  <a:srgbClr val="142033"/>
                </a:solidFill>
                <a:latin typeface="IBM Plex Sans" pitchFamily="34" charset="0"/>
                <a:ea typeface="IBM Plex Sans" pitchFamily="34" charset="-122"/>
                <a:cs typeface="IBM Plex Sans" pitchFamily="34" charset="-120"/>
              </a:rPr>
              <a:t>docker-registry</a:t>
            </a:r>
            <a:r>
              <a:rPr lang="en-US" sz="1300" dirty="0">
                <a:solidFill>
                  <a:srgbClr val="45505F"/>
                </a:solidFill>
                <a:latin typeface="IBM Plex Sans" pitchFamily="34" charset="0"/>
                <a:ea typeface="IBM Plex Sans" pitchFamily="34" charset="-122"/>
                <a:cs typeface="IBM Plex Sans" pitchFamily="34" charset="-120"/>
              </a:rPr>
              <a:t> Secret'ında tutulur.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Pod'da </a:t>
            </a:r>
            <a:r>
              <a:rPr lang="en-US" sz="1300" b="1" dirty="0">
                <a:solidFill>
                  <a:srgbClr val="142033"/>
                </a:solidFill>
                <a:latin typeface="IBM Plex Sans" pitchFamily="34" charset="0"/>
                <a:ea typeface="IBM Plex Sans" pitchFamily="34" charset="-122"/>
                <a:cs typeface="IBM Plex Sans" pitchFamily="34" charset="-120"/>
              </a:rPr>
              <a:t>imagePullSecrets</a:t>
            </a:r>
            <a:r>
              <a:rPr lang="en-US" sz="1300" dirty="0">
                <a:solidFill>
                  <a:srgbClr val="45505F"/>
                </a:solidFill>
                <a:latin typeface="IBM Plex Sans" pitchFamily="34" charset="0"/>
                <a:ea typeface="IBM Plex Sans" pitchFamily="34" charset="-122"/>
                <a:cs typeface="IBM Plex Sans" pitchFamily="34" charset="-120"/>
              </a:rPr>
              <a:t> ile ya da SA'ya ekleyerek tüm pod'lara.</a:t>
            </a:r>
            <a:endParaRPr lang="en-US" sz="1300" dirty="0"/>
          </a:p>
          <a:p>
            <a:pPr marL="168656" indent="-168656" algn="l">
              <a:lnSpc>
                <a:spcPts val="1950"/>
              </a:lnSpc>
              <a:buSzPct val="100000"/>
              <a:buChar char="•"/>
            </a:pPr>
            <a:r>
              <a:rPr lang="en-US" sz="1300" b="1" dirty="0">
                <a:solidFill>
                  <a:srgbClr val="45505F"/>
                </a:solidFill>
                <a:latin typeface="IBM Plex Sans" pitchFamily="34" charset="0"/>
                <a:ea typeface="IBM Plex Sans" pitchFamily="34" charset="-122"/>
                <a:cs typeface="IBM Plex Sans" pitchFamily="34" charset="-120"/>
              </a:rPr>
              <a:t>:latest</a:t>
            </a:r>
            <a:r>
              <a:rPr lang="en-US" sz="1300" dirty="0">
                <a:solidFill>
                  <a:srgbClr val="45505F"/>
                </a:solidFill>
                <a:latin typeface="IBM Plex Sans" pitchFamily="34" charset="0"/>
                <a:ea typeface="IBM Plex Sans" pitchFamily="34" charset="-122"/>
                <a:cs typeface="IBM Plex Sans" pitchFamily="34" charset="-120"/>
              </a:rPr>
              <a:t> yerine sabit tag veya digest (@sha256:…); imagePullPolicy davranışını bilin.</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Image tarama (Trivy), imza doğrulama (cosign), izinli registry politikası.</a:t>
            </a:r>
            <a:endParaRPr lang="en-US" sz="1300" dirty="0"/>
          </a:p>
        </p:txBody>
      </p:sp>
      <p:sp>
        <p:nvSpPr>
          <p:cNvPr id="12" name="Text 10"/>
          <p:cNvSpPr/>
          <p:nvPr/>
        </p:nvSpPr>
        <p:spPr>
          <a:xfrm>
            <a:off x="7188200" y="2412901"/>
            <a:ext cx="4191000" cy="3007122"/>
          </a:xfrm>
          <a:prstGeom prst="roundRect">
            <a:avLst>
              <a:gd name="adj" fmla="val 2534"/>
            </a:avLst>
          </a:prstGeom>
          <a:solidFill>
            <a:srgbClr val="1B2A41"/>
          </a:solidFill>
          <a:ln/>
        </p:spPr>
        <p:txBody>
          <a:bodyPr wrap="square" lIns="155482" tIns="155482" rIns="40420"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create secret docker-registry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regcred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--docker-server=nexus.local:8082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--docker-username=ci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--docker-password='***'</a:t>
            </a:r>
            <a:endParaRPr lang="en-US" sz="1200" dirty="0"/>
          </a:p>
          <a:p>
            <a:pPr marL="0" indent="0" algn="l">
              <a:lnSpc>
                <a:spcPts val="1740"/>
              </a:lnSpc>
              <a:buNone/>
            </a:pP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containers: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 nexus.local:8082/app:1.4</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imagePullSecrets: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regcred</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6">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SECURITY CONTEXT</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Container'ı en az yetkiyle çalıştırmak</a:t>
            </a:r>
            <a:endParaRPr lang="en-US" sz="3000" dirty="0"/>
          </a:p>
        </p:txBody>
      </p:sp>
      <p:sp>
        <p:nvSpPr>
          <p:cNvPr id="4" name="Text 2"/>
          <p:cNvSpPr/>
          <p:nvPr/>
        </p:nvSpPr>
        <p:spPr>
          <a:xfrm>
            <a:off x="898144" y="1775420"/>
            <a:ext cx="6342888" cy="2006600"/>
          </a:xfrm>
          <a:prstGeom prst="rect">
            <a:avLst/>
          </a:prstGeom>
          <a:noFill/>
          <a:ln/>
        </p:spPr>
        <p:txBody>
          <a:bodyPr wrap="square" lIns="0" tIns="0" rIns="0" bIns="0" rtlCol="0" anchor="t">
            <a:normAutofit fontScale="92500"/>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Pod düzeyinde verilen ayar tüm container'lara uygulanır; container düzeyindeki ayar onu </a:t>
            </a:r>
            <a:r>
              <a:rPr lang="en-US" sz="1300" b="1" dirty="0">
                <a:solidFill>
                  <a:srgbClr val="142033"/>
                </a:solidFill>
                <a:latin typeface="IBM Plex Sans" pitchFamily="34" charset="0"/>
                <a:ea typeface="IBM Plex Sans" pitchFamily="34" charset="-122"/>
                <a:cs typeface="IBM Plex Sans" pitchFamily="34" charset="-120"/>
              </a:rPr>
              <a:t>ezer</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runAsUser / runAsGroup / runAsNonRoot:</a:t>
            </a:r>
            <a:r>
              <a:rPr lang="en-US" sz="1300" dirty="0">
                <a:solidFill>
                  <a:srgbClr val="45505F"/>
                </a:solidFill>
                <a:latin typeface="IBM Plex Sans" pitchFamily="34" charset="0"/>
                <a:ea typeface="IBM Plex Sans" pitchFamily="34" charset="-122"/>
                <a:cs typeface="IBM Plex Sans" pitchFamily="34" charset="-120"/>
              </a:rPr>
              <a:t> root olarak çalışmayı engelle.</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capabilities:</a:t>
            </a:r>
            <a:r>
              <a:rPr lang="en-US" sz="1300" dirty="0">
                <a:solidFill>
                  <a:srgbClr val="45505F"/>
                </a:solidFill>
                <a:latin typeface="IBM Plex Sans" pitchFamily="34" charset="0"/>
                <a:ea typeface="IBM Plex Sans" pitchFamily="34" charset="-122"/>
                <a:cs typeface="IBM Plex Sans" pitchFamily="34" charset="-120"/>
              </a:rPr>
              <a:t> Linux yetkilerini ekle/çıkar (yalnızca container düzeyinde). "drop: [ALL]" iyi bir başlangıç.</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readOnlyRootFilesystem</a:t>
            </a:r>
            <a:r>
              <a:rPr lang="en-US" sz="1300" dirty="0">
                <a:solidFill>
                  <a:srgbClr val="45505F"/>
                </a:solidFill>
                <a:latin typeface="IBM Plex Sans" pitchFamily="34" charset="0"/>
                <a:ea typeface="IBM Plex Sans" pitchFamily="34" charset="-122"/>
                <a:cs typeface="IBM Plex Sans" pitchFamily="34" charset="-120"/>
              </a:rPr>
              <a:t>, </a:t>
            </a:r>
            <a:r>
              <a:rPr lang="en-US" sz="1300" b="1" dirty="0">
                <a:solidFill>
                  <a:srgbClr val="142033"/>
                </a:solidFill>
                <a:latin typeface="IBM Plex Sans" pitchFamily="34" charset="0"/>
                <a:ea typeface="IBM Plex Sans" pitchFamily="34" charset="-122"/>
                <a:cs typeface="IBM Plex Sans" pitchFamily="34" charset="-120"/>
              </a:rPr>
              <a:t>allowPrivilegeEscalation: false</a:t>
            </a:r>
            <a:r>
              <a:rPr lang="en-US" sz="1300" dirty="0">
                <a:solidFill>
                  <a:srgbClr val="45505F"/>
                </a:solidFill>
                <a:latin typeface="IBM Plex Sans" pitchFamily="34" charset="0"/>
                <a:ea typeface="IBM Plex Sans" pitchFamily="34" charset="-122"/>
                <a:cs typeface="IBM Plex Sans" pitchFamily="34" charset="-120"/>
              </a:rPr>
              <a:t>, privileged: false.</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Namespace geneli zorlama: </a:t>
            </a:r>
            <a:r>
              <a:rPr lang="en-US" sz="1300" b="1" dirty="0">
                <a:solidFill>
                  <a:srgbClr val="142033"/>
                </a:solidFill>
                <a:latin typeface="IBM Plex Sans" pitchFamily="34" charset="0"/>
                <a:ea typeface="IBM Plex Sans" pitchFamily="34" charset="-122"/>
                <a:cs typeface="IBM Plex Sans" pitchFamily="34" charset="-120"/>
              </a:rPr>
              <a:t>Pod Security Admission</a:t>
            </a:r>
            <a:r>
              <a:rPr lang="en-US" sz="1300" dirty="0">
                <a:solidFill>
                  <a:srgbClr val="45505F"/>
                </a:solidFill>
                <a:latin typeface="IBM Plex Sans" pitchFamily="34" charset="0"/>
                <a:ea typeface="IBM Plex Sans" pitchFamily="34" charset="-122"/>
                <a:cs typeface="IBM Plex Sans" pitchFamily="34" charset="-120"/>
              </a:rPr>
              <a:t> (privileged / baseline / restricted).</a:t>
            </a:r>
            <a:endParaRPr lang="en-US" sz="1300" dirty="0"/>
          </a:p>
        </p:txBody>
      </p:sp>
      <p:sp>
        <p:nvSpPr>
          <p:cNvPr id="5" name="Text 3"/>
          <p:cNvSpPr/>
          <p:nvPr/>
        </p:nvSpPr>
        <p:spPr>
          <a:xfrm>
            <a:off x="7315200" y="1775420"/>
            <a:ext cx="4064000" cy="3228082"/>
          </a:xfrm>
          <a:prstGeom prst="roundRect">
            <a:avLst>
              <a:gd name="adj" fmla="val 2361"/>
            </a:avLst>
          </a:prstGeom>
          <a:solidFill>
            <a:srgbClr val="1B2A41"/>
          </a:solidFill>
          <a:ln/>
        </p:spPr>
        <p:txBody>
          <a:bodyPr wrap="square" lIns="155482" tIns="155482" rIns="44230"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securityContext: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runAsUser: 1000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runAsNonRoot: true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containers: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 myapp:1.0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securityContext: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allowPrivilegeEscalation: false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readOnlyRootFilesystem: true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capabilities: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drop: ["ALL"]</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add: ["NET_BIND_SERVICE"]</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7">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NETWORKPOLICY</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Varsayılan "herkes herkese"; politika ile daraltılır</a:t>
            </a:r>
            <a:endParaRPr lang="en-US" sz="3000" dirty="0"/>
          </a:p>
        </p:txBody>
      </p:sp>
      <p:sp>
        <p:nvSpPr>
          <p:cNvPr id="4" name="Text 2"/>
          <p:cNvSpPr/>
          <p:nvPr/>
        </p:nvSpPr>
        <p:spPr>
          <a:xfrm>
            <a:off x="898144" y="1750020"/>
            <a:ext cx="6473698" cy="17589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podSelector</a:t>
            </a:r>
            <a:r>
              <a:rPr lang="en-US" sz="1300" dirty="0">
                <a:solidFill>
                  <a:srgbClr val="45505F"/>
                </a:solidFill>
                <a:latin typeface="IBM Plex Sans" pitchFamily="34" charset="0"/>
                <a:ea typeface="IBM Plex Sans" pitchFamily="34" charset="-122"/>
                <a:cs typeface="IBM Plex Sans" pitchFamily="34" charset="-120"/>
              </a:rPr>
              <a:t> politikanın hangi pod'ları koruduğunu seçer. Seçilen pod, belirtilen yön için yalnızca izin verilen trafiği alır.</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policyTypes:</a:t>
            </a:r>
            <a:r>
              <a:rPr lang="en-US" sz="1300" dirty="0">
                <a:solidFill>
                  <a:srgbClr val="45505F"/>
                </a:solidFill>
                <a:latin typeface="IBM Plex Sans" pitchFamily="34" charset="0"/>
                <a:ea typeface="IBM Plex Sans" pitchFamily="34" charset="-122"/>
                <a:cs typeface="IBM Plex Sans" pitchFamily="34" charset="-120"/>
              </a:rPr>
              <a:t> Ingress (gelen) / Egress (giden).</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Kaynak/hedef: </a:t>
            </a:r>
            <a:r>
              <a:rPr lang="en-US" sz="1300" b="1" dirty="0">
                <a:solidFill>
                  <a:srgbClr val="45505F"/>
                </a:solidFill>
                <a:latin typeface="IBM Plex Sans" pitchFamily="34" charset="0"/>
                <a:ea typeface="IBM Plex Sans" pitchFamily="34" charset="-122"/>
                <a:cs typeface="IBM Plex Sans" pitchFamily="34" charset="-120"/>
              </a:rPr>
              <a:t>podSelector</a:t>
            </a:r>
            <a:r>
              <a:rPr lang="en-US" sz="1300" dirty="0">
                <a:solidFill>
                  <a:srgbClr val="45505F"/>
                </a:solidFill>
                <a:latin typeface="IBM Plex Sans" pitchFamily="34" charset="0"/>
                <a:ea typeface="IBM Plex Sans" pitchFamily="34" charset="-122"/>
                <a:cs typeface="IBM Plex Sans" pitchFamily="34" charset="-120"/>
              </a:rPr>
              <a:t>, </a:t>
            </a:r>
            <a:r>
              <a:rPr lang="en-US" sz="1300" b="1" dirty="0">
                <a:solidFill>
                  <a:srgbClr val="45505F"/>
                </a:solidFill>
                <a:latin typeface="IBM Plex Sans" pitchFamily="34" charset="0"/>
                <a:ea typeface="IBM Plex Sans" pitchFamily="34" charset="-122"/>
                <a:cs typeface="IBM Plex Sans" pitchFamily="34" charset="-120"/>
              </a:rPr>
              <a:t>namespaceSelector</a:t>
            </a:r>
            <a:r>
              <a:rPr lang="en-US" sz="1300" dirty="0">
                <a:solidFill>
                  <a:srgbClr val="45505F"/>
                </a:solidFill>
                <a:latin typeface="IBM Plex Sans" pitchFamily="34" charset="0"/>
                <a:ea typeface="IBM Plex Sans" pitchFamily="34" charset="-122"/>
                <a:cs typeface="IBM Plex Sans" pitchFamily="34" charset="-120"/>
              </a:rPr>
              <a:t>, </a:t>
            </a:r>
            <a:r>
              <a:rPr lang="en-US" sz="1300" b="1" dirty="0">
                <a:solidFill>
                  <a:srgbClr val="45505F"/>
                </a:solidFill>
                <a:latin typeface="IBM Plex Sans" pitchFamily="34" charset="0"/>
                <a:ea typeface="IBM Plex Sans" pitchFamily="34" charset="-122"/>
                <a:cs typeface="IBM Plex Sans" pitchFamily="34" charset="-120"/>
              </a:rPr>
              <a:t>ipBlock</a:t>
            </a:r>
            <a:r>
              <a:rPr lang="en-US" sz="1300" dirty="0">
                <a:solidFill>
                  <a:srgbClr val="45505F"/>
                </a:solidFill>
                <a:latin typeface="IBM Plex Sans" pitchFamily="34" charset="0"/>
                <a:ea typeface="IBM Plex Sans" pitchFamily="34" charset="-122"/>
                <a:cs typeface="IBM Plex Sans" pitchFamily="34" charset="-120"/>
              </a:rPr>
              <a:t> + ports.</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Bağlantı durumludur (stateful): izin verilen isteğin cevabı ayrıca açılmaz.</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Uygulayan CNI'dır: </a:t>
            </a:r>
            <a:r>
              <a:rPr lang="en-US" sz="1300" b="1" dirty="0">
                <a:solidFill>
                  <a:srgbClr val="142033"/>
                </a:solidFill>
                <a:latin typeface="IBM Plex Sans" pitchFamily="34" charset="0"/>
                <a:ea typeface="IBM Plex Sans" pitchFamily="34" charset="-122"/>
                <a:cs typeface="IBM Plex Sans" pitchFamily="34" charset="-120"/>
              </a:rPr>
              <a:t>Calico, Cilium</a:t>
            </a:r>
            <a:r>
              <a:rPr lang="en-US" sz="1300" dirty="0">
                <a:solidFill>
                  <a:srgbClr val="45505F"/>
                </a:solidFill>
                <a:latin typeface="IBM Plex Sans" pitchFamily="34" charset="0"/>
                <a:ea typeface="IBM Plex Sans" pitchFamily="34" charset="-122"/>
                <a:cs typeface="IBM Plex Sans" pitchFamily="34" charset="-120"/>
              </a:rPr>
              <a:t> destekler; </a:t>
            </a:r>
            <a:r>
              <a:rPr lang="en-US" sz="1300" b="1" dirty="0">
                <a:solidFill>
                  <a:srgbClr val="142033"/>
                </a:solidFill>
                <a:latin typeface="IBM Plex Sans" pitchFamily="34" charset="0"/>
                <a:ea typeface="IBM Plex Sans" pitchFamily="34" charset="-122"/>
                <a:cs typeface="IBM Plex Sans" pitchFamily="34" charset="-120"/>
              </a:rPr>
              <a:t>Flannel desteklemez</a:t>
            </a:r>
            <a:r>
              <a:rPr lang="en-US" sz="1300" dirty="0">
                <a:solidFill>
                  <a:srgbClr val="45505F"/>
                </a:solidFill>
                <a:latin typeface="IBM Plex Sans" pitchFamily="34" charset="0"/>
                <a:ea typeface="IBM Plex Sans" pitchFamily="34" charset="-122"/>
                <a:cs typeface="IBM Plex Sans" pitchFamily="34" charset="-120"/>
              </a:rPr>
              <a:t> (hata vermez, etkisiz kalır).</a:t>
            </a:r>
            <a:endParaRPr lang="en-US" sz="1300" dirty="0"/>
          </a:p>
        </p:txBody>
      </p:sp>
      <p:sp>
        <p:nvSpPr>
          <p:cNvPr id="5" name="Text 3"/>
          <p:cNvSpPr/>
          <p:nvPr/>
        </p:nvSpPr>
        <p:spPr>
          <a:xfrm>
            <a:off x="812800" y="3597870"/>
            <a:ext cx="6375400" cy="680641"/>
          </a:xfrm>
          <a:prstGeom prst="roundRect">
            <a:avLst>
              <a:gd name="adj" fmla="val 9329"/>
            </a:avLst>
          </a:prstGeom>
          <a:solidFill>
            <a:srgbClr val="DCE6F7"/>
          </a:solidFill>
          <a:ln/>
        </p:spPr>
        <p:txBody>
          <a:bodyPr wrap="square" lIns="108401" tIns="108401" rIns="0" bIns="83001" rtlCol="0" anchor="t">
            <a:normAutofit/>
          </a:bodyPr>
          <a:lstStyle/>
          <a:p>
            <a:pPr marL="0" indent="0" algn="l">
              <a:lnSpc>
                <a:spcPts val="1680"/>
              </a:lnSpc>
              <a:buNone/>
            </a:pPr>
            <a:r>
              <a:rPr lang="en-US" sz="1200" dirty="0">
                <a:solidFill>
                  <a:srgbClr val="142033"/>
                </a:solidFill>
                <a:latin typeface="IBM Plex Sans" pitchFamily="34" charset="0"/>
                <a:ea typeface="IBM Plex Sans" pitchFamily="34" charset="-122"/>
                <a:cs typeface="IBM Plex Sans" pitchFamily="34" charset="-120"/>
              </a:rPr>
              <a:t>"from" altında aynı maddede podSelector + namespaceSelector = </a:t>
            </a:r>
            <a:r>
              <a:rPr lang="en-US" sz="1200" b="1" dirty="0">
                <a:solidFill>
                  <a:srgbClr val="142033"/>
                </a:solidFill>
                <a:latin typeface="IBM Plex Sans" pitchFamily="34" charset="0"/>
                <a:ea typeface="IBM Plex Sans" pitchFamily="34" charset="-122"/>
                <a:cs typeface="IBM Plex Sans" pitchFamily="34" charset="-120"/>
              </a:rPr>
              <a:t>VE</a:t>
            </a:r>
            <a:r>
              <a:rPr lang="en-US" sz="1200" dirty="0">
                <a:solidFill>
                  <a:srgbClr val="142033"/>
                </a:solidFill>
                <a:latin typeface="IBM Plex Sans" pitchFamily="34" charset="0"/>
                <a:ea typeface="IBM Plex Sans" pitchFamily="34" charset="-122"/>
                <a:cs typeface="IBM Plex Sans" pitchFamily="34" charset="-120"/>
              </a:rPr>
              <a:t>; ayrı maddeler (her biri "-" ile) = </a:t>
            </a:r>
            <a:r>
              <a:rPr lang="en-US" sz="1200" b="1" dirty="0">
                <a:solidFill>
                  <a:srgbClr val="142033"/>
                </a:solidFill>
                <a:latin typeface="IBM Plex Sans" pitchFamily="34" charset="0"/>
                <a:ea typeface="IBM Plex Sans" pitchFamily="34" charset="-122"/>
                <a:cs typeface="IBM Plex Sans" pitchFamily="34" charset="-120"/>
              </a:rPr>
              <a:t>VEYA</a:t>
            </a:r>
            <a:r>
              <a:rPr lang="en-US" sz="1200" dirty="0">
                <a:solidFill>
                  <a:srgbClr val="142033"/>
                </a:solidFill>
                <a:latin typeface="IBM Plex Sans" pitchFamily="34" charset="0"/>
                <a:ea typeface="IBM Plex Sans" pitchFamily="34" charset="-122"/>
                <a:cs typeface="IBM Plex Sans" pitchFamily="34" charset="-120"/>
              </a:rPr>
              <a:t>.</a:t>
            </a:r>
            <a:endParaRPr lang="en-US" sz="1200" dirty="0"/>
          </a:p>
        </p:txBody>
      </p:sp>
      <p:sp>
        <p:nvSpPr>
          <p:cNvPr id="6" name="Text 4"/>
          <p:cNvSpPr/>
          <p:nvPr/>
        </p:nvSpPr>
        <p:spPr>
          <a:xfrm>
            <a:off x="7442200" y="1750020"/>
            <a:ext cx="3937000" cy="3670002"/>
          </a:xfrm>
          <a:prstGeom prst="roundRect">
            <a:avLst>
              <a:gd name="adj" fmla="val 2076"/>
            </a:avLst>
          </a:prstGeom>
          <a:solidFill>
            <a:srgbClr val="1B2A41"/>
          </a:solidFill>
          <a:ln/>
        </p:spPr>
        <p:txBody>
          <a:bodyPr wrap="square" lIns="155482" tIns="155482" rIns="48040"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networking.k8s.io/v1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NetworkPolicy</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 {name: db-policy}</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podSelector: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matchLabels: {role: db}</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policyTypes: [Ingress]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ingress: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from:</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podSelector: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matchLabels: {name: api}</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namespaceSelector: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matchLabels: {name: prod}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ports: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{protocol: TCP, port: 3306}</a:t>
            </a:r>
            <a:endParaRPr lang="en-US" sz="1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8">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CRD, CONTROLLER VE OPERATOR</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Kubernetes API'sini genişletmek</a:t>
            </a:r>
            <a:endParaRPr lang="en-US" sz="3000" dirty="0"/>
          </a:p>
        </p:txBody>
      </p:sp>
      <p:sp>
        <p:nvSpPr>
          <p:cNvPr id="4" name="Shape 2"/>
          <p:cNvSpPr/>
          <p:nvPr/>
        </p:nvSpPr>
        <p:spPr>
          <a:xfrm>
            <a:off x="815975" y="1778595"/>
            <a:ext cx="3147417" cy="2408734"/>
          </a:xfrm>
          <a:prstGeom prst="roundRect">
            <a:avLst>
              <a:gd name="adj" fmla="val 3032"/>
            </a:avLst>
          </a:prstGeom>
          <a:solidFill>
            <a:srgbClr val="FDFCF9"/>
          </a:solidFill>
          <a:ln w="6350">
            <a:solidFill>
              <a:srgbClr val="E2DFD6"/>
            </a:solidFill>
            <a:prstDash val="solid"/>
          </a:ln>
        </p:spPr>
      </p:sp>
      <p:sp>
        <p:nvSpPr>
          <p:cNvPr id="5" name="Text 3"/>
          <p:cNvSpPr/>
          <p:nvPr/>
        </p:nvSpPr>
        <p:spPr>
          <a:xfrm>
            <a:off x="1022350" y="1984970"/>
            <a:ext cx="281670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1 · CRD</a:t>
            </a:r>
            <a:endParaRPr lang="en-US" sz="1200" dirty="0"/>
          </a:p>
        </p:txBody>
      </p:sp>
      <p:sp>
        <p:nvSpPr>
          <p:cNvPr id="6" name="Text 4"/>
          <p:cNvSpPr/>
          <p:nvPr/>
        </p:nvSpPr>
        <p:spPr>
          <a:xfrm>
            <a:off x="1022350" y="2274491"/>
            <a:ext cx="281670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Yeni nesne türü</a:t>
            </a:r>
            <a:endParaRPr lang="en-US" sz="1600" dirty="0"/>
          </a:p>
        </p:txBody>
      </p:sp>
      <p:sp>
        <p:nvSpPr>
          <p:cNvPr id="7" name="Text 5"/>
          <p:cNvSpPr/>
          <p:nvPr/>
        </p:nvSpPr>
        <p:spPr>
          <a:xfrm>
            <a:off x="1022350" y="2594471"/>
            <a:ext cx="2816707" cy="141188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CustomResourceDefinition ile </a:t>
            </a:r>
            <a:r>
              <a:rPr lang="en-US" sz="1300" b="1" dirty="0">
                <a:solidFill>
                  <a:srgbClr val="45505F"/>
                </a:solidFill>
                <a:latin typeface="IBM Plex Sans" pitchFamily="34" charset="0"/>
                <a:ea typeface="IBM Plex Sans" pitchFamily="34" charset="-122"/>
                <a:cs typeface="IBM Plex Sans" pitchFamily="34" charset="-120"/>
              </a:rPr>
              <a:t>FlightTicket</a:t>
            </a:r>
            <a:r>
              <a:rPr lang="en-US" sz="1300" dirty="0">
                <a:solidFill>
                  <a:srgbClr val="45505F"/>
                </a:solidFill>
                <a:latin typeface="IBM Plex Sans" pitchFamily="34" charset="0"/>
                <a:ea typeface="IBM Plex Sans" pitchFamily="34" charset="-122"/>
                <a:cs typeface="IBM Plex Sans" pitchFamily="34" charset="-120"/>
              </a:rPr>
              <a:t> gibi bir kind tanımlanır: grup, sürüm, şema (OpenAPI), scope. Sonra kubectl get flighttickets çalışır — ama tek başına hiçbir şey yapmaz, sadece etcd'de saklanır.</a:t>
            </a:r>
            <a:endParaRPr lang="en-US" sz="1300" dirty="0"/>
          </a:p>
        </p:txBody>
      </p:sp>
      <p:pic>
        <p:nvPicPr>
          <p:cNvPr id="8" name="Image 0" descr="arrow-right"/>
          <p:cNvPicPr>
            <a:picLocks noChangeAspect="1"/>
          </p:cNvPicPr>
          <p:nvPr/>
        </p:nvPicPr>
        <p:blipFill>
          <a:blip r:embed="rId3"/>
          <a:srcRect/>
          <a:stretch/>
        </p:blipFill>
        <p:spPr>
          <a:xfrm>
            <a:off x="4068167" y="2868613"/>
            <a:ext cx="355600" cy="228600"/>
          </a:xfrm>
          <a:prstGeom prst="rect">
            <a:avLst/>
          </a:prstGeom>
        </p:spPr>
      </p:pic>
      <p:sp>
        <p:nvSpPr>
          <p:cNvPr id="9" name="Shape 6"/>
          <p:cNvSpPr/>
          <p:nvPr/>
        </p:nvSpPr>
        <p:spPr>
          <a:xfrm>
            <a:off x="4528542" y="1778595"/>
            <a:ext cx="3147516" cy="2408734"/>
          </a:xfrm>
          <a:prstGeom prst="roundRect">
            <a:avLst>
              <a:gd name="adj" fmla="val 3032"/>
            </a:avLst>
          </a:prstGeom>
          <a:solidFill>
            <a:srgbClr val="FDFCF9"/>
          </a:solidFill>
          <a:ln w="6350">
            <a:solidFill>
              <a:srgbClr val="E2DFD6"/>
            </a:solidFill>
            <a:prstDash val="solid"/>
          </a:ln>
        </p:spPr>
      </p:sp>
      <p:sp>
        <p:nvSpPr>
          <p:cNvPr id="10" name="Text 7"/>
          <p:cNvSpPr/>
          <p:nvPr/>
        </p:nvSpPr>
        <p:spPr>
          <a:xfrm>
            <a:off x="4734917" y="1984970"/>
            <a:ext cx="281680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2 · CONTROLLER</a:t>
            </a:r>
            <a:endParaRPr lang="en-US" sz="1200" dirty="0"/>
          </a:p>
        </p:txBody>
      </p:sp>
      <p:sp>
        <p:nvSpPr>
          <p:cNvPr id="11" name="Text 8"/>
          <p:cNvSpPr/>
          <p:nvPr/>
        </p:nvSpPr>
        <p:spPr>
          <a:xfrm>
            <a:off x="4734917" y="2274491"/>
            <a:ext cx="281680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Davranış</a:t>
            </a:r>
            <a:endParaRPr lang="en-US" sz="1600" dirty="0"/>
          </a:p>
        </p:txBody>
      </p:sp>
      <p:sp>
        <p:nvSpPr>
          <p:cNvPr id="12" name="Text 9"/>
          <p:cNvSpPr/>
          <p:nvPr/>
        </p:nvSpPr>
        <p:spPr>
          <a:xfrm>
            <a:off x="4734917" y="2594471"/>
            <a:ext cx="2816809" cy="118080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Bu nesneleri izleyen ve dış dünyada karşılığını oluşturan kod (ör. uçuş rezervasyon API'sini çağırır). Genelde Go ile, cluster'da pod olarak çalışır.</a:t>
            </a:r>
            <a:endParaRPr lang="en-US" sz="1300" dirty="0"/>
          </a:p>
        </p:txBody>
      </p:sp>
      <p:pic>
        <p:nvPicPr>
          <p:cNvPr id="13" name="Image 1" descr="arrow-right"/>
          <p:cNvPicPr>
            <a:picLocks noChangeAspect="1"/>
          </p:cNvPicPr>
          <p:nvPr/>
        </p:nvPicPr>
        <p:blipFill>
          <a:blip r:embed="rId3"/>
          <a:srcRect/>
          <a:stretch/>
        </p:blipFill>
        <p:spPr>
          <a:xfrm>
            <a:off x="7780834" y="2868613"/>
            <a:ext cx="355600" cy="228600"/>
          </a:xfrm>
          <a:prstGeom prst="rect">
            <a:avLst/>
          </a:prstGeom>
        </p:spPr>
      </p:pic>
      <p:sp>
        <p:nvSpPr>
          <p:cNvPr id="14" name="Shape 10"/>
          <p:cNvSpPr/>
          <p:nvPr/>
        </p:nvSpPr>
        <p:spPr>
          <a:xfrm>
            <a:off x="8238034" y="1775420"/>
            <a:ext cx="3141166" cy="2415084"/>
          </a:xfrm>
          <a:prstGeom prst="roundRect">
            <a:avLst>
              <a:gd name="adj" fmla="val 3155"/>
            </a:avLst>
          </a:prstGeom>
          <a:solidFill>
            <a:srgbClr val="142033"/>
          </a:solidFill>
          <a:ln/>
        </p:spPr>
      </p:sp>
      <p:sp>
        <p:nvSpPr>
          <p:cNvPr id="15" name="Text 11"/>
          <p:cNvSpPr/>
          <p:nvPr/>
        </p:nvSpPr>
        <p:spPr>
          <a:xfrm>
            <a:off x="8441234" y="1978620"/>
            <a:ext cx="281680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BM Plex Sans" pitchFamily="34" charset="0"/>
                <a:ea typeface="IBM Plex Sans" pitchFamily="34" charset="-122"/>
                <a:cs typeface="IBM Plex Sans" pitchFamily="34" charset="-120"/>
              </a:rPr>
              <a:t>3 · OPERATOR</a:t>
            </a:r>
            <a:endParaRPr lang="en-US" sz="1200" dirty="0"/>
          </a:p>
        </p:txBody>
      </p:sp>
      <p:sp>
        <p:nvSpPr>
          <p:cNvPr id="16" name="Text 12"/>
          <p:cNvSpPr/>
          <p:nvPr/>
        </p:nvSpPr>
        <p:spPr>
          <a:xfrm>
            <a:off x="8441234" y="2268141"/>
            <a:ext cx="281680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Paket</a:t>
            </a:r>
            <a:endParaRPr lang="en-US" sz="1600" dirty="0"/>
          </a:p>
        </p:txBody>
      </p:sp>
      <p:sp>
        <p:nvSpPr>
          <p:cNvPr id="17" name="Text 13"/>
          <p:cNvSpPr/>
          <p:nvPr/>
        </p:nvSpPr>
        <p:spPr>
          <a:xfrm>
            <a:off x="8441234" y="2588121"/>
            <a:ext cx="2816809" cy="118080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CRD + controller birlikte. Uzman operatörün bilgisini kodlar: kurulum, yedek, yükseltme, failover. Örnek: etcd, Prometheus, CloudNativePG, ArgoCD.</a:t>
            </a:r>
            <a:endParaRPr lang="en-US" sz="1300" dirty="0"/>
          </a:p>
        </p:txBody>
      </p:sp>
      <p:sp>
        <p:nvSpPr>
          <p:cNvPr id="18" name="Text 14"/>
          <p:cNvSpPr/>
          <p:nvPr/>
        </p:nvSpPr>
        <p:spPr>
          <a:xfrm>
            <a:off x="812800" y="4444504"/>
            <a:ext cx="1088339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Kaynak: </a:t>
            </a:r>
            <a:r>
              <a:rPr lang="en-US" sz="1300" b="1" dirty="0">
                <a:solidFill>
                  <a:srgbClr val="142033"/>
                </a:solidFill>
                <a:latin typeface="IBM Plex Sans" pitchFamily="34" charset="0"/>
                <a:ea typeface="IBM Plex Sans" pitchFamily="34" charset="-122"/>
                <a:cs typeface="IBM Plex Sans" pitchFamily="34" charset="-120"/>
              </a:rPr>
              <a:t>OperatorHub.io</a:t>
            </a:r>
            <a:r>
              <a:rPr lang="en-US" sz="1300" dirty="0">
                <a:solidFill>
                  <a:srgbClr val="45505F"/>
                </a:solidFill>
                <a:latin typeface="IBM Plex Sans" pitchFamily="34" charset="0"/>
                <a:ea typeface="IBM Plex Sans" pitchFamily="34" charset="-122"/>
                <a:cs typeface="IBM Plex Sans" pitchFamily="34" charset="-120"/>
              </a:rPr>
              <a:t>. ArgoCD'nin Application nesnesi de bir CRD'dir.</a:t>
            </a:r>
            <a:endParaRPr 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79">
    <p:bg>
      <p:bgPr>
        <a:solidFill>
          <a:srgbClr val="142033"/>
        </a:solidFill>
        <a:effectLst/>
      </p:bgPr>
    </p:bg>
    <p:spTree>
      <p:nvGrpSpPr>
        <p:cNvPr id="1" name=""/>
        <p:cNvGrpSpPr/>
        <p:nvPr/>
      </p:nvGrpSpPr>
      <p:grpSpPr>
        <a:xfrm>
          <a:off x="0" y="0"/>
          <a:ext cx="0" cy="0"/>
          <a:chOff x="0" y="0"/>
          <a:chExt cx="0" cy="0"/>
        </a:xfrm>
      </p:grpSpPr>
      <p:sp>
        <p:nvSpPr>
          <p:cNvPr id="2" name="Text 0"/>
          <p:cNvSpPr/>
          <p:nvPr/>
        </p:nvSpPr>
        <p:spPr>
          <a:xfrm>
            <a:off x="812800" y="24600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IBM Plex Sans" pitchFamily="34" charset="0"/>
                <a:ea typeface="IBM Plex Sans" pitchFamily="34" charset="-122"/>
                <a:cs typeface="IBM Plex Sans" pitchFamily="34" charset="-120"/>
              </a:rPr>
              <a:t>BÖLÜM 07</a:t>
            </a:r>
            <a:endParaRPr lang="en-US" sz="1200" dirty="0"/>
          </a:p>
        </p:txBody>
      </p:sp>
      <p:sp>
        <p:nvSpPr>
          <p:cNvPr id="3" name="Text 1"/>
          <p:cNvSpPr>
            <a:spLocks noGrp="1"/>
          </p:cNvSpPr>
          <p:nvPr>
            <p:ph type="title"/>
          </p:nvPr>
        </p:nvSpPr>
        <p:spPr>
          <a:xfrm>
            <a:off x="812800" y="285115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4EF"/>
                </a:solidFill>
                <a:latin typeface="IBM Plex Sans" pitchFamily="34" charset="0"/>
                <a:ea typeface="IBM Plex Sans" pitchFamily="34" charset="-122"/>
                <a:cs typeface="IBM Plex Sans" pitchFamily="34" charset="-120"/>
              </a:rPr>
              <a:t>Depolama</a:t>
            </a:r>
            <a:endParaRPr lang="en-US" sz="6000" dirty="0"/>
          </a:p>
        </p:txBody>
      </p:sp>
      <p:sp>
        <p:nvSpPr>
          <p:cNvPr id="4" name="Text 2"/>
          <p:cNvSpPr/>
          <p:nvPr/>
        </p:nvSpPr>
        <p:spPr>
          <a:xfrm>
            <a:off x="812800" y="3829050"/>
            <a:ext cx="78486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6D6"/>
                </a:solidFill>
                <a:latin typeface="IBM Plex Sans" pitchFamily="34" charset="0"/>
                <a:ea typeface="IBM Plex Sans" pitchFamily="34" charset="-122"/>
                <a:cs typeface="IBM Plex Sans" pitchFamily="34" charset="-120"/>
              </a:rPr>
              <a:t>Pod'lar geçici, veri kalıcı olmalı. Volume türleri, PersistentVolume ve PersistentVolumeClaim, StorageClass ile dinamik provisioning ve CSI.</a:t>
            </a:r>
            <a:endParaRPr lang="en-US" sz="16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0">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HATIRLATMA · CONTAINER DEPOLAMASI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Yazılabilir katman container ile birlikte ölür</a:t>
            </a:r>
            <a:endParaRPr lang="en-US" sz="3000" dirty="0"/>
          </a:p>
        </p:txBody>
      </p:sp>
      <p:sp>
        <p:nvSpPr>
          <p:cNvPr id="4" name="Text 2"/>
          <p:cNvSpPr/>
          <p:nvPr/>
        </p:nvSpPr>
        <p:spPr>
          <a:xfrm>
            <a:off x="812800" y="1775420"/>
            <a:ext cx="3937000" cy="459680"/>
          </a:xfrm>
          <a:prstGeom prst="roundRect">
            <a:avLst>
              <a:gd name="adj" fmla="val 13814"/>
            </a:avLst>
          </a:prstGeom>
          <a:solidFill>
            <a:srgbClr val="2F6BD8"/>
          </a:solidFill>
          <a:ln/>
        </p:spPr>
        <p:txBody>
          <a:bodyPr wrap="square" lIns="40075" tIns="95701" rIns="40075" bIns="70301" rtlCol="0" anchor="t">
            <a:normAutofit/>
          </a:bodyPr>
          <a:lstStyle/>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Container katmanı · okuma-yazma</a:t>
            </a:r>
            <a:endParaRPr lang="en-US" sz="1300" dirty="0"/>
          </a:p>
        </p:txBody>
      </p:sp>
      <p:sp>
        <p:nvSpPr>
          <p:cNvPr id="5" name="Text 3"/>
          <p:cNvSpPr/>
          <p:nvPr/>
        </p:nvSpPr>
        <p:spPr>
          <a:xfrm>
            <a:off x="812800" y="2298601"/>
            <a:ext cx="3937000" cy="416520"/>
          </a:xfrm>
          <a:prstGeom prst="roundRect">
            <a:avLst>
              <a:gd name="adj" fmla="val 15245"/>
            </a:avLst>
          </a:prstGeom>
          <a:solidFill>
            <a:srgbClr val="E8E4DA"/>
          </a:solidFill>
          <a:ln/>
        </p:spPr>
        <p:txBody>
          <a:bodyPr wrap="square" lIns="26994" tIns="83001" rIns="26994" bIns="576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Uygulama kodu · salt okunur</a:t>
            </a:r>
            <a:endParaRPr lang="en-US" sz="1200" dirty="0"/>
          </a:p>
        </p:txBody>
      </p:sp>
      <p:sp>
        <p:nvSpPr>
          <p:cNvPr id="6" name="Text 4"/>
          <p:cNvSpPr/>
          <p:nvPr/>
        </p:nvSpPr>
        <p:spPr>
          <a:xfrm>
            <a:off x="812800" y="2778621"/>
            <a:ext cx="3937000" cy="416520"/>
          </a:xfrm>
          <a:prstGeom prst="roundRect">
            <a:avLst>
              <a:gd name="adj" fmla="val 15245"/>
            </a:avLst>
          </a:prstGeom>
          <a:solidFill>
            <a:srgbClr val="E8E4DA"/>
          </a:solidFill>
          <a:ln/>
        </p:spPr>
        <p:txBody>
          <a:bodyPr wrap="square" lIns="26994" tIns="83001" rIns="26994" bIns="576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Bağımlılıklar · salt okunur</a:t>
            </a:r>
            <a:endParaRPr lang="en-US" sz="1200" dirty="0"/>
          </a:p>
        </p:txBody>
      </p:sp>
      <p:sp>
        <p:nvSpPr>
          <p:cNvPr id="7" name="Text 5"/>
          <p:cNvSpPr/>
          <p:nvPr/>
        </p:nvSpPr>
        <p:spPr>
          <a:xfrm>
            <a:off x="812800" y="3258641"/>
            <a:ext cx="3937000" cy="416520"/>
          </a:xfrm>
          <a:prstGeom prst="roundRect">
            <a:avLst>
              <a:gd name="adj" fmla="val 15245"/>
            </a:avLst>
          </a:prstGeom>
          <a:solidFill>
            <a:srgbClr val="E8E4DA"/>
          </a:solidFill>
          <a:ln/>
        </p:spPr>
        <p:txBody>
          <a:bodyPr wrap="square" lIns="26994" tIns="83001" rIns="26994" bIns="576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Base image · salt okunur</a:t>
            </a:r>
            <a:endParaRPr lang="en-US" sz="1200" dirty="0"/>
          </a:p>
        </p:txBody>
      </p:sp>
      <p:sp>
        <p:nvSpPr>
          <p:cNvPr id="8" name="Text 6"/>
          <p:cNvSpPr/>
          <p:nvPr/>
        </p:nvSpPr>
        <p:spPr>
          <a:xfrm>
            <a:off x="812800" y="3789462"/>
            <a:ext cx="40551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Image katmanlarındaki bir dosya değiştirilirse önce yazılabilir katmana kopyalanır (copy-on-write).</a:t>
            </a:r>
            <a:endParaRPr lang="en-US" sz="1200" dirty="0"/>
          </a:p>
        </p:txBody>
      </p:sp>
      <p:sp>
        <p:nvSpPr>
          <p:cNvPr id="9" name="Text 7"/>
          <p:cNvSpPr/>
          <p:nvPr/>
        </p:nvSpPr>
        <p:spPr>
          <a:xfrm>
            <a:off x="5089144" y="1775420"/>
            <a:ext cx="6473698"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Volume mount:</a:t>
            </a:r>
            <a:r>
              <a:rPr lang="en-US" sz="1300" dirty="0">
                <a:solidFill>
                  <a:srgbClr val="45505F"/>
                </a:solidFill>
                <a:latin typeface="IBM Plex Sans" pitchFamily="34" charset="0"/>
                <a:ea typeface="IBM Plex Sans" pitchFamily="34" charset="-122"/>
                <a:cs typeface="IBM Plex Sans" pitchFamily="34" charset="-120"/>
              </a:rPr>
              <a:t> runtime'ın yönettiği dizin (/var/lib/docker/volumes).</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Bind mount:</a:t>
            </a:r>
            <a:r>
              <a:rPr lang="en-US" sz="1300" dirty="0">
                <a:solidFill>
                  <a:srgbClr val="45505F"/>
                </a:solidFill>
                <a:latin typeface="IBM Plex Sans" pitchFamily="34" charset="0"/>
                <a:ea typeface="IBM Plex Sans" pitchFamily="34" charset="-122"/>
                <a:cs typeface="IBM Plex Sans" pitchFamily="34" charset="-120"/>
              </a:rPr>
              <a:t> host'taki herhangi bir dizin.</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Storage driver</a:t>
            </a:r>
            <a:r>
              <a:rPr lang="en-US" sz="1300" dirty="0">
                <a:solidFill>
                  <a:srgbClr val="45505F"/>
                </a:solidFill>
                <a:latin typeface="IBM Plex Sans" pitchFamily="34" charset="0"/>
                <a:ea typeface="IBM Plex Sans" pitchFamily="34" charset="-122"/>
                <a:cs typeface="IBM Plex Sans" pitchFamily="34" charset="-120"/>
              </a:rPr>
              <a:t> (overlay2) katmanları yönetir; </a:t>
            </a:r>
            <a:r>
              <a:rPr lang="en-US" sz="1300" b="1" dirty="0">
                <a:solidFill>
                  <a:srgbClr val="142033"/>
                </a:solidFill>
                <a:latin typeface="IBM Plex Sans" pitchFamily="34" charset="0"/>
                <a:ea typeface="IBM Plex Sans" pitchFamily="34" charset="-122"/>
                <a:cs typeface="IBM Plex Sans" pitchFamily="34" charset="-120"/>
              </a:rPr>
              <a:t>volume driver plugin</a:t>
            </a:r>
            <a:r>
              <a:rPr lang="en-US" sz="1300" dirty="0">
                <a:solidFill>
                  <a:srgbClr val="45505F"/>
                </a:solidFill>
                <a:latin typeface="IBM Plex Sans" pitchFamily="34" charset="0"/>
                <a:ea typeface="IBM Plex Sans" pitchFamily="34" charset="-122"/>
                <a:cs typeface="IBM Plex Sans" pitchFamily="34" charset="-120"/>
              </a:rPr>
              <a:t>'leri harici depolamaya (NFS, bulut diskleri) bağlanır.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Kubernetes'te aynı sorun pod düzeyinde: pod silinince container'ın verisi gider. Çözüm: volume'lar ve PV.</a:t>
            </a:r>
            <a:endParaRPr lang="en-US" sz="13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1">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VOLUME</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Pod'a bağlı depolama</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6743700" cy="2422128"/>
        </p:xfrm>
        <a:graphic>
          <a:graphicData uri="http://schemas.openxmlformats.org/drawingml/2006/table">
            <a:tbl>
              <a:tblPr/>
              <a:tblGrid>
                <a:gridCol w="2023110">
                  <a:extLst>
                    <a:ext uri="{9D8B030D-6E8A-4147-A177-3AD203B41FA5}">
                      <a16:colId xmlns:a16="http://schemas.microsoft.com/office/drawing/2014/main" val="20000"/>
                    </a:ext>
                  </a:extLst>
                </a:gridCol>
                <a:gridCol w="4720590">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Tür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Ömür ve kullanım</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emptyDir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Pod ile doğar, pod ile ölür. Container'lar arası paylaşım, geçici dosyalar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545902">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hostPath</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Node'daki dizin. Pod başka node'a giderse veri orada kalmaz. Güvenlik riski</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configMap / secret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Config'i dosya olarak sunar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projected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Birden çok kaynağı tek dizinde birleştirir (SA token)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persistentVolumeClaim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Kalıcı depolamaya bağlanır — üretim için doğru yol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337248"/>
            <a:ext cx="6959092"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nfs, iscsi, cephfs gibi türler pod içine doğrudan yazılabilir; ama bu, pod tanımını altyapıya bağlar. PV/PVC bu bağı koparır.</a:t>
            </a:r>
            <a:endParaRPr lang="en-US" sz="1300" dirty="0"/>
          </a:p>
        </p:txBody>
      </p:sp>
      <p:sp>
        <p:nvSpPr>
          <p:cNvPr id="6" name="Text 3"/>
          <p:cNvSpPr/>
          <p:nvPr/>
        </p:nvSpPr>
        <p:spPr>
          <a:xfrm>
            <a:off x="7823200" y="1775420"/>
            <a:ext cx="3556000" cy="3057128"/>
          </a:xfrm>
          <a:prstGeom prst="roundRect">
            <a:avLst>
              <a:gd name="adj" fmla="val 2493"/>
            </a:avLst>
          </a:prstGeom>
          <a:solidFill>
            <a:srgbClr val="1B2A41"/>
          </a:solidFill>
          <a:ln/>
        </p:spPr>
        <p:txBody>
          <a:bodyPr wrap="square" lIns="155482" tIns="155482" rIns="59470"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containers: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app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 alpine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volumeMounts: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mountPath: /opt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volumes: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name: 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hostPath:</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path: /data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type: Directory</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PV VE PVC</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Yönetici depoyu sunar, geliştirici talep eder</a:t>
            </a:r>
            <a:endParaRPr lang="en-US" sz="3000" dirty="0"/>
          </a:p>
        </p:txBody>
      </p:sp>
      <p:sp>
        <p:nvSpPr>
          <p:cNvPr id="4" name="Text 2"/>
          <p:cNvSpPr/>
          <p:nvPr/>
        </p:nvSpPr>
        <p:spPr>
          <a:xfrm>
            <a:off x="815975" y="1753195"/>
            <a:ext cx="3202484" cy="722511"/>
          </a:xfrm>
          <a:prstGeom prst="roundRect">
            <a:avLst>
              <a:gd name="adj" fmla="val 8349"/>
            </a:avLst>
          </a:prstGeom>
          <a:solidFill>
            <a:srgbClr val="FDFCF9"/>
          </a:solidFill>
          <a:ln w="6350">
            <a:solidFill>
              <a:srgbClr val="E2DFD6"/>
            </a:solidFill>
            <a:prstDash val="solid"/>
          </a:ln>
        </p:spPr>
        <p:txBody>
          <a:bodyPr wrap="square" lIns="68374" tIns="112506" rIns="68374" bIns="87106" rtlCol="0" anchor="t">
            <a:normAutofit/>
          </a:bodyPr>
          <a:lstStyle/>
          <a:p>
            <a:pPr marL="0" indent="0" algn="ctr">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Pod</a:t>
            </a:r>
            <a:endParaRPr lang="en-US" sz="1300" dirty="0"/>
          </a:p>
          <a:p>
            <a:pPr marL="0" indent="0" algn="ctr">
              <a:lnSpc>
                <a:spcPts val="1820"/>
              </a:lnSpc>
              <a:buNone/>
            </a:pPr>
            <a:r>
              <a:rPr lang="en-US" sz="1300" dirty="0">
                <a:solidFill>
                  <a:srgbClr val="45505F"/>
                </a:solidFill>
                <a:latin typeface="IBM Plex Sans" pitchFamily="34" charset="0"/>
                <a:ea typeface="IBM Plex Sans" pitchFamily="34" charset="-122"/>
                <a:cs typeface="IBM Plex Sans" pitchFamily="34" charset="-120"/>
              </a:rPr>
              <a:t>volumes: claimName</a:t>
            </a:r>
            <a:endParaRPr lang="en-US" sz="1300" dirty="0"/>
          </a:p>
        </p:txBody>
      </p:sp>
      <p:pic>
        <p:nvPicPr>
          <p:cNvPr id="5" name="Image 0" descr="arrow-right"/>
          <p:cNvPicPr>
            <a:picLocks noChangeAspect="1"/>
          </p:cNvPicPr>
          <p:nvPr/>
        </p:nvPicPr>
        <p:blipFill>
          <a:blip r:embed="rId3"/>
          <a:srcRect/>
          <a:stretch/>
        </p:blipFill>
        <p:spPr>
          <a:xfrm>
            <a:off x="4110534" y="2012851"/>
            <a:ext cx="304800" cy="203200"/>
          </a:xfrm>
          <a:prstGeom prst="rect">
            <a:avLst/>
          </a:prstGeom>
        </p:spPr>
      </p:pic>
      <p:sp>
        <p:nvSpPr>
          <p:cNvPr id="6" name="Text 3"/>
          <p:cNvSpPr/>
          <p:nvPr/>
        </p:nvSpPr>
        <p:spPr>
          <a:xfrm>
            <a:off x="4504234" y="1756370"/>
            <a:ext cx="3196233" cy="716161"/>
          </a:xfrm>
          <a:prstGeom prst="roundRect">
            <a:avLst>
              <a:gd name="adj" fmla="val 8867"/>
            </a:avLst>
          </a:prstGeom>
          <a:solidFill>
            <a:srgbClr val="2F6BD8"/>
          </a:solidFill>
          <a:ln/>
        </p:spPr>
        <p:txBody>
          <a:bodyPr wrap="square" lIns="64268" tIns="108401" rIns="64268" bIns="83001" rtlCol="0" anchor="t">
            <a:normAutofit/>
          </a:bodyPr>
          <a:lstStyle/>
          <a:p>
            <a:pPr marL="0" indent="0" algn="ctr">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PVC</a:t>
            </a:r>
            <a:r>
              <a:rPr lang="en-US" sz="1300" dirty="0">
                <a:solidFill>
                  <a:srgbClr val="F5F4EF"/>
                </a:solidFill>
                <a:latin typeface="IBM Plex Sans" pitchFamily="34" charset="0"/>
                <a:ea typeface="IBM Plex Sans" pitchFamily="34" charset="-122"/>
                <a:cs typeface="IBM Plex Sans" pitchFamily="34" charset="-120"/>
              </a:rPr>
              <a:t> · namespace'li</a:t>
            </a:r>
            <a:endParaRPr lang="en-US" sz="1300" dirty="0"/>
          </a:p>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"10Gi RWO istiyorum"</a:t>
            </a:r>
            <a:endParaRPr lang="en-US" sz="1300" dirty="0"/>
          </a:p>
        </p:txBody>
      </p:sp>
      <p:pic>
        <p:nvPicPr>
          <p:cNvPr id="7" name="Image 1" descr="arrow-right"/>
          <p:cNvPicPr>
            <a:picLocks noChangeAspect="1"/>
          </p:cNvPicPr>
          <p:nvPr/>
        </p:nvPicPr>
        <p:blipFill>
          <a:blip r:embed="rId3"/>
          <a:srcRect/>
          <a:stretch/>
        </p:blipFill>
        <p:spPr>
          <a:xfrm>
            <a:off x="7789366" y="2012851"/>
            <a:ext cx="304800" cy="203200"/>
          </a:xfrm>
          <a:prstGeom prst="rect">
            <a:avLst/>
          </a:prstGeom>
        </p:spPr>
      </p:pic>
      <p:sp>
        <p:nvSpPr>
          <p:cNvPr id="8" name="Text 4"/>
          <p:cNvSpPr/>
          <p:nvPr/>
        </p:nvSpPr>
        <p:spPr>
          <a:xfrm>
            <a:off x="8183066" y="1756370"/>
            <a:ext cx="3196134" cy="716161"/>
          </a:xfrm>
          <a:prstGeom prst="roundRect">
            <a:avLst>
              <a:gd name="adj" fmla="val 8867"/>
            </a:avLst>
          </a:prstGeom>
          <a:solidFill>
            <a:srgbClr val="142033"/>
          </a:solidFill>
          <a:ln/>
        </p:spPr>
        <p:txBody>
          <a:bodyPr wrap="square" lIns="64269" tIns="108401" rIns="64269" bIns="83001" rtlCol="0" anchor="t">
            <a:normAutofit/>
          </a:bodyPr>
          <a:lstStyle/>
          <a:p>
            <a:pPr marL="0" indent="0" algn="ctr">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PV</a:t>
            </a:r>
            <a:r>
              <a:rPr lang="en-US" sz="1300" dirty="0">
                <a:solidFill>
                  <a:srgbClr val="F5F4EF"/>
                </a:solidFill>
                <a:latin typeface="IBM Plex Sans" pitchFamily="34" charset="0"/>
                <a:ea typeface="IBM Plex Sans" pitchFamily="34" charset="-122"/>
                <a:cs typeface="IBM Plex Sans" pitchFamily="34" charset="-120"/>
              </a:rPr>
              <a:t> · cluster geneli</a:t>
            </a:r>
            <a:endParaRPr lang="en-US" sz="1300" dirty="0"/>
          </a:p>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NFS, Ceph, disk…</a:t>
            </a:r>
            <a:endParaRPr lang="en-US" sz="1300" dirty="0"/>
          </a:p>
        </p:txBody>
      </p:sp>
      <p:sp>
        <p:nvSpPr>
          <p:cNvPr id="9" name="Text 5"/>
          <p:cNvSpPr/>
          <p:nvPr/>
        </p:nvSpPr>
        <p:spPr>
          <a:xfrm>
            <a:off x="812800" y="2707481"/>
            <a:ext cx="5181600" cy="2786162"/>
          </a:xfrm>
          <a:prstGeom prst="roundRect">
            <a:avLst>
              <a:gd name="adj" fmla="val 2735"/>
            </a:avLst>
          </a:prstGeom>
          <a:solidFill>
            <a:srgbClr val="1B2A41"/>
          </a:solidFill>
          <a:ln/>
        </p:spPr>
        <p:txBody>
          <a:bodyPr wrap="square" lIns="155482" tIns="155482" rIns="10702" bIns="1554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PersistentVolume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 {name: pv-vol1}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capacity: {storage: 10Gi}</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accessModes: [ReadWriteOnce]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persistentVolumeReclaimPolicy: Retain</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nfs: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server: 10.0.0.5</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path: /exports/data</a:t>
            </a:r>
            <a:endParaRPr lang="en-US" sz="1200" dirty="0"/>
          </a:p>
        </p:txBody>
      </p:sp>
      <p:sp>
        <p:nvSpPr>
          <p:cNvPr id="10" name="Text 6"/>
          <p:cNvSpPr/>
          <p:nvPr/>
        </p:nvSpPr>
        <p:spPr>
          <a:xfrm>
            <a:off x="6197600" y="2707481"/>
            <a:ext cx="5181600" cy="2786162"/>
          </a:xfrm>
          <a:prstGeom prst="roundRect">
            <a:avLst>
              <a:gd name="adj" fmla="val 2735"/>
            </a:avLst>
          </a:prstGeom>
          <a:solidFill>
            <a:srgbClr val="1B2A41"/>
          </a:solidFill>
          <a:ln/>
        </p:spPr>
        <p:txBody>
          <a:bodyPr wrap="square" lIns="155482" tIns="155482" rIns="10702"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PersistentVolumeClaim</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 {name: myclaim}</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accessModes: [ReadWriteOnce]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resources: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requests: {storage: 5Gi}</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volumes: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persistentVolumeClaim:</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claimName: myclaim</a:t>
            </a:r>
            <a:endParaRPr lang="en-US"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BAĞLANMA VE YAŞAM DÖNGÜSÜ</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Bir PVC tek bir PV'ye bağlanır</a:t>
            </a:r>
            <a:endParaRPr lang="en-US" sz="3000" dirty="0"/>
          </a:p>
        </p:txBody>
      </p:sp>
      <p:sp>
        <p:nvSpPr>
          <p:cNvPr id="4" name="Text 2"/>
          <p:cNvSpPr/>
          <p:nvPr/>
        </p:nvSpPr>
        <p:spPr>
          <a:xfrm>
            <a:off x="898144" y="1775420"/>
            <a:ext cx="6866128" cy="17589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Eşleşme ölçütleri: kapasite (≥ istenen), access mode, storageClassName, volumeMode, label selector.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Bağlanma birebirdir: 5Gi isteyen PVC 10Gi'lık PV'ye bağlanırsa kalan 5Gi başkası tarafından kullanılamaz.</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Uygun PV yoksa PVC </a:t>
            </a:r>
            <a:r>
              <a:rPr lang="en-US" sz="1300" b="1" dirty="0">
                <a:solidFill>
                  <a:srgbClr val="142033"/>
                </a:solidFill>
                <a:latin typeface="IBM Plex Sans" pitchFamily="34" charset="0"/>
                <a:ea typeface="IBM Plex Sans" pitchFamily="34" charset="-122"/>
                <a:cs typeface="IBM Plex Sans" pitchFamily="34" charset="-120"/>
              </a:rPr>
              <a:t>Pending</a:t>
            </a:r>
            <a:r>
              <a:rPr lang="en-US" sz="1300" dirty="0">
                <a:solidFill>
                  <a:srgbClr val="45505F"/>
                </a:solidFill>
                <a:latin typeface="IBM Plex Sans" pitchFamily="34" charset="0"/>
                <a:ea typeface="IBM Plex Sans" pitchFamily="34" charset="-122"/>
                <a:cs typeface="IBM Plex Sans" pitchFamily="34" charset="-120"/>
              </a:rPr>
              <a:t> kalır; uygun PV gelince otomatik bağlanır.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Pod'un kullandığı PVC silinmeye çalışılırsa koruma devreye girer: PVC </a:t>
            </a:r>
            <a:r>
              <a:rPr lang="en-US" sz="1300" b="1" dirty="0">
                <a:solidFill>
                  <a:srgbClr val="45505F"/>
                </a:solidFill>
                <a:latin typeface="IBM Plex Sans" pitchFamily="34" charset="0"/>
                <a:ea typeface="IBM Plex Sans" pitchFamily="34" charset="-122"/>
                <a:cs typeface="IBM Plex Sans" pitchFamily="34" charset="-120"/>
              </a:rPr>
              <a:t>Terminating</a:t>
            </a:r>
            <a:r>
              <a:rPr lang="en-US" sz="1300" dirty="0">
                <a:solidFill>
                  <a:srgbClr val="45505F"/>
                </a:solidFill>
                <a:latin typeface="IBM Plex Sans" pitchFamily="34" charset="0"/>
                <a:ea typeface="IBM Plex Sans" pitchFamily="34" charset="-122"/>
                <a:cs typeface="IBM Plex Sans" pitchFamily="34" charset="-120"/>
              </a:rPr>
              <a:t>'de bekler.</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3648670"/>
          <a:ext cx="6743700" cy="1330325"/>
        </p:xfrm>
        <a:graphic>
          <a:graphicData uri="http://schemas.openxmlformats.org/drawingml/2006/table">
            <a:tbl>
              <a:tblPr/>
              <a:tblGrid>
                <a:gridCol w="2023110">
                  <a:extLst>
                    <a:ext uri="{9D8B030D-6E8A-4147-A177-3AD203B41FA5}">
                      <a16:colId xmlns:a16="http://schemas.microsoft.com/office/drawing/2014/main" val="20000"/>
                    </a:ext>
                  </a:extLst>
                </a:gridCol>
                <a:gridCol w="4720590">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Reclaim policy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PVC silinince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Retain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PV ve veri kalır (Released); elle temizlenir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Delete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PV ve arkadaki disk silinir (dinamikte varsayılan)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Recycle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Kullanımdan kalktı</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7823200" y="1775420"/>
            <a:ext cx="366268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ACCESS MODES</a:t>
            </a:r>
            <a:endParaRPr lang="en-US" sz="1200" dirty="0"/>
          </a:p>
        </p:txBody>
      </p:sp>
      <p:sp>
        <p:nvSpPr>
          <p:cNvPr id="7" name="Text 4"/>
          <p:cNvSpPr/>
          <p:nvPr/>
        </p:nvSpPr>
        <p:spPr>
          <a:xfrm>
            <a:off x="7826375" y="2080816"/>
            <a:ext cx="3549650" cy="466030"/>
          </a:xfrm>
          <a:prstGeom prst="roundRect">
            <a:avLst>
              <a:gd name="adj" fmla="val 12944"/>
            </a:avLst>
          </a:prstGeom>
          <a:solidFill>
            <a:srgbClr val="FDFCF9"/>
          </a:solidFill>
          <a:ln w="6350">
            <a:solidFill>
              <a:srgbClr val="E2DFD6"/>
            </a:solidFill>
            <a:prstDash val="solid"/>
          </a:ln>
        </p:spPr>
        <p:txBody>
          <a:bodyPr wrap="square" lIns="99806" tIns="99806" rIns="365" bIns="744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RWO</a:t>
            </a:r>
            <a:r>
              <a:rPr lang="en-US" sz="1300" dirty="0">
                <a:solidFill>
                  <a:srgbClr val="45505F"/>
                </a:solidFill>
                <a:latin typeface="IBM Plex Sans" pitchFamily="34" charset="0"/>
                <a:ea typeface="IBM Plex Sans" pitchFamily="34" charset="-122"/>
                <a:cs typeface="IBM Plex Sans" pitchFamily="34" charset="-120"/>
              </a:rPr>
              <a:t> · tek node okur/yazar</a:t>
            </a:r>
            <a:endParaRPr lang="en-US" sz="1300" dirty="0"/>
          </a:p>
        </p:txBody>
      </p:sp>
      <p:sp>
        <p:nvSpPr>
          <p:cNvPr id="8" name="Text 5"/>
          <p:cNvSpPr/>
          <p:nvPr/>
        </p:nvSpPr>
        <p:spPr>
          <a:xfrm>
            <a:off x="7826375" y="2642096"/>
            <a:ext cx="3549650" cy="466030"/>
          </a:xfrm>
          <a:prstGeom prst="roundRect">
            <a:avLst>
              <a:gd name="adj" fmla="val 12944"/>
            </a:avLst>
          </a:prstGeom>
          <a:solidFill>
            <a:srgbClr val="FDFCF9"/>
          </a:solidFill>
          <a:ln w="6350">
            <a:solidFill>
              <a:srgbClr val="E2DFD6"/>
            </a:solidFill>
            <a:prstDash val="solid"/>
          </a:ln>
        </p:spPr>
        <p:txBody>
          <a:bodyPr wrap="square" lIns="99806" tIns="99806" rIns="365" bIns="744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ROX</a:t>
            </a:r>
            <a:r>
              <a:rPr lang="en-US" sz="1300" dirty="0">
                <a:solidFill>
                  <a:srgbClr val="45505F"/>
                </a:solidFill>
                <a:latin typeface="IBM Plex Sans" pitchFamily="34" charset="0"/>
                <a:ea typeface="IBM Plex Sans" pitchFamily="34" charset="-122"/>
                <a:cs typeface="IBM Plex Sans" pitchFamily="34" charset="-120"/>
              </a:rPr>
              <a:t> · çok node okur</a:t>
            </a:r>
            <a:endParaRPr lang="en-US" sz="1300" dirty="0"/>
          </a:p>
        </p:txBody>
      </p:sp>
      <p:sp>
        <p:nvSpPr>
          <p:cNvPr id="9" name="Text 6"/>
          <p:cNvSpPr/>
          <p:nvPr/>
        </p:nvSpPr>
        <p:spPr>
          <a:xfrm>
            <a:off x="7826375" y="3203377"/>
            <a:ext cx="3549650" cy="466030"/>
          </a:xfrm>
          <a:prstGeom prst="roundRect">
            <a:avLst>
              <a:gd name="adj" fmla="val 12944"/>
            </a:avLst>
          </a:prstGeom>
          <a:solidFill>
            <a:srgbClr val="FDFCF9"/>
          </a:solidFill>
          <a:ln w="6350">
            <a:solidFill>
              <a:srgbClr val="E2DFD6"/>
            </a:solidFill>
            <a:prstDash val="solid"/>
          </a:ln>
        </p:spPr>
        <p:txBody>
          <a:bodyPr wrap="square" lIns="99806" tIns="99806" rIns="365" bIns="744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RWX</a:t>
            </a:r>
            <a:r>
              <a:rPr lang="en-US" sz="1300" dirty="0">
                <a:solidFill>
                  <a:srgbClr val="45505F"/>
                </a:solidFill>
                <a:latin typeface="IBM Plex Sans" pitchFamily="34" charset="0"/>
                <a:ea typeface="IBM Plex Sans" pitchFamily="34" charset="-122"/>
                <a:cs typeface="IBM Plex Sans" pitchFamily="34" charset="-120"/>
              </a:rPr>
              <a:t> · çok node okur/yazar (NFS, CephFS)</a:t>
            </a:r>
            <a:endParaRPr lang="en-US" sz="1300" dirty="0"/>
          </a:p>
        </p:txBody>
      </p:sp>
      <p:sp>
        <p:nvSpPr>
          <p:cNvPr id="10" name="Text 7"/>
          <p:cNvSpPr/>
          <p:nvPr/>
        </p:nvSpPr>
        <p:spPr>
          <a:xfrm>
            <a:off x="7826375" y="3764657"/>
            <a:ext cx="3549650" cy="466030"/>
          </a:xfrm>
          <a:prstGeom prst="roundRect">
            <a:avLst>
              <a:gd name="adj" fmla="val 12944"/>
            </a:avLst>
          </a:prstGeom>
          <a:solidFill>
            <a:srgbClr val="FDFCF9"/>
          </a:solidFill>
          <a:ln w="6350">
            <a:solidFill>
              <a:srgbClr val="E2DFD6"/>
            </a:solidFill>
            <a:prstDash val="solid"/>
          </a:ln>
        </p:spPr>
        <p:txBody>
          <a:bodyPr wrap="square" lIns="99806" tIns="99806" rIns="365" bIns="744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RWOP</a:t>
            </a:r>
            <a:r>
              <a:rPr lang="en-US" sz="1300" dirty="0">
                <a:solidFill>
                  <a:srgbClr val="45505F"/>
                </a:solidFill>
                <a:latin typeface="IBM Plex Sans" pitchFamily="34" charset="0"/>
                <a:ea typeface="IBM Plex Sans" pitchFamily="34" charset="-122"/>
                <a:cs typeface="IBM Plex Sans" pitchFamily="34" charset="-120"/>
              </a:rPr>
              <a:t> · tek pod okur/yazar</a:t>
            </a:r>
            <a:endParaRPr lang="en-US" sz="1300" dirty="0"/>
          </a:p>
        </p:txBody>
      </p:sp>
      <p:sp>
        <p:nvSpPr>
          <p:cNvPr id="11" name="Text 8"/>
          <p:cNvSpPr/>
          <p:nvPr/>
        </p:nvSpPr>
        <p:spPr>
          <a:xfrm>
            <a:off x="7823200" y="432276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5F"/>
                </a:solidFill>
                <a:latin typeface="IBM Plex Sans" pitchFamily="34" charset="0"/>
                <a:ea typeface="IBM Plex Sans" pitchFamily="34" charset="-122"/>
                <a:cs typeface="IBM Plex Sans" pitchFamily="34" charset="-120"/>
              </a:rPr>
              <a:t>Mod, altyapının desteklediği ile sınırlıdır: blok disk RWX veremez.</a:t>
            </a:r>
            <a:endParaRPr lang="en-US" sz="12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STORAGECLASS · DINAMIK PROVISIONING</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PV'yi elle değil, talep geldikçe oluşturmak</a:t>
            </a:r>
            <a:endParaRPr lang="en-US" sz="3000" dirty="0"/>
          </a:p>
        </p:txBody>
      </p:sp>
      <p:sp>
        <p:nvSpPr>
          <p:cNvPr id="4" name="Text 2"/>
          <p:cNvSpPr/>
          <p:nvPr/>
        </p:nvSpPr>
        <p:spPr>
          <a:xfrm>
            <a:off x="812800" y="1775420"/>
            <a:ext cx="6435852"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Statik provisioning'de yönetici önceden disk ve PV hazırlar. StorageClass ile PVC geldiğinde </a:t>
            </a:r>
            <a:r>
              <a:rPr lang="en-US" sz="1300" b="1" dirty="0">
                <a:solidFill>
                  <a:srgbClr val="142033"/>
                </a:solidFill>
                <a:latin typeface="IBM Plex Sans" pitchFamily="34" charset="0"/>
                <a:ea typeface="IBM Plex Sans" pitchFamily="34" charset="-122"/>
                <a:cs typeface="IBM Plex Sans" pitchFamily="34" charset="-120"/>
              </a:rPr>
              <a:t>provisioner</a:t>
            </a:r>
            <a:r>
              <a:rPr lang="en-US" sz="1300" dirty="0">
                <a:solidFill>
                  <a:srgbClr val="45505F"/>
                </a:solidFill>
                <a:latin typeface="IBM Plex Sans" pitchFamily="34" charset="0"/>
                <a:ea typeface="IBM Plex Sans" pitchFamily="34" charset="-122"/>
                <a:cs typeface="IBM Plex Sans" pitchFamily="34" charset="-120"/>
              </a:rPr>
              <a:t> diski ve PV'yi otomatik yaratır.</a:t>
            </a:r>
            <a:endParaRPr lang="en-US" sz="1300" dirty="0"/>
          </a:p>
        </p:txBody>
      </p:sp>
      <p:sp>
        <p:nvSpPr>
          <p:cNvPr id="5" name="Text 3"/>
          <p:cNvSpPr/>
          <p:nvPr/>
        </p:nvSpPr>
        <p:spPr>
          <a:xfrm>
            <a:off x="898144" y="2397720"/>
            <a:ext cx="6342888"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PVC </a:t>
            </a:r>
            <a:r>
              <a:rPr lang="en-US" sz="1300" b="1" dirty="0">
                <a:solidFill>
                  <a:srgbClr val="45505F"/>
                </a:solidFill>
                <a:latin typeface="IBM Plex Sans" pitchFamily="34" charset="0"/>
                <a:ea typeface="IBM Plex Sans" pitchFamily="34" charset="-122"/>
                <a:cs typeface="IBM Plex Sans" pitchFamily="34" charset="-120"/>
              </a:rPr>
              <a:t>storageClassName</a:t>
            </a:r>
            <a:r>
              <a:rPr lang="en-US" sz="1300" dirty="0">
                <a:solidFill>
                  <a:srgbClr val="45505F"/>
                </a:solidFill>
                <a:latin typeface="IBM Plex Sans" pitchFamily="34" charset="0"/>
                <a:ea typeface="IBM Plex Sans" pitchFamily="34" charset="-122"/>
                <a:cs typeface="IBM Plex Sans" pitchFamily="34" charset="-120"/>
              </a:rPr>
              <a:t> ile sınıf seçer; "fast-ssd", "standard", "nfs" gibi hizmet seviyeleri.</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Bir sınıf </a:t>
            </a:r>
            <a:r>
              <a:rPr lang="en-US" sz="1300" b="1" dirty="0">
                <a:solidFill>
                  <a:srgbClr val="142033"/>
                </a:solidFill>
                <a:latin typeface="IBM Plex Sans" pitchFamily="34" charset="0"/>
                <a:ea typeface="IBM Plex Sans" pitchFamily="34" charset="-122"/>
                <a:cs typeface="IBM Plex Sans" pitchFamily="34" charset="-120"/>
              </a:rPr>
              <a:t>default</a:t>
            </a:r>
            <a:r>
              <a:rPr lang="en-US" sz="1300" dirty="0">
                <a:solidFill>
                  <a:srgbClr val="45505F"/>
                </a:solidFill>
                <a:latin typeface="IBM Plex Sans" pitchFamily="34" charset="0"/>
                <a:ea typeface="IBM Plex Sans" pitchFamily="34" charset="-122"/>
                <a:cs typeface="IBM Plex Sans" pitchFamily="34" charset="-120"/>
              </a:rPr>
              <a:t> işaretlenebilir (annotation).</a:t>
            </a:r>
            <a:endParaRPr lang="en-US" sz="1300" dirty="0"/>
          </a:p>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volumeBindingMode: WaitForFirstConsumer</a:t>
            </a:r>
            <a:r>
              <a:rPr lang="en-US" sz="1300" dirty="0">
                <a:solidFill>
                  <a:srgbClr val="45505F"/>
                </a:solidFill>
                <a:latin typeface="IBM Plex Sans" pitchFamily="34" charset="0"/>
                <a:ea typeface="IBM Plex Sans" pitchFamily="34" charset="-122"/>
                <a:cs typeface="IBM Plex Sans" pitchFamily="34" charset="-120"/>
              </a:rPr>
              <a:t> → disk, pod'un yerleşeceği node/zone belli olunca oluşur. Immediate → hemen.</a:t>
            </a:r>
            <a:endParaRPr lang="en-US" sz="1300" dirty="0"/>
          </a:p>
          <a:p>
            <a:pPr marL="168656" indent="-168656" algn="l">
              <a:lnSpc>
                <a:spcPts val="1950"/>
              </a:lnSpc>
              <a:buSzPct val="100000"/>
              <a:buChar char="•"/>
            </a:pPr>
            <a:r>
              <a:rPr lang="en-US" sz="1300" b="1" dirty="0">
                <a:solidFill>
                  <a:srgbClr val="45505F"/>
                </a:solidFill>
                <a:latin typeface="IBM Plex Sans" pitchFamily="34" charset="0"/>
                <a:ea typeface="IBM Plex Sans" pitchFamily="34" charset="-122"/>
                <a:cs typeface="IBM Plex Sans" pitchFamily="34" charset="-120"/>
              </a:rPr>
              <a:t>allowVolumeExpansion: true</a:t>
            </a:r>
            <a:r>
              <a:rPr lang="en-US" sz="1300" dirty="0">
                <a:solidFill>
                  <a:srgbClr val="45505F"/>
                </a:solidFill>
                <a:latin typeface="IBM Plex Sans" pitchFamily="34" charset="0"/>
                <a:ea typeface="IBM Plex Sans" pitchFamily="34" charset="-122"/>
                <a:cs typeface="IBM Plex Sans" pitchFamily="34" charset="-120"/>
              </a:rPr>
              <a:t> → PVC büyütülebilir.</a:t>
            </a:r>
            <a:endParaRPr lang="en-US" sz="1300" dirty="0"/>
          </a:p>
        </p:txBody>
      </p:sp>
      <p:sp>
        <p:nvSpPr>
          <p:cNvPr id="6" name="Text 4"/>
          <p:cNvSpPr/>
          <p:nvPr/>
        </p:nvSpPr>
        <p:spPr>
          <a:xfrm>
            <a:off x="7315200" y="1775420"/>
            <a:ext cx="4064000" cy="3449042"/>
          </a:xfrm>
          <a:prstGeom prst="roundRect">
            <a:avLst>
              <a:gd name="adj" fmla="val 2209"/>
            </a:avLst>
          </a:prstGeom>
          <a:solidFill>
            <a:srgbClr val="1B2A41"/>
          </a:solidFill>
          <a:ln/>
        </p:spPr>
        <p:txBody>
          <a:bodyPr wrap="square" lIns="155482" tIns="155482" rIns="44230"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storage.k8s.io/v1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StorageClass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longhorn-fast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provisioner: driver.longhorn.io</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parameters: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numberOfReplicas: "3"</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reclaimPolicy: Delete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volumeBindingMode: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WaitForFirstConsumer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allowVolumeExpansion: true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PVC içinde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storageClassName: longhorn-fast</a:t>
            </a:r>
            <a:endParaRPr lang="en-US" sz="12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5">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ARAYÜZ STANDARTLARI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CRI, CNI, CSI: Kubernetes'in eklenti mimarisi</a:t>
            </a:r>
            <a:endParaRPr lang="en-US" sz="3000" dirty="0"/>
          </a:p>
        </p:txBody>
      </p:sp>
      <p:sp>
        <p:nvSpPr>
          <p:cNvPr id="4" name="Shape 2"/>
          <p:cNvSpPr/>
          <p:nvPr/>
        </p:nvSpPr>
        <p:spPr>
          <a:xfrm>
            <a:off x="815975" y="1778595"/>
            <a:ext cx="3418384" cy="1194891"/>
          </a:xfrm>
          <a:prstGeom prst="roundRect">
            <a:avLst>
              <a:gd name="adj" fmla="val 6111"/>
            </a:avLst>
          </a:prstGeom>
          <a:solidFill>
            <a:srgbClr val="FDFCF9"/>
          </a:solidFill>
          <a:ln w="6350">
            <a:solidFill>
              <a:srgbClr val="E2DFD6"/>
            </a:solidFill>
            <a:prstDash val="solid"/>
          </a:ln>
        </p:spPr>
      </p:sp>
      <p:sp>
        <p:nvSpPr>
          <p:cNvPr id="5" name="Text 3"/>
          <p:cNvSpPr/>
          <p:nvPr/>
        </p:nvSpPr>
        <p:spPr>
          <a:xfrm>
            <a:off x="1022350" y="1984970"/>
            <a:ext cx="309580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CRI</a:t>
            </a:r>
            <a:endParaRPr lang="en-US" sz="1600" dirty="0"/>
          </a:p>
        </p:txBody>
      </p:sp>
      <p:sp>
        <p:nvSpPr>
          <p:cNvPr id="6" name="Text 4"/>
          <p:cNvSpPr/>
          <p:nvPr/>
        </p:nvSpPr>
        <p:spPr>
          <a:xfrm>
            <a:off x="1022350" y="2304951"/>
            <a:ext cx="309580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Container Runtime Interface. containerd, CRI-O.</a:t>
            </a:r>
            <a:endParaRPr lang="en-US" sz="1300" dirty="0"/>
          </a:p>
        </p:txBody>
      </p:sp>
      <p:sp>
        <p:nvSpPr>
          <p:cNvPr id="7" name="Shape 5"/>
          <p:cNvSpPr/>
          <p:nvPr/>
        </p:nvSpPr>
        <p:spPr>
          <a:xfrm>
            <a:off x="4393109" y="1778595"/>
            <a:ext cx="3418483" cy="1194891"/>
          </a:xfrm>
          <a:prstGeom prst="roundRect">
            <a:avLst>
              <a:gd name="adj" fmla="val 6111"/>
            </a:avLst>
          </a:prstGeom>
          <a:solidFill>
            <a:srgbClr val="FDFCF9"/>
          </a:solidFill>
          <a:ln w="6350">
            <a:solidFill>
              <a:srgbClr val="E2DFD6"/>
            </a:solidFill>
            <a:prstDash val="solid"/>
          </a:ln>
        </p:spPr>
      </p:sp>
      <p:sp>
        <p:nvSpPr>
          <p:cNvPr id="8" name="Text 6"/>
          <p:cNvSpPr/>
          <p:nvPr/>
        </p:nvSpPr>
        <p:spPr>
          <a:xfrm>
            <a:off x="4599484" y="1984970"/>
            <a:ext cx="309590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CNI</a:t>
            </a:r>
            <a:endParaRPr lang="en-US" sz="1600" dirty="0"/>
          </a:p>
        </p:txBody>
      </p:sp>
      <p:sp>
        <p:nvSpPr>
          <p:cNvPr id="9" name="Text 7"/>
          <p:cNvSpPr/>
          <p:nvPr/>
        </p:nvSpPr>
        <p:spPr>
          <a:xfrm>
            <a:off x="4599484" y="2304951"/>
            <a:ext cx="309590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Container Network Interface. Calico, Cilium, Flannel.</a:t>
            </a:r>
            <a:endParaRPr lang="en-US" sz="1300" dirty="0"/>
          </a:p>
        </p:txBody>
      </p:sp>
      <p:sp>
        <p:nvSpPr>
          <p:cNvPr id="10" name="Shape 8"/>
          <p:cNvSpPr/>
          <p:nvPr/>
        </p:nvSpPr>
        <p:spPr>
          <a:xfrm>
            <a:off x="7967166" y="1775420"/>
            <a:ext cx="3412034" cy="1201241"/>
          </a:xfrm>
          <a:prstGeom prst="roundRect">
            <a:avLst>
              <a:gd name="adj" fmla="val 6343"/>
            </a:avLst>
          </a:prstGeom>
          <a:solidFill>
            <a:srgbClr val="142033"/>
          </a:solidFill>
          <a:ln/>
        </p:spPr>
      </p:sp>
      <p:sp>
        <p:nvSpPr>
          <p:cNvPr id="11" name="Text 9"/>
          <p:cNvSpPr/>
          <p:nvPr/>
        </p:nvSpPr>
        <p:spPr>
          <a:xfrm>
            <a:off x="8170366" y="1978620"/>
            <a:ext cx="309580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CSI</a:t>
            </a:r>
            <a:endParaRPr lang="en-US" sz="1600" dirty="0"/>
          </a:p>
        </p:txBody>
      </p:sp>
      <p:sp>
        <p:nvSpPr>
          <p:cNvPr id="12" name="Text 10"/>
          <p:cNvSpPr/>
          <p:nvPr/>
        </p:nvSpPr>
        <p:spPr>
          <a:xfrm>
            <a:off x="8170366" y="2298601"/>
            <a:ext cx="309580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Container Storage Interface. Longhorn, Ceph, NetApp, vSphere, EBS…</a:t>
            </a:r>
            <a:endParaRPr lang="en-US" sz="1300" dirty="0"/>
          </a:p>
        </p:txBody>
      </p:sp>
      <p:sp>
        <p:nvSpPr>
          <p:cNvPr id="13" name="Text 11"/>
          <p:cNvSpPr/>
          <p:nvPr/>
        </p:nvSpPr>
        <p:spPr>
          <a:xfrm>
            <a:off x="898144" y="3230662"/>
            <a:ext cx="10790428" cy="10160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CSI, depolama sağlayıcılarının sürücülerini Kubernetes kaynak kodundan bağımsız yazmasını sağlar; eski "in-tree" sürücüler CSI'a taşındı.</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RPC çağrıları: </a:t>
            </a:r>
            <a:r>
              <a:rPr lang="en-US" sz="1300" b="1" dirty="0">
                <a:solidFill>
                  <a:srgbClr val="142033"/>
                </a:solidFill>
                <a:latin typeface="IBM Plex Sans" pitchFamily="34" charset="0"/>
                <a:ea typeface="IBM Plex Sans" pitchFamily="34" charset="-122"/>
                <a:cs typeface="IBM Plex Sans" pitchFamily="34" charset="-120"/>
              </a:rPr>
              <a:t>CreateVolume</a:t>
            </a:r>
            <a:r>
              <a:rPr lang="en-US" sz="1300" dirty="0">
                <a:solidFill>
                  <a:srgbClr val="45505F"/>
                </a:solidFill>
                <a:latin typeface="IBM Plex Sans" pitchFamily="34" charset="0"/>
                <a:ea typeface="IBM Plex Sans" pitchFamily="34" charset="-122"/>
                <a:cs typeface="IBM Plex Sans" pitchFamily="34" charset="-120"/>
              </a:rPr>
              <a:t>, DeleteVolume, ControllerPublishVolume (node'a bağla), NodeStageVolume / NodePublishVolume (mount).</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Tipik kurulum: bir </a:t>
            </a:r>
            <a:r>
              <a:rPr lang="en-US" sz="1300" b="1" dirty="0">
                <a:solidFill>
                  <a:srgbClr val="45505F"/>
                </a:solidFill>
                <a:latin typeface="IBM Plex Sans" pitchFamily="34" charset="0"/>
                <a:ea typeface="IBM Plex Sans" pitchFamily="34" charset="-122"/>
                <a:cs typeface="IBM Plex Sans" pitchFamily="34" charset="-120"/>
              </a:rPr>
              <a:t>controller</a:t>
            </a:r>
            <a:r>
              <a:rPr lang="en-US" sz="1300" dirty="0">
                <a:solidFill>
                  <a:srgbClr val="45505F"/>
                </a:solidFill>
                <a:latin typeface="IBM Plex Sans" pitchFamily="34" charset="0"/>
                <a:ea typeface="IBM Plex Sans" pitchFamily="34" charset="-122"/>
                <a:cs typeface="IBM Plex Sans" pitchFamily="34" charset="-120"/>
              </a:rPr>
              <a:t> Deployment + her node'da bir </a:t>
            </a:r>
            <a:r>
              <a:rPr lang="en-US" sz="1300" b="1" dirty="0">
                <a:solidFill>
                  <a:srgbClr val="45505F"/>
                </a:solidFill>
                <a:latin typeface="IBM Plex Sans" pitchFamily="34" charset="0"/>
                <a:ea typeface="IBM Plex Sans" pitchFamily="34" charset="-122"/>
                <a:cs typeface="IBM Plex Sans" pitchFamily="34" charset="-120"/>
              </a:rPr>
              <a:t>node plugin</a:t>
            </a:r>
            <a:r>
              <a:rPr lang="en-US" sz="1300" dirty="0">
                <a:solidFill>
                  <a:srgbClr val="45505F"/>
                </a:solidFill>
                <a:latin typeface="IBM Plex Sans" pitchFamily="34" charset="0"/>
                <a:ea typeface="IBM Plex Sans" pitchFamily="34" charset="-122"/>
                <a:cs typeface="IBM Plex Sans" pitchFamily="34" charset="-120"/>
              </a:rPr>
              <a:t> DaemonSet.</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Snapshot, klonlama ve genişletme gibi özellikler de CSI üzerinden gelir.</a:t>
            </a:r>
            <a:endParaRPr lang="en-US" sz="13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6">
    <p:bg>
      <p:bgPr>
        <a:solidFill>
          <a:srgbClr val="142033"/>
        </a:solidFill>
        <a:effectLst/>
      </p:bgPr>
    </p:bg>
    <p:spTree>
      <p:nvGrpSpPr>
        <p:cNvPr id="1" name=""/>
        <p:cNvGrpSpPr/>
        <p:nvPr/>
      </p:nvGrpSpPr>
      <p:grpSpPr>
        <a:xfrm>
          <a:off x="0" y="0"/>
          <a:ext cx="0" cy="0"/>
          <a:chOff x="0" y="0"/>
          <a:chExt cx="0" cy="0"/>
        </a:xfrm>
      </p:grpSpPr>
      <p:sp>
        <p:nvSpPr>
          <p:cNvPr id="2" name="Text 0"/>
          <p:cNvSpPr/>
          <p:nvPr/>
        </p:nvSpPr>
        <p:spPr>
          <a:xfrm>
            <a:off x="812800" y="24600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IBM Plex Sans" pitchFamily="34" charset="0"/>
                <a:ea typeface="IBM Plex Sans" pitchFamily="34" charset="-122"/>
                <a:cs typeface="IBM Plex Sans" pitchFamily="34" charset="-120"/>
              </a:rPr>
              <a:t>BÖLÜM 08</a:t>
            </a:r>
            <a:endParaRPr lang="en-US" sz="1200" dirty="0"/>
          </a:p>
        </p:txBody>
      </p:sp>
      <p:sp>
        <p:nvSpPr>
          <p:cNvPr id="3" name="Text 1"/>
          <p:cNvSpPr>
            <a:spLocks noGrp="1"/>
          </p:cNvSpPr>
          <p:nvPr>
            <p:ph type="title"/>
          </p:nvPr>
        </p:nvSpPr>
        <p:spPr>
          <a:xfrm>
            <a:off x="812800" y="285115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4EF"/>
                </a:solidFill>
                <a:latin typeface="IBM Plex Sans" pitchFamily="34" charset="0"/>
                <a:ea typeface="IBM Plex Sans" pitchFamily="34" charset="-122"/>
                <a:cs typeface="IBM Plex Sans" pitchFamily="34" charset="-120"/>
              </a:rPr>
              <a:t>Ağ</a:t>
            </a:r>
            <a:endParaRPr lang="en-US" sz="6000" dirty="0"/>
          </a:p>
        </p:txBody>
      </p:sp>
      <p:sp>
        <p:nvSpPr>
          <p:cNvPr id="4" name="Text 2"/>
          <p:cNvSpPr/>
          <p:nvPr/>
        </p:nvSpPr>
        <p:spPr>
          <a:xfrm>
            <a:off x="812800" y="3829050"/>
            <a:ext cx="78486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6D6"/>
                </a:solidFill>
                <a:latin typeface="IBM Plex Sans" pitchFamily="34" charset="0"/>
                <a:ea typeface="IBM Plex Sans" pitchFamily="34" charset="-122"/>
                <a:cs typeface="IBM Plex Sans" pitchFamily="34" charset="-120"/>
              </a:rPr>
              <a:t>Kubernetes ağ modeli, CNI, Service ağının işleyişi, cluster DNS ve CoreDNS, Ingress ve Gateway API.</a:t>
            </a:r>
            <a:endParaRPr lang="en-US" sz="16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7">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AĞ MODELI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Kubernetes kuralları koyar, CNI uygular</a:t>
            </a:r>
            <a:endParaRPr lang="en-US" sz="3000" dirty="0"/>
          </a:p>
        </p:txBody>
      </p:sp>
      <p:sp>
        <p:nvSpPr>
          <p:cNvPr id="4" name="Text 2"/>
          <p:cNvSpPr/>
          <p:nvPr/>
        </p:nvSpPr>
        <p:spPr>
          <a:xfrm>
            <a:off x="812800" y="1775420"/>
            <a:ext cx="643585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Kubernetes'in pod ağı için şartları:</a:t>
            </a:r>
            <a:endParaRPr lang="en-US" sz="1300" dirty="0"/>
          </a:p>
        </p:txBody>
      </p:sp>
      <p:sp>
        <p:nvSpPr>
          <p:cNvPr id="5" name="Text 3"/>
          <p:cNvSpPr/>
          <p:nvPr/>
        </p:nvSpPr>
        <p:spPr>
          <a:xfrm>
            <a:off x="815975" y="2127845"/>
            <a:ext cx="6242050" cy="491430"/>
          </a:xfrm>
          <a:prstGeom prst="roundRect">
            <a:avLst>
              <a:gd name="adj" fmla="val 12275"/>
            </a:avLst>
          </a:prstGeom>
          <a:solidFill>
            <a:srgbClr val="FDFCF9"/>
          </a:solidFill>
          <a:ln w="6350">
            <a:solidFill>
              <a:srgbClr val="E2DFD6"/>
            </a:solidFill>
            <a:prstDash val="solid"/>
          </a:ln>
        </p:spPr>
        <p:txBody>
          <a:bodyPr wrap="square" lIns="112506" tIns="112506" rIns="0"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1.</a:t>
            </a:r>
            <a:r>
              <a:rPr lang="en-US" sz="1300" dirty="0">
                <a:solidFill>
                  <a:srgbClr val="45505F"/>
                </a:solidFill>
                <a:latin typeface="IBM Plex Sans" pitchFamily="34" charset="0"/>
                <a:ea typeface="IBM Plex Sans" pitchFamily="34" charset="-122"/>
                <a:cs typeface="IBM Plex Sans" pitchFamily="34" charset="-120"/>
              </a:rPr>
              <a:t> Her pod'un kendine ait, cluster içinde benzersiz bir IP'si olmalı.</a:t>
            </a:r>
            <a:endParaRPr lang="en-US" sz="1300" dirty="0"/>
          </a:p>
        </p:txBody>
      </p:sp>
      <p:sp>
        <p:nvSpPr>
          <p:cNvPr id="6" name="Text 4"/>
          <p:cNvSpPr/>
          <p:nvPr/>
        </p:nvSpPr>
        <p:spPr>
          <a:xfrm>
            <a:off x="815975" y="2727226"/>
            <a:ext cx="6242050" cy="491430"/>
          </a:xfrm>
          <a:prstGeom prst="roundRect">
            <a:avLst>
              <a:gd name="adj" fmla="val 12275"/>
            </a:avLst>
          </a:prstGeom>
          <a:solidFill>
            <a:srgbClr val="FDFCF9"/>
          </a:solidFill>
          <a:ln w="6350">
            <a:solidFill>
              <a:srgbClr val="E2DFD6"/>
            </a:solidFill>
            <a:prstDash val="solid"/>
          </a:ln>
        </p:spPr>
        <p:txBody>
          <a:bodyPr wrap="square" lIns="112506" tIns="112506" rIns="0"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2.</a:t>
            </a:r>
            <a:r>
              <a:rPr lang="en-US" sz="1300" dirty="0">
                <a:solidFill>
                  <a:srgbClr val="45505F"/>
                </a:solidFill>
                <a:latin typeface="IBM Plex Sans" pitchFamily="34" charset="0"/>
                <a:ea typeface="IBM Plex Sans" pitchFamily="34" charset="-122"/>
                <a:cs typeface="IBM Plex Sans" pitchFamily="34" charset="-120"/>
              </a:rPr>
              <a:t> Aynı node'daki pod'lar birbirine erişebilmeli.</a:t>
            </a:r>
            <a:endParaRPr lang="en-US" sz="1300" dirty="0"/>
          </a:p>
        </p:txBody>
      </p:sp>
      <p:sp>
        <p:nvSpPr>
          <p:cNvPr id="7" name="Text 5"/>
          <p:cNvSpPr/>
          <p:nvPr/>
        </p:nvSpPr>
        <p:spPr>
          <a:xfrm>
            <a:off x="815975" y="3326606"/>
            <a:ext cx="6242050" cy="491430"/>
          </a:xfrm>
          <a:prstGeom prst="roundRect">
            <a:avLst>
              <a:gd name="adj" fmla="val 12275"/>
            </a:avLst>
          </a:prstGeom>
          <a:solidFill>
            <a:srgbClr val="FDFCF9"/>
          </a:solidFill>
          <a:ln w="6350">
            <a:solidFill>
              <a:srgbClr val="E2DFD6"/>
            </a:solidFill>
            <a:prstDash val="solid"/>
          </a:ln>
        </p:spPr>
        <p:txBody>
          <a:bodyPr wrap="square" lIns="112506" tIns="112506" rIns="0"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3.</a:t>
            </a:r>
            <a:r>
              <a:rPr lang="en-US" sz="1300" dirty="0">
                <a:solidFill>
                  <a:srgbClr val="45505F"/>
                </a:solidFill>
                <a:latin typeface="IBM Plex Sans" pitchFamily="34" charset="0"/>
                <a:ea typeface="IBM Plex Sans" pitchFamily="34" charset="-122"/>
                <a:cs typeface="IBM Plex Sans" pitchFamily="34" charset="-120"/>
              </a:rPr>
              <a:t> Farklı node'lardaki pod'lar NAT olmadan birbirine erişebilmeli.</a:t>
            </a:r>
            <a:endParaRPr lang="en-US" sz="1300" dirty="0"/>
          </a:p>
        </p:txBody>
      </p:sp>
      <p:sp>
        <p:nvSpPr>
          <p:cNvPr id="8" name="Text 6"/>
          <p:cNvSpPr/>
          <p:nvPr/>
        </p:nvSpPr>
        <p:spPr>
          <a:xfrm>
            <a:off x="7315200" y="1775420"/>
            <a:ext cx="41859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ÖN BILGI (LINUX)</a:t>
            </a:r>
            <a:endParaRPr lang="en-US" sz="1200" dirty="0"/>
          </a:p>
        </p:txBody>
      </p:sp>
      <p:sp>
        <p:nvSpPr>
          <p:cNvPr id="9" name="Text 7"/>
          <p:cNvSpPr/>
          <p:nvPr/>
        </p:nvSpPr>
        <p:spPr>
          <a:xfrm>
            <a:off x="7400544" y="2090341"/>
            <a:ext cx="4092956" cy="10160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Switching, routing, gateway; ip route, ip_forward</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DNS: /etc/hosts, /etc/resolv.conf</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Network namespace + veth çifti + bridge</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Docker bridge ağı ve port mapping (iptables DNAT)</a:t>
            </a:r>
            <a:endParaRPr lang="en-US" sz="1300" dirty="0"/>
          </a:p>
        </p:txBody>
      </p:sp>
      <p:sp>
        <p:nvSpPr>
          <p:cNvPr id="10" name="Text 8"/>
          <p:cNvSpPr/>
          <p:nvPr/>
        </p:nvSpPr>
        <p:spPr>
          <a:xfrm>
            <a:off x="7315200" y="3182541"/>
            <a:ext cx="4185920" cy="7683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Pod ağı tam olarak bu yapı taşlarından kurulur: her pod bir network namespace, veth ile node'daki bridge'e bağlı.</a:t>
            </a:r>
            <a:endParaRPr lang="en-US" sz="13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88">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CNI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Pod oluşunca ağını kim kurar?</a:t>
            </a:r>
            <a:endParaRPr lang="en-US" sz="3000" dirty="0"/>
          </a:p>
        </p:txBody>
      </p:sp>
      <p:sp>
        <p:nvSpPr>
          <p:cNvPr id="4" name="Text 2"/>
          <p:cNvSpPr/>
          <p:nvPr/>
        </p:nvSpPr>
        <p:spPr>
          <a:xfrm>
            <a:off x="812800" y="1882080"/>
            <a:ext cx="2317750" cy="441920"/>
          </a:xfrm>
          <a:prstGeom prst="roundRect">
            <a:avLst>
              <a:gd name="adj" fmla="val 14369"/>
            </a:avLst>
          </a:prstGeom>
          <a:solidFill>
            <a:srgbClr val="E8E4DA"/>
          </a:solidFill>
          <a:ln/>
        </p:spPr>
        <p:txBody>
          <a:bodyPr wrap="square" lIns="64364" tIns="95701" rIns="64364" bIns="703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kubelet pod'u başlatır</a:t>
            </a:r>
            <a:endParaRPr lang="en-US" sz="1200" dirty="0"/>
          </a:p>
        </p:txBody>
      </p:sp>
      <p:pic>
        <p:nvPicPr>
          <p:cNvPr id="5" name="Image 0" descr="arrow-right"/>
          <p:cNvPicPr>
            <a:picLocks noChangeAspect="1"/>
          </p:cNvPicPr>
          <p:nvPr/>
        </p:nvPicPr>
        <p:blipFill>
          <a:blip r:embed="rId3"/>
          <a:srcRect/>
          <a:stretch/>
        </p:blipFill>
        <p:spPr>
          <a:xfrm>
            <a:off x="3219450" y="2014141"/>
            <a:ext cx="254000" cy="177800"/>
          </a:xfrm>
          <a:prstGeom prst="rect">
            <a:avLst/>
          </a:prstGeom>
        </p:spPr>
      </p:pic>
      <p:sp>
        <p:nvSpPr>
          <p:cNvPr id="6" name="Text 3"/>
          <p:cNvSpPr/>
          <p:nvPr/>
        </p:nvSpPr>
        <p:spPr>
          <a:xfrm>
            <a:off x="3562350" y="1775420"/>
            <a:ext cx="2317750" cy="655241"/>
          </a:xfrm>
          <a:prstGeom prst="roundRect">
            <a:avLst>
              <a:gd name="adj" fmla="val 9691"/>
            </a:avLst>
          </a:prstGeom>
          <a:solidFill>
            <a:srgbClr val="E8E4DA"/>
          </a:solidFill>
          <a:ln/>
        </p:spPr>
        <p:txBody>
          <a:bodyPr wrap="square" lIns="64364" tIns="95701" rIns="64364" bIns="703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runtime network namespace açar</a:t>
            </a:r>
            <a:endParaRPr lang="en-US" sz="1200" dirty="0"/>
          </a:p>
        </p:txBody>
      </p:sp>
      <p:pic>
        <p:nvPicPr>
          <p:cNvPr id="7" name="Image 1" descr="arrow-right"/>
          <p:cNvPicPr>
            <a:picLocks noChangeAspect="1"/>
          </p:cNvPicPr>
          <p:nvPr/>
        </p:nvPicPr>
        <p:blipFill>
          <a:blip r:embed="rId3"/>
          <a:srcRect/>
          <a:stretch/>
        </p:blipFill>
        <p:spPr>
          <a:xfrm>
            <a:off x="5969000" y="2014141"/>
            <a:ext cx="254000" cy="177800"/>
          </a:xfrm>
          <a:prstGeom prst="rect">
            <a:avLst/>
          </a:prstGeom>
        </p:spPr>
      </p:pic>
      <p:sp>
        <p:nvSpPr>
          <p:cNvPr id="8" name="Text 4"/>
          <p:cNvSpPr/>
          <p:nvPr/>
        </p:nvSpPr>
        <p:spPr>
          <a:xfrm>
            <a:off x="6311900" y="1882080"/>
            <a:ext cx="2317750" cy="441920"/>
          </a:xfrm>
          <a:prstGeom prst="roundRect">
            <a:avLst>
              <a:gd name="adj" fmla="val 14369"/>
            </a:avLst>
          </a:prstGeom>
          <a:solidFill>
            <a:srgbClr val="142033"/>
          </a:solidFill>
          <a:ln/>
        </p:spPr>
        <p:txBody>
          <a:bodyPr wrap="square" lIns="64364" tIns="95701" rIns="64364" bIns="70301" rtlCol="0" anchor="t">
            <a:normAutofit/>
          </a:bodyPr>
          <a:lstStyle/>
          <a:p>
            <a:pPr marL="0" indent="0" algn="ctr">
              <a:lnSpc>
                <a:spcPts val="1680"/>
              </a:lnSpc>
              <a:buNone/>
            </a:pPr>
            <a:r>
              <a:rPr lang="en-US" sz="1200" dirty="0">
                <a:solidFill>
                  <a:srgbClr val="F5F4EF"/>
                </a:solidFill>
                <a:latin typeface="IBM Plex Sans" pitchFamily="34" charset="0"/>
                <a:ea typeface="IBM Plex Sans" pitchFamily="34" charset="-122"/>
                <a:cs typeface="IBM Plex Sans" pitchFamily="34" charset="-120"/>
              </a:rPr>
              <a:t>CNI plugin "ADD" çağrılır</a:t>
            </a:r>
            <a:endParaRPr lang="en-US" sz="1200" dirty="0"/>
          </a:p>
        </p:txBody>
      </p:sp>
      <p:pic>
        <p:nvPicPr>
          <p:cNvPr id="9" name="Image 2" descr="arrow-right"/>
          <p:cNvPicPr>
            <a:picLocks noChangeAspect="1"/>
          </p:cNvPicPr>
          <p:nvPr/>
        </p:nvPicPr>
        <p:blipFill>
          <a:blip r:embed="rId3"/>
          <a:srcRect/>
          <a:stretch/>
        </p:blipFill>
        <p:spPr>
          <a:xfrm>
            <a:off x="8718550" y="2014141"/>
            <a:ext cx="254000" cy="177800"/>
          </a:xfrm>
          <a:prstGeom prst="rect">
            <a:avLst/>
          </a:prstGeom>
        </p:spPr>
      </p:pic>
      <p:sp>
        <p:nvSpPr>
          <p:cNvPr id="10" name="Text 5"/>
          <p:cNvSpPr/>
          <p:nvPr/>
        </p:nvSpPr>
        <p:spPr>
          <a:xfrm>
            <a:off x="9061450" y="1882080"/>
            <a:ext cx="2317750" cy="441920"/>
          </a:xfrm>
          <a:prstGeom prst="roundRect">
            <a:avLst>
              <a:gd name="adj" fmla="val 14369"/>
            </a:avLst>
          </a:prstGeom>
          <a:solidFill>
            <a:srgbClr val="2F6BD8"/>
          </a:solidFill>
          <a:ln/>
        </p:spPr>
        <p:txBody>
          <a:bodyPr wrap="square" lIns="64364" tIns="95701" rIns="64364" bIns="70301" rtlCol="0" anchor="t">
            <a:normAutofit/>
          </a:bodyPr>
          <a:lstStyle/>
          <a:p>
            <a:pPr marL="0" indent="0" algn="ctr">
              <a:lnSpc>
                <a:spcPts val="1680"/>
              </a:lnSpc>
              <a:buNone/>
            </a:pPr>
            <a:r>
              <a:rPr lang="en-US" sz="1200" dirty="0">
                <a:solidFill>
                  <a:srgbClr val="F5F4EF"/>
                </a:solidFill>
                <a:latin typeface="IBM Plex Sans" pitchFamily="34" charset="0"/>
                <a:ea typeface="IBM Plex Sans" pitchFamily="34" charset="-122"/>
                <a:cs typeface="IBM Plex Sans" pitchFamily="34" charset="-120"/>
              </a:rPr>
              <a:t>veth + IP (IPAM) + route</a:t>
            </a:r>
            <a:endParaRPr lang="en-US" sz="1200" dirty="0"/>
          </a:p>
        </p:txBody>
      </p:sp>
      <p:sp>
        <p:nvSpPr>
          <p:cNvPr id="11" name="Text 6"/>
          <p:cNvSpPr/>
          <p:nvPr/>
        </p:nvSpPr>
        <p:spPr>
          <a:xfrm>
            <a:off x="898144" y="2684661"/>
            <a:ext cx="6342888" cy="1701006"/>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Konfigürasyon: </a:t>
            </a:r>
            <a:r>
              <a:rPr lang="en-US" sz="1300" b="1" dirty="0">
                <a:solidFill>
                  <a:srgbClr val="142033"/>
                </a:solidFill>
                <a:latin typeface="IBM Plex Sans" pitchFamily="34" charset="0"/>
                <a:ea typeface="IBM Plex Sans" pitchFamily="34" charset="-122"/>
                <a:cs typeface="IBM Plex Sans" pitchFamily="34" charset="-120"/>
              </a:rPr>
              <a:t>/etc/cni/net.d/</a:t>
            </a:r>
            <a:r>
              <a:rPr lang="en-US" sz="1300" dirty="0">
                <a:solidFill>
                  <a:srgbClr val="45505F"/>
                </a:solidFill>
                <a:latin typeface="IBM Plex Sans" pitchFamily="34" charset="0"/>
                <a:ea typeface="IBM Plex Sans" pitchFamily="34" charset="-122"/>
                <a:cs typeface="IBM Plex Sans" pitchFamily="34" charset="-120"/>
              </a:rPr>
              <a:t> (alfabetik ilk dosya seçilir), binary'ler: </a:t>
            </a:r>
            <a:r>
              <a:rPr lang="en-US" sz="1300" b="1" dirty="0">
                <a:solidFill>
                  <a:srgbClr val="142033"/>
                </a:solidFill>
                <a:latin typeface="IBM Plex Sans" pitchFamily="34" charset="0"/>
                <a:ea typeface="IBM Plex Sans" pitchFamily="34" charset="-122"/>
                <a:cs typeface="IBM Plex Sans" pitchFamily="34" charset="-120"/>
              </a:rPr>
              <a:t>/opt/cni/bin/</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IPAM: pod IP'lerini dağıtan bileşen (host-local, plugin'in kendi IPAM'ı).</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CNI kurulmadan node'lar </a:t>
            </a:r>
            <a:r>
              <a:rPr lang="en-US" sz="1300" b="1" dirty="0">
                <a:solidFill>
                  <a:srgbClr val="45505F"/>
                </a:solidFill>
                <a:latin typeface="IBM Plex Sans" pitchFamily="34" charset="0"/>
                <a:ea typeface="IBM Plex Sans" pitchFamily="34" charset="-122"/>
                <a:cs typeface="IBM Plex Sans" pitchFamily="34" charset="-120"/>
              </a:rPr>
              <a:t>NotReady</a:t>
            </a:r>
            <a:r>
              <a:rPr lang="en-US" sz="1300" dirty="0">
                <a:solidFill>
                  <a:srgbClr val="45505F"/>
                </a:solidFill>
                <a:latin typeface="IBM Plex Sans" pitchFamily="34" charset="0"/>
                <a:ea typeface="IBM Plex Sans" pitchFamily="34" charset="-122"/>
                <a:cs typeface="IBM Plex Sans" pitchFamily="34" charset="-120"/>
              </a:rPr>
              <a:t> olur, CoreDNS pod'ları Pending kalır.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Node'lar arası trafik: overlay (VXLAN, IP-in-IP) ya da BGP ile doğrudan yönlendirme.</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27900" y="2697361"/>
          <a:ext cx="4051300" cy="1662906"/>
        </p:xfrm>
        <a:graphic>
          <a:graphicData uri="http://schemas.openxmlformats.org/drawingml/2006/table">
            <a:tbl>
              <a:tblPr/>
              <a:tblGrid>
                <a:gridCol w="1296416">
                  <a:extLst>
                    <a:ext uri="{9D8B030D-6E8A-4147-A177-3AD203B41FA5}">
                      <a16:colId xmlns:a16="http://schemas.microsoft.com/office/drawing/2014/main" val="20000"/>
                    </a:ext>
                  </a:extLst>
                </a:gridCol>
                <a:gridCol w="2754884">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Plugin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Öne çıkan</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Flannel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Basit overlay; NetworkPolicy yok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Calico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BGP, NetworkPolicy, yaygın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Cilium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eBPF, L7 politika, gözlem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Canal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Flannel + Calico politikası</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89">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SERVICE AĞI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İki ayrı IP aralığı, iki ayrı sorumlu</a:t>
            </a:r>
            <a:endParaRPr lang="en-US" sz="3000" dirty="0"/>
          </a:p>
        </p:txBody>
      </p:sp>
      <p:sp>
        <p:nvSpPr>
          <p:cNvPr id="4" name="Shape 2"/>
          <p:cNvSpPr/>
          <p:nvPr/>
        </p:nvSpPr>
        <p:spPr>
          <a:xfrm>
            <a:off x="815975" y="1778595"/>
            <a:ext cx="5207000" cy="1471712"/>
          </a:xfrm>
          <a:prstGeom prst="roundRect">
            <a:avLst>
              <a:gd name="adj" fmla="val 4962"/>
            </a:avLst>
          </a:prstGeom>
          <a:solidFill>
            <a:srgbClr val="FDFCF9"/>
          </a:solidFill>
          <a:ln w="6350">
            <a:solidFill>
              <a:srgbClr val="E2DFD6"/>
            </a:solidFill>
            <a:prstDash val="solid"/>
          </a:ln>
        </p:spPr>
      </p:sp>
      <p:sp>
        <p:nvSpPr>
          <p:cNvPr id="5" name="Text 3"/>
          <p:cNvSpPr/>
          <p:nvPr/>
        </p:nvSpPr>
        <p:spPr>
          <a:xfrm>
            <a:off x="1022350" y="1984970"/>
            <a:ext cx="493807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POD CIDR</a:t>
            </a:r>
            <a:endParaRPr lang="en-US" sz="1200" dirty="0"/>
          </a:p>
        </p:txBody>
      </p:sp>
      <p:sp>
        <p:nvSpPr>
          <p:cNvPr id="6" name="Text 4"/>
          <p:cNvSpPr/>
          <p:nvPr/>
        </p:nvSpPr>
        <p:spPr>
          <a:xfrm>
            <a:off x="1022350" y="2274491"/>
            <a:ext cx="493807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033"/>
                </a:solidFill>
                <a:latin typeface="JetBrains Mono" pitchFamily="49" charset="0"/>
                <a:ea typeface="JetBrains Mono" pitchFamily="49" charset="-122"/>
                <a:cs typeface="JetBrains Mono" pitchFamily="49" charset="-120"/>
              </a:rPr>
              <a:t>10.244.0.0/16</a:t>
            </a:r>
            <a:endParaRPr lang="en-US" sz="1300" dirty="0"/>
          </a:p>
        </p:txBody>
      </p:sp>
      <p:sp>
        <p:nvSpPr>
          <p:cNvPr id="7" name="Text 5"/>
          <p:cNvSpPr/>
          <p:nvPr/>
        </p:nvSpPr>
        <p:spPr>
          <a:xfrm>
            <a:off x="1022350" y="2581771"/>
            <a:ext cx="493807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CNI dağıtır. Her node'a genelde bir alt blok. kubeadm init --pod-network-cidr</a:t>
            </a:r>
            <a:endParaRPr lang="en-US" sz="1300" dirty="0"/>
          </a:p>
        </p:txBody>
      </p:sp>
      <p:sp>
        <p:nvSpPr>
          <p:cNvPr id="8" name="Shape 6"/>
          <p:cNvSpPr/>
          <p:nvPr/>
        </p:nvSpPr>
        <p:spPr>
          <a:xfrm>
            <a:off x="6178550" y="1775420"/>
            <a:ext cx="5200650" cy="1478062"/>
          </a:xfrm>
          <a:prstGeom prst="roundRect">
            <a:avLst>
              <a:gd name="adj" fmla="val 5155"/>
            </a:avLst>
          </a:prstGeom>
          <a:solidFill>
            <a:srgbClr val="142033"/>
          </a:solidFill>
          <a:ln/>
        </p:spPr>
      </p:sp>
      <p:sp>
        <p:nvSpPr>
          <p:cNvPr id="9" name="Text 7"/>
          <p:cNvSpPr/>
          <p:nvPr/>
        </p:nvSpPr>
        <p:spPr>
          <a:xfrm>
            <a:off x="6381750" y="1978620"/>
            <a:ext cx="493807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BM Plex Sans" pitchFamily="34" charset="0"/>
                <a:ea typeface="IBM Plex Sans" pitchFamily="34" charset="-122"/>
                <a:cs typeface="IBM Plex Sans" pitchFamily="34" charset="-120"/>
              </a:rPr>
              <a:t>SERVICE CIDR</a:t>
            </a:r>
            <a:endParaRPr lang="en-US" sz="1200" dirty="0"/>
          </a:p>
        </p:txBody>
      </p:sp>
      <p:sp>
        <p:nvSpPr>
          <p:cNvPr id="10" name="Text 8"/>
          <p:cNvSpPr/>
          <p:nvPr/>
        </p:nvSpPr>
        <p:spPr>
          <a:xfrm>
            <a:off x="6381750" y="2268141"/>
            <a:ext cx="493807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6EDF5"/>
                </a:solidFill>
                <a:latin typeface="JetBrains Mono" pitchFamily="49" charset="0"/>
                <a:ea typeface="JetBrains Mono" pitchFamily="49" charset="-122"/>
                <a:cs typeface="JetBrains Mono" pitchFamily="49" charset="-120"/>
              </a:rPr>
              <a:t>10.96.0.0/12</a:t>
            </a:r>
            <a:endParaRPr lang="en-US" sz="1300" dirty="0"/>
          </a:p>
        </p:txBody>
      </p:sp>
      <p:sp>
        <p:nvSpPr>
          <p:cNvPr id="11" name="Text 9"/>
          <p:cNvSpPr/>
          <p:nvPr/>
        </p:nvSpPr>
        <p:spPr>
          <a:xfrm>
            <a:off x="6381750" y="2575421"/>
            <a:ext cx="493807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kube-apiserver dağıtır: --service-cluster-ip-range. Bu IP'ler hiçbir arayüzde yoktur.</a:t>
            </a:r>
            <a:endParaRPr lang="en-US" sz="1300" dirty="0"/>
          </a:p>
        </p:txBody>
      </p:sp>
      <p:sp>
        <p:nvSpPr>
          <p:cNvPr id="12" name="Text 10"/>
          <p:cNvSpPr/>
          <p:nvPr/>
        </p:nvSpPr>
        <p:spPr>
          <a:xfrm>
            <a:off x="898144" y="3507482"/>
            <a:ext cx="10790428" cy="7683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Service oluşunca API server IP atar; her node'daki kube-proxy aynı anda DNAT kurallarını yazar.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iptables modunda kurallar: </a:t>
            </a:r>
            <a:r>
              <a:rPr lang="en-US" sz="1300" b="1" dirty="0">
                <a:solidFill>
                  <a:srgbClr val="45505F"/>
                </a:solidFill>
                <a:latin typeface="IBM Plex Sans" pitchFamily="34" charset="0"/>
                <a:ea typeface="IBM Plex Sans" pitchFamily="34" charset="-122"/>
                <a:cs typeface="IBM Plex Sans" pitchFamily="34" charset="-120"/>
              </a:rPr>
              <a:t>iptables -t nat -L | grep &lt;servis&gt;</a:t>
            </a:r>
            <a:r>
              <a:rPr lang="en-US" sz="1300" dirty="0">
                <a:solidFill>
                  <a:srgbClr val="45505F"/>
                </a:solidFill>
                <a:latin typeface="IBM Plex Sans" pitchFamily="34" charset="0"/>
                <a:ea typeface="IBM Plex Sans" pitchFamily="34" charset="-122"/>
                <a:cs typeface="IBM Plex Sans" pitchFamily="34" charset="-120"/>
              </a:rPr>
              <a:t> — KUBE-SERVICES → KUBE-SVC-… → KUBE-SEP-… zinciri.</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Pod ve Service aralıkları birbiriyle ve kurum ağıyla çakışmamalı.</a:t>
            </a:r>
            <a:endParaRPr lang="en-US" sz="13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0">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CLUSTER DNS · COREDNS</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Servisleri adla bulmak</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6489700" cy="1330325"/>
        </p:xfrm>
        <a:graphic>
          <a:graphicData uri="http://schemas.openxmlformats.org/drawingml/2006/table">
            <a:tbl>
              <a:tblPr/>
              <a:tblGrid>
                <a:gridCol w="1557528">
                  <a:extLst>
                    <a:ext uri="{9D8B030D-6E8A-4147-A177-3AD203B41FA5}">
                      <a16:colId xmlns:a16="http://schemas.microsoft.com/office/drawing/2014/main" val="20000"/>
                    </a:ext>
                  </a:extLst>
                </a:gridCol>
                <a:gridCol w="4932172">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Kayıt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Biçim</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Service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web.dev.svc.cluster.local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Pod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10-244-2-5.dev.pod.cluster.local (varsayılan kapalı)</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Headless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pod-adı.servis.ns.svc.cluster.local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98144" y="3245445"/>
            <a:ext cx="6604508" cy="17589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CoreDNS kube-system'da 2 replikalı Deployment; önündeki Service genelde </a:t>
            </a:r>
            <a:r>
              <a:rPr lang="en-US" sz="1300" b="1" dirty="0">
                <a:solidFill>
                  <a:srgbClr val="142033"/>
                </a:solidFill>
                <a:latin typeface="IBM Plex Sans" pitchFamily="34" charset="0"/>
                <a:ea typeface="IBM Plex Sans" pitchFamily="34" charset="-122"/>
                <a:cs typeface="IBM Plex Sans" pitchFamily="34" charset="-120"/>
              </a:rPr>
              <a:t>kube-dns</a:t>
            </a:r>
            <a:r>
              <a:rPr lang="en-US" sz="1300" dirty="0">
                <a:solidFill>
                  <a:srgbClr val="45505F"/>
                </a:solidFill>
                <a:latin typeface="IBM Plex Sans" pitchFamily="34" charset="0"/>
                <a:ea typeface="IBM Plex Sans" pitchFamily="34" charset="-122"/>
                <a:cs typeface="IBM Plex Sans" pitchFamily="34" charset="-120"/>
              </a:rPr>
              <a:t> (10.96.0.10).</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Ayarları </a:t>
            </a:r>
            <a:r>
              <a:rPr lang="en-US" sz="1300" b="1" dirty="0">
                <a:solidFill>
                  <a:srgbClr val="142033"/>
                </a:solidFill>
                <a:latin typeface="IBM Plex Sans" pitchFamily="34" charset="0"/>
                <a:ea typeface="IBM Plex Sans" pitchFamily="34" charset="-122"/>
                <a:cs typeface="IBM Plex Sans" pitchFamily="34" charset="-120"/>
              </a:rPr>
              <a:t>Corefile</a:t>
            </a:r>
            <a:r>
              <a:rPr lang="en-US" sz="1300" dirty="0">
                <a:solidFill>
                  <a:srgbClr val="45505F"/>
                </a:solidFill>
                <a:latin typeface="IBM Plex Sans" pitchFamily="34" charset="0"/>
                <a:ea typeface="IBM Plex Sans" pitchFamily="34" charset="-122"/>
                <a:cs typeface="IBM Plex Sans" pitchFamily="34" charset="-120"/>
              </a:rPr>
              <a:t> ConfigMap'inde; </a:t>
            </a:r>
            <a:r>
              <a:rPr lang="en-US" sz="1300" b="1" dirty="0">
                <a:solidFill>
                  <a:srgbClr val="45505F"/>
                </a:solidFill>
                <a:latin typeface="IBM Plex Sans" pitchFamily="34" charset="0"/>
                <a:ea typeface="IBM Plex Sans" pitchFamily="34" charset="-122"/>
                <a:cs typeface="IBM Plex Sans" pitchFamily="34" charset="-120"/>
              </a:rPr>
              <a:t>kubernetes</a:t>
            </a:r>
            <a:r>
              <a:rPr lang="en-US" sz="1300" dirty="0">
                <a:solidFill>
                  <a:srgbClr val="45505F"/>
                </a:solidFill>
                <a:latin typeface="IBM Plex Sans" pitchFamily="34" charset="0"/>
                <a:ea typeface="IBM Plex Sans" pitchFamily="34" charset="-122"/>
                <a:cs typeface="IBM Plex Sans" pitchFamily="34" charset="-120"/>
              </a:rPr>
              <a:t> plugin'i cluster kayıtlarını, </a:t>
            </a:r>
            <a:r>
              <a:rPr lang="en-US" sz="1300" b="1" dirty="0">
                <a:solidFill>
                  <a:srgbClr val="45505F"/>
                </a:solidFill>
                <a:latin typeface="IBM Plex Sans" pitchFamily="34" charset="0"/>
                <a:ea typeface="IBM Plex Sans" pitchFamily="34" charset="-122"/>
                <a:cs typeface="IBM Plex Sans" pitchFamily="34" charset="-120"/>
              </a:rPr>
              <a:t>forward</a:t>
            </a:r>
            <a:r>
              <a:rPr lang="en-US" sz="1300" dirty="0">
                <a:solidFill>
                  <a:srgbClr val="45505F"/>
                </a:solidFill>
                <a:latin typeface="IBM Plex Sans" pitchFamily="34" charset="0"/>
                <a:ea typeface="IBM Plex Sans" pitchFamily="34" charset="-122"/>
                <a:cs typeface="IBM Plex Sans" pitchFamily="34" charset="-120"/>
              </a:rPr>
              <a:t> dış adları çözer.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kubelet, her pod'un </a:t>
            </a:r>
            <a:r>
              <a:rPr lang="en-US" sz="1300" b="1" dirty="0">
                <a:solidFill>
                  <a:srgbClr val="45505F"/>
                </a:solidFill>
                <a:latin typeface="IBM Plex Sans" pitchFamily="34" charset="0"/>
                <a:ea typeface="IBM Plex Sans" pitchFamily="34" charset="-122"/>
                <a:cs typeface="IBM Plex Sans" pitchFamily="34" charset="-120"/>
              </a:rPr>
              <a:t>/etc/resolv.conf</a:t>
            </a:r>
            <a:r>
              <a:rPr lang="en-US" sz="1300" dirty="0">
                <a:solidFill>
                  <a:srgbClr val="45505F"/>
                </a:solidFill>
                <a:latin typeface="IBM Plex Sans" pitchFamily="34" charset="0"/>
                <a:ea typeface="IBM Plex Sans" pitchFamily="34" charset="-122"/>
                <a:cs typeface="IBM Plex Sans" pitchFamily="34" charset="-120"/>
              </a:rPr>
              <a:t>'una nameserver ve </a:t>
            </a:r>
            <a:r>
              <a:rPr lang="en-US" sz="1300" b="1" dirty="0">
                <a:solidFill>
                  <a:srgbClr val="45505F"/>
                </a:solidFill>
                <a:latin typeface="IBM Plex Sans" pitchFamily="34" charset="0"/>
                <a:ea typeface="IBM Plex Sans" pitchFamily="34" charset="-122"/>
                <a:cs typeface="IBM Plex Sans" pitchFamily="34" charset="-120"/>
              </a:rPr>
              <a:t>search</a:t>
            </a:r>
            <a:r>
              <a:rPr lang="en-US" sz="1300" dirty="0">
                <a:solidFill>
                  <a:srgbClr val="45505F"/>
                </a:solidFill>
                <a:latin typeface="IBM Plex Sans" pitchFamily="34" charset="0"/>
                <a:ea typeface="IBM Plex Sans" pitchFamily="34" charset="-122"/>
                <a:cs typeface="IBM Plex Sans" pitchFamily="34" charset="-120"/>
              </a:rPr>
              <a:t> alanlarını (dev.svc.cluster.local svc.cluster.local cluster.local) yazar — kısa adların çalışma sebebi.</a:t>
            </a:r>
            <a:endParaRPr lang="en-US" sz="1300" dirty="0"/>
          </a:p>
        </p:txBody>
      </p:sp>
      <p:sp>
        <p:nvSpPr>
          <p:cNvPr id="6" name="Text 3"/>
          <p:cNvSpPr/>
          <p:nvPr/>
        </p:nvSpPr>
        <p:spPr>
          <a:xfrm>
            <a:off x="7569200" y="1775420"/>
            <a:ext cx="3810000" cy="3449042"/>
          </a:xfrm>
          <a:prstGeom prst="roundRect">
            <a:avLst>
              <a:gd name="adj" fmla="val 2209"/>
            </a:avLst>
          </a:prstGeom>
          <a:solidFill>
            <a:srgbClr val="1B2A41"/>
          </a:solidFill>
          <a:ln/>
        </p:spPr>
        <p:txBody>
          <a:bodyPr wrap="square" lIns="155482" tIns="155482" rIns="51850" bIns="1300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test</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run t --rm -it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--image=busybox:1.36 --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nslookup web.dev</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Corefile parçası</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.:53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kubernetes cluster.local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in-addr.arpa ip6.arpa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pods insecure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forward . /etc/resolv.conf</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cache 30</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t>
            </a:r>
            <a:endParaRPr lang="en-US" sz="12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1">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INGRESS</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Tek giriş noktası, host ve path'e göre yönlendirme</a:t>
            </a:r>
            <a:endParaRPr lang="en-US" sz="3000" dirty="0"/>
          </a:p>
        </p:txBody>
      </p:sp>
      <p:sp>
        <p:nvSpPr>
          <p:cNvPr id="4" name="Text 2"/>
          <p:cNvSpPr/>
          <p:nvPr/>
        </p:nvSpPr>
        <p:spPr>
          <a:xfrm>
            <a:off x="812800" y="1775420"/>
            <a:ext cx="3937000" cy="485080"/>
          </a:xfrm>
          <a:prstGeom prst="roundRect">
            <a:avLst>
              <a:gd name="adj" fmla="val 13091"/>
            </a:avLst>
          </a:prstGeom>
          <a:solidFill>
            <a:srgbClr val="142033"/>
          </a:solidFill>
          <a:ln/>
        </p:spPr>
        <p:txBody>
          <a:bodyPr wrap="square" lIns="53156" tIns="108401" rIns="53156" bIns="83001" rtlCol="0" anchor="t">
            <a:normAutofit/>
          </a:bodyPr>
          <a:lstStyle/>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Kullanıcı · shop.example.com</a:t>
            </a:r>
            <a:endParaRPr lang="en-US" sz="1300" dirty="0"/>
          </a:p>
        </p:txBody>
      </p:sp>
      <p:pic>
        <p:nvPicPr>
          <p:cNvPr id="5" name="Image 0" descr="arrow-down"/>
          <p:cNvPicPr>
            <a:picLocks noChangeAspect="1"/>
          </p:cNvPicPr>
          <p:nvPr/>
        </p:nvPicPr>
        <p:blipFill>
          <a:blip r:embed="rId3"/>
          <a:srcRect/>
          <a:stretch/>
        </p:blipFill>
        <p:spPr>
          <a:xfrm>
            <a:off x="2654300" y="2349401"/>
            <a:ext cx="254000" cy="279400"/>
          </a:xfrm>
          <a:prstGeom prst="rect">
            <a:avLst/>
          </a:prstGeom>
        </p:spPr>
      </p:pic>
      <p:sp>
        <p:nvSpPr>
          <p:cNvPr id="6" name="Text 3"/>
          <p:cNvSpPr/>
          <p:nvPr/>
        </p:nvSpPr>
        <p:spPr>
          <a:xfrm>
            <a:off x="812800" y="2717701"/>
            <a:ext cx="3937000" cy="485080"/>
          </a:xfrm>
          <a:prstGeom prst="roundRect">
            <a:avLst>
              <a:gd name="adj" fmla="val 13091"/>
            </a:avLst>
          </a:prstGeom>
          <a:solidFill>
            <a:srgbClr val="2F6BD8"/>
          </a:solidFill>
          <a:ln/>
        </p:spPr>
        <p:txBody>
          <a:bodyPr wrap="square" lIns="53156" tIns="108401" rIns="53156" bIns="83001" rtlCol="0" anchor="t">
            <a:normAutofit/>
          </a:bodyPr>
          <a:lstStyle/>
          <a:p>
            <a:pPr marL="0" indent="0" algn="ctr">
              <a:lnSpc>
                <a:spcPts val="1820"/>
              </a:lnSpc>
              <a:buNone/>
            </a:pPr>
            <a:r>
              <a:rPr lang="en-US" sz="1300" dirty="0">
                <a:solidFill>
                  <a:srgbClr val="F5F4EF"/>
                </a:solidFill>
                <a:latin typeface="IBM Plex Sans" pitchFamily="34" charset="0"/>
                <a:ea typeface="IBM Plex Sans" pitchFamily="34" charset="-122"/>
                <a:cs typeface="IBM Plex Sans" pitchFamily="34" charset="-120"/>
              </a:rPr>
              <a:t>Ingress Controller (LB / NodePort)</a:t>
            </a:r>
            <a:endParaRPr lang="en-US" sz="1300" dirty="0"/>
          </a:p>
        </p:txBody>
      </p:sp>
      <p:pic>
        <p:nvPicPr>
          <p:cNvPr id="7" name="Image 1" descr="arrow-down"/>
          <p:cNvPicPr>
            <a:picLocks noChangeAspect="1"/>
          </p:cNvPicPr>
          <p:nvPr/>
        </p:nvPicPr>
        <p:blipFill>
          <a:blip r:embed="rId3"/>
          <a:srcRect/>
          <a:stretch/>
        </p:blipFill>
        <p:spPr>
          <a:xfrm>
            <a:off x="2654300" y="3291681"/>
            <a:ext cx="254000" cy="279400"/>
          </a:xfrm>
          <a:prstGeom prst="rect">
            <a:avLst/>
          </a:prstGeom>
        </p:spPr>
      </p:pic>
      <p:sp>
        <p:nvSpPr>
          <p:cNvPr id="8" name="Text 4"/>
          <p:cNvSpPr/>
          <p:nvPr/>
        </p:nvSpPr>
        <p:spPr>
          <a:xfrm>
            <a:off x="815975" y="3663156"/>
            <a:ext cx="1924050" cy="422870"/>
          </a:xfrm>
          <a:prstGeom prst="roundRect">
            <a:avLst>
              <a:gd name="adj" fmla="val 14266"/>
            </a:avLst>
          </a:prstGeom>
          <a:solidFill>
            <a:srgbClr val="FDFCF9"/>
          </a:solidFill>
          <a:ln w="6350">
            <a:solidFill>
              <a:srgbClr val="E2DFD6"/>
            </a:solidFill>
            <a:prstDash val="solid"/>
          </a:ln>
        </p:spPr>
        <p:txBody>
          <a:bodyPr wrap="square" lIns="61389" tIns="87106" rIns="61389" bIns="61706" rtlCol="0" anchor="t">
            <a:normAutofit/>
          </a:bodyPr>
          <a:lstStyle/>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/wear → wear-svc</a:t>
            </a:r>
            <a:endParaRPr lang="en-US" sz="1200" dirty="0"/>
          </a:p>
        </p:txBody>
      </p:sp>
      <p:sp>
        <p:nvSpPr>
          <p:cNvPr id="9" name="Text 5"/>
          <p:cNvSpPr/>
          <p:nvPr/>
        </p:nvSpPr>
        <p:spPr>
          <a:xfrm>
            <a:off x="2822575" y="3663156"/>
            <a:ext cx="1924050" cy="422870"/>
          </a:xfrm>
          <a:prstGeom prst="roundRect">
            <a:avLst>
              <a:gd name="adj" fmla="val 14266"/>
            </a:avLst>
          </a:prstGeom>
          <a:solidFill>
            <a:srgbClr val="FDFCF9"/>
          </a:solidFill>
          <a:ln w="6350">
            <a:solidFill>
              <a:srgbClr val="E2DFD6"/>
            </a:solidFill>
            <a:prstDash val="solid"/>
          </a:ln>
        </p:spPr>
        <p:txBody>
          <a:bodyPr wrap="square" lIns="61389" tIns="87106" rIns="61389" bIns="61706" rtlCol="0" anchor="t">
            <a:normAutofit/>
          </a:bodyPr>
          <a:lstStyle/>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/watch → watch-svc</a:t>
            </a:r>
            <a:endParaRPr lang="en-US" sz="1200" dirty="0"/>
          </a:p>
        </p:txBody>
      </p:sp>
      <p:sp>
        <p:nvSpPr>
          <p:cNvPr id="10" name="Shape 6"/>
          <p:cNvSpPr/>
          <p:nvPr/>
        </p:nvSpPr>
        <p:spPr>
          <a:xfrm>
            <a:off x="5006975" y="1778595"/>
            <a:ext cx="6369050" cy="1131391"/>
          </a:xfrm>
          <a:prstGeom prst="roundRect">
            <a:avLst>
              <a:gd name="adj" fmla="val 6454"/>
            </a:avLst>
          </a:prstGeom>
          <a:solidFill>
            <a:srgbClr val="FDFCF9"/>
          </a:solidFill>
          <a:ln w="6350">
            <a:solidFill>
              <a:srgbClr val="E2DFD6"/>
            </a:solidFill>
            <a:prstDash val="solid"/>
          </a:ln>
        </p:spPr>
      </p:sp>
      <p:sp>
        <p:nvSpPr>
          <p:cNvPr id="11" name="Text 7"/>
          <p:cNvSpPr/>
          <p:nvPr/>
        </p:nvSpPr>
        <p:spPr>
          <a:xfrm>
            <a:off x="5187950" y="1959570"/>
            <a:ext cx="618731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Ingress Controller</a:t>
            </a:r>
            <a:endParaRPr lang="en-US" sz="1600" dirty="0"/>
          </a:p>
        </p:txBody>
      </p:sp>
      <p:sp>
        <p:nvSpPr>
          <p:cNvPr id="12" name="Text 8"/>
          <p:cNvSpPr/>
          <p:nvPr/>
        </p:nvSpPr>
        <p:spPr>
          <a:xfrm>
            <a:off x="5187950" y="2266851"/>
            <a:ext cx="618731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Kuralları uygulayan reverse proxy: ingress-nginx, Traefik, HAProxy, Contour. </a:t>
            </a:r>
            <a:r>
              <a:rPr lang="en-US" sz="1300" b="1" dirty="0">
                <a:solidFill>
                  <a:srgbClr val="45505F"/>
                </a:solidFill>
                <a:latin typeface="IBM Plex Sans" pitchFamily="34" charset="0"/>
                <a:ea typeface="IBM Plex Sans" pitchFamily="34" charset="-122"/>
                <a:cs typeface="IBM Plex Sans" pitchFamily="34" charset="-120"/>
              </a:rPr>
              <a:t>Varsayılan olarak kurulu gelmez.</a:t>
            </a:r>
            <a:endParaRPr lang="en-US" sz="1300" dirty="0"/>
          </a:p>
        </p:txBody>
      </p:sp>
      <p:sp>
        <p:nvSpPr>
          <p:cNvPr id="13" name="Shape 9"/>
          <p:cNvSpPr/>
          <p:nvPr/>
        </p:nvSpPr>
        <p:spPr>
          <a:xfrm>
            <a:off x="5006975" y="3043337"/>
            <a:ext cx="6369050" cy="1131391"/>
          </a:xfrm>
          <a:prstGeom prst="roundRect">
            <a:avLst>
              <a:gd name="adj" fmla="val 6454"/>
            </a:avLst>
          </a:prstGeom>
          <a:solidFill>
            <a:srgbClr val="FDFCF9"/>
          </a:solidFill>
          <a:ln w="6350">
            <a:solidFill>
              <a:srgbClr val="E2DFD6"/>
            </a:solidFill>
            <a:prstDash val="solid"/>
          </a:ln>
        </p:spPr>
      </p:sp>
      <p:sp>
        <p:nvSpPr>
          <p:cNvPr id="14" name="Text 10"/>
          <p:cNvSpPr/>
          <p:nvPr/>
        </p:nvSpPr>
        <p:spPr>
          <a:xfrm>
            <a:off x="5187950" y="3224312"/>
            <a:ext cx="618731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Ingress Resource</a:t>
            </a:r>
            <a:endParaRPr lang="en-US" sz="1600" dirty="0"/>
          </a:p>
        </p:txBody>
      </p:sp>
      <p:sp>
        <p:nvSpPr>
          <p:cNvPr id="15" name="Text 11"/>
          <p:cNvSpPr/>
          <p:nvPr/>
        </p:nvSpPr>
        <p:spPr>
          <a:xfrm>
            <a:off x="5187950" y="3531592"/>
            <a:ext cx="618731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Kurallar: host, path, hedef Service, TLS sertifikası. Hangi controller'ın uygulayacağı </a:t>
            </a:r>
            <a:r>
              <a:rPr lang="en-US" sz="1300" b="1" dirty="0">
                <a:solidFill>
                  <a:srgbClr val="45505F"/>
                </a:solidFill>
                <a:latin typeface="IBM Plex Sans" pitchFamily="34" charset="0"/>
                <a:ea typeface="IBM Plex Sans" pitchFamily="34" charset="-122"/>
                <a:cs typeface="IBM Plex Sans" pitchFamily="34" charset="-120"/>
              </a:rPr>
              <a:t>ingressClassName</a:t>
            </a:r>
            <a:r>
              <a:rPr lang="en-US" sz="1300" dirty="0">
                <a:solidFill>
                  <a:srgbClr val="45505F"/>
                </a:solidFill>
                <a:latin typeface="IBM Plex Sans" pitchFamily="34" charset="0"/>
                <a:ea typeface="IBM Plex Sans" pitchFamily="34" charset="-122"/>
                <a:cs typeface="IBM Plex Sans" pitchFamily="34" charset="-120"/>
              </a:rPr>
              <a:t> ile seçilir.</a:t>
            </a:r>
            <a:endParaRPr lang="en-US" sz="1300" dirty="0"/>
          </a:p>
        </p:txBody>
      </p:sp>
      <p:sp>
        <p:nvSpPr>
          <p:cNvPr id="16" name="Text 12"/>
          <p:cNvSpPr/>
          <p:nvPr/>
        </p:nvSpPr>
        <p:spPr>
          <a:xfrm>
            <a:off x="5003800" y="4304903"/>
            <a:ext cx="656666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Kazanım: tek LoadBalancer, merkezi TLS sonlandırma, L7 yönlendirme.</a:t>
            </a:r>
            <a:endParaRPr lang="en-US" sz="13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INGRESS TANIMI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Path bazlı ve host bazlı kurallar</a:t>
            </a:r>
            <a:endParaRPr lang="en-US" sz="3000" dirty="0"/>
          </a:p>
        </p:txBody>
      </p:sp>
      <p:sp>
        <p:nvSpPr>
          <p:cNvPr id="4" name="Text 2"/>
          <p:cNvSpPr/>
          <p:nvPr/>
        </p:nvSpPr>
        <p:spPr>
          <a:xfrm>
            <a:off x="812800" y="1775420"/>
            <a:ext cx="5207000" cy="4111923"/>
          </a:xfrm>
          <a:prstGeom prst="roundRect">
            <a:avLst>
              <a:gd name="adj" fmla="val 1853"/>
            </a:avLst>
          </a:prstGeom>
          <a:solidFill>
            <a:srgbClr val="1B2A41"/>
          </a:solidFill>
          <a:ln/>
        </p:spPr>
        <p:txBody>
          <a:bodyPr wrap="square" lIns="155482" tIns="155482" rIns="9940"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apiVersion: networking.k8s.io/v1</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kind: Ingress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metadata: {name: shop}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ingressClassName: nginx</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tls: [{hosts: [shop.example.com],</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secretName: shop-tls}]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rules: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host: shop.example.com</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http:</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paths: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path: /wear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pathType: Prefix</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backend:</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service: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name: wear-svc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port: {number: 80}</a:t>
            </a:r>
            <a:endParaRPr lang="en-US" sz="1200" dirty="0"/>
          </a:p>
        </p:txBody>
      </p:sp>
      <p:sp>
        <p:nvSpPr>
          <p:cNvPr id="5" name="Text 3"/>
          <p:cNvSpPr/>
          <p:nvPr/>
        </p:nvSpPr>
        <p:spPr>
          <a:xfrm>
            <a:off x="6359144" y="1775420"/>
            <a:ext cx="5165598"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pathType:</a:t>
            </a:r>
            <a:r>
              <a:rPr lang="en-US" sz="1300" dirty="0">
                <a:solidFill>
                  <a:srgbClr val="45505F"/>
                </a:solidFill>
                <a:latin typeface="IBM Plex Sans" pitchFamily="34" charset="0"/>
                <a:ea typeface="IBM Plex Sans" pitchFamily="34" charset="-122"/>
                <a:cs typeface="IBM Plex Sans" pitchFamily="34" charset="-120"/>
              </a:rPr>
              <a:t> Prefix, Exact, ImplementationSpecific.</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host yazılmazsa kural tüm host'lar için geçerli.</a:t>
            </a:r>
            <a:endParaRPr lang="en-US" sz="1300" dirty="0"/>
          </a:p>
          <a:p>
            <a:pPr marL="168656" indent="-168656" algn="l">
              <a:lnSpc>
                <a:spcPts val="1950"/>
              </a:lnSpc>
              <a:buSzPct val="100000"/>
              <a:buChar char="•"/>
            </a:pPr>
            <a:r>
              <a:rPr lang="en-US" sz="1300" b="1" dirty="0">
                <a:solidFill>
                  <a:srgbClr val="45505F"/>
                </a:solidFill>
                <a:latin typeface="IBM Plex Sans" pitchFamily="34" charset="0"/>
                <a:ea typeface="IBM Plex Sans" pitchFamily="34" charset="-122"/>
                <a:cs typeface="IBM Plex Sans" pitchFamily="34" charset="-120"/>
              </a:rPr>
              <a:t>defaultBackend</a:t>
            </a:r>
            <a:r>
              <a:rPr lang="en-US" sz="1300" dirty="0">
                <a:solidFill>
                  <a:srgbClr val="45505F"/>
                </a:solidFill>
                <a:latin typeface="IBM Plex Sans" pitchFamily="34" charset="0"/>
                <a:ea typeface="IBM Plex Sans" pitchFamily="34" charset="-122"/>
                <a:cs typeface="IBM Plex Sans" pitchFamily="34" charset="-120"/>
              </a:rPr>
              <a:t>: hiçbir kurala uymayan istekler.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Controller'a özgü davranışlar (rewrite-target, timeout, auth) annotation ile — taşınabilirlik sorunu.</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TLS sertifikası </a:t>
            </a:r>
            <a:r>
              <a:rPr lang="en-US" sz="1300" b="1" dirty="0">
                <a:solidFill>
                  <a:srgbClr val="45505F"/>
                </a:solidFill>
                <a:latin typeface="IBM Plex Sans" pitchFamily="34" charset="0"/>
                <a:ea typeface="IBM Plex Sans" pitchFamily="34" charset="-122"/>
                <a:cs typeface="IBM Plex Sans" pitchFamily="34" charset="-120"/>
              </a:rPr>
              <a:t>kubernetes.io/tls</a:t>
            </a:r>
            <a:r>
              <a:rPr lang="en-US" sz="1300" dirty="0">
                <a:solidFill>
                  <a:srgbClr val="45505F"/>
                </a:solidFill>
                <a:latin typeface="IBM Plex Sans" pitchFamily="34" charset="0"/>
                <a:ea typeface="IBM Plex Sans" pitchFamily="34" charset="-122"/>
                <a:cs typeface="IBM Plex Sans" pitchFamily="34" charset="-120"/>
              </a:rPr>
              <a:t> tipli Secret'tan gelir.</a:t>
            </a:r>
            <a:endParaRPr lang="en-US" sz="1300" dirty="0"/>
          </a:p>
        </p:txBody>
      </p:sp>
      <p:sp>
        <p:nvSpPr>
          <p:cNvPr id="6" name="Text 4"/>
          <p:cNvSpPr/>
          <p:nvPr/>
        </p:nvSpPr>
        <p:spPr>
          <a:xfrm>
            <a:off x="6273800" y="3388320"/>
            <a:ext cx="5105400" cy="746720"/>
          </a:xfrm>
          <a:prstGeom prst="roundRect">
            <a:avLst>
              <a:gd name="adj" fmla="val 10205"/>
            </a:avLst>
          </a:prstGeom>
          <a:solidFill>
            <a:srgbClr val="142033"/>
          </a:solidFill>
          <a:ln/>
        </p:spPr>
        <p:txBody>
          <a:bodyPr wrap="square" lIns="130082" tIns="130082" rIns="0" bIns="1046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create ingress shop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--rule="shop.example.com/wear*=wear-svc:80"</a:t>
            </a:r>
            <a:endParaRPr lang="en-US" sz="1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GATEWAY API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Ingress'in rol tabanlı ve taşınabilir halefi</a:t>
            </a:r>
            <a:endParaRPr lang="en-US" sz="3000" dirty="0"/>
          </a:p>
        </p:txBody>
      </p:sp>
      <p:sp>
        <p:nvSpPr>
          <p:cNvPr id="4" name="Shape 2"/>
          <p:cNvSpPr/>
          <p:nvPr/>
        </p:nvSpPr>
        <p:spPr>
          <a:xfrm>
            <a:off x="815975" y="1778595"/>
            <a:ext cx="3418384" cy="1484412"/>
          </a:xfrm>
          <a:prstGeom prst="roundRect">
            <a:avLst>
              <a:gd name="adj" fmla="val 4919"/>
            </a:avLst>
          </a:prstGeom>
          <a:solidFill>
            <a:srgbClr val="FDFCF9"/>
          </a:solidFill>
          <a:ln w="6350">
            <a:solidFill>
              <a:srgbClr val="E2DFD6"/>
            </a:solidFill>
            <a:prstDash val="solid"/>
          </a:ln>
        </p:spPr>
      </p:sp>
      <p:sp>
        <p:nvSpPr>
          <p:cNvPr id="5" name="Text 3"/>
          <p:cNvSpPr/>
          <p:nvPr/>
        </p:nvSpPr>
        <p:spPr>
          <a:xfrm>
            <a:off x="1022350" y="1984970"/>
            <a:ext cx="309580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ALTYAPI SAĞLAYICI</a:t>
            </a:r>
            <a:endParaRPr lang="en-US" sz="1200" dirty="0"/>
          </a:p>
        </p:txBody>
      </p:sp>
      <p:sp>
        <p:nvSpPr>
          <p:cNvPr id="6" name="Text 4"/>
          <p:cNvSpPr/>
          <p:nvPr/>
        </p:nvSpPr>
        <p:spPr>
          <a:xfrm>
            <a:off x="1022350" y="2274491"/>
            <a:ext cx="309580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GatewayClass</a:t>
            </a:r>
            <a:endParaRPr lang="en-US" sz="1600" dirty="0"/>
          </a:p>
        </p:txBody>
      </p:sp>
      <p:sp>
        <p:nvSpPr>
          <p:cNvPr id="7" name="Text 5"/>
          <p:cNvSpPr/>
          <p:nvPr/>
        </p:nvSpPr>
        <p:spPr>
          <a:xfrm>
            <a:off x="1022350" y="2594471"/>
            <a:ext cx="309580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Hangi controller (Envoy Gateway, Istio, Cilium, NGINX Gateway Fabric…).</a:t>
            </a:r>
            <a:endParaRPr lang="en-US" sz="1300" dirty="0"/>
          </a:p>
        </p:txBody>
      </p:sp>
      <p:sp>
        <p:nvSpPr>
          <p:cNvPr id="8" name="Shape 6"/>
          <p:cNvSpPr/>
          <p:nvPr/>
        </p:nvSpPr>
        <p:spPr>
          <a:xfrm>
            <a:off x="4393109" y="1778595"/>
            <a:ext cx="3418483" cy="1484412"/>
          </a:xfrm>
          <a:prstGeom prst="roundRect">
            <a:avLst>
              <a:gd name="adj" fmla="val 4919"/>
            </a:avLst>
          </a:prstGeom>
          <a:solidFill>
            <a:srgbClr val="FDFCF9"/>
          </a:solidFill>
          <a:ln w="6350">
            <a:solidFill>
              <a:srgbClr val="E2DFD6"/>
            </a:solidFill>
            <a:prstDash val="solid"/>
          </a:ln>
        </p:spPr>
      </p:sp>
      <p:sp>
        <p:nvSpPr>
          <p:cNvPr id="9" name="Text 7"/>
          <p:cNvSpPr/>
          <p:nvPr/>
        </p:nvSpPr>
        <p:spPr>
          <a:xfrm>
            <a:off x="4599484" y="1984970"/>
            <a:ext cx="309590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70F"/>
                </a:solidFill>
                <a:latin typeface="IBM Plex Sans" pitchFamily="34" charset="0"/>
                <a:ea typeface="IBM Plex Sans" pitchFamily="34" charset="-122"/>
                <a:cs typeface="IBM Plex Sans" pitchFamily="34" charset="-120"/>
              </a:rPr>
              <a:t>CLUSTER OPERATÖRÜ</a:t>
            </a:r>
            <a:endParaRPr lang="en-US" sz="1200" dirty="0"/>
          </a:p>
        </p:txBody>
      </p:sp>
      <p:sp>
        <p:nvSpPr>
          <p:cNvPr id="10" name="Text 8"/>
          <p:cNvSpPr/>
          <p:nvPr/>
        </p:nvSpPr>
        <p:spPr>
          <a:xfrm>
            <a:off x="4599484" y="2274491"/>
            <a:ext cx="309590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Gateway</a:t>
            </a:r>
            <a:endParaRPr lang="en-US" sz="1600" dirty="0"/>
          </a:p>
        </p:txBody>
      </p:sp>
      <p:sp>
        <p:nvSpPr>
          <p:cNvPr id="11" name="Text 9"/>
          <p:cNvSpPr/>
          <p:nvPr/>
        </p:nvSpPr>
        <p:spPr>
          <a:xfrm>
            <a:off x="4599484" y="2594471"/>
            <a:ext cx="309590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Listener'lar: port, protokol, TLS, hangi namespace'ler route bağlayabilir.</a:t>
            </a:r>
            <a:endParaRPr lang="en-US" sz="1300" dirty="0"/>
          </a:p>
        </p:txBody>
      </p:sp>
      <p:sp>
        <p:nvSpPr>
          <p:cNvPr id="12" name="Shape 10"/>
          <p:cNvSpPr/>
          <p:nvPr/>
        </p:nvSpPr>
        <p:spPr>
          <a:xfrm>
            <a:off x="7967166" y="1775420"/>
            <a:ext cx="3412034" cy="1490762"/>
          </a:xfrm>
          <a:prstGeom prst="roundRect">
            <a:avLst>
              <a:gd name="adj" fmla="val 5111"/>
            </a:avLst>
          </a:prstGeom>
          <a:solidFill>
            <a:srgbClr val="142033"/>
          </a:solidFill>
          <a:ln/>
        </p:spPr>
      </p:sp>
      <p:sp>
        <p:nvSpPr>
          <p:cNvPr id="13" name="Text 11"/>
          <p:cNvSpPr/>
          <p:nvPr/>
        </p:nvSpPr>
        <p:spPr>
          <a:xfrm>
            <a:off x="8170366" y="1978620"/>
            <a:ext cx="309580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BM Plex Sans" pitchFamily="34" charset="0"/>
                <a:ea typeface="IBM Plex Sans" pitchFamily="34" charset="-122"/>
                <a:cs typeface="IBM Plex Sans" pitchFamily="34" charset="-120"/>
              </a:rPr>
              <a:t>UYGULAMA EKIBI</a:t>
            </a:r>
            <a:endParaRPr lang="en-US" sz="1200" dirty="0"/>
          </a:p>
        </p:txBody>
      </p:sp>
      <p:sp>
        <p:nvSpPr>
          <p:cNvPr id="14" name="Text 12"/>
          <p:cNvSpPr/>
          <p:nvPr/>
        </p:nvSpPr>
        <p:spPr>
          <a:xfrm>
            <a:off x="8170366" y="2268141"/>
            <a:ext cx="309580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HTTPRoute</a:t>
            </a:r>
            <a:endParaRPr lang="en-US" sz="1600" dirty="0"/>
          </a:p>
        </p:txBody>
      </p:sp>
      <p:sp>
        <p:nvSpPr>
          <p:cNvPr id="15" name="Text 13"/>
          <p:cNvSpPr/>
          <p:nvPr/>
        </p:nvSpPr>
        <p:spPr>
          <a:xfrm>
            <a:off x="8170366" y="2588121"/>
            <a:ext cx="309580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6D6"/>
                </a:solidFill>
                <a:latin typeface="IBM Plex Sans" pitchFamily="34" charset="0"/>
                <a:ea typeface="IBM Plex Sans" pitchFamily="34" charset="-122"/>
                <a:cs typeface="IBM Plex Sans" pitchFamily="34" charset="-120"/>
              </a:rPr>
              <a:t>Eşleşme (path, header, query) ve backend'ler; ağırlıklı dağıtım.</a:t>
            </a:r>
            <a:endParaRPr lang="en-US" sz="1300" dirty="0"/>
          </a:p>
        </p:txBody>
      </p:sp>
      <p:sp>
        <p:nvSpPr>
          <p:cNvPr id="16" name="Text 14"/>
          <p:cNvSpPr/>
          <p:nvPr/>
        </p:nvSpPr>
        <p:spPr>
          <a:xfrm>
            <a:off x="898144" y="3520182"/>
            <a:ext cx="10790428" cy="10160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Ingress'te annotation'a kalan özellikler standart alan oldu: header eşleşmesi, yönlendirme, URL rewrite, </a:t>
            </a:r>
            <a:r>
              <a:rPr lang="en-US" sz="1300" b="1" dirty="0">
                <a:solidFill>
                  <a:srgbClr val="142033"/>
                </a:solidFill>
                <a:latin typeface="IBM Plex Sans" pitchFamily="34" charset="0"/>
                <a:ea typeface="IBM Plex Sans" pitchFamily="34" charset="-122"/>
                <a:cs typeface="IBM Plex Sans" pitchFamily="34" charset="-120"/>
              </a:rPr>
              <a:t>trafik bölme</a:t>
            </a:r>
            <a:r>
              <a:rPr lang="en-US" sz="1300" dirty="0">
                <a:solidFill>
                  <a:srgbClr val="45505F"/>
                </a:solidFill>
                <a:latin typeface="IBM Plex Sans" pitchFamily="34" charset="0"/>
                <a:ea typeface="IBM Plex Sans" pitchFamily="34" charset="-122"/>
                <a:cs typeface="IBM Plex Sans" pitchFamily="34" charset="-120"/>
              </a:rPr>
              <a:t> (canary: %90 v1 / %10 v2).</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HTTP dışı protokoller: GRPCRoute, TLSRoute, TCPRoute, UDPRoute.</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CRD olarak kurulur; CKA müfredatına 2025 itibarıyla eklendi.</a:t>
            </a:r>
            <a:endParaRPr lang="en-US" sz="13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4">
    <p:bg>
      <p:bgPr>
        <a:solidFill>
          <a:srgbClr val="142033"/>
        </a:solidFill>
        <a:effectLst/>
      </p:bgPr>
    </p:bg>
    <p:spTree>
      <p:nvGrpSpPr>
        <p:cNvPr id="1" name=""/>
        <p:cNvGrpSpPr/>
        <p:nvPr/>
      </p:nvGrpSpPr>
      <p:grpSpPr>
        <a:xfrm>
          <a:off x="0" y="0"/>
          <a:ext cx="0" cy="0"/>
          <a:chOff x="0" y="0"/>
          <a:chExt cx="0" cy="0"/>
        </a:xfrm>
      </p:grpSpPr>
      <p:sp>
        <p:nvSpPr>
          <p:cNvPr id="2" name="Text 0"/>
          <p:cNvSpPr/>
          <p:nvPr/>
        </p:nvSpPr>
        <p:spPr>
          <a:xfrm>
            <a:off x="812800" y="24600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IBM Plex Sans" pitchFamily="34" charset="0"/>
                <a:ea typeface="IBM Plex Sans" pitchFamily="34" charset="-122"/>
                <a:cs typeface="IBM Plex Sans" pitchFamily="34" charset="-120"/>
              </a:rPr>
              <a:t>BÖLÜM 09</a:t>
            </a:r>
            <a:endParaRPr lang="en-US" sz="1200" dirty="0"/>
          </a:p>
        </p:txBody>
      </p:sp>
      <p:sp>
        <p:nvSpPr>
          <p:cNvPr id="3" name="Text 1"/>
          <p:cNvSpPr>
            <a:spLocks noGrp="1"/>
          </p:cNvSpPr>
          <p:nvPr>
            <p:ph type="title"/>
          </p:nvPr>
        </p:nvSpPr>
        <p:spPr>
          <a:xfrm>
            <a:off x="812800" y="285115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4EF"/>
                </a:solidFill>
                <a:latin typeface="IBM Plex Sans" pitchFamily="34" charset="0"/>
                <a:ea typeface="IBM Plex Sans" pitchFamily="34" charset="-122"/>
                <a:cs typeface="IBM Plex Sans" pitchFamily="34" charset="-120"/>
              </a:rPr>
              <a:t>Helm ve Kustomize</a:t>
            </a:r>
            <a:endParaRPr lang="en-US" sz="6000" dirty="0"/>
          </a:p>
        </p:txBody>
      </p:sp>
      <p:sp>
        <p:nvSpPr>
          <p:cNvPr id="4" name="Text 2"/>
          <p:cNvSpPr/>
          <p:nvPr/>
        </p:nvSpPr>
        <p:spPr>
          <a:xfrm>
            <a:off x="812800" y="3829050"/>
            <a:ext cx="78486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6D6"/>
                </a:solidFill>
                <a:latin typeface="IBM Plex Sans" pitchFamily="34" charset="0"/>
                <a:ea typeface="IBM Plex Sans" pitchFamily="34" charset="-122"/>
                <a:cs typeface="IBM Plex Sans" pitchFamily="34" charset="-120"/>
              </a:rPr>
              <a:t>Onlarca YAML'ı tek birim olarak paketlemek, ortama göre özelleştirmek, sürümlemek ve geri almak.</a:t>
            </a:r>
            <a:endParaRPr lang="en-US" sz="16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5">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HELM</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Kubernetes'in paket yöneticisi</a:t>
            </a:r>
            <a:endParaRPr lang="en-US" sz="3000" dirty="0"/>
          </a:p>
        </p:txBody>
      </p:sp>
      <p:sp>
        <p:nvSpPr>
          <p:cNvPr id="4" name="Text 2"/>
          <p:cNvSpPr/>
          <p:nvPr/>
        </p:nvSpPr>
        <p:spPr>
          <a:xfrm>
            <a:off x="812800" y="1775420"/>
            <a:ext cx="6566662"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WordPress'i kurmak = Deployment, Service, PVC, Secret, Ingress… Helm bunları tek bir </a:t>
            </a:r>
            <a:r>
              <a:rPr lang="en-US" sz="1300" b="1" dirty="0">
                <a:solidFill>
                  <a:srgbClr val="142033"/>
                </a:solidFill>
                <a:latin typeface="IBM Plex Sans" pitchFamily="34" charset="0"/>
                <a:ea typeface="IBM Plex Sans" pitchFamily="34" charset="-122"/>
                <a:cs typeface="IBM Plex Sans" pitchFamily="34" charset="-120"/>
              </a:rPr>
              <a:t>uygulama</a:t>
            </a:r>
            <a:r>
              <a:rPr lang="en-US" sz="1300" dirty="0">
                <a:solidFill>
                  <a:srgbClr val="45505F"/>
                </a:solidFill>
                <a:latin typeface="IBM Plex Sans" pitchFamily="34" charset="0"/>
                <a:ea typeface="IBM Plex Sans" pitchFamily="34" charset="-122"/>
                <a:cs typeface="IBM Plex Sans" pitchFamily="34" charset="-120"/>
              </a:rPr>
              <a:t> olarak ele alır: tek komutla kur, yükselt, geri al, kaldır.</a:t>
            </a:r>
            <a:endParaRPr lang="en-US" sz="1300" dirty="0"/>
          </a:p>
        </p:txBody>
      </p:sp>
      <p:sp>
        <p:nvSpPr>
          <p:cNvPr id="5" name="Text 3"/>
          <p:cNvSpPr/>
          <p:nvPr/>
        </p:nvSpPr>
        <p:spPr>
          <a:xfrm>
            <a:off x="898144" y="2397720"/>
            <a:ext cx="6473698" cy="12636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b="1" dirty="0">
                <a:solidFill>
                  <a:srgbClr val="142033"/>
                </a:solidFill>
                <a:latin typeface="IBM Plex Sans" pitchFamily="34" charset="0"/>
                <a:ea typeface="IBM Plex Sans" pitchFamily="34" charset="-122"/>
                <a:cs typeface="IBM Plex Sans" pitchFamily="34" charset="-120"/>
              </a:rPr>
              <a:t>Helm 3</a:t>
            </a:r>
            <a:r>
              <a:rPr lang="en-US" sz="1300" dirty="0">
                <a:solidFill>
                  <a:srgbClr val="45505F"/>
                </a:solidFill>
                <a:latin typeface="IBM Plex Sans" pitchFamily="34" charset="0"/>
                <a:ea typeface="IBM Plex Sans" pitchFamily="34" charset="-122"/>
                <a:cs typeface="IBM Plex Sans" pitchFamily="34" charset="-120"/>
              </a:rPr>
              <a:t>: cluster'da sunucu bileşeni (Tiller) yok; kubeconfig yetkilerinizle çalışır. Helm 2 tarihte kaldı.</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Release bilgisi hedef namespace'te </a:t>
            </a:r>
            <a:r>
              <a:rPr lang="en-US" sz="1300" b="1" dirty="0">
                <a:solidFill>
                  <a:srgbClr val="45505F"/>
                </a:solidFill>
                <a:latin typeface="IBM Plex Sans" pitchFamily="34" charset="0"/>
                <a:ea typeface="IBM Plex Sans" pitchFamily="34" charset="-122"/>
                <a:cs typeface="IBM Plex Sans" pitchFamily="34" charset="-120"/>
              </a:rPr>
              <a:t>Secret</a:t>
            </a:r>
            <a:r>
              <a:rPr lang="en-US" sz="1300" dirty="0">
                <a:solidFill>
                  <a:srgbClr val="45505F"/>
                </a:solidFill>
                <a:latin typeface="IBM Plex Sans" pitchFamily="34" charset="0"/>
                <a:ea typeface="IBM Plex Sans" pitchFamily="34" charset="-122"/>
                <a:cs typeface="IBM Plex Sans" pitchFamily="34" charset="-120"/>
              </a:rPr>
              <a:t> olarak saklanır.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Helm 3, upgrade'de </a:t>
            </a:r>
            <a:r>
              <a:rPr lang="en-US" sz="1300" b="1" dirty="0">
                <a:solidFill>
                  <a:srgbClr val="142033"/>
                </a:solidFill>
                <a:latin typeface="IBM Plex Sans" pitchFamily="34" charset="0"/>
                <a:ea typeface="IBM Plex Sans" pitchFamily="34" charset="-122"/>
                <a:cs typeface="IBM Plex Sans" pitchFamily="34" charset="-120"/>
              </a:rPr>
              <a:t>üç yönlü birleştirme</a:t>
            </a:r>
            <a:r>
              <a:rPr lang="en-US" sz="1300" dirty="0">
                <a:solidFill>
                  <a:srgbClr val="45505F"/>
                </a:solidFill>
                <a:latin typeface="IBM Plex Sans" pitchFamily="34" charset="0"/>
                <a:ea typeface="IBM Plex Sans" pitchFamily="34" charset="-122"/>
                <a:cs typeface="IBM Plex Sans" pitchFamily="34" charset="-120"/>
              </a:rPr>
              <a:t> yapar: eski chart, yeni chart ve canlı durum — elle yapılan değişiklikleri görür.</a:t>
            </a:r>
            <a:endParaRPr lang="en-US" sz="1300" dirty="0"/>
          </a:p>
        </p:txBody>
      </p:sp>
      <p:sp>
        <p:nvSpPr>
          <p:cNvPr id="6" name="Text 4"/>
          <p:cNvSpPr/>
          <p:nvPr/>
        </p:nvSpPr>
        <p:spPr>
          <a:xfrm>
            <a:off x="7445375" y="1778595"/>
            <a:ext cx="3930650" cy="491430"/>
          </a:xfrm>
          <a:prstGeom prst="roundRect">
            <a:avLst>
              <a:gd name="adj" fmla="val 12275"/>
            </a:avLst>
          </a:prstGeom>
          <a:solidFill>
            <a:srgbClr val="FDFCF9"/>
          </a:solidFill>
          <a:ln w="6350">
            <a:solidFill>
              <a:srgbClr val="E2DFD6"/>
            </a:solidFill>
            <a:prstDash val="solid"/>
          </a:ln>
        </p:spPr>
        <p:txBody>
          <a:bodyPr wrap="square" lIns="112506" tIns="112506" rIns="2397"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Chart</a:t>
            </a:r>
            <a:r>
              <a:rPr lang="en-US" sz="1300" dirty="0">
                <a:solidFill>
                  <a:srgbClr val="45505F"/>
                </a:solidFill>
                <a:latin typeface="IBM Plex Sans" pitchFamily="34" charset="0"/>
                <a:ea typeface="IBM Plex Sans" pitchFamily="34" charset="-122"/>
                <a:cs typeface="IBM Plex Sans" pitchFamily="34" charset="-120"/>
              </a:rPr>
              <a:t> — şablonlar + varsayılan değerler paketi</a:t>
            </a:r>
            <a:endParaRPr lang="en-US" sz="1300" dirty="0"/>
          </a:p>
        </p:txBody>
      </p:sp>
      <p:sp>
        <p:nvSpPr>
          <p:cNvPr id="7" name="Text 5"/>
          <p:cNvSpPr/>
          <p:nvPr/>
        </p:nvSpPr>
        <p:spPr>
          <a:xfrm>
            <a:off x="7445375" y="2365276"/>
            <a:ext cx="3930650" cy="722511"/>
          </a:xfrm>
          <a:prstGeom prst="roundRect">
            <a:avLst>
              <a:gd name="adj" fmla="val 8349"/>
            </a:avLst>
          </a:prstGeom>
          <a:solidFill>
            <a:srgbClr val="FDFCF9"/>
          </a:solidFill>
          <a:ln w="6350">
            <a:solidFill>
              <a:srgbClr val="E2DFD6"/>
            </a:solidFill>
            <a:prstDash val="solid"/>
          </a:ln>
        </p:spPr>
        <p:txBody>
          <a:bodyPr wrap="square" lIns="112506" tIns="112506" rIns="2397"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Release</a:t>
            </a:r>
            <a:r>
              <a:rPr lang="en-US" sz="1300" dirty="0">
                <a:solidFill>
                  <a:srgbClr val="45505F"/>
                </a:solidFill>
                <a:latin typeface="IBM Plex Sans" pitchFamily="34" charset="0"/>
                <a:ea typeface="IBM Plex Sans" pitchFamily="34" charset="-122"/>
                <a:cs typeface="IBM Plex Sans" pitchFamily="34" charset="-120"/>
              </a:rPr>
              <a:t> — chart'ın cluster'daki bir kurulumu; aynı chart'tan birden çok release olabilir</a:t>
            </a:r>
            <a:endParaRPr lang="en-US" sz="1300" dirty="0"/>
          </a:p>
        </p:txBody>
      </p:sp>
      <p:sp>
        <p:nvSpPr>
          <p:cNvPr id="8" name="Text 6"/>
          <p:cNvSpPr/>
          <p:nvPr/>
        </p:nvSpPr>
        <p:spPr>
          <a:xfrm>
            <a:off x="7445375" y="3183037"/>
            <a:ext cx="3930650" cy="722511"/>
          </a:xfrm>
          <a:prstGeom prst="roundRect">
            <a:avLst>
              <a:gd name="adj" fmla="val 8349"/>
            </a:avLst>
          </a:prstGeom>
          <a:solidFill>
            <a:srgbClr val="FDFCF9"/>
          </a:solidFill>
          <a:ln w="6350">
            <a:solidFill>
              <a:srgbClr val="E2DFD6"/>
            </a:solidFill>
            <a:prstDash val="solid"/>
          </a:ln>
        </p:spPr>
        <p:txBody>
          <a:bodyPr wrap="square" lIns="112506" tIns="112506" rIns="2397"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Revision</a:t>
            </a:r>
            <a:r>
              <a:rPr lang="en-US" sz="1300" dirty="0">
                <a:solidFill>
                  <a:srgbClr val="45505F"/>
                </a:solidFill>
                <a:latin typeface="IBM Plex Sans" pitchFamily="34" charset="0"/>
                <a:ea typeface="IBM Plex Sans" pitchFamily="34" charset="-122"/>
                <a:cs typeface="IBM Plex Sans" pitchFamily="34" charset="-120"/>
              </a:rPr>
              <a:t> — release'in her değişiklikte aldığı sürüm numarası</a:t>
            </a:r>
            <a:endParaRPr lang="en-US" sz="1300" dirty="0"/>
          </a:p>
        </p:txBody>
      </p:sp>
      <p:sp>
        <p:nvSpPr>
          <p:cNvPr id="9" name="Text 7"/>
          <p:cNvSpPr/>
          <p:nvPr/>
        </p:nvSpPr>
        <p:spPr>
          <a:xfrm>
            <a:off x="7445375" y="4000798"/>
            <a:ext cx="3930650" cy="722511"/>
          </a:xfrm>
          <a:prstGeom prst="roundRect">
            <a:avLst>
              <a:gd name="adj" fmla="val 8349"/>
            </a:avLst>
          </a:prstGeom>
          <a:solidFill>
            <a:srgbClr val="FDFCF9"/>
          </a:solidFill>
          <a:ln w="6350">
            <a:solidFill>
              <a:srgbClr val="E2DFD6"/>
            </a:solidFill>
            <a:prstDash val="solid"/>
          </a:ln>
        </p:spPr>
        <p:txBody>
          <a:bodyPr wrap="square" lIns="112506" tIns="112506" rIns="2397" bIns="87106"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Repository</a:t>
            </a:r>
            <a:r>
              <a:rPr lang="en-US" sz="1300" dirty="0">
                <a:solidFill>
                  <a:srgbClr val="45505F"/>
                </a:solidFill>
                <a:latin typeface="IBM Plex Sans" pitchFamily="34" charset="0"/>
                <a:ea typeface="IBM Plex Sans" pitchFamily="34" charset="-122"/>
                <a:cs typeface="IBM Plex Sans" pitchFamily="34" charset="-120"/>
              </a:rPr>
              <a:t> — chart deposu (Artifact Hub, OCI registry, Nexus)</a:t>
            </a:r>
            <a:endParaRPr lang="en-US" sz="13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6">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CHART YAPISI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Şablon + değer = manifest</a:t>
            </a:r>
            <a:endParaRPr lang="en-US" sz="3000" dirty="0"/>
          </a:p>
        </p:txBody>
      </p:sp>
      <p:sp>
        <p:nvSpPr>
          <p:cNvPr id="4" name="Text 2"/>
          <p:cNvSpPr/>
          <p:nvPr/>
        </p:nvSpPr>
        <p:spPr>
          <a:xfrm>
            <a:off x="812800" y="1775420"/>
            <a:ext cx="2667000" cy="3007122"/>
          </a:xfrm>
          <a:prstGeom prst="roundRect">
            <a:avLst>
              <a:gd name="adj" fmla="val 2857"/>
            </a:avLst>
          </a:prstGeom>
          <a:solidFill>
            <a:srgbClr val="1B2A41"/>
          </a:solidFill>
          <a:ln/>
        </p:spPr>
        <p:txBody>
          <a:bodyPr wrap="square" lIns="155482" tIns="155482" rIns="86140" bIns="155482" rtlCol="0" anchor="t">
            <a:normAutofit/>
          </a:bodyPr>
          <a:lstStyle/>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mychart/</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Chart.yaml</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values.yaml</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charts/</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templates/</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deployment.yaml</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service.yaml</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_helpers.tpl</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NOTES.txt</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README.md</a:t>
            </a:r>
            <a:endParaRPr lang="en-US" sz="1200" dirty="0"/>
          </a:p>
        </p:txBody>
      </p:sp>
      <p:sp>
        <p:nvSpPr>
          <p:cNvPr id="5" name="Text 3"/>
          <p:cNvSpPr/>
          <p:nvPr/>
        </p:nvSpPr>
        <p:spPr>
          <a:xfrm>
            <a:off x="3683000" y="1775420"/>
            <a:ext cx="3662680"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Chart.yaml</a:t>
            </a:r>
            <a:r>
              <a:rPr lang="en-US" sz="1300" dirty="0">
                <a:solidFill>
                  <a:srgbClr val="45505F"/>
                </a:solidFill>
                <a:latin typeface="IBM Plex Sans" pitchFamily="34" charset="0"/>
                <a:ea typeface="IBM Plex Sans" pitchFamily="34" charset="-122"/>
                <a:cs typeface="IBM Plex Sans" pitchFamily="34" charset="-120"/>
              </a:rPr>
              <a:t> — apiVersion: v2, name, version (chart sürümü), appVersion (uygulama sürümü), dependencies.</a:t>
            </a:r>
            <a:endParaRPr lang="en-US" sz="1300" dirty="0"/>
          </a:p>
        </p:txBody>
      </p:sp>
      <p:sp>
        <p:nvSpPr>
          <p:cNvPr id="6" name="Text 4"/>
          <p:cNvSpPr/>
          <p:nvPr/>
        </p:nvSpPr>
        <p:spPr>
          <a:xfrm>
            <a:off x="3683000" y="2570262"/>
            <a:ext cx="366268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values.yaml</a:t>
            </a:r>
            <a:r>
              <a:rPr lang="en-US" sz="1300" dirty="0">
                <a:solidFill>
                  <a:srgbClr val="45505F"/>
                </a:solidFill>
                <a:latin typeface="IBM Plex Sans" pitchFamily="34" charset="0"/>
                <a:ea typeface="IBM Plex Sans" pitchFamily="34" charset="-122"/>
                <a:cs typeface="IBM Plex Sans" pitchFamily="34" charset="-120"/>
              </a:rPr>
              <a:t> — varsayılan değerler; kullanıcı ezer.</a:t>
            </a:r>
            <a:endParaRPr lang="en-US" sz="1300" dirty="0"/>
          </a:p>
        </p:txBody>
      </p:sp>
      <p:sp>
        <p:nvSpPr>
          <p:cNvPr id="7" name="Text 5"/>
          <p:cNvSpPr/>
          <p:nvPr/>
        </p:nvSpPr>
        <p:spPr>
          <a:xfrm>
            <a:off x="3683000" y="3134023"/>
            <a:ext cx="366268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templates/</a:t>
            </a:r>
            <a:r>
              <a:rPr lang="en-US" sz="1300" dirty="0">
                <a:solidFill>
                  <a:srgbClr val="45505F"/>
                </a:solidFill>
                <a:latin typeface="IBM Plex Sans" pitchFamily="34" charset="0"/>
                <a:ea typeface="IBM Plex Sans" pitchFamily="34" charset="-122"/>
                <a:cs typeface="IBM Plex Sans" pitchFamily="34" charset="-120"/>
              </a:rPr>
              <a:t> — Go template sözdizimli manifest'ler.</a:t>
            </a:r>
            <a:endParaRPr lang="en-US" sz="1300" dirty="0"/>
          </a:p>
        </p:txBody>
      </p:sp>
      <p:sp>
        <p:nvSpPr>
          <p:cNvPr id="8" name="Text 6"/>
          <p:cNvSpPr/>
          <p:nvPr/>
        </p:nvSpPr>
        <p:spPr>
          <a:xfrm>
            <a:off x="3683000" y="3697784"/>
            <a:ext cx="366268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033"/>
                </a:solidFill>
                <a:latin typeface="IBM Plex Sans" pitchFamily="34" charset="0"/>
                <a:ea typeface="IBM Plex Sans" pitchFamily="34" charset="-122"/>
                <a:cs typeface="IBM Plex Sans" pitchFamily="34" charset="-120"/>
              </a:rPr>
              <a:t>charts/</a:t>
            </a:r>
            <a:r>
              <a:rPr lang="en-US" sz="1300" dirty="0">
                <a:solidFill>
                  <a:srgbClr val="45505F"/>
                </a:solidFill>
                <a:latin typeface="IBM Plex Sans" pitchFamily="34" charset="0"/>
                <a:ea typeface="IBM Plex Sans" pitchFamily="34" charset="-122"/>
                <a:cs typeface="IBM Plex Sans" pitchFamily="34" charset="-120"/>
              </a:rPr>
              <a:t> — bağımlı alt chart'lar.</a:t>
            </a:r>
            <a:endParaRPr lang="en-US" sz="1300" dirty="0"/>
          </a:p>
        </p:txBody>
      </p:sp>
      <p:sp>
        <p:nvSpPr>
          <p:cNvPr id="9" name="Text 7"/>
          <p:cNvSpPr/>
          <p:nvPr/>
        </p:nvSpPr>
        <p:spPr>
          <a:xfrm>
            <a:off x="7442200" y="1775420"/>
            <a:ext cx="3937000" cy="3007122"/>
          </a:xfrm>
          <a:prstGeom prst="roundRect">
            <a:avLst>
              <a:gd name="adj" fmla="val 2534"/>
            </a:avLst>
          </a:prstGeom>
          <a:solidFill>
            <a:srgbClr val="1B2A41"/>
          </a:solidFill>
          <a:ln/>
        </p:spPr>
        <p:txBody>
          <a:bodyPr wrap="square" lIns="155482" tIns="155482" rIns="48040" bIns="1300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templates/deployment.yaml</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spec:</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replicas: {{ .Values.replicaCount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image: "{{ .Values.image.repository</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 .Values.image.tag }}"</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values.yaml</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replicaCount: 2</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image: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repository: nginx</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tag: "1.27"</a:t>
            </a:r>
            <a:endParaRPr lang="en-US" sz="1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7">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HELM ILE YAŞAM DÖNGÜSÜ</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Kur, özelleştir, yükselt, geri al</a:t>
            </a:r>
            <a:endParaRPr lang="en-US" sz="3000" dirty="0"/>
          </a:p>
        </p:txBody>
      </p:sp>
      <p:sp>
        <p:nvSpPr>
          <p:cNvPr id="4" name="Text 2"/>
          <p:cNvSpPr/>
          <p:nvPr/>
        </p:nvSpPr>
        <p:spPr>
          <a:xfrm>
            <a:off x="812800" y="1775420"/>
            <a:ext cx="5181600" cy="3007122"/>
          </a:xfrm>
          <a:prstGeom prst="roundRect">
            <a:avLst>
              <a:gd name="adj" fmla="val 2534"/>
            </a:avLst>
          </a:prstGeom>
          <a:solidFill>
            <a:srgbClr val="1B2A41"/>
          </a:solidFill>
          <a:ln/>
        </p:spPr>
        <p:txBody>
          <a:bodyPr wrap="square" lIns="155482" tIns="155482" rIns="10702" bIns="1300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depo</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helm repo add bitnami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https://charts.bitnami.com/bitnami</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helm repo update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helm search repo wordpress</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kurulum + değer ezme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helm install my-site bitnami/wordpress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-n web --create-namespace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--set replicaCount=2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-f custom-values.yaml</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helm list -A</a:t>
            </a:r>
            <a:endParaRPr lang="en-US" sz="1200" dirty="0"/>
          </a:p>
        </p:txBody>
      </p:sp>
      <p:sp>
        <p:nvSpPr>
          <p:cNvPr id="5" name="Text 3"/>
          <p:cNvSpPr/>
          <p:nvPr/>
        </p:nvSpPr>
        <p:spPr>
          <a:xfrm>
            <a:off x="6197600" y="1775420"/>
            <a:ext cx="5181600" cy="3007122"/>
          </a:xfrm>
          <a:prstGeom prst="roundRect">
            <a:avLst>
              <a:gd name="adj" fmla="val 2534"/>
            </a:avLst>
          </a:prstGeom>
          <a:solidFill>
            <a:srgbClr val="1B2A41"/>
          </a:solidFill>
          <a:ln/>
        </p:spPr>
        <p:txBody>
          <a:bodyPr wrap="square" lIns="155482" tIns="155482" rIns="10702" bIns="130082" rtlCol="0" anchor="t">
            <a:normAutofit/>
          </a:bodyPr>
          <a:lstStyle/>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yükseltme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helm upgrade my-site bitnami/wordpress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--version 24.1.0 -f custom-values.yaml</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helm history my-site</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geri alma: yeni bir revizyon oluşur</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helm rollback my-site 1</a:t>
            </a:r>
            <a:endParaRPr lang="en-US" sz="1200" dirty="0"/>
          </a:p>
          <a:p>
            <a:pPr marL="0" indent="0" algn="l">
              <a:lnSpc>
                <a:spcPts val="1740"/>
              </a:lnSpc>
              <a:buNone/>
            </a:pPr>
            <a:endParaRPr lang="en-US" sz="1200" dirty="0"/>
          </a:p>
          <a:p>
            <a:pPr marL="0" indent="0" algn="l">
              <a:lnSpc>
                <a:spcPts val="1740"/>
              </a:lnSpc>
              <a:buNone/>
            </a:pPr>
            <a:r>
              <a:rPr lang="en-US" sz="1200" dirty="0">
                <a:solidFill>
                  <a:srgbClr val="8FA3BF"/>
                </a:solidFill>
                <a:latin typeface="JetBrains Mono" pitchFamily="49" charset="0"/>
                <a:ea typeface="JetBrains Mono" pitchFamily="49" charset="-122"/>
                <a:cs typeface="JetBrains Mono" pitchFamily="49" charset="-120"/>
              </a:rPr>
              <a:t># inceleme / kaldırma</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helm get values my-site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helm pull --untar bitnami/wordpress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helm uninstall my-site</a:t>
            </a:r>
            <a:endParaRPr lang="en-US" sz="1200" dirty="0"/>
          </a:p>
        </p:txBody>
      </p:sp>
      <p:sp>
        <p:nvSpPr>
          <p:cNvPr id="6" name="Text 4"/>
          <p:cNvSpPr/>
          <p:nvPr/>
        </p:nvSpPr>
        <p:spPr>
          <a:xfrm>
            <a:off x="812800" y="5036542"/>
            <a:ext cx="1088339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5505F"/>
                </a:solidFill>
                <a:latin typeface="IBM Plex Sans" pitchFamily="34" charset="0"/>
                <a:ea typeface="IBM Plex Sans" pitchFamily="34" charset="-122"/>
                <a:cs typeface="IBM Plex Sans" pitchFamily="34" charset="-120"/>
              </a:rPr>
              <a:t>Değer önceliği (düşükten yükseğe): chart'ın values.yaml'ı → </a:t>
            </a:r>
            <a:r>
              <a:rPr lang="en-US" sz="1300" b="1" dirty="0">
                <a:solidFill>
                  <a:srgbClr val="142033"/>
                </a:solidFill>
                <a:latin typeface="IBM Plex Sans" pitchFamily="34" charset="0"/>
                <a:ea typeface="IBM Plex Sans" pitchFamily="34" charset="-122"/>
                <a:cs typeface="IBM Plex Sans" pitchFamily="34" charset="-120"/>
              </a:rPr>
              <a:t>-f</a:t>
            </a:r>
            <a:r>
              <a:rPr lang="en-US" sz="1300" dirty="0">
                <a:solidFill>
                  <a:srgbClr val="45505F"/>
                </a:solidFill>
                <a:latin typeface="IBM Plex Sans" pitchFamily="34" charset="0"/>
                <a:ea typeface="IBM Plex Sans" pitchFamily="34" charset="-122"/>
                <a:cs typeface="IBM Plex Sans" pitchFamily="34" charset="-120"/>
              </a:rPr>
              <a:t> dosyaları (sırayla) → </a:t>
            </a:r>
            <a:r>
              <a:rPr lang="en-US" sz="1300" b="1" dirty="0">
                <a:solidFill>
                  <a:srgbClr val="142033"/>
                </a:solidFill>
                <a:latin typeface="IBM Plex Sans" pitchFamily="34" charset="0"/>
                <a:ea typeface="IBM Plex Sans" pitchFamily="34" charset="-122"/>
                <a:cs typeface="IBM Plex Sans" pitchFamily="34" charset="-120"/>
              </a:rPr>
              <a:t>--set</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98">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7905"/>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2F6BD8"/>
                </a:solidFill>
                <a:latin typeface="IBM Plex Sans" pitchFamily="34" charset="0"/>
                <a:ea typeface="IBM Plex Sans" pitchFamily="34" charset="-122"/>
                <a:cs typeface="IBM Plex Sans" pitchFamily="34" charset="-120"/>
              </a:rPr>
              <a:t>KUSTOMIZE</a:t>
            </a:r>
            <a:endParaRPr lang="en-US" sz="1159" dirty="0"/>
          </a:p>
        </p:txBody>
      </p:sp>
      <p:sp>
        <p:nvSpPr>
          <p:cNvPr id="3" name="Text 1"/>
          <p:cNvSpPr>
            <a:spLocks noGrp="1"/>
          </p:cNvSpPr>
          <p:nvPr>
            <p:ph type="title"/>
          </p:nvPr>
        </p:nvSpPr>
        <p:spPr>
          <a:xfrm>
            <a:off x="812800" y="1091505"/>
            <a:ext cx="10883392" cy="423366"/>
          </a:xfrm>
          <a:prstGeom prst="rect">
            <a:avLst/>
          </a:prstGeom>
          <a:noFill/>
          <a:ln/>
        </p:spPr>
        <p:txBody>
          <a:bodyPr wrap="square" lIns="0" tIns="0" rIns="0" bIns="0" rtlCol="0" anchor="t">
            <a:normAutofit/>
          </a:bodyPr>
          <a:lstStyle/>
          <a:p>
            <a:pPr marL="0" indent="0" algn="l">
              <a:lnSpc>
                <a:spcPts val="3166"/>
              </a:lnSpc>
              <a:buNone/>
            </a:pPr>
            <a:r>
              <a:rPr lang="en-US" sz="2878" b="1" i="0" dirty="0">
                <a:solidFill>
                  <a:srgbClr val="142033"/>
                </a:solidFill>
                <a:latin typeface="IBM Plex Sans" pitchFamily="34" charset="0"/>
                <a:ea typeface="IBM Plex Sans" pitchFamily="34" charset="-122"/>
                <a:cs typeface="IBM Plex Sans" pitchFamily="34" charset="-120"/>
              </a:rPr>
              <a:t>Şablonsuz özelleştirme: base + overlay</a:t>
            </a:r>
            <a:endParaRPr lang="en-US" sz="2878" dirty="0"/>
          </a:p>
        </p:txBody>
      </p:sp>
      <p:sp>
        <p:nvSpPr>
          <p:cNvPr id="4" name="Text 2"/>
          <p:cNvSpPr/>
          <p:nvPr/>
        </p:nvSpPr>
        <p:spPr>
          <a:xfrm>
            <a:off x="812800" y="1743472"/>
            <a:ext cx="3175000" cy="3082330"/>
          </a:xfrm>
          <a:prstGeom prst="roundRect">
            <a:avLst>
              <a:gd name="adj" fmla="val 2472"/>
            </a:avLst>
          </a:prstGeom>
          <a:solidFill>
            <a:srgbClr val="1B2A41"/>
          </a:solidFill>
          <a:ln/>
        </p:spPr>
        <p:txBody>
          <a:bodyPr wrap="square" lIns="155482" tIns="155482" rIns="70900" bIns="155482" rtlCol="0" anchor="t">
            <a:normAutofit/>
          </a:bodyPr>
          <a:lstStyle/>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k8s/</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base/</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kustomization.yaml</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deployment.yaml</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service.yaml</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overlays/</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dev/</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 kustomization.yaml</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prod/</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kustomization.yaml</a:t>
            </a:r>
            <a:endParaRPr lang="en-US" sz="1200" dirty="0"/>
          </a:p>
          <a:p>
            <a:pPr marL="0" indent="0" algn="l">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replicas-patch.yaml</a:t>
            </a:r>
            <a:endParaRPr lang="en-US" sz="1200" dirty="0"/>
          </a:p>
        </p:txBody>
      </p:sp>
      <p:sp>
        <p:nvSpPr>
          <p:cNvPr id="5" name="Text 3"/>
          <p:cNvSpPr/>
          <p:nvPr/>
        </p:nvSpPr>
        <p:spPr>
          <a:xfrm>
            <a:off x="4191000" y="1743472"/>
            <a:ext cx="3302000" cy="3082330"/>
          </a:xfrm>
          <a:prstGeom prst="roundRect">
            <a:avLst>
              <a:gd name="adj" fmla="val 2472"/>
            </a:avLst>
          </a:prstGeom>
          <a:solidFill>
            <a:srgbClr val="1B2A41"/>
          </a:solidFill>
          <a:ln/>
        </p:spPr>
        <p:txBody>
          <a:bodyPr wrap="square" lIns="155482" tIns="155482" rIns="67090" bIns="130082" rtlCol="0" anchor="t">
            <a:normAutofit/>
          </a:bodyPr>
          <a:lstStyle/>
          <a:p>
            <a:pPr marL="0" indent="0" algn="l">
              <a:lnSpc>
                <a:spcPts val="1648"/>
              </a:lnSpc>
              <a:buNone/>
            </a:pPr>
            <a:r>
              <a:rPr lang="en-US" sz="1136" dirty="0">
                <a:solidFill>
                  <a:srgbClr val="8FA3BF"/>
                </a:solidFill>
                <a:latin typeface="JetBrains Mono" pitchFamily="49" charset="0"/>
                <a:ea typeface="JetBrains Mono" pitchFamily="49" charset="-122"/>
                <a:cs typeface="JetBrains Mono" pitchFamily="49" charset="-120"/>
              </a:rPr>
              <a:t># overlays/prod/kustomization.yaml</a:t>
            </a:r>
            <a:endParaRPr lang="en-US" sz="1136" dirty="0"/>
          </a:p>
          <a:p>
            <a:pPr marL="0" indent="0" algn="l">
              <a:lnSpc>
                <a:spcPts val="1648"/>
              </a:lnSpc>
              <a:buNone/>
            </a:pPr>
            <a:r>
              <a:rPr lang="en-US" sz="1136" dirty="0">
                <a:solidFill>
                  <a:srgbClr val="E6EDF5"/>
                </a:solidFill>
                <a:latin typeface="JetBrains Mono" pitchFamily="49" charset="0"/>
                <a:ea typeface="JetBrains Mono" pitchFamily="49" charset="-122"/>
                <a:cs typeface="JetBrains Mono" pitchFamily="49" charset="-120"/>
              </a:rPr>
              <a:t>resources:</a:t>
            </a:r>
            <a:endParaRPr lang="en-US" sz="1136" dirty="0"/>
          </a:p>
          <a:p>
            <a:pPr marL="0" indent="0" algn="l">
              <a:lnSpc>
                <a:spcPts val="1648"/>
              </a:lnSpc>
              <a:buNone/>
            </a:pPr>
            <a:r>
              <a:rPr lang="en-US" sz="1136" dirty="0">
                <a:solidFill>
                  <a:srgbClr val="E6EDF5"/>
                </a:solidFill>
                <a:latin typeface="JetBrains Mono" pitchFamily="49" charset="0"/>
                <a:ea typeface="JetBrains Mono" pitchFamily="49" charset="-122"/>
                <a:cs typeface="JetBrains Mono" pitchFamily="49" charset="-120"/>
              </a:rPr>
              <a:t>- ../../base</a:t>
            </a:r>
            <a:endParaRPr lang="en-US" sz="1136" dirty="0"/>
          </a:p>
          <a:p>
            <a:pPr marL="0" indent="0" algn="l">
              <a:lnSpc>
                <a:spcPts val="1648"/>
              </a:lnSpc>
              <a:buNone/>
            </a:pPr>
            <a:r>
              <a:rPr lang="en-US" sz="1136" dirty="0">
                <a:solidFill>
                  <a:srgbClr val="E6EDF5"/>
                </a:solidFill>
                <a:latin typeface="JetBrains Mono" pitchFamily="49" charset="0"/>
                <a:ea typeface="JetBrains Mono" pitchFamily="49" charset="-122"/>
                <a:cs typeface="JetBrains Mono" pitchFamily="49" charset="-120"/>
              </a:rPr>
              <a:t>namespace: prod</a:t>
            </a:r>
            <a:endParaRPr lang="en-US" sz="1136" dirty="0"/>
          </a:p>
          <a:p>
            <a:pPr marL="0" indent="0" algn="l">
              <a:lnSpc>
                <a:spcPts val="1648"/>
              </a:lnSpc>
              <a:buNone/>
            </a:pPr>
            <a:r>
              <a:rPr lang="en-US" sz="1136" dirty="0">
                <a:solidFill>
                  <a:srgbClr val="E6EDF5"/>
                </a:solidFill>
                <a:latin typeface="JetBrains Mono" pitchFamily="49" charset="0"/>
                <a:ea typeface="JetBrains Mono" pitchFamily="49" charset="-122"/>
                <a:cs typeface="JetBrains Mono" pitchFamily="49" charset="-120"/>
              </a:rPr>
              <a:t>namePrefix: prod-</a:t>
            </a:r>
            <a:endParaRPr lang="en-US" sz="1136" dirty="0"/>
          </a:p>
          <a:p>
            <a:pPr marL="0" indent="0" algn="l">
              <a:lnSpc>
                <a:spcPts val="1648"/>
              </a:lnSpc>
              <a:buNone/>
            </a:pPr>
            <a:r>
              <a:rPr lang="en-US" sz="1136" dirty="0">
                <a:solidFill>
                  <a:srgbClr val="E6EDF5"/>
                </a:solidFill>
                <a:latin typeface="JetBrains Mono" pitchFamily="49" charset="0"/>
                <a:ea typeface="JetBrains Mono" pitchFamily="49" charset="-122"/>
                <a:cs typeface="JetBrains Mono" pitchFamily="49" charset="-120"/>
              </a:rPr>
              <a:t>commonLabels:</a:t>
            </a:r>
            <a:endParaRPr lang="en-US" sz="1136" dirty="0"/>
          </a:p>
          <a:p>
            <a:pPr marL="0" indent="0" algn="l">
              <a:lnSpc>
                <a:spcPts val="1648"/>
              </a:lnSpc>
              <a:buNone/>
            </a:pPr>
            <a:r>
              <a:rPr lang="en-US" sz="1136" dirty="0">
                <a:solidFill>
                  <a:srgbClr val="E6EDF5"/>
                </a:solidFill>
                <a:latin typeface="JetBrains Mono" pitchFamily="49" charset="0"/>
                <a:ea typeface="JetBrains Mono" pitchFamily="49" charset="-122"/>
                <a:cs typeface="JetBrains Mono" pitchFamily="49" charset="-120"/>
              </a:rPr>
              <a:t>  env: prod</a:t>
            </a:r>
            <a:endParaRPr lang="en-US" sz="1136" dirty="0"/>
          </a:p>
          <a:p>
            <a:pPr marL="0" indent="0" algn="l">
              <a:lnSpc>
                <a:spcPts val="1648"/>
              </a:lnSpc>
              <a:buNone/>
            </a:pPr>
            <a:r>
              <a:rPr lang="en-US" sz="1136" dirty="0">
                <a:solidFill>
                  <a:srgbClr val="E6EDF5"/>
                </a:solidFill>
                <a:latin typeface="JetBrains Mono" pitchFamily="49" charset="0"/>
                <a:ea typeface="JetBrains Mono" pitchFamily="49" charset="-122"/>
                <a:cs typeface="JetBrains Mono" pitchFamily="49" charset="-120"/>
              </a:rPr>
              <a:t>images:</a:t>
            </a:r>
            <a:endParaRPr lang="en-US" sz="1136" dirty="0"/>
          </a:p>
          <a:p>
            <a:pPr marL="0" indent="0" algn="l">
              <a:lnSpc>
                <a:spcPts val="1648"/>
              </a:lnSpc>
              <a:buNone/>
            </a:pPr>
            <a:r>
              <a:rPr lang="en-US" sz="1136" dirty="0">
                <a:solidFill>
                  <a:srgbClr val="E6EDF5"/>
                </a:solidFill>
                <a:latin typeface="JetBrains Mono" pitchFamily="49" charset="0"/>
                <a:ea typeface="JetBrains Mono" pitchFamily="49" charset="-122"/>
                <a:cs typeface="JetBrains Mono" pitchFamily="49" charset="-120"/>
              </a:rPr>
              <a:t>- name: nginx</a:t>
            </a:r>
            <a:endParaRPr lang="en-US" sz="1136" dirty="0"/>
          </a:p>
          <a:p>
            <a:pPr marL="0" indent="0" algn="l">
              <a:lnSpc>
                <a:spcPts val="1648"/>
              </a:lnSpc>
              <a:buNone/>
            </a:pPr>
            <a:r>
              <a:rPr lang="en-US" sz="1136" dirty="0">
                <a:solidFill>
                  <a:srgbClr val="E6EDF5"/>
                </a:solidFill>
                <a:latin typeface="JetBrains Mono" pitchFamily="49" charset="0"/>
                <a:ea typeface="JetBrains Mono" pitchFamily="49" charset="-122"/>
                <a:cs typeface="JetBrains Mono" pitchFamily="49" charset="-120"/>
              </a:rPr>
              <a:t>  newTag: "1.27"</a:t>
            </a:r>
            <a:endParaRPr lang="en-US" sz="1136" dirty="0"/>
          </a:p>
          <a:p>
            <a:pPr marL="0" indent="0" algn="l">
              <a:lnSpc>
                <a:spcPts val="1648"/>
              </a:lnSpc>
              <a:buNone/>
            </a:pPr>
            <a:r>
              <a:rPr lang="en-US" sz="1136" dirty="0">
                <a:solidFill>
                  <a:srgbClr val="E6EDF5"/>
                </a:solidFill>
                <a:latin typeface="JetBrains Mono" pitchFamily="49" charset="0"/>
                <a:ea typeface="JetBrains Mono" pitchFamily="49" charset="-122"/>
                <a:cs typeface="JetBrains Mono" pitchFamily="49" charset="-120"/>
              </a:rPr>
              <a:t>patches:</a:t>
            </a:r>
            <a:endParaRPr lang="en-US" sz="1136" dirty="0"/>
          </a:p>
          <a:p>
            <a:pPr marL="0" indent="0" algn="l">
              <a:lnSpc>
                <a:spcPts val="1648"/>
              </a:lnSpc>
              <a:buNone/>
            </a:pPr>
            <a:r>
              <a:rPr lang="en-US" sz="1136" dirty="0">
                <a:solidFill>
                  <a:srgbClr val="E6EDF5"/>
                </a:solidFill>
                <a:latin typeface="JetBrains Mono" pitchFamily="49" charset="0"/>
                <a:ea typeface="JetBrains Mono" pitchFamily="49" charset="-122"/>
                <a:cs typeface="JetBrains Mono" pitchFamily="49" charset="-120"/>
              </a:rPr>
              <a:t>- path: replicas-patch.yaml</a:t>
            </a:r>
            <a:endParaRPr lang="en-US" sz="1136" dirty="0"/>
          </a:p>
        </p:txBody>
      </p:sp>
      <p:sp>
        <p:nvSpPr>
          <p:cNvPr id="6" name="Text 4"/>
          <p:cNvSpPr/>
          <p:nvPr/>
        </p:nvSpPr>
        <p:spPr>
          <a:xfrm>
            <a:off x="7696200" y="1743472"/>
            <a:ext cx="379349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Saf YAML; şablon dili yok. kubectl'e gömülü:</a:t>
            </a:r>
            <a:endParaRPr lang="en-US" sz="1300" dirty="0"/>
          </a:p>
        </p:txBody>
      </p:sp>
      <p:sp>
        <p:nvSpPr>
          <p:cNvPr id="7" name="Text 5"/>
          <p:cNvSpPr/>
          <p:nvPr/>
        </p:nvSpPr>
        <p:spPr>
          <a:xfrm>
            <a:off x="7696200" y="2076152"/>
            <a:ext cx="37934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033"/>
                </a:solidFill>
                <a:latin typeface="JetBrains Mono" pitchFamily="49" charset="0"/>
                <a:ea typeface="JetBrains Mono" pitchFamily="49" charset="-122"/>
                <a:cs typeface="JetBrains Mono" pitchFamily="49" charset="-120"/>
              </a:rPr>
              <a:t>kubectl kustomize overlays/prod</a:t>
            </a:r>
            <a:endParaRPr lang="en-US" sz="1200" dirty="0"/>
          </a:p>
          <a:p>
            <a:pPr marL="0" indent="0" algn="l">
              <a:lnSpc>
                <a:spcPts val="1680"/>
              </a:lnSpc>
              <a:buNone/>
            </a:pPr>
            <a:r>
              <a:rPr lang="en-US" sz="1200" dirty="0">
                <a:solidFill>
                  <a:srgbClr val="142033"/>
                </a:solidFill>
                <a:latin typeface="JetBrains Mono" pitchFamily="49" charset="0"/>
                <a:ea typeface="JetBrains Mono" pitchFamily="49" charset="-122"/>
                <a:cs typeface="JetBrains Mono" pitchFamily="49" charset="-120"/>
              </a:rPr>
              <a:t>kubectl apply -k overlays/prod</a:t>
            </a:r>
            <a:endParaRPr lang="en-US" sz="1200" dirty="0"/>
          </a:p>
        </p:txBody>
      </p:sp>
      <p:sp>
        <p:nvSpPr>
          <p:cNvPr id="8" name="Text 6"/>
          <p:cNvSpPr/>
          <p:nvPr/>
        </p:nvSpPr>
        <p:spPr>
          <a:xfrm>
            <a:off x="7696200" y="2604393"/>
            <a:ext cx="379349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05F"/>
                </a:solidFill>
                <a:latin typeface="IBM Plex Sans" pitchFamily="34" charset="0"/>
                <a:ea typeface="IBM Plex Sans" pitchFamily="34" charset="-122"/>
                <a:cs typeface="IBM Plex Sans" pitchFamily="34" charset="-120"/>
              </a:rPr>
              <a:t>Patch türleri: strategic merge ve JSON 6902. </a:t>
            </a:r>
            <a:r>
              <a:rPr lang="en-US" sz="1300" b="1" dirty="0">
                <a:solidFill>
                  <a:srgbClr val="142033"/>
                </a:solidFill>
                <a:latin typeface="IBM Plex Sans" pitchFamily="34" charset="0"/>
                <a:ea typeface="IBM Plex Sans" pitchFamily="34" charset="-122"/>
                <a:cs typeface="IBM Plex Sans" pitchFamily="34" charset="-120"/>
              </a:rPr>
              <a:t>Components</a:t>
            </a:r>
            <a:r>
              <a:rPr lang="en-US" sz="1300" dirty="0">
                <a:solidFill>
                  <a:srgbClr val="45505F"/>
                </a:solidFill>
                <a:latin typeface="IBM Plex Sans" pitchFamily="34" charset="0"/>
                <a:ea typeface="IBM Plex Sans" pitchFamily="34" charset="-122"/>
                <a:cs typeface="IBM Plex Sans" pitchFamily="34" charset="-120"/>
              </a:rPr>
              <a:t> ile isteğe bağlı özellikler.</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5092502"/>
          <a:ext cx="10553700" cy="952798"/>
        </p:xfrm>
        <a:graphic>
          <a:graphicData uri="http://schemas.openxmlformats.org/drawingml/2006/table">
            <a:tbl>
              <a:tblPr/>
              <a:tblGrid>
                <a:gridCol w="2532888">
                  <a:extLst>
                    <a:ext uri="{9D8B030D-6E8A-4147-A177-3AD203B41FA5}">
                      <a16:colId xmlns:a16="http://schemas.microsoft.com/office/drawing/2014/main" val="20000"/>
                    </a:ext>
                  </a:extLst>
                </a:gridCol>
                <a:gridCol w="4010406">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tblGrid>
              <a:tr h="317599">
                <a:tc>
                  <a:txBody>
                    <a:bodyPr/>
                    <a:lstStyle/>
                    <a:p>
                      <a:pPr marL="0" indent="0">
                        <a:lnSpc>
                          <a:spcPts val="1601"/>
                        </a:lnSpc>
                        <a:buNone/>
                      </a:pPr>
                      <a:endParaRPr lang="en-US" sz="1144" dirty="0">
                        <a:latin typeface="IBM Plex Sans" charset="0"/>
                        <a:ea typeface="IBM Plex Sans" charset="0"/>
                        <a:cs typeface="IBM Plex Sans" charset="0"/>
                      </a:endParaRPr>
                    </a:p>
                  </a:txBody>
                  <a:tcPr marL="50840" marR="50840" marT="50840" marB="508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01"/>
                        </a:lnSpc>
                        <a:buNone/>
                      </a:pPr>
                      <a:r>
                        <a:rPr lang="en-US" sz="1144" b="1" dirty="0">
                          <a:solidFill>
                            <a:srgbClr val="142033"/>
                          </a:solidFill>
                          <a:latin typeface="IBM Plex Sans" pitchFamily="34" charset="0"/>
                          <a:ea typeface="IBM Plex Sans" pitchFamily="34" charset="-122"/>
                          <a:cs typeface="IBM Plex Sans" pitchFamily="34" charset="-120"/>
                        </a:rPr>
                        <a:t>Helm</a:t>
                      </a:r>
                      <a:endParaRPr lang="en-US" sz="1144" dirty="0">
                        <a:latin typeface="IBM Plex Sans" charset="0"/>
                        <a:ea typeface="IBM Plex Sans" charset="0"/>
                        <a:cs typeface="IBM Plex Sans" charset="0"/>
                      </a:endParaRPr>
                    </a:p>
                  </a:txBody>
                  <a:tcPr marL="50840" marR="50840" marT="50840" marB="508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01"/>
                        </a:lnSpc>
                        <a:buNone/>
                      </a:pPr>
                      <a:r>
                        <a:rPr lang="en-US" sz="1144" b="1" dirty="0">
                          <a:solidFill>
                            <a:srgbClr val="142033"/>
                          </a:solidFill>
                          <a:latin typeface="IBM Plex Sans" pitchFamily="34" charset="0"/>
                          <a:ea typeface="IBM Plex Sans" pitchFamily="34" charset="-122"/>
                          <a:cs typeface="IBM Plex Sans" pitchFamily="34" charset="-120"/>
                        </a:rPr>
                        <a:t>Kustomize</a:t>
                      </a:r>
                      <a:endParaRPr lang="en-US" sz="1144" dirty="0">
                        <a:latin typeface="IBM Plex Sans" charset="0"/>
                        <a:ea typeface="IBM Plex Sans" charset="0"/>
                        <a:cs typeface="IBM Plex Sans" charset="0"/>
                      </a:endParaRPr>
                    </a:p>
                  </a:txBody>
                  <a:tcPr marL="50840" marR="50840" marT="50840" marB="508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17599">
                <a:tc>
                  <a:txBody>
                    <a:bodyPr/>
                    <a:lstStyle/>
                    <a:p>
                      <a:pPr marL="0" indent="0">
                        <a:lnSpc>
                          <a:spcPts val="1601"/>
                        </a:lnSpc>
                        <a:buNone/>
                      </a:pPr>
                      <a:r>
                        <a:rPr lang="en-US" sz="1144" dirty="0">
                          <a:solidFill>
                            <a:srgbClr val="45505F"/>
                          </a:solidFill>
                          <a:latin typeface="IBM Plex Sans" pitchFamily="34" charset="0"/>
                          <a:ea typeface="IBM Plex Sans" pitchFamily="34" charset="-122"/>
                          <a:cs typeface="IBM Plex Sans" pitchFamily="34" charset="-120"/>
                        </a:rPr>
                        <a:t>Yaklaşım</a:t>
                      </a:r>
                      <a:endParaRPr lang="en-US" sz="1144" dirty="0">
                        <a:latin typeface="IBM Plex Sans" charset="0"/>
                        <a:ea typeface="IBM Plex Sans" charset="0"/>
                        <a:cs typeface="IBM Plex Sans" charset="0"/>
                      </a:endParaRPr>
                    </a:p>
                  </a:txBody>
                  <a:tcPr marL="50840" marR="50840" marT="50840" marB="508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01"/>
                        </a:lnSpc>
                        <a:buNone/>
                      </a:pPr>
                      <a:r>
                        <a:rPr lang="en-US" sz="1144" dirty="0">
                          <a:solidFill>
                            <a:srgbClr val="45505F"/>
                          </a:solidFill>
                          <a:latin typeface="IBM Plex Sans" pitchFamily="34" charset="0"/>
                          <a:ea typeface="IBM Plex Sans" pitchFamily="34" charset="-122"/>
                          <a:cs typeface="IBM Plex Sans" pitchFamily="34" charset="-120"/>
                        </a:rPr>
                        <a:t>Şablon + değer, paketleme</a:t>
                      </a:r>
                      <a:endParaRPr lang="en-US" sz="1144" dirty="0">
                        <a:latin typeface="IBM Plex Sans" charset="0"/>
                        <a:ea typeface="IBM Plex Sans" charset="0"/>
                        <a:cs typeface="IBM Plex Sans" charset="0"/>
                      </a:endParaRPr>
                    </a:p>
                  </a:txBody>
                  <a:tcPr marL="50840" marR="50840" marT="50840" marB="508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01"/>
                        </a:lnSpc>
                        <a:buNone/>
                      </a:pPr>
                      <a:r>
                        <a:rPr lang="en-US" sz="1144" dirty="0">
                          <a:solidFill>
                            <a:srgbClr val="45505F"/>
                          </a:solidFill>
                          <a:latin typeface="IBM Plex Sans" pitchFamily="34" charset="0"/>
                          <a:ea typeface="IBM Plex Sans" pitchFamily="34" charset="-122"/>
                          <a:cs typeface="IBM Plex Sans" pitchFamily="34" charset="-120"/>
                        </a:rPr>
                        <a:t>Base üzerine yama</a:t>
                      </a:r>
                      <a:endParaRPr lang="en-US" sz="1144" dirty="0">
                        <a:latin typeface="IBM Plex Sans" charset="0"/>
                        <a:ea typeface="IBM Plex Sans" charset="0"/>
                        <a:cs typeface="IBM Plex Sans" charset="0"/>
                      </a:endParaRPr>
                    </a:p>
                  </a:txBody>
                  <a:tcPr marL="50840" marR="50840" marT="50840" marB="508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17599">
                <a:tc>
                  <a:txBody>
                    <a:bodyPr/>
                    <a:lstStyle/>
                    <a:p>
                      <a:pPr marL="0" indent="0">
                        <a:lnSpc>
                          <a:spcPts val="1601"/>
                        </a:lnSpc>
                        <a:buNone/>
                      </a:pPr>
                      <a:r>
                        <a:rPr lang="en-US" sz="1144" dirty="0">
                          <a:solidFill>
                            <a:srgbClr val="45505F"/>
                          </a:solidFill>
                          <a:latin typeface="IBM Plex Sans" pitchFamily="34" charset="0"/>
                          <a:ea typeface="IBM Plex Sans" pitchFamily="34" charset="-122"/>
                          <a:cs typeface="IBM Plex Sans" pitchFamily="34" charset="-120"/>
                        </a:rPr>
                        <a:t>Sürüm / rollback</a:t>
                      </a:r>
                      <a:endParaRPr lang="en-US" sz="1144" dirty="0">
                        <a:latin typeface="IBM Plex Sans" charset="0"/>
                        <a:ea typeface="IBM Plex Sans" charset="0"/>
                        <a:cs typeface="IBM Plex Sans" charset="0"/>
                      </a:endParaRPr>
                    </a:p>
                  </a:txBody>
                  <a:tcPr marL="50840" marR="50840" marT="50840" marB="508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01"/>
                        </a:lnSpc>
                        <a:buNone/>
                      </a:pPr>
                      <a:r>
                        <a:rPr lang="en-US" sz="1144" dirty="0">
                          <a:solidFill>
                            <a:srgbClr val="45505F"/>
                          </a:solidFill>
                          <a:latin typeface="IBM Plex Sans" pitchFamily="34" charset="0"/>
                          <a:ea typeface="IBM Plex Sans" pitchFamily="34" charset="-122"/>
                          <a:cs typeface="IBM Plex Sans" pitchFamily="34" charset="-120"/>
                        </a:rPr>
                        <a:t>Var (release, revision)</a:t>
                      </a:r>
                      <a:endParaRPr lang="en-US" sz="1144" dirty="0">
                        <a:latin typeface="IBM Plex Sans" charset="0"/>
                        <a:ea typeface="IBM Plex Sans" charset="0"/>
                        <a:cs typeface="IBM Plex Sans" charset="0"/>
                      </a:endParaRPr>
                    </a:p>
                  </a:txBody>
                  <a:tcPr marL="50840" marR="50840" marT="50840" marB="508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01"/>
                        </a:lnSpc>
                        <a:buNone/>
                      </a:pPr>
                      <a:r>
                        <a:rPr lang="en-US" sz="1144" dirty="0">
                          <a:solidFill>
                            <a:srgbClr val="45505F"/>
                          </a:solidFill>
                          <a:latin typeface="IBM Plex Sans" pitchFamily="34" charset="0"/>
                          <a:ea typeface="IBM Plex Sans" pitchFamily="34" charset="-122"/>
                          <a:cs typeface="IBM Plex Sans" pitchFamily="34" charset="-120"/>
                        </a:rPr>
                        <a:t>Yok (Git'e bırakır)</a:t>
                      </a:r>
                      <a:endParaRPr lang="en-US" sz="1144" dirty="0">
                        <a:latin typeface="IBM Plex Sans" charset="0"/>
                        <a:ea typeface="IBM Plex Sans" charset="0"/>
                        <a:cs typeface="IBM Plex Sans" charset="0"/>
                      </a:endParaRPr>
                    </a:p>
                  </a:txBody>
                  <a:tcPr marL="50840" marR="50840" marT="50840" marB="508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99">
    <p:bg>
      <p:bgPr>
        <a:solidFill>
          <a:srgbClr val="142033"/>
        </a:solidFill>
        <a:effectLst/>
      </p:bgPr>
    </p:bg>
    <p:spTree>
      <p:nvGrpSpPr>
        <p:cNvPr id="1" name=""/>
        <p:cNvGrpSpPr/>
        <p:nvPr/>
      </p:nvGrpSpPr>
      <p:grpSpPr>
        <a:xfrm>
          <a:off x="0" y="0"/>
          <a:ext cx="0" cy="0"/>
          <a:chOff x="0" y="0"/>
          <a:chExt cx="0" cy="0"/>
        </a:xfrm>
      </p:grpSpPr>
      <p:sp>
        <p:nvSpPr>
          <p:cNvPr id="2" name="Text 0"/>
          <p:cNvSpPr/>
          <p:nvPr/>
        </p:nvSpPr>
        <p:spPr>
          <a:xfrm>
            <a:off x="812800" y="24600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IBM Plex Sans" pitchFamily="34" charset="0"/>
                <a:ea typeface="IBM Plex Sans" pitchFamily="34" charset="-122"/>
                <a:cs typeface="IBM Plex Sans" pitchFamily="34" charset="-120"/>
              </a:rPr>
              <a:t>BÖLÜM 10</a:t>
            </a:r>
            <a:endParaRPr lang="en-US" sz="1200" dirty="0"/>
          </a:p>
        </p:txBody>
      </p:sp>
      <p:sp>
        <p:nvSpPr>
          <p:cNvPr id="3" name="Text 1"/>
          <p:cNvSpPr>
            <a:spLocks noGrp="1"/>
          </p:cNvSpPr>
          <p:nvPr>
            <p:ph type="title"/>
          </p:nvPr>
        </p:nvSpPr>
        <p:spPr>
          <a:xfrm>
            <a:off x="812800" y="285115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4EF"/>
                </a:solidFill>
                <a:latin typeface="IBM Plex Sans" pitchFamily="34" charset="0"/>
                <a:ea typeface="IBM Plex Sans" pitchFamily="34" charset="-122"/>
                <a:cs typeface="IBM Plex Sans" pitchFamily="34" charset="-120"/>
              </a:rPr>
              <a:t>Troubleshooting</a:t>
            </a:r>
            <a:endParaRPr lang="en-US" sz="6000" dirty="0"/>
          </a:p>
        </p:txBody>
      </p:sp>
      <p:sp>
        <p:nvSpPr>
          <p:cNvPr id="4" name="Text 2"/>
          <p:cNvSpPr/>
          <p:nvPr/>
        </p:nvSpPr>
        <p:spPr>
          <a:xfrm>
            <a:off x="812800" y="3829050"/>
            <a:ext cx="78486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6D6"/>
                </a:solidFill>
                <a:latin typeface="IBM Plex Sans" pitchFamily="34" charset="0"/>
                <a:ea typeface="IBM Plex Sans" pitchFamily="34" charset="-122"/>
                <a:cs typeface="IBM Plex Sans" pitchFamily="34" charset="-120"/>
              </a:rPr>
              <a:t>Uygulama, control plane ve worker node arızalarına sistematik yaklaşım. CKA sınavının en ağırlıklı alanı (%30).</a:t>
            </a:r>
            <a:endParaRPr lang="en-US" sz="16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0">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POD DURUMLARI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STATUS sütunu ne anlatıyor?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660650"/>
        </p:xfrm>
        <a:graphic>
          <a:graphicData uri="http://schemas.openxmlformats.org/drawingml/2006/table">
            <a:tbl>
              <a:tblPr/>
              <a:tblGrid>
                <a:gridCol w="2532888">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Durum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Olası sebep</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İlk bakılacak yer</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Pending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Yer yok, taint, affinity, PVC bağlanmadı, scheduler yok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describe pod → Events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ContainerCreating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Volume/Secret mount edilemedi, CNI sorunu</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describe pod → Events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ImagePullBackOff</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Yanlış image/tag, registry kimliği eksik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describe; imagePullSecrets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CrashLoopBackOff</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Uygulama başlayıp ölüyor: config, komut, bağımlılık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logs --previous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OOMKilled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Bellek limiti aşıldı</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describe → Last State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Running, 0/1 Ready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Readiness probe başarısız</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describe → probe hataları</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CreateContainerConfigError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Olmayan ConfigMap/Secret anahtarı</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describe → Events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1">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UYGULAMA ARIZASI</a:t>
            </a:r>
            <a:endParaRPr lang="en-US" sz="1200" dirty="0"/>
          </a:p>
        </p:txBody>
      </p:sp>
      <p:sp>
        <p:nvSpPr>
          <p:cNvPr id="3" name="Text 1"/>
          <p:cNvSpPr>
            <a:spLocks noGrp="1"/>
          </p:cNvSpPr>
          <p:nvPr>
            <p:ph type="title"/>
          </p:nvPr>
        </p:nvSpPr>
        <p:spPr>
          <a:xfrm>
            <a:off x="812800" y="110232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Kullanıcıdan veritabanına, zincirin halkalarını tek tek kontrol et</a:t>
            </a:r>
            <a:endParaRPr lang="en-US" sz="3000" dirty="0"/>
          </a:p>
        </p:txBody>
      </p:sp>
      <p:sp>
        <p:nvSpPr>
          <p:cNvPr id="4" name="Text 2"/>
          <p:cNvSpPr/>
          <p:nvPr/>
        </p:nvSpPr>
        <p:spPr>
          <a:xfrm>
            <a:off x="812800" y="2200870"/>
            <a:ext cx="1785541" cy="441920"/>
          </a:xfrm>
          <a:prstGeom prst="roundRect">
            <a:avLst>
              <a:gd name="adj" fmla="val 14369"/>
            </a:avLst>
          </a:prstGeom>
          <a:solidFill>
            <a:srgbClr val="E8E4DA"/>
          </a:solidFill>
          <a:ln/>
        </p:spPr>
        <p:txBody>
          <a:bodyPr wrap="square" lIns="70301" tIns="95701" rIns="70301" bIns="703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Kullanıcı</a:t>
            </a:r>
            <a:endParaRPr lang="en-US" sz="1200" dirty="0"/>
          </a:p>
        </p:txBody>
      </p:sp>
      <p:pic>
        <p:nvPicPr>
          <p:cNvPr id="5" name="Image 0" descr="arrow-right"/>
          <p:cNvPicPr>
            <a:picLocks noChangeAspect="1"/>
          </p:cNvPicPr>
          <p:nvPr/>
        </p:nvPicPr>
        <p:blipFill>
          <a:blip r:embed="rId3"/>
          <a:srcRect/>
          <a:stretch/>
        </p:blipFill>
        <p:spPr>
          <a:xfrm>
            <a:off x="2674541" y="2332930"/>
            <a:ext cx="254000" cy="177800"/>
          </a:xfrm>
          <a:prstGeom prst="rect">
            <a:avLst/>
          </a:prstGeom>
        </p:spPr>
      </p:pic>
      <p:sp>
        <p:nvSpPr>
          <p:cNvPr id="6" name="Text 3"/>
          <p:cNvSpPr/>
          <p:nvPr/>
        </p:nvSpPr>
        <p:spPr>
          <a:xfrm>
            <a:off x="3004741" y="2200870"/>
            <a:ext cx="1785640" cy="441920"/>
          </a:xfrm>
          <a:prstGeom prst="roundRect">
            <a:avLst>
              <a:gd name="adj" fmla="val 14369"/>
            </a:avLst>
          </a:prstGeom>
          <a:solidFill>
            <a:srgbClr val="DCE6F7"/>
          </a:solidFill>
          <a:ln/>
        </p:spPr>
        <p:txBody>
          <a:bodyPr wrap="square" lIns="70301" tIns="95701" rIns="70301" bIns="703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web-service</a:t>
            </a:r>
            <a:endParaRPr lang="en-US" sz="1200" dirty="0"/>
          </a:p>
        </p:txBody>
      </p:sp>
      <p:pic>
        <p:nvPicPr>
          <p:cNvPr id="7" name="Image 1" descr="arrow-right"/>
          <p:cNvPicPr>
            <a:picLocks noChangeAspect="1"/>
          </p:cNvPicPr>
          <p:nvPr/>
        </p:nvPicPr>
        <p:blipFill>
          <a:blip r:embed="rId3"/>
          <a:srcRect/>
          <a:stretch/>
        </p:blipFill>
        <p:spPr>
          <a:xfrm>
            <a:off x="4866580" y="2332930"/>
            <a:ext cx="254000" cy="177800"/>
          </a:xfrm>
          <a:prstGeom prst="rect">
            <a:avLst/>
          </a:prstGeom>
        </p:spPr>
      </p:pic>
      <p:sp>
        <p:nvSpPr>
          <p:cNvPr id="8" name="Text 4"/>
          <p:cNvSpPr/>
          <p:nvPr/>
        </p:nvSpPr>
        <p:spPr>
          <a:xfrm>
            <a:off x="5199955" y="2197695"/>
            <a:ext cx="1791990" cy="448270"/>
          </a:xfrm>
          <a:prstGeom prst="roundRect">
            <a:avLst>
              <a:gd name="adj" fmla="val 13457"/>
            </a:avLst>
          </a:prstGeom>
          <a:solidFill>
            <a:srgbClr val="FDFCF9"/>
          </a:solidFill>
          <a:ln w="6350">
            <a:solidFill>
              <a:srgbClr val="E2DFD6"/>
            </a:solidFill>
            <a:prstDash val="solid"/>
          </a:ln>
        </p:spPr>
        <p:txBody>
          <a:bodyPr wrap="square" lIns="74406" tIns="99806" rIns="74406" bIns="74406" rtlCol="0" anchor="t">
            <a:normAutofit/>
          </a:bodyPr>
          <a:lstStyle/>
          <a:p>
            <a:pPr marL="0" indent="0" algn="ctr">
              <a:lnSpc>
                <a:spcPts val="1680"/>
              </a:lnSpc>
              <a:buNone/>
            </a:pPr>
            <a:r>
              <a:rPr lang="en-US" sz="1200" dirty="0">
                <a:solidFill>
                  <a:srgbClr val="45505F"/>
                </a:solidFill>
                <a:latin typeface="IBM Plex Sans" pitchFamily="34" charset="0"/>
                <a:ea typeface="IBM Plex Sans" pitchFamily="34" charset="-122"/>
                <a:cs typeface="IBM Plex Sans" pitchFamily="34" charset="-120"/>
              </a:rPr>
              <a:t>web pod</a:t>
            </a:r>
            <a:endParaRPr lang="en-US" sz="1200" dirty="0"/>
          </a:p>
        </p:txBody>
      </p:sp>
      <p:pic>
        <p:nvPicPr>
          <p:cNvPr id="9" name="Image 2" descr="arrow-right"/>
          <p:cNvPicPr>
            <a:picLocks noChangeAspect="1"/>
          </p:cNvPicPr>
          <p:nvPr/>
        </p:nvPicPr>
        <p:blipFill>
          <a:blip r:embed="rId3"/>
          <a:srcRect/>
          <a:stretch/>
        </p:blipFill>
        <p:spPr>
          <a:xfrm>
            <a:off x="7071320" y="2332930"/>
            <a:ext cx="254000" cy="177800"/>
          </a:xfrm>
          <a:prstGeom prst="rect">
            <a:avLst/>
          </a:prstGeom>
        </p:spPr>
      </p:pic>
      <p:sp>
        <p:nvSpPr>
          <p:cNvPr id="10" name="Text 5"/>
          <p:cNvSpPr/>
          <p:nvPr/>
        </p:nvSpPr>
        <p:spPr>
          <a:xfrm>
            <a:off x="7401520" y="2200870"/>
            <a:ext cx="1785640" cy="441920"/>
          </a:xfrm>
          <a:prstGeom prst="roundRect">
            <a:avLst>
              <a:gd name="adj" fmla="val 14369"/>
            </a:avLst>
          </a:prstGeom>
          <a:solidFill>
            <a:srgbClr val="DCE6F7"/>
          </a:solidFill>
          <a:ln/>
        </p:spPr>
        <p:txBody>
          <a:bodyPr wrap="square" lIns="70301" tIns="95701" rIns="70301" bIns="70301" rtlCol="0" anchor="t">
            <a:normAutofit/>
          </a:bodyPr>
          <a:lstStyle/>
          <a:p>
            <a:pPr marL="0" indent="0" algn="ctr">
              <a:lnSpc>
                <a:spcPts val="1680"/>
              </a:lnSpc>
              <a:buNone/>
            </a:pPr>
            <a:r>
              <a:rPr lang="en-US" sz="1200" dirty="0">
                <a:solidFill>
                  <a:srgbClr val="142033"/>
                </a:solidFill>
                <a:latin typeface="IBM Plex Sans" pitchFamily="34" charset="0"/>
                <a:ea typeface="IBM Plex Sans" pitchFamily="34" charset="-122"/>
                <a:cs typeface="IBM Plex Sans" pitchFamily="34" charset="-120"/>
              </a:rPr>
              <a:t>db-service</a:t>
            </a:r>
            <a:endParaRPr lang="en-US" sz="1200" dirty="0"/>
          </a:p>
        </p:txBody>
      </p:sp>
      <p:pic>
        <p:nvPicPr>
          <p:cNvPr id="11" name="Image 3" descr="arrow-right"/>
          <p:cNvPicPr>
            <a:picLocks noChangeAspect="1"/>
          </p:cNvPicPr>
          <p:nvPr/>
        </p:nvPicPr>
        <p:blipFill>
          <a:blip r:embed="rId3"/>
          <a:srcRect/>
          <a:stretch/>
        </p:blipFill>
        <p:spPr>
          <a:xfrm>
            <a:off x="9263360" y="2332930"/>
            <a:ext cx="254000" cy="177800"/>
          </a:xfrm>
          <a:prstGeom prst="rect">
            <a:avLst/>
          </a:prstGeom>
        </p:spPr>
      </p:pic>
      <p:sp>
        <p:nvSpPr>
          <p:cNvPr id="12" name="Text 6"/>
          <p:cNvSpPr/>
          <p:nvPr/>
        </p:nvSpPr>
        <p:spPr>
          <a:xfrm>
            <a:off x="9593560" y="2200870"/>
            <a:ext cx="1785640" cy="441920"/>
          </a:xfrm>
          <a:prstGeom prst="roundRect">
            <a:avLst>
              <a:gd name="adj" fmla="val 14369"/>
            </a:avLst>
          </a:prstGeom>
          <a:solidFill>
            <a:srgbClr val="142033"/>
          </a:solidFill>
          <a:ln/>
        </p:spPr>
        <p:txBody>
          <a:bodyPr wrap="square" lIns="70301" tIns="95701" rIns="70301" bIns="70301" rtlCol="0" anchor="t">
            <a:normAutofit/>
          </a:bodyPr>
          <a:lstStyle/>
          <a:p>
            <a:pPr marL="0" indent="0" algn="ctr">
              <a:lnSpc>
                <a:spcPts val="1680"/>
              </a:lnSpc>
              <a:buNone/>
            </a:pPr>
            <a:r>
              <a:rPr lang="en-US" sz="1200" dirty="0">
                <a:solidFill>
                  <a:srgbClr val="F5F4EF"/>
                </a:solidFill>
                <a:latin typeface="IBM Plex Sans" pitchFamily="34" charset="0"/>
                <a:ea typeface="IBM Plex Sans" pitchFamily="34" charset="-122"/>
                <a:cs typeface="IBM Plex Sans" pitchFamily="34" charset="-120"/>
              </a:rPr>
              <a:t>db pod</a:t>
            </a:r>
            <a:endParaRPr lang="en-US" sz="1200" dirty="0"/>
          </a:p>
        </p:txBody>
      </p:sp>
      <p:sp>
        <p:nvSpPr>
          <p:cNvPr id="13" name="Text 7"/>
          <p:cNvSpPr/>
          <p:nvPr/>
        </p:nvSpPr>
        <p:spPr>
          <a:xfrm>
            <a:off x="883741" y="2903141"/>
            <a:ext cx="6618911" cy="1706761"/>
          </a:xfrm>
          <a:prstGeom prst="rect">
            <a:avLst/>
          </a:prstGeom>
          <a:noFill/>
          <a:ln/>
        </p:spPr>
        <p:txBody>
          <a:bodyPr wrap="square" lIns="0" tIns="0" rIns="0" bIns="0" rtlCol="0" anchor="t">
            <a:normAutofit/>
          </a:bodyPr>
          <a:lstStyle/>
          <a:p>
            <a:pPr marL="183059" indent="-183059" algn="l">
              <a:lnSpc>
                <a:spcPts val="1950"/>
              </a:lnSpc>
              <a:buSzPct val="100000"/>
              <a:buFontTx/>
              <a:buAutoNum type="arabicPeriod"/>
            </a:pPr>
            <a:r>
              <a:rPr lang="en-US" sz="1300" dirty="0">
                <a:solidFill>
                  <a:srgbClr val="45505F"/>
                </a:solidFill>
                <a:latin typeface="IBM Plex Sans" pitchFamily="34" charset="0"/>
                <a:ea typeface="IBM Plex Sans" pitchFamily="34" charset="-122"/>
                <a:cs typeface="IBM Plex Sans" pitchFamily="34" charset="-120"/>
              </a:rPr>
              <a:t>Servise erişim: </a:t>
            </a:r>
            <a:r>
              <a:rPr lang="en-US" sz="1300" b="1" dirty="0">
                <a:solidFill>
                  <a:srgbClr val="45505F"/>
                </a:solidFill>
                <a:latin typeface="IBM Plex Sans" pitchFamily="34" charset="0"/>
                <a:ea typeface="IBM Plex Sans" pitchFamily="34" charset="-122"/>
                <a:cs typeface="IBM Plex Sans" pitchFamily="34" charset="-120"/>
              </a:rPr>
              <a:t>curl http://node-ip:nodePort</a:t>
            </a:r>
            <a:endParaRPr lang="en-US" sz="1300" dirty="0"/>
          </a:p>
          <a:p>
            <a:pPr marL="183059" indent="-183059" algn="l">
              <a:lnSpc>
                <a:spcPts val="1950"/>
              </a:lnSpc>
              <a:buSzPct val="100000"/>
              <a:buFontTx/>
              <a:buAutoNum type="arabicPeriod"/>
            </a:pPr>
            <a:r>
              <a:rPr lang="en-US" sz="1300" dirty="0">
                <a:solidFill>
                  <a:srgbClr val="45505F"/>
                </a:solidFill>
                <a:latin typeface="IBM Plex Sans" pitchFamily="34" charset="0"/>
                <a:ea typeface="IBM Plex Sans" pitchFamily="34" charset="-122"/>
                <a:cs typeface="IBM Plex Sans" pitchFamily="34" charset="-120"/>
              </a:rPr>
              <a:t>Service: selector pod label'larıyla eşleşiyor mu? Endpoint var mı? targetPort doğru mu?</a:t>
            </a:r>
            <a:endParaRPr lang="en-US" sz="1300" dirty="0"/>
          </a:p>
          <a:p>
            <a:pPr marL="183059" indent="-183059" algn="l">
              <a:lnSpc>
                <a:spcPts val="1950"/>
              </a:lnSpc>
              <a:buSzPct val="100000"/>
              <a:buFontTx/>
              <a:buAutoNum type="arabicPeriod"/>
            </a:pPr>
            <a:r>
              <a:rPr lang="en-US" sz="1300" dirty="0">
                <a:solidFill>
                  <a:srgbClr val="45505F"/>
                </a:solidFill>
                <a:latin typeface="IBM Plex Sans" pitchFamily="34" charset="0"/>
                <a:ea typeface="IBM Plex Sans" pitchFamily="34" charset="-122"/>
                <a:cs typeface="IBM Plex Sans" pitchFamily="34" charset="-120"/>
              </a:rPr>
              <a:t>Pod: STATUS, RESTARTS, describe, logs (--previous).</a:t>
            </a:r>
            <a:endParaRPr lang="en-US" sz="1300" dirty="0"/>
          </a:p>
          <a:p>
            <a:pPr marL="183059" indent="-183059" algn="l">
              <a:lnSpc>
                <a:spcPts val="1950"/>
              </a:lnSpc>
              <a:buSzPct val="100000"/>
              <a:buFontTx/>
              <a:buAutoNum type="arabicPeriod"/>
            </a:pPr>
            <a:r>
              <a:rPr lang="en-US" sz="1300" dirty="0">
                <a:solidFill>
                  <a:srgbClr val="45505F"/>
                </a:solidFill>
                <a:latin typeface="IBM Plex Sans" pitchFamily="34" charset="0"/>
                <a:ea typeface="IBM Plex Sans" pitchFamily="34" charset="-122"/>
                <a:cs typeface="IBM Plex Sans" pitchFamily="34" charset="-120"/>
              </a:rPr>
              <a:t>Pod'un env değerleri: DB adı, kullanıcı, parola, host doğru mu?</a:t>
            </a:r>
            <a:endParaRPr lang="en-US" sz="1300" dirty="0"/>
          </a:p>
          <a:p>
            <a:pPr marL="183059" indent="-183059" algn="l">
              <a:lnSpc>
                <a:spcPts val="1950"/>
              </a:lnSpc>
              <a:buSzPct val="100000"/>
              <a:buFontTx/>
              <a:buAutoNum type="arabicPeriod"/>
            </a:pPr>
            <a:r>
              <a:rPr lang="en-US" sz="1300" dirty="0">
                <a:solidFill>
                  <a:srgbClr val="45505F"/>
                </a:solidFill>
                <a:latin typeface="IBM Plex Sans" pitchFamily="34" charset="0"/>
                <a:ea typeface="IBM Plex Sans" pitchFamily="34" charset="-122"/>
                <a:cs typeface="IBM Plex Sans" pitchFamily="34" charset="-120"/>
              </a:rPr>
              <a:t>Aynı adımları bir sonraki halka (db-service, db pod) için tekrarla.</a:t>
            </a:r>
            <a:endParaRPr lang="en-US" sz="1300" dirty="0"/>
          </a:p>
        </p:txBody>
      </p:sp>
      <p:sp>
        <p:nvSpPr>
          <p:cNvPr id="14" name="Text 8"/>
          <p:cNvSpPr/>
          <p:nvPr/>
        </p:nvSpPr>
        <p:spPr>
          <a:xfrm>
            <a:off x="7569200" y="2903141"/>
            <a:ext cx="3810000" cy="1681361"/>
          </a:xfrm>
          <a:prstGeom prst="roundRect">
            <a:avLst>
              <a:gd name="adj" fmla="val 4532"/>
            </a:avLst>
          </a:prstGeom>
          <a:solidFill>
            <a:srgbClr val="1B2A41"/>
          </a:solidFill>
          <a:ln/>
        </p:spPr>
        <p:txBody>
          <a:bodyPr wrap="square" lIns="155482" tIns="155482" rIns="51850" bIns="130082" rtlCol="0" anchor="t">
            <a:normAutofit/>
          </a:bodyPr>
          <a:lstStyle/>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describe svc web-service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get endpoints web-service</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get pods --show-labels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logs web-1 --previous</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kubectl get events \</a:t>
            </a:r>
            <a:endParaRPr lang="en-US" sz="1200" dirty="0"/>
          </a:p>
          <a:p>
            <a:pPr marL="0" indent="0" algn="l">
              <a:lnSpc>
                <a:spcPts val="1740"/>
              </a:lnSpc>
              <a:buNone/>
            </a:pPr>
            <a:r>
              <a:rPr lang="en-US" sz="1200" dirty="0">
                <a:solidFill>
                  <a:srgbClr val="E6EDF5"/>
                </a:solidFill>
                <a:latin typeface="JetBrains Mono" pitchFamily="49" charset="0"/>
                <a:ea typeface="JetBrains Mono" pitchFamily="49" charset="-122"/>
                <a:cs typeface="JetBrains Mono" pitchFamily="49" charset="-120"/>
              </a:rPr>
              <a:t>  --sort-by=.lastTimestamp</a:t>
            </a:r>
            <a:endParaRPr lang="en-US" sz="12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CONTROL PLANE VE WORKER NODE ARIZASI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Bileşen nasıl çalışıyorsa log'u oradadır</a:t>
            </a:r>
            <a:endParaRPr lang="en-US" sz="3000" dirty="0"/>
          </a:p>
        </p:txBody>
      </p:sp>
      <p:sp>
        <p:nvSpPr>
          <p:cNvPr id="4" name="Shape 2"/>
          <p:cNvSpPr/>
          <p:nvPr/>
        </p:nvSpPr>
        <p:spPr>
          <a:xfrm>
            <a:off x="815975" y="1778595"/>
            <a:ext cx="5207000" cy="2478980"/>
          </a:xfrm>
          <a:prstGeom prst="roundRect">
            <a:avLst>
              <a:gd name="adj" fmla="val 2946"/>
            </a:avLst>
          </a:prstGeom>
          <a:solidFill>
            <a:srgbClr val="FDFCF9"/>
          </a:solidFill>
          <a:ln w="6350">
            <a:solidFill>
              <a:srgbClr val="E2DFD6"/>
            </a:solidFill>
            <a:prstDash val="solid"/>
          </a:ln>
        </p:spPr>
      </p:sp>
      <p:sp>
        <p:nvSpPr>
          <p:cNvPr id="5" name="Text 3"/>
          <p:cNvSpPr/>
          <p:nvPr/>
        </p:nvSpPr>
        <p:spPr>
          <a:xfrm>
            <a:off x="1022350" y="1984970"/>
            <a:ext cx="493807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33"/>
                </a:solidFill>
                <a:latin typeface="IBM Plex Sans" pitchFamily="34" charset="0"/>
                <a:ea typeface="IBM Plex Sans" pitchFamily="34" charset="-122"/>
                <a:cs typeface="IBM Plex Sans" pitchFamily="34" charset="-120"/>
              </a:rPr>
              <a:t>Control plane</a:t>
            </a:r>
            <a:endParaRPr lang="en-US" sz="1600" dirty="0"/>
          </a:p>
        </p:txBody>
      </p:sp>
      <p:sp>
        <p:nvSpPr>
          <p:cNvPr id="6" name="Text 4"/>
          <p:cNvSpPr/>
          <p:nvPr/>
        </p:nvSpPr>
        <p:spPr>
          <a:xfrm>
            <a:off x="1107694" y="2317651"/>
            <a:ext cx="4845114" cy="17589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kubectl get pods -n kube-system — hangi bileşen çalışmıyor?</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Static pod ise: manifest'te yazım hatası, yanlış sertifika/port/dizin. kubectl logs veya </a:t>
            </a:r>
            <a:r>
              <a:rPr lang="en-US" sz="1300" b="1" dirty="0">
                <a:solidFill>
                  <a:srgbClr val="45505F"/>
                </a:solidFill>
                <a:latin typeface="IBM Plex Sans" pitchFamily="34" charset="0"/>
                <a:ea typeface="IBM Plex Sans" pitchFamily="34" charset="-122"/>
                <a:cs typeface="IBM Plex Sans" pitchFamily="34" charset="-120"/>
              </a:rPr>
              <a:t>crictl ps -a</a:t>
            </a:r>
            <a:r>
              <a:rPr lang="en-US" sz="1300" dirty="0">
                <a:solidFill>
                  <a:srgbClr val="45505F"/>
                </a:solidFill>
                <a:latin typeface="IBM Plex Sans" pitchFamily="34" charset="0"/>
                <a:ea typeface="IBM Plex Sans" pitchFamily="34" charset="-122"/>
                <a:cs typeface="IBM Plex Sans" pitchFamily="34" charset="-120"/>
              </a:rPr>
              <a:t>, </a:t>
            </a:r>
            <a:r>
              <a:rPr lang="en-US" sz="1300" b="1" dirty="0">
                <a:solidFill>
                  <a:srgbClr val="45505F"/>
                </a:solidFill>
                <a:latin typeface="IBM Plex Sans" pitchFamily="34" charset="0"/>
                <a:ea typeface="IBM Plex Sans" pitchFamily="34" charset="-122"/>
                <a:cs typeface="IBM Plex Sans" pitchFamily="34" charset="-120"/>
              </a:rPr>
              <a:t>crictl logs</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Servis olarak kuruluysa: systemctl status, journalctl -u.</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Belirti eşleşmesi: pod'lar Pending → scheduler; replikalar oluşmuyor → controller-manager; kubectl hiç yanıt vermiyor → apiserver/etcd.</a:t>
            </a:r>
            <a:endParaRPr lang="en-US" sz="1300" dirty="0"/>
          </a:p>
        </p:txBody>
      </p:sp>
      <p:sp>
        <p:nvSpPr>
          <p:cNvPr id="7" name="Shape 5"/>
          <p:cNvSpPr/>
          <p:nvPr/>
        </p:nvSpPr>
        <p:spPr>
          <a:xfrm>
            <a:off x="6178550" y="1775420"/>
            <a:ext cx="5200650" cy="2485330"/>
          </a:xfrm>
          <a:prstGeom prst="roundRect">
            <a:avLst>
              <a:gd name="adj" fmla="val 3066"/>
            </a:avLst>
          </a:prstGeom>
          <a:solidFill>
            <a:srgbClr val="142033"/>
          </a:solidFill>
          <a:ln/>
        </p:spPr>
      </p:sp>
      <p:sp>
        <p:nvSpPr>
          <p:cNvPr id="8" name="Text 6"/>
          <p:cNvSpPr/>
          <p:nvPr/>
        </p:nvSpPr>
        <p:spPr>
          <a:xfrm>
            <a:off x="6381750" y="1978620"/>
            <a:ext cx="493807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Worker node · NotReady</a:t>
            </a:r>
            <a:endParaRPr lang="en-US" sz="1600" dirty="0"/>
          </a:p>
        </p:txBody>
      </p:sp>
      <p:sp>
        <p:nvSpPr>
          <p:cNvPr id="9" name="Text 7"/>
          <p:cNvSpPr/>
          <p:nvPr/>
        </p:nvSpPr>
        <p:spPr>
          <a:xfrm>
            <a:off x="6467094" y="2311301"/>
            <a:ext cx="4845114" cy="17589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B9C6D6"/>
                </a:solidFill>
                <a:latin typeface="IBM Plex Sans" pitchFamily="34" charset="0"/>
                <a:ea typeface="IBM Plex Sans" pitchFamily="34" charset="-122"/>
                <a:cs typeface="IBM Plex Sans" pitchFamily="34" charset="-120"/>
              </a:rPr>
              <a:t>describe node → Conditions: MemoryPressure, DiskPressure, PIDPressure, Ready.</a:t>
            </a:r>
            <a:endParaRPr lang="en-US" sz="1300" dirty="0"/>
          </a:p>
          <a:p>
            <a:pPr marL="168656" indent="-168656" algn="l">
              <a:lnSpc>
                <a:spcPts val="1950"/>
              </a:lnSpc>
              <a:buSzPct val="100000"/>
              <a:buChar char="•"/>
            </a:pPr>
            <a:r>
              <a:rPr lang="en-US" sz="1300" dirty="0">
                <a:solidFill>
                  <a:srgbClr val="B9C6D6"/>
                </a:solidFill>
                <a:latin typeface="IBM Plex Sans" pitchFamily="34" charset="0"/>
                <a:ea typeface="IBM Plex Sans" pitchFamily="34" charset="-122"/>
                <a:cs typeface="IBM Plex Sans" pitchFamily="34" charset="-120"/>
              </a:rPr>
              <a:t>Node'a SSH: </a:t>
            </a:r>
            <a:r>
              <a:rPr lang="en-US" sz="1300" b="1" dirty="0">
                <a:solidFill>
                  <a:srgbClr val="F5F4EF"/>
                </a:solidFill>
                <a:latin typeface="IBM Plex Sans" pitchFamily="34" charset="0"/>
                <a:ea typeface="IBM Plex Sans" pitchFamily="34" charset="-122"/>
                <a:cs typeface="IBM Plex Sans" pitchFamily="34" charset="-120"/>
              </a:rPr>
              <a:t>systemctl status kubelet</a:t>
            </a:r>
            <a:r>
              <a:rPr lang="en-US" sz="1300" dirty="0">
                <a:solidFill>
                  <a:srgbClr val="B9C6D6"/>
                </a:solidFill>
                <a:latin typeface="IBM Plex Sans" pitchFamily="34" charset="0"/>
                <a:ea typeface="IBM Plex Sans" pitchFamily="34" charset="-122"/>
                <a:cs typeface="IBM Plex Sans" pitchFamily="34" charset="-120"/>
              </a:rPr>
              <a:t>, journalctl -u kubelet.</a:t>
            </a:r>
            <a:endParaRPr lang="en-US" sz="1300" dirty="0"/>
          </a:p>
          <a:p>
            <a:pPr marL="168656" indent="-168656" algn="l">
              <a:lnSpc>
                <a:spcPts val="1950"/>
              </a:lnSpc>
              <a:buSzPct val="100000"/>
              <a:buChar char="•"/>
            </a:pPr>
            <a:r>
              <a:rPr lang="en-US" sz="1300" dirty="0">
                <a:solidFill>
                  <a:srgbClr val="B9C6D6"/>
                </a:solidFill>
                <a:latin typeface="IBM Plex Sans" pitchFamily="34" charset="0"/>
                <a:ea typeface="IBM Plex Sans" pitchFamily="34" charset="-122"/>
                <a:cs typeface="IBM Plex Sans" pitchFamily="34" charset="-120"/>
              </a:rPr>
              <a:t>Kubelet config: yanlış CA yolu, yanlış API server adresi/portu (/etc/kubernetes/kubelet.conf).</a:t>
            </a:r>
            <a:endParaRPr lang="en-US" sz="1300" dirty="0"/>
          </a:p>
          <a:p>
            <a:pPr marL="168656" indent="-168656" algn="l">
              <a:lnSpc>
                <a:spcPts val="1950"/>
              </a:lnSpc>
              <a:buSzPct val="100000"/>
              <a:buChar char="•"/>
            </a:pPr>
            <a:r>
              <a:rPr lang="en-US" sz="1300" dirty="0">
                <a:solidFill>
                  <a:srgbClr val="B9C6D6"/>
                </a:solidFill>
                <a:latin typeface="IBM Plex Sans" pitchFamily="34" charset="0"/>
                <a:ea typeface="IBM Plex Sans" pitchFamily="34" charset="-122"/>
                <a:cs typeface="IBM Plex Sans" pitchFamily="34" charset="-120"/>
              </a:rPr>
              <a:t>Kubelet sertifikası süresi dolmuş mu? Runtime (containerd) çalışıyor mu? Disk dolu mu?</a:t>
            </a:r>
            <a:endParaRPr lang="en-US" sz="13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3">
    <p:bg>
      <p:bgPr>
        <a:solidFill>
          <a:srgbClr val="14203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BM Plex Sans" pitchFamily="34" charset="0"/>
                <a:ea typeface="IBM Plex Sans" pitchFamily="34" charset="-122"/>
                <a:cs typeface="IBM Plex Sans" pitchFamily="34" charset="-120"/>
              </a:rPr>
              <a:t>ÖZET</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5F4EF"/>
                </a:solidFill>
                <a:latin typeface="IBM Plex Sans" pitchFamily="34" charset="0"/>
                <a:ea typeface="IBM Plex Sans" pitchFamily="34" charset="-122"/>
                <a:cs typeface="IBM Plex Sans" pitchFamily="34" charset="-120"/>
              </a:rPr>
              <a:t>Akılda kalması gereken altı fikir</a:t>
            </a:r>
            <a:endParaRPr lang="en-US" sz="3000" dirty="0"/>
          </a:p>
        </p:txBody>
      </p:sp>
      <p:sp>
        <p:nvSpPr>
          <p:cNvPr id="4" name="Shape 2"/>
          <p:cNvSpPr/>
          <p:nvPr/>
        </p:nvSpPr>
        <p:spPr>
          <a:xfrm>
            <a:off x="812800" y="1781770"/>
            <a:ext cx="5283200" cy="0"/>
          </a:xfrm>
          <a:prstGeom prst="line">
            <a:avLst/>
          </a:prstGeom>
          <a:noFill/>
          <a:ln w="12700">
            <a:solidFill>
              <a:srgbClr val="F0A060"/>
            </a:solidFill>
            <a:prstDash val="solid"/>
          </a:ln>
        </p:spPr>
      </p:sp>
      <p:sp>
        <p:nvSpPr>
          <p:cNvPr id="5" name="Text 3"/>
          <p:cNvSpPr/>
          <p:nvPr/>
        </p:nvSpPr>
        <p:spPr>
          <a:xfrm>
            <a:off x="812800" y="1889720"/>
            <a:ext cx="5441696"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Declarative + reconcile.</a:t>
            </a:r>
            <a:r>
              <a:rPr lang="en-US" sz="1300" dirty="0">
                <a:solidFill>
                  <a:srgbClr val="B9C6D6"/>
                </a:solidFill>
                <a:latin typeface="IBM Plex Sans" pitchFamily="34" charset="0"/>
                <a:ea typeface="IBM Plex Sans" pitchFamily="34" charset="-122"/>
                <a:cs typeface="IBM Plex Sans" pitchFamily="34" charset="-120"/>
              </a:rPr>
              <a:t> İstenen durumu yaz; controller'lar gerçeği ona çeker.</a:t>
            </a:r>
            <a:endParaRPr lang="en-US" sz="1300" dirty="0"/>
          </a:p>
        </p:txBody>
      </p:sp>
      <p:sp>
        <p:nvSpPr>
          <p:cNvPr id="6" name="Shape 4"/>
          <p:cNvSpPr/>
          <p:nvPr/>
        </p:nvSpPr>
        <p:spPr>
          <a:xfrm>
            <a:off x="6096000" y="1781770"/>
            <a:ext cx="5283200" cy="0"/>
          </a:xfrm>
          <a:prstGeom prst="line">
            <a:avLst/>
          </a:prstGeom>
          <a:noFill/>
          <a:ln w="12700">
            <a:solidFill>
              <a:srgbClr val="F0A060"/>
            </a:solidFill>
            <a:prstDash val="solid"/>
          </a:ln>
        </p:spPr>
      </p:sp>
      <p:sp>
        <p:nvSpPr>
          <p:cNvPr id="7" name="Text 5"/>
          <p:cNvSpPr/>
          <p:nvPr/>
        </p:nvSpPr>
        <p:spPr>
          <a:xfrm>
            <a:off x="6096000" y="1889720"/>
            <a:ext cx="5441696"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Her şey API server'dan geçer</a:t>
            </a:r>
            <a:r>
              <a:rPr lang="en-US" sz="1300" dirty="0">
                <a:solidFill>
                  <a:srgbClr val="B9C6D6"/>
                </a:solidFill>
                <a:latin typeface="IBM Plex Sans" pitchFamily="34" charset="0"/>
                <a:ea typeface="IBM Plex Sans" pitchFamily="34" charset="-122"/>
                <a:cs typeface="IBM Plex Sans" pitchFamily="34" charset="-120"/>
              </a:rPr>
              <a:t> ve durum etcd'de yaşar — etcd'yi yedekleyin.</a:t>
            </a:r>
            <a:endParaRPr lang="en-US" sz="1300" dirty="0"/>
          </a:p>
        </p:txBody>
      </p:sp>
      <p:sp>
        <p:nvSpPr>
          <p:cNvPr id="8" name="Shape 6"/>
          <p:cNvSpPr/>
          <p:nvPr/>
        </p:nvSpPr>
        <p:spPr>
          <a:xfrm>
            <a:off x="812800" y="2358231"/>
            <a:ext cx="5283200" cy="0"/>
          </a:xfrm>
          <a:prstGeom prst="line">
            <a:avLst/>
          </a:prstGeom>
          <a:noFill/>
          <a:ln w="12700">
            <a:solidFill>
              <a:srgbClr val="F0A060"/>
            </a:solidFill>
            <a:prstDash val="solid"/>
          </a:ln>
        </p:spPr>
      </p:sp>
      <p:sp>
        <p:nvSpPr>
          <p:cNvPr id="9" name="Text 7"/>
          <p:cNvSpPr/>
          <p:nvPr/>
        </p:nvSpPr>
        <p:spPr>
          <a:xfrm>
            <a:off x="812800" y="2466181"/>
            <a:ext cx="5441696"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Label'lar yapıştırıcıdır.</a:t>
            </a:r>
            <a:r>
              <a:rPr lang="en-US" sz="1300" dirty="0">
                <a:solidFill>
                  <a:srgbClr val="B9C6D6"/>
                </a:solidFill>
                <a:latin typeface="IBM Plex Sans" pitchFamily="34" charset="0"/>
                <a:ea typeface="IBM Plex Sans" pitchFamily="34" charset="-122"/>
                <a:cs typeface="IBM Plex Sans" pitchFamily="34" charset="-120"/>
              </a:rPr>
              <a:t> ReplicaSet, Service, NetworkPolicy hepsi selector ile çalışır.</a:t>
            </a:r>
            <a:endParaRPr lang="en-US" sz="1300" dirty="0"/>
          </a:p>
        </p:txBody>
      </p:sp>
      <p:sp>
        <p:nvSpPr>
          <p:cNvPr id="10" name="Shape 8"/>
          <p:cNvSpPr/>
          <p:nvPr/>
        </p:nvSpPr>
        <p:spPr>
          <a:xfrm>
            <a:off x="6096000" y="2358231"/>
            <a:ext cx="5283200" cy="0"/>
          </a:xfrm>
          <a:prstGeom prst="line">
            <a:avLst/>
          </a:prstGeom>
          <a:noFill/>
          <a:ln w="12700">
            <a:solidFill>
              <a:srgbClr val="F0A060"/>
            </a:solidFill>
            <a:prstDash val="solid"/>
          </a:ln>
        </p:spPr>
      </p:sp>
      <p:sp>
        <p:nvSpPr>
          <p:cNvPr id="11" name="Text 9"/>
          <p:cNvSpPr/>
          <p:nvPr/>
        </p:nvSpPr>
        <p:spPr>
          <a:xfrm>
            <a:off x="6096000" y="2466181"/>
            <a:ext cx="5441696"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Request yerleşimi, limit tavanı belirler;</a:t>
            </a:r>
            <a:r>
              <a:rPr lang="en-US" sz="1300" dirty="0">
                <a:solidFill>
                  <a:srgbClr val="B9C6D6"/>
                </a:solidFill>
                <a:latin typeface="IBM Plex Sans" pitchFamily="34" charset="0"/>
                <a:ea typeface="IBM Plex Sans" pitchFamily="34" charset="-122"/>
                <a:cs typeface="IBM Plex Sans" pitchFamily="34" charset="-120"/>
              </a:rPr>
              <a:t> probe'lar trafiği ve yeniden başlatmayı yönetir.</a:t>
            </a:r>
            <a:endParaRPr lang="en-US" sz="1300" dirty="0"/>
          </a:p>
        </p:txBody>
      </p:sp>
      <p:sp>
        <p:nvSpPr>
          <p:cNvPr id="12" name="Shape 10"/>
          <p:cNvSpPr/>
          <p:nvPr/>
        </p:nvSpPr>
        <p:spPr>
          <a:xfrm>
            <a:off x="812800" y="2934692"/>
            <a:ext cx="5283200" cy="0"/>
          </a:xfrm>
          <a:prstGeom prst="line">
            <a:avLst/>
          </a:prstGeom>
          <a:noFill/>
          <a:ln w="12700">
            <a:solidFill>
              <a:srgbClr val="F0A060"/>
            </a:solidFill>
            <a:prstDash val="solid"/>
          </a:ln>
        </p:spPr>
      </p:sp>
      <p:sp>
        <p:nvSpPr>
          <p:cNvPr id="13" name="Text 11"/>
          <p:cNvSpPr/>
          <p:nvPr/>
        </p:nvSpPr>
        <p:spPr>
          <a:xfrm>
            <a:off x="812800" y="3042642"/>
            <a:ext cx="5441696"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En az yetki:</a:t>
            </a:r>
            <a:r>
              <a:rPr lang="en-US" sz="1300" dirty="0">
                <a:solidFill>
                  <a:srgbClr val="B9C6D6"/>
                </a:solidFill>
                <a:latin typeface="IBM Plex Sans" pitchFamily="34" charset="0"/>
                <a:ea typeface="IBM Plex Sans" pitchFamily="34" charset="-122"/>
                <a:cs typeface="IBM Plex Sans" pitchFamily="34" charset="-120"/>
              </a:rPr>
              <a:t> RBAC, ServiceAccount, SecurityContext, NetworkPolicy. Base64 şifreleme değildir.</a:t>
            </a:r>
            <a:endParaRPr lang="en-US" sz="1300" dirty="0"/>
          </a:p>
        </p:txBody>
      </p:sp>
      <p:sp>
        <p:nvSpPr>
          <p:cNvPr id="14" name="Shape 12"/>
          <p:cNvSpPr/>
          <p:nvPr/>
        </p:nvSpPr>
        <p:spPr>
          <a:xfrm>
            <a:off x="6096000" y="2934692"/>
            <a:ext cx="5283200" cy="0"/>
          </a:xfrm>
          <a:prstGeom prst="line">
            <a:avLst/>
          </a:prstGeom>
          <a:noFill/>
          <a:ln w="12700">
            <a:solidFill>
              <a:srgbClr val="F0A060"/>
            </a:solidFill>
            <a:prstDash val="solid"/>
          </a:ln>
        </p:spPr>
      </p:sp>
      <p:sp>
        <p:nvSpPr>
          <p:cNvPr id="15" name="Text 13"/>
          <p:cNvSpPr/>
          <p:nvPr/>
        </p:nvSpPr>
        <p:spPr>
          <a:xfrm>
            <a:off x="6096000" y="3042642"/>
            <a:ext cx="5441696"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Arayüzler:</a:t>
            </a:r>
            <a:r>
              <a:rPr lang="en-US" sz="1300" dirty="0">
                <a:solidFill>
                  <a:srgbClr val="B9C6D6"/>
                </a:solidFill>
                <a:latin typeface="IBM Plex Sans" pitchFamily="34" charset="0"/>
                <a:ea typeface="IBM Plex Sans" pitchFamily="34" charset="-122"/>
                <a:cs typeface="IBM Plex Sans" pitchFamily="34" charset="-120"/>
              </a:rPr>
              <a:t> CRI, CNI, CSI sayesinde runtime, ağ ve depolama değiştirilebilir.</a:t>
            </a:r>
            <a:endParaRPr lang="en-US" sz="13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D8"/>
                </a:solidFill>
                <a:latin typeface="IBM Plex Sans" pitchFamily="34" charset="0"/>
                <a:ea typeface="IBM Plex Sans" pitchFamily="34" charset="-122"/>
                <a:cs typeface="IBM Plex Sans" pitchFamily="34" charset="-120"/>
              </a:rPr>
              <a:t>CKA SINAVI</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033"/>
                </a:solidFill>
                <a:latin typeface="IBM Plex Sans" pitchFamily="34" charset="0"/>
                <a:ea typeface="IBM Plex Sans" pitchFamily="34" charset="-122"/>
                <a:cs typeface="IBM Plex Sans" pitchFamily="34" charset="-120"/>
              </a:rPr>
              <a:t>Performans tabanlı: bilgi kadar hız da ölçülür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4813300" cy="2208808"/>
        </p:xfrm>
        <a:graphic>
          <a:graphicData uri="http://schemas.openxmlformats.org/drawingml/2006/table">
            <a:tbl>
              <a:tblPr/>
              <a:tblGrid>
                <a:gridCol w="3369310">
                  <a:extLst>
                    <a:ext uri="{9D8B030D-6E8A-4147-A177-3AD203B41FA5}">
                      <a16:colId xmlns:a16="http://schemas.microsoft.com/office/drawing/2014/main" val="20000"/>
                    </a:ext>
                  </a:extLst>
                </a:gridCol>
                <a:gridCol w="1443990">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Alan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680"/>
                        </a:lnSpc>
                        <a:buNone/>
                      </a:pPr>
                      <a:r>
                        <a:rPr lang="en-US" sz="1200" b="1" dirty="0">
                          <a:solidFill>
                            <a:srgbClr val="142033"/>
                          </a:solidFill>
                          <a:latin typeface="IBM Plex Sans" pitchFamily="34" charset="0"/>
                          <a:ea typeface="IBM Plex Sans" pitchFamily="34" charset="-122"/>
                          <a:cs typeface="IBM Plex Sans" pitchFamily="34" charset="-120"/>
                        </a:rPr>
                        <a:t>Ağırlık</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Troubleshooting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545902">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Cluster Architecture, Installation &amp; Configuration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%25</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Services &amp; Networking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%20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Workloads &amp; Scheduling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%15</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Storage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45505F"/>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5978144" y="1775420"/>
            <a:ext cx="5558028" cy="2246908"/>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2 saat, ~15–20 uygulamalı görev, gerçek terminal; geçme notu %66.</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kubernetes.io/docs açık — ezber yerine nerede olduğunu bilin.</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Her görevden önce </a:t>
            </a:r>
            <a:r>
              <a:rPr lang="en-US" sz="1300" b="1" dirty="0">
                <a:solidFill>
                  <a:srgbClr val="142033"/>
                </a:solidFill>
                <a:latin typeface="IBM Plex Sans" pitchFamily="34" charset="0"/>
                <a:ea typeface="IBM Plex Sans" pitchFamily="34" charset="-122"/>
                <a:cs typeface="IBM Plex Sans" pitchFamily="34" charset="-120"/>
              </a:rPr>
              <a:t>context</a:t>
            </a:r>
            <a:r>
              <a:rPr lang="en-US" sz="1300" dirty="0">
                <a:solidFill>
                  <a:srgbClr val="45505F"/>
                </a:solidFill>
                <a:latin typeface="IBM Plex Sans" pitchFamily="34" charset="0"/>
                <a:ea typeface="IBM Plex Sans" pitchFamily="34" charset="-122"/>
                <a:cs typeface="IBM Plex Sans" pitchFamily="34" charset="-120"/>
              </a:rPr>
              <a:t>'i değiştirin.</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YAML'ı sıfırdan yazmayın: </a:t>
            </a:r>
            <a:r>
              <a:rPr lang="en-US" sz="1300" b="1" dirty="0">
                <a:solidFill>
                  <a:srgbClr val="45505F"/>
                </a:solidFill>
                <a:latin typeface="IBM Plex Sans" pitchFamily="34" charset="0"/>
                <a:ea typeface="IBM Plex Sans" pitchFamily="34" charset="-122"/>
                <a:cs typeface="IBM Plex Sans" pitchFamily="34" charset="-120"/>
              </a:rPr>
              <a:t>--dry-run=client -o yaml</a:t>
            </a:r>
            <a:r>
              <a:rPr lang="en-US" sz="1300" dirty="0">
                <a:solidFill>
                  <a:srgbClr val="45505F"/>
                </a:solidFill>
                <a:latin typeface="IBM Plex Sans" pitchFamily="34" charset="0"/>
                <a:ea typeface="IBM Plex Sans" pitchFamily="34" charset="-122"/>
                <a:cs typeface="IBM Plex Sans" pitchFamily="34" charset="-120"/>
              </a:rPr>
              <a:t>.</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Takıldığınız soruyu işaretleyip geçin; ağırlıklara bakın.</a:t>
            </a:r>
            <a:endParaRPr lang="en-US" sz="1300" dirty="0"/>
          </a:p>
          <a:p>
            <a:pPr marL="168656" indent="-168656" algn="l">
              <a:lnSpc>
                <a:spcPts val="1950"/>
              </a:lnSpc>
              <a:buSzPct val="100000"/>
              <a:buChar char="•"/>
            </a:pPr>
            <a:r>
              <a:rPr lang="en-US" sz="1300" dirty="0">
                <a:solidFill>
                  <a:srgbClr val="45505F"/>
                </a:solidFill>
                <a:latin typeface="IBM Plex Sans" pitchFamily="34" charset="0"/>
                <a:ea typeface="IBM Plex Sans" pitchFamily="34" charset="-122"/>
                <a:cs typeface="IBM Plex Sans" pitchFamily="34" charset="-120"/>
              </a:rPr>
              <a:t>Pratik: kurstaki lab'lar, mock exam'ler ve killer.sh.</a:t>
            </a:r>
            <a:endParaRPr lang="en-US" sz="1300" dirty="0"/>
          </a:p>
        </p:txBody>
      </p:sp>
    </p:spTree>
  </p:cSld>
  <p:clrMapOvr>
    <a:masterClrMapping/>
  </p:clrMapOvr>
</p:sld>
</file>

<file path=ppt/theme/theme1.xml><?xml version="1.0" encoding="utf-8"?>
<a:theme xmlns:a="http://schemas.openxmlformats.org/drawingml/2006/main" name="Kubernetes Temelleri">
  <a:themeElements>
    <a:clrScheme name="Kubernetes Temelleri">
      <a:dk1>
        <a:srgbClr val="45505F"/>
      </a:dk1>
      <a:lt1>
        <a:srgbClr val="F5F4EF"/>
      </a:lt1>
      <a:dk2>
        <a:srgbClr val="717983"/>
      </a:dk2>
      <a:lt2>
        <a:srgbClr val="E3E4E1"/>
      </a:lt2>
      <a:accent1>
        <a:srgbClr val="2F6BD8"/>
      </a:accent1>
      <a:accent2>
        <a:srgbClr val="B4570F"/>
      </a:accent2>
      <a:accent3>
        <a:srgbClr val="F0A060"/>
      </a:accent3>
      <a:accent4>
        <a:srgbClr val="24395A"/>
      </a:accent4>
      <a:accent5>
        <a:srgbClr val="F3D9C4"/>
      </a:accent5>
      <a:accent6>
        <a:srgbClr val="7FB2FF"/>
      </a:accent6>
      <a:hlink>
        <a:srgbClr val="0563C1"/>
      </a:hlink>
      <a:folHlink>
        <a:srgbClr val="954F72"/>
      </a:folHlink>
    </a:clrScheme>
    <a:fontScheme name="Kubernetes Temeller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14038</Words>
  <Application>Microsoft Macintosh PowerPoint</Application>
  <PresentationFormat>Widescreen</PresentationFormat>
  <Paragraphs>1929</Paragraphs>
  <Slides>107</Slides>
  <Notes>107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107</vt:i4>
      </vt:variant>
    </vt:vector>
  </HeadingPairs>
  <TitlesOfParts>
    <vt:vector size="112" baseType="lpstr">
      <vt:lpstr>Arial</vt:lpstr>
      <vt:lpstr>Calibri</vt:lpstr>
      <vt:lpstr>IBM Plex Sans</vt:lpstr>
      <vt:lpstr>JetBrains Mono</vt:lpstr>
      <vt:lpstr>Kubernetes Temelleri</vt:lpstr>
      <vt:lpstr>Kubernetes Temelleri</vt:lpstr>
      <vt:lpstr>Eğitimin akışı</vt:lpstr>
      <vt:lpstr>Giriş</vt:lpstr>
      <vt:lpstr>Tek sunucuda container çalıştırmak neden yetmez?</vt:lpstr>
      <vt:lpstr>Container: kernel'i paylaşan izole süreç</vt:lpstr>
      <vt:lpstr>İstenen durumu tanımla, gerisini cluster sağlasın</vt:lpstr>
      <vt:lpstr>Temel Kavramlar ve Mimari</vt:lpstr>
      <vt:lpstr>PowerPoint Presentation</vt:lpstr>
      <vt:lpstr>Control plane yönetir, worker node'lar çalıştırır</vt:lpstr>
      <vt:lpstr>Dört bileşen, dört sorumluluk</vt:lpstr>
      <vt:lpstr>Her node'da üç parça çalışır</vt:lpstr>
      <vt:lpstr>Cluster'ın tek doğruluk kaynağı</vt:lpstr>
      <vt:lpstr>Bir pod oluşturulduğunda ne olur?</vt:lpstr>
      <vt:lpstr>Controller: durumu izleyip düzelten döngü</vt:lpstr>
      <vt:lpstr>Hangi pod hangi node'a gidecek?</vt:lpstr>
      <vt:lpstr>Node üzerindeki ajan</vt:lpstr>
      <vt:lpstr>Service IP'si gerçek bir arayüz değildir</vt:lpstr>
      <vt:lpstr>Kubernetes Docker'ı değil, CRI'ı konuşur</vt:lpstr>
      <vt:lpstr>En küçük birim neden container değil, Pod?</vt:lpstr>
      <vt:lpstr>Bir Pod'u YAML ile tanımlamak</vt:lpstr>
      <vt:lpstr>Her nesnede aynı dört üst alan</vt:lpstr>
      <vt:lpstr>Her an N kopyanın çalışmasını garanti eder</vt:lpstr>
      <vt:lpstr>Nesneleri birbirine bağlayan yapıştırıcı</vt:lpstr>
      <vt:lpstr>ReplicaSet'leri yöneten üst katman</vt:lpstr>
      <vt:lpstr>ReplicaSet'ten tek farkı: kind</vt:lpstr>
      <vt:lpstr>Değişen pod'ların önünde sabit bir adres</vt:lpstr>
      <vt:lpstr>PowerPoint Presentation</vt:lpstr>
      <vt:lpstr>Üç port, üç farklı bakış açısı</vt:lpstr>
      <vt:lpstr>PowerPoint Presentation</vt:lpstr>
      <vt:lpstr>Mikroservisler arası iç iletişim</vt:lpstr>
      <vt:lpstr>Kullanıcıya tek bir adres vermek</vt:lpstr>
      <vt:lpstr>Hangi Service tipi ne zaman?</vt:lpstr>
      <vt:lpstr>Tek cluster içinde mantıksal izolasyon</vt:lpstr>
      <vt:lpstr>Başka namespace'e erişmek ve sınır koymak</vt:lpstr>
      <vt:lpstr>"Nasıl yapılacağını" mı, "ne istediğini" mi söylersin?</vt:lpstr>
      <vt:lpstr>Üç kaynağı karşılaştıran birleştirme</vt:lpstr>
      <vt:lpstr>Günlük işlerin %90'ı bu komutlarla</vt:lpstr>
      <vt:lpstr>Scheduling</vt:lpstr>
      <vt:lpstr>Scheduler yoksa pod sonsuza dek Pending kalır</vt:lpstr>
      <vt:lpstr>Node pod'u iter, pod tahammül eder</vt:lpstr>
      <vt:lpstr>Pod'u belirli node'lara çekmek</vt:lpstr>
      <vt:lpstr>Node'u bir uygulamaya ayırmak için ikisi de gerekir</vt:lpstr>
      <vt:lpstr>Request yerleşimi, limit tavanı belirler</vt:lpstr>
      <vt:lpstr>Namespace düzeyinde varsayılanlar ve tavanlar</vt:lpstr>
      <vt:lpstr>Her node'da tam bir kopya</vt:lpstr>
      <vt:lpstr>API server olmadan kubelet'in kendi başına çalıştırdığı pod’lar API Server çalışmadan Pod oluşturamazsınız. Peki API Server'ın kendisini bir Pod olarak nasıl ayağa kaldıracaksınız?</vt:lpstr>
      <vt:lpstr>Yer yetmezse kim önce?</vt:lpstr>
      <vt:lpstr>Varsayılan mantık yetmediğinde</vt:lpstr>
      <vt:lpstr>RBAC "kim yapabilir" der; admission "nasıl yapılabilir" der</vt:lpstr>
      <vt:lpstr>Uygulama Yaşam Döngüsü</vt:lpstr>
      <vt:lpstr>Recreate mi, RollingUpdate mi?</vt:lpstr>
      <vt:lpstr>Her değişiklik bir revizyondur</vt:lpstr>
      <vt:lpstr>ENTRYPOINT ↔ command, CMD ↔ args</vt:lpstr>
      <vt:lpstr>Konfigürasyonu image'dan ayırmak</vt:lpstr>
      <vt:lpstr>ConfigMap gibi ama hassas veri için</vt:lpstr>
      <vt:lpstr>Secret'ları gerçekten korumak için</vt:lpstr>
      <vt:lpstr>Init, sidecar ve diğer desenler</vt:lpstr>
      <vt:lpstr>"Çalışıyor" ile "hazır" aynı şey değil</vt:lpstr>
      <vt:lpstr>Zamanlama parametreleri</vt:lpstr>
      <vt:lpstr>Yatay mı, dikey mi; iş yükü mü, cluster mı?</vt:lpstr>
      <vt:lpstr>Yüke göre replika sayısı</vt:lpstr>
      <vt:lpstr>Pod sayısını değil, pod'un boyunu değiştirmek</vt:lpstr>
      <vt:lpstr>Yerleşik olan az; gerisi ekosistemden</vt:lpstr>
      <vt:lpstr>Cluster Bakımı</vt:lpstr>
      <vt:lpstr>Node'u kesintisiz bakıma almak</vt:lpstr>
      <vt:lpstr>Önce control plane, sonra node'lar; her seferinde bir minor</vt:lpstr>
      <vt:lpstr>etcd snapshot: cluster'ın tamamı tek dosyada</vt:lpstr>
      <vt:lpstr>Güvenlik</vt:lpstr>
      <vt:lpstr>Savunma katmanları</vt:lpstr>
      <vt:lpstr>Kubernetes kullanıcı hesabı tutmaz</vt:lpstr>
      <vt:lpstr>Her bileşenin bir kimliği var</vt:lpstr>
      <vt:lpstr>Hangi cluster'a, hangi kimlikle?</vt:lpstr>
      <vt:lpstr>Grup → sürüm → kaynak → fiil</vt:lpstr>
      <vt:lpstr>Kimliği doğrulanmış istek ne yapabilir?</vt:lpstr>
      <vt:lpstr>Ne yapılabilir + kim yapabilir</vt:lpstr>
      <vt:lpstr>Namespace'e sığmayan izinler</vt:lpstr>
      <vt:lpstr>Uygulamaların kimliği</vt:lpstr>
      <vt:lpstr>Image adı kısaltmadır; özel registry kimlik ister</vt:lpstr>
      <vt:lpstr>Container'ı en az yetkiyle çalıştırmak</vt:lpstr>
      <vt:lpstr>Varsayılan "herkes herkese"; politika ile daraltılır</vt:lpstr>
      <vt:lpstr>Kubernetes API'sini genişletmek</vt:lpstr>
      <vt:lpstr>Depolama</vt:lpstr>
      <vt:lpstr>Yazılabilir katman container ile birlikte ölür</vt:lpstr>
      <vt:lpstr>Pod'a bağlı depolama</vt:lpstr>
      <vt:lpstr>Yönetici depoyu sunar, geliştirici talep eder</vt:lpstr>
      <vt:lpstr>Bir PVC tek bir PV'ye bağlanır</vt:lpstr>
      <vt:lpstr>PV'yi elle değil, talep geldikçe oluşturmak</vt:lpstr>
      <vt:lpstr>CRI, CNI, CSI: Kubernetes'in eklenti mimarisi</vt:lpstr>
      <vt:lpstr>Ağ</vt:lpstr>
      <vt:lpstr>Kubernetes kuralları koyar, CNI uygular</vt:lpstr>
      <vt:lpstr>Pod oluşunca ağını kim kurar?</vt:lpstr>
      <vt:lpstr>İki ayrı IP aralığı, iki ayrı sorumlu</vt:lpstr>
      <vt:lpstr>Servisleri adla bulmak</vt:lpstr>
      <vt:lpstr>Tek giriş noktası, host ve path'e göre yönlendirme</vt:lpstr>
      <vt:lpstr>Path bazlı ve host bazlı kurallar</vt:lpstr>
      <vt:lpstr>Ingress'in rol tabanlı ve taşınabilir halefi</vt:lpstr>
      <vt:lpstr>Helm ve Kustomize</vt:lpstr>
      <vt:lpstr>Kubernetes'in paket yöneticisi</vt:lpstr>
      <vt:lpstr>Şablon + değer = manifest</vt:lpstr>
      <vt:lpstr>Kur, özelleştir, yükselt, geri al</vt:lpstr>
      <vt:lpstr>Şablonsuz özelleştirme: base + overlay</vt:lpstr>
      <vt:lpstr>Troubleshooting</vt:lpstr>
      <vt:lpstr>STATUS sütunu ne anlatıyor?</vt:lpstr>
      <vt:lpstr>Kullanıcıdan veritabanına, zincirin halkalarını tek tek kontrol et</vt:lpstr>
      <vt:lpstr>Bileşen nasıl çalışıyorsa log'u oradadır</vt:lpstr>
      <vt:lpstr>Akılda kalması gereken altı fikir</vt:lpstr>
      <vt:lpstr>Performans tabanlı: bilgi kadar hız da ölçülür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Temelleri</dc:title>
  <dc:subject/>
  <dc:creator/>
  <cp:lastModifiedBy>Microsoft Office User</cp:lastModifiedBy>
  <cp:revision>6</cp:revision>
  <dcterms:created xsi:type="dcterms:W3CDTF">2026-10-04T15:43:41Z</dcterms:created>
  <dcterms:modified xsi:type="dcterms:W3CDTF">2026-10-04T18:39:59Z</dcterms:modified>
</cp:coreProperties>
</file>