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19"/>
    <p:restoredTop sz="94610"/>
  </p:normalViewPr>
  <p:slideViewPr>
    <p:cSldViewPr snapToGrid="0" snapToObjects="1">
      <p:cViewPr varScale="1">
        <p:scale>
          <a:sx n="148" d="100"/>
          <a:sy n="148" d="100"/>
        </p:scale>
        <p:origin x="216" y="18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57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Sınıfa "Hiç dosyalarınızı son_final_v3_gercekten_son.docx diye kaydettiniz mi?" diye sorun. Eller kalkınca Git'in tam olarak bu problemi çözdüğünü söyleyin. Sağdaki çizim sunumun ana dilidir: mavi daire ana dal (master) commit'leri, turuncu daireler bir özellik dalı, en sağdaki halka ise ikisini birleştiren merge commit. Bu görsel dili ders boyunca tekrar göreceklerini belirtin.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 haritasını tahtaya da yazabilirsiniz. İlk dört modül "tek başına Git" ve "takımla Git" temelidir; 5-7. modüller dersin kalbidir: iki farklı geçmişi birleştirmek. Modül 8, geri alma araçlarını tamamlar: paylaşılmış bir hatayı güvenle geri alan revert ve yarım işi bir kenara koyan stash. Öğrencilere, modül 5'ten itibaren her konuyu önce düğüm diyagramıyla göreceklerini, sonra terminalde deneyeceklerini söyleyin. Önerilen süre: 1-4 için 90 dk, 5-7 için 120 dk, 8 için 30 dk, lab için 45 dk.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öğrencilerin "okuma anahtarı". Düğüm (node) = commit. Renk sadece yardımcıdır; her düğümün üzerinde C1, F1, M gibi etiketler var, renk körü öğrenciler de takip edebilir. Etiketli haplar (master, test, HEAD) işaretçidir: Git'te dal dediğimiz şey aslında bir commit'i gösteren hareketli bir etikettir. Bunu şimdiden söylemek, merge konusunda fast-forward'ı anlamayı çok kolaylaştırır.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benzetmeyi ders boyunca kullanacağız. Commit = fotoğraf karesi. Branch = albümün kopyası üzerinde farklı bir hikâye çekmek. Merge = iki albümü tek albümde toplamak. Rebase = kendi fotoğraflarını sanki en güncel albümün devamıymış gibi yeniden basmak. Sınıfa sorun: "Bir fotoğrafı sonradan değiştirirseniz ne olur?" Cevap: yeni bir fotoğraf olur. Bu cevap rebase'deki "hash değişir" düğümünün temelidir.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Dersin en önemli slaytlarından biri; burada acele etmeyin. Kargo benzetmesi: Masada çok şey var (working directory), ama kargoya sadece seçtiklerini koyarsın (git add), kutuyu kapatıp gönderdiğin an kayıt kesinleşir (git commit). Sınıfa sorun: "Neden direkt commit yok da arada staging var?" Cevap: Aynı anda 5 dosyayı değiştirdin ama sadece 2'si aynı işe ait; staging ile anlamlı, küçük commit'ler atarsın. Bu diyagrama Modül 2'de reset anlatırken geri döneceğiz.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önce git --version yazdırın. Laboratuvardaki makinelerde Git 2.46'dan eski bir sürüm varsa "get/set" alt komutları çalışmaz; o zaman sağdaki klasik yazım kullanılır, ikisi de aynı dosyaya (~/.gitconfig) yazar. --global: bu kullanıcının tüm projeleri; --local: sadece bu repo. Neden önemli? Her commit'e yazar adı ve e-posta damgalanır; GitHub da katkıyı bu e-postayla hesabınıza bağlar. Canlı demo: cat ~/.gitconfig ile dosyanın içini gösterin.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notlarındaki akışın başına git init eklendi; o olmadan hiçbir komut çalışmaz. ls -al ile gizli .git klasörünü gösterin: "Arşiv burada. Bu klasörü silerseniz tüm geçmiş gider." Alttaki ekran görüntüsü gerçek bir git log --oneline çıktısı: en yeni commit en üstte, HEAD'in hangi dalı gösterdiği parantez içinde. Sınıfa sorun: log neden en yeniyi en üstte gösteriyor? Çünkü Git geçmişi en son commit'ten geriye, parent zinciri boyunca okur. Hash değerleri öğrencide farklı çıkacaktır; bu doğal, çünkü hash içeriğe, yazara ve zamana bağlıdır.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ileride iki büyük düğümü çözmenin anahtarı. 1) Dal = hareketli etiket: fast-forward merge'de sadece bu etiket kayar. 2) Hash = içerik + parent + yazar + tarihin parmak izi: rebase'de parent değiştiği için hash de değişir, "aynı" commit aslında yeni bir committir. HEAD = şu an neredeyim; genelde bir dalı gösterir. Canlı demo: git cat-file -p HEAD komutuyla gerçek bir commit'in içini gösterin.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 "tekrar unstaged olur" yazıyordu; teknik olarak daha doğru ifade: dosya untracked olur ve silinmesi stage'e alınır. git status çıktısında hem "deleted: dosya4" (staged) hem de "Untracked files: dosya4" görünür; bunu canlı gösterin, öğrenciler bu ikiliği çok şaşırtıcı bulur. Gerçek hayat kullanımı: yanlışlıkla commit edilen .env veya node_modules klasörünü diskten silmeden repodan çıkarmak, ardından .gitignore'a eklemek.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alan slaytına geri bağlayın: reset soldan sağa doğru "yıkar". soft sadece commit'i geri alır (HEAD geri kayar), değişiklikler staged kalır: commit mesajını düzeltmek veya birkaç commit'i tek commit'te toplamak için ideal. mixed (varsayılan, yani düz git reset) staging'i de boşaltır; dosya stage'den çıkar ama diskte kalır. hard hepsini siler; commit edilmemiş iş kurtarılamaz. Sınıf sorusunun cevabı: --soft veya --mixed, ikisi de kodu korur. Sonraki dört slaytta her birinin gerçek terminal çıktısı var.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terminal çıktısı, yukarıdan aşağı: touch new-file ile untracked bir dosya oluşuyor; git add . sonrası "Changes to be committed" altında görünüyor; düz git reset (varsayılan --mixed, hedef verilmeyince HEAD) sonrası tekrar "Untracked files" altına dönüyor. Öğrencilere "reset dosyayı silmedi, sadece kargo kutusundan çıkardı" deyin. Modern karşılığı: git restore --staged new-file.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Çıktıyı sırayla okuyun: log'da dört commit var; git reset ca67dc9 --soft ile 3. commit'e dönülüyor; log'da artık üç commit var; ls'de d4 dosyası yerinde; git status "Changes to be committed: new file d4" diyor. Yani sadece commit geri alındı, d4 kargo kutusunda bekliyor. Hemen git commit yazılırsa aynı değişiklik yeni mesajla tekrar commit edilir. Hedef olarak hash yerine HEAD~1 de kullanılabilir.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senaryo, bu sefer --mixed ile. Soft'tan tek fark git status çıktısında: d4 artık "Changes to be committed" altında değil, "Untracked files" altında. Yeni oluşturulan bir dosya olduğu için untracked görünüyor; daha önce takip edilen bir dosya olsaydı "Changes not staged for commit" altında görünürdü. Öğrencilere iki çıktıyı yan yana gösterip farkı buldurun.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Üçlünün sonuncusu. ls çıktısında d4 yok; git status "nothing to commit, working tree clean" diyor. Git "HEAD is now at ca67dc9" diyerek nereye döndüğünü bildiriyor. Sınıfa sorun: "d4 sonsuza dek gitti mi?" Cevap: commit edildiği için hayır, reflog ile geri gelir (iki slayt sonra). Ama commit edilmemiş bir değişiklik olsaydı --hard onu gerçekten silerdi.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HEAD~1 = "bir önceki commit". Tabloyu okuturken her satırda öğrencilere "Kod ekranımda duruyor mu?" diye sorun. En sık sorulan soru: "hard ile sildiğim commit tamamen gitti mi?" Cevap: commit edilmiş olanlar hâlâ kurtarılabilir, bir sonraki slayttaki reflog sayesinde. Ama hiç commit edilmemiş değişiklikler gerçekten kaybolur. Bu ayrımı net vurgulayın.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Benzetme: reflog uçağın kara kutusudur; HEAD'in gittiği her yeri kaydeder. log "hikâyeyi", reflog "benim hareketlerimi" gösterir. Canlı demo sırası: 1) git log --oneline ile 3 commit göster, 2) git reset --hard HEAD~1, 3) log'da C3 yok, sınıfta panik havası yaratın, 4) git reflog, 5) git reset --hard HEAD@{1}, C3 geri geldi. Öğrencilerin en çok hatırladığı an genelde budur. Not: reflog paylaşılmaz; GitHub'daki reponun reflog'u yoktur, bu yüzden kurtarma yerel makinede yapılır.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Cevapları göstermeden önce öğrencilere 30 saniye tanıyın, parmak kaldırarak oylama yapın (soft, mixed, hard, reflog). Sunum modunda cevaplar görünür durumda; isterseniz önce cevap satırlarını elinizle kapatın ya da bu slaytı tahtada sözlü sorun. 1. soruya alternatif cevap: git commit --amend. Bunu da bilen öğrenciyi takdir edin.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Vurgulanacak nokta: origin özel bir kelime değil, sadece uzak adrese verilen bir takma addır; "github" veya "okul" da diyebilirdiniz. Git dağıtıktır: yerel repo tek başına tam bir repodur. push = benden sunucuya, fetch = sunucudan bana ama sadece bilgi, pull = fetch + merge. Bu slayttaki git@ adresi SSH bağlantısıdır; öğrencilerin SSH anahtarı yoksa HTTPS adresini kullanın, aksi halde ilk push'ta "Permission denied (publickey)" hatası alırlar.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fetch ve pull'u anlamanın anahtarı bu slayt. Öğrencilerin çoğu "main" dediğinde tek bir şey düşünür; aslında üç ayrı işaretçi vardır. Ortadaki origin/main en çok gözden kaçan parçadır: GitHub'ın en son baktığın andaki fotoğrafıdır, sen fetch yapmadıkça GitHub'da ne olursa olsun değişmez. Canlı demo: git branch -a çıktısında hem main hem remotes/origin/main satırlarını gösterin. Bundan sonraki her slaytta bu üç etiketin nasıl hareket ettiğini izleyeceğiz: mavi hap senin main'in, açık mavi hap origin/main, turuncu hap GitHub'daki main.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önceki slayttaki üç "main"in gerçek hayattaki karşılığı. Push'tan önce git branch -a sadece yerel master'ı gösteriyor; git push origin master sonrası remotes/origin/master satırı ekleniyor, yani origin/master oluştu. Aradaki "error: remote origin already exists" satırına da dikkat çekin: origin zaten tanımlıysa tekrar add yapılamaz; adresi değiştirmek için git remote set-url kullanılır.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tek yönlüdür: senden sunucuya. Diyagramda sende C3 var, GitHub'da yok; push sonrası C3 GitHub'a kopyalanır ve sendeki origin/main etiketi de C3'e kayar, çünkü Git artık GitHub'ın C3'ü içerdiğini biliyor. Öğrencilerin en sık hatası: dosyayı değiştirip commit etmeden push yapmak ve "Everything up-to-date" mesajına şaşırmak. Sınıfa sorun: "Push ettim ama GitHub'da değişikliğim yok, neden?" Cevap: commit atılmamış. Push'un başarılı olması için bir şart daha var: GitHub'da senin görmediğin bir commit olmamalı. Bir sonraki slayt tam olarak bu durum.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Çıktıyı üç parçada okuyun. 1) git remote show origin: "master pushes to master (local out of date)", yani GitHub'da sende olmayan bir commit var. 2) git pull origin master: "Updating 6a655c7..951d955 / Fast-forward", pull'un fetch + fast-forward yaptığının kanıtı (Durum 1 slaytı). 3) Tekrar remote show origin: artık "(up to date)". remote show, fetch yapmadan da sunucuya bakabildiği için pull öncesi hızlı bir durum kontrolü olarak öğretilebilir.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hata öğrencilerin ilk takım projesinde mutlaka karşılaştığı hatadır; önceden görmüş olmaları paniği önler. Mantık: Push ancak fast-forward olabiliyorsa kabul edilir, yani GitHub'daki main senin geçmişinin içinde olmalıdır. Burada GitHub'da D var, sende yok; push kabul edilse D kaybolurdu. Hata mesajındaki "fetch first" ipucu tam olarak doğru yolu söyler. Canlı demo için iki klasörde aynı repoyu klonlayın: birinden push edin, diğerinden pull yapmadan push etmeye çalışın. Ahmet hikâyesine bağlayın: --force tam olarak bu korumayı devre dışı bırakır.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Fetch'in tanımı tek cümle: uzaktaki yeni commit'leri indirir ve origin/ etiketlerini günceller, başka hiçbir şeye dokunmaz. Diyagramda D artık senin bilgisayarında da var ama senin main etiketin hâlâ C2'de; çalışma klasöründeki dosyalar da C2'deki haliyle duruyor. Öğrencilerin "fetch yaptım ama kodum değişmedi, bozuk mu?" sorusunun cevabı: hayır, fetch'in amacı tam olarak bu. Slayttaki iki inceleme komutu: log ile hangi commit'lerin geleceğini, diff ile hangi satırların değişeceğini görürsün. Karar verdikten sonra birleştirmek için git merge origin/main yazmak, pull'un yaptığı işin ikinci yarısıdır.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reddedildi" slaytının gerçek terminal hâli. Yerelde bir dosya eklenip commit edildi, ama GitHub'da başka bir commit vardı; git push origin master reddedildi. Sarı "hint" satırlarını okutun: Git ne yapılacağını zaten söylüyor ("git pull before pushing again"). Burada pull yerine önce git fetch origin yapıldı; son satırdaki "951d955..77db7e5 master -&gt; origin/master" origin/master etiketinin ilerlediğini gösteriyor. Senin master'ın ise yerinde duruyor: fetch slaytındaki durumun aynısı.</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önceki slaytın devamı: pull'un iki yarısı elle yapılıyor. git diff master origin/master ile gelecek değişiklik inceleniyor; git merge origin/master "Merge made by the 'ort' strategy" diyerek bir merge commit oluşturuyor (Durum 2 slaytındaki M); ardından git push origin master kabul ediliyor ve remote show origin "(up to date)" diyor. Öğrencilere vurgu: fetch + diff + merge, pull'un kontrollü hâlidir.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iki adımdır: önce fetch (bir önceki slayt), sonra origin/main'i senin main'ine merge. Bu slaytta sende yeni commit olmadığı için merge adımı bir fast-forward'dur: main etiketi C2'den D'ye kayar (soluk kesikli hap eski yeri gösteriyor) ve çalışma klasöründeki dosyalar D'deki hale gelir. Modül 5'teki fast-forward ile birebir aynı mekanizma; öğrencilere "merge tiplerini öğrendiğinizde pull'u da öğrenmiş olacaksınız" deyin. Bir sonraki slayt işin zor tarafı: sende de yeni commit varsa.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reddedilen push slaytının devamıdır: C3'ü push edemedik, git pull yaptık ve şimdi geçmiş D'yi de içerdiği için push kabul edilir. Diyagramdaki elmas şekli Modül 5'teki 3-way merge'ün aynısıdır; pull'un içindeki merge adımı gerçekten normal bir git merge origin/main komutudur. Öğrencilere, log'da "Merge branch 'main' of github.com:..." gibi mesajlar görürlerse bunun pull'dan geldiğini söyleyin. Bu otomatik merge commit'lerini sevmeyen ekipler var; alternatifleri bir sonraki slaytta.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Pull'un iki durumunu tek görselde özetleyen slayt. Sol taraf Durum 1: sende yeni commit yoksa etiket ileri kayar, yeni commit oluşmaz, geçmiş düz kalır. Sağ taraf Durum 2: iki taraf da ilerlediyse merge commit oluşur ve aynı satırlar değiştiyse conflict çıkabilir. Bu iki tip Modül 5'te düğüm düğüm ayrıntılı işlenecek; burada sadece "pull aslında bir merge yapıyor" fikrini oturtmak yeterli.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Yeni Git sürümleri, bu ayar yapılmamışken iki taraf da ilerlemişse pull'u durdurur ve "divergent branches" uyarısıyla sizden seçim yapmanızı ister. Öğrenciler bu mesajı gördüğünde bu slayta dönün. Öneri: yeni başlayanlar için merge (pull.rebase false) en anlaşılır olanıdır; ekip düz geçmiş istiyorsa pull.rebase true. --rebase'in güvenli olmasının nedeni: rebase edilen C3 henüz sadece sende, kimse onu çekmedi; altın kural bozulmuyor. Rebase sırasında conflict çıkarsa Modül 7'deki add + rebase --continue döngüsü geçerlidir.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Pull'un üç davranışı slaytındaki --rebase seçeneğinin gerçek hâli. Sağdaki terminalde yerel bir commit atılıyor, fetch ile uzaktaki yeni commit görülüyor ve git pull --rebase origin master "Successfully rebased and updated refs/heads/master" diyor. Soldaki VS Code Git grafiğinde "local den ikinci dosya eklendi" commit'i en üstte, çatal yok: M commit'i oluşmadı. Bir önceki merge çıktısıyla karşılaştırın: grafikte birleşme noktası orada vardı, burada yok.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Benzetme: fetch, navigasyon haritasını güncellemektir; araba yerinden kıpırdamaz. pull ise haritayı güncelleyip hemen o yola sapmaktır. Ortadaki kutu kritik: origin/main, uzaktaki dalın senin bilgisayarındaki salt okunur kopyasıdır (remote-tracking branch). Öğrenciler genelde bu ara katmanı bilmez, bu yüzden "fetch ettim ama kodum değişmedi" diye şaşırırlar. Değişmemesi zaten fetch'in amacıdır.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okuturken satır satır "dosyalarım değişir mi?" sorusunu sorun. Kritik satır üçüncüsü: pull'un ikinci yarısını elle yazmak. Deneyimli geliştiriciler çoğu zaman pull yerine fetch + inceleme + merge yolunu tercih eder, çünkü birleştirmeden önce ne geleceğini görürler. Öğrencilere bir alıştırma: tablonun sadece "Komut" sütununu açık bırakıp diğer sütunları sözlü doldurmalarını isteyin.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teoriyi alışkanlığa çevirir. 4. adım neden var? Sen 3. adımda çalışırken arkadaşların push etmiş olabilir; pull etmeden push edersen bir önceki slaytlardaki "rejected" hatasını alırsın. 1. adımdaki fetch + status ikilisi sabah kahvesiyle birlikte yapılacak bir kontrol olarak öğretilebilir: "Your branch is behind by 3 commits" mesajı günün ilk bilgisidir. Sınıfta bu beş adımı öğrencilere ezberletmek yerine, bir öğrenciye yüksek sesle "şimdi ne yapıyorum ve neden?" diye anlattırın.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Cevapları göstermeden önce her senaryo için 20 saniye verin ve öğrencilere parmaklarıyla oylama yaptırın: bir parmak push, iki parmak fetch, üç parmak pull. 4. sorunun cevabı bilerek "sadece push" değil: günlük akış slaytındaki altın alışkanlığı pekiştirir. İsterseniz önce "git push" cevabını kabul edip sonra "arkadaşınız bu arada push ettiyse?" diye sorarak öğrencilerin kendi kendine düzeltmesini sağlayın.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demo: git remote -v yazdırın; ilk başta boş çıkar. Sonra remote add, tekrar -v; iki satır (fetch ve push) görünür. Öğrenciler "neden iki satır?" diye sorar: okuma ve yazma adresleri teoride farklı olabilir. set-url'in gerçek kullanımı: HTTPS'ten SSH'a geçmek ya da repo başka bir organizasyona taşındığında adresi güncellemek.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 iki komut vardı: "git push origin test" ve "git push -u origin test". Farkı burada netleştirin. İkisi de dalı GitHub'a gönderir; sadece -u olan, yerel test dalını origin/test'e bağlar. Bağ kurulunca git status "Your branch is up to date with 'origin/test'" der ve düz git push/pull çalışır. Canlı demo: -u olmadan push edip sonra düz git pull deneyin; Git "There is no tracking information" diye itiraz eder. Bu hata öğrencinin hafızasına kazınır.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senaryoya ders notlarına ek olarak "git log main..origin/main" eklendi: "uzakta olup bende olmayan commit'leri göster" demektir. Pull'dan önce ne geleceğini görmenin en temiz yoludur. 2. senaryoda git switch, origin/feature/payment varsa aynı isimle yerel dalı otomatik açar ve bağlar. 4. senaryoda "behind" = geridesin, "ahead" = öndesin, "diverged" = ikisi birden; diverged görürseniz sınıfa "bu bir 3-way merge ya da rebase adayı" deyin ve Modül 5'e köprü kurun.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switch, Git 2.23 ile geldi ve checkout'un "dal değiştirme" görevini üstlendi; checkout aynı anda dosya geri yükleme de yaptığı için yeni başlayanlar için kafa karıştırıcıdır. Öğrencilere switch'i öğretin, checkout'u "eski kodlarda göreceğiniz yazım" olarak tanıtın. Kritik detay: "git switch dev" yerelde dev yoksa ve origin/dev varsa sihirli şekilde tracking dal açar. Hem origin'de hem başka bir remote'ta aynı isim varsa bu sihir çalışmaz; o zaman git switch -c dev --track origin/dev gerekir.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notundaki gözlem çok değerli: "prune yapsak da yerel dal kalır." Bunu üç adımda gösterin. Kalıcı çözüm: git config --global fetch.prune true ile her fetch otomatik prune yapar. -d ile -D farkı: -d güvenli silmedir, dal birleştirilmemişse Git reddeder; -D zorla siler. Öğrencilere önce -d kullanmalarını, Git itiraz ederse durup düşünmelerini söyleyin.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Modül 5'e geçiş. Bu sorunun cevabı merge tipini belirler: Hayır ise Git sadece etiketi kaydırır (fast-forward). Evet ise iki yol ayrılmıştır ve Git yeni bir birleşme commit'i üretir (3-way). Öğrencilere bu soruyu tahtaya yazdırın; sonraki her diyagramda önce bu soruyu sorun. Sağdaki mini çizim 3-way merge'ün sembolü: iki yol ayrılıp tekrar birleşiyor.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modülün haritası. Her kartı 20 saniyede tanıtın, detaya girmeyin; sonraki slaytlar her birini ayrı açıyor. Öğrencilere mini çizimlerin şekline dikkat ettirin: düz çizgi, elmas, kabarcık, sıkıştırma. Bir hafta sonra komutları unutsalar bile bu dört şekli hatırlarlar, şekli hatırlayan komutu da bulur.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 modunda bir sonraki slayta geçerken düğümler "magic move" ile hareket eder: C2 ana hatta yükselir, master etiketi C2'ye kayar. Geçişten önce sınıfa sorun: "Git burada yeni bir commit üretmek zorunda mı?" Tahminleri alın, sonra geçişi oynatın. Notlardaki benzetme: "Arada yol ayrımı oluşmamış, ben sadece master etiketini ileri kaydırayım." HEAD burada master'ı gösteriyor çünkü git switch master yaptık.</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animasyonunu bir kez daha oynatmak için geri gidip tekrar ilerleyebilirsiniz. Vurgulanacak cümle: Fast-forward bir "birleştirme" değil, bir "ilerletme"dir; geçmiş zaten düz bir çizgidir. git log --oneline --graph çıktısında hiçbir çatal görünmez. Merak eden öğrenciye: FF'yi yasaklamak için --no-ff, sadece FF'ye izin vermek için --ff-only kullanılır; ikisini de birazdan göreceğiz.</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notundaki "git switch test" komutu, test dalı daha önce açılmışsa doğrudur; sıfırdan başlıyorsanız -c ile açın. Demo ipucu: git log --oneline --graph --all komutunu her adımdan sonra çalıştırın ve ekranı bölerek diyagramla yan yana gösterin. Öğrenciler terminal çıktısını slayttaki düğümlerle eşleştirdiğinde konu kalıcı olur.</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İsim buradan gelir: 3-way = üç yönlü, çünkü Git üç commit'e bakar. Neden ortak ataya ihtiyaç var? Sınıfa şu örneği verin: Bir satır A'da "x=1", master'da "x=1", test'te "x=2" ise, değiştiren test'tir ve sonuç x=2 olmalıdır. Ortak ata olmadan Git bunu bilemezdi, sadece "iki farklı değer var" derdi. Yani ortak ata "kim neyi değiştirdi?" sorusunun cevabını verir.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M'nin iki okla bağlandığına dikkat çekin: bu, iki parent'ı olan tek commit türüdür. git log --graph'ta "elmas" şekli buradan gelir. git show M veya git cat-file -p HEAD ile iki parent satırı canlı gösterilebilir. Sık soru: "Editör açıldı, ne yapacağım?" Git varsayılan olarak merge mesajı için editör açar; Vim açıldıysa :wq ile çıkılır. Öğrencilere bunu önceden söylemek derste çok zaman kazandırır.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notundaki dosya adları kısaltıldı (test-dosya.txt, master.txt), içerik aynı. 2. adım dersin kilit noktası: "Dallanmayı sağla." Öğrencilere, master'a commit atarak kasıtlı olarak yol ayrımı yarattığımızı söyleyin. Merge sonrası git log --oneline --graph --all çıktısında elmas şeklini gösterin ve bir önceki slayttaki A, B, T, M düğümleriyle eşleştirin.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diyagram fast-forward slaytındaki durumun aynısı: master hiç ilerlemedi. Fark, --no-ff bayrağı. Sınıfa sorun: "Yeni commit üretmek boşuna iş değil mi?" Cevap: Takım projelerinde "bu özellik hangi commit'lerden oluşuyordu?" sorusunun cevabı kaybolmasın diye tercih edilir. GitHub'daki klasik "Create a merge commit" butonu da --no-ff mantığıyla çalışır. --ff-only ise tam tersidir: git pull --ff-only kullanan biri, beklenmedik merge commit'lerinden korunur.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zaman kullanılır? Dalda "wip", "düzelttim", "tekrar düzelttim" gibi dağınık commit'ler varsa ve ana dala tek temiz commit girmesi isteniyorsa. GitHub'daki "Squash and merge" butonu budur. Bedeli: dalın ayrıntılı geçmişi ana dalda kaybolur ve Git, dalın birleştirildiğini anlayamaz. Sınıfa sorun: "Squash sonrası git branch -d feature neden hata verir?" Cevap: çünkü F1-F3'ün hiçbiri master'ın geçmişinde yok, S tamamen yeni bir commit.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Terminaldeki "Merge made by the 'ort' strategy" cümlesi öğrencilerin mutlaka sorduğu bir şeydir; bu slayt o sorunun cevabı. Ders notundaki "100x-1000x daha hızlı" ifadesi, geliştiricinin yayınladığı uç senaryo ölçümlerinden gelir (çok sayıda rename içeren büyük repolar); gündelik merge'lerde fark "belirgin şekilde hızlı" düzeyindedir. Bu yüzden slaytta rakam yerine "katlarca hızlı" dedik; sorulursa rakamın uç durumlar için olduğunu belirtin. Yeni Git sürümlerinde "-s recursive" istendiğinde de arka planda ort çalışır. Öğrenci açısından önemli olan: 3-way merge'ü yapan motorun adı ort'tur, kullanıcı olarak ayrıca bir şey yapmanız gerekmez.</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modülün "kopya kağıdı". Öğrencilerden tabloyu kapatıp satırları sözlü doldurmalarını isteyebilirsiniz: bir öğrenci tip söyler, diğeri geçmiş şeklini. Son satır Modül 7'ye köprüdür: rebase de düz çizgi üretir ama bedeli hash'lerin değişmesidir. Bu satırı işaret edip "bu bedeli birazdan Ahmet'in hikâyesiyle göreceğiz" deyin.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3-way mantığıyla bağlayın: Ortak atada "Orijinal" yazıyordu. Sadece bir taraf değiştirseydi Git o tarafı seçerdi. İki taraf da aynı satırı farklı şekilde değiştirince Git'in kural tabanlı çözümü biter. Önemli mesaj: Conflict bir hata değil, Git'in "insan kararı gerekiyor" demesidir. Öğrencilerin conflict'ten korkmaması için bunu vurgulayın. Farklı satırlar değişseydi ort sessizce birleştirirdi.</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notundaki komutlar aynı; slaytta sığması için echo metinleri ve commit mesajları biraz kısaltıldı, ayrıca git add + commit yerine git commit -am kullanıldı (-a: takip edilen değişmiş dosyaları otomatik stage eder; yeni dosyalarda çalışmaz, bu yüzden 1. adımda ayrı git add var). Demo bitince git status gösterin: "both modified: ortak-kod.txt" satırı öğrencinin conflict'i tanımasını sağlar.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Dosyayı editörde açıp gösterin. VS Code bu blokları renklendirir ve üstünde "Accept Current / Accept Incoming / Accept Both" butonlarını çıkarır; Current = HEAD = bizim, Incoming = gelen dal. Öğrencilerin en sık hatası: işaret satırlarından birini silmeyi unutup commit etmek; kod derlenmez veya dosyada &lt;&lt;&lt;&lt;&lt;&lt;&lt; satırları kalır. İpucu: commit öncesi git diff --check ile kalan işaretler yakalanır.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notundaki özet cümle: "Manuel düzeltmelerde git add ve git commit yeterli olur." git add burada "bu dosyanın conflict'ini çözdüm" anlamına gelir; Git'e verilen bir onaydır. --ours/--theirs için modern karşılık: git restore --ours dosya. --abort ise panik butonudur: öğrencilere "kafanız karıştıysa önce abort, sonra sakin kafayla tekrar" diye öğretin. Bir sonraki slayt dersin en sinsi düğümü: --ours'un rebase'de anlam değiştirmesi.</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rebase modülünden önce, conflict konusunun sonuna bilerek koyduk: öğrenci --ours/--theirs'i yeni öğrenmişken en kalıcı uyarı budur. Pratik kural: Rebase sırasında "kendi kodumu tutayım" diyen kişi --theirs yazmalıdır. Kafa karışıklığını önlemek için öğrencilere alternatif öğretin: hiçbir bayrak kullanmadan dosyayı editörde açıp elle çözmek her iki durumda da aynı şekilde çalışır.</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Notlardaki tanım: "Bir dalın başlangıç tabanını alıp başka bir commit'in üzerine yeniden oturtmak." Sol tarafta F, A'nın üzerine kurulu. Rebase sonrası F'nin değişikliği B'nin üzerine yeniden uygulanır ve F' doğar. Commit anatomisi slaytına geri dönün: parent değişti, o halde hash de değişmek zorunda. Eski F kaybolmaz ama hiçbir dal onu göstermez; reflog'da hâlâ bulunur. Fotoğraf benzetmesi: aynı pozu farklı bir arka planın önünde yeniden çekmek; görüntü benzer ama artık yeni bir fotoğraf.</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notundaki kritik nokta: rebase'de conflict çözüldükten sonra commit değil, git rebase --continue yazılır. Commit atarsanız rebase'in içine fazladan bir commit girer ve geçmiş karışır. --abort: rebase'i tamamen iptal eder, dal rebase öncesine döner. --skip: çakışan commit'i atlar, yani o commit'in değişikliği kaybolur; öğrencilere dikkatli kullanmalarını söyleyin. Birden fazla commit rebase ediliyorsa bu döngü her commit için tekrarlanabilir: düzenle, add, continue.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Senaryo ders notlarıyla birebir aynı; görseldeki iki ekran dört adımı gösteriyor: 1) master'da app.txt ile başlangıç, 2) feature/login dalında 2. satırı ekleme, 3) master'a dönüp aynı satıra farklı bir şey ekleme, 4) feature/login'e geçip git rebase master. 3. adımda iki dal da app.txt'nin 2. satırına farklı şey eklediği için 4. adımda conflict çıkar; çözümü bir önceki slaytta gördük (düzelt, git add, git rebase --continue). &gt;&gt; operatörünün dosyanın sonuna eklediğini, &gt; operatörünün ise dosyayı sıfırladığını hatırlatın; öğrenciler bu ikisini sık karıştırır. Son komut git log --graph --oneline --all ile geçmişin düz bir çizgi olduğunu gösterin.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başlangıç durumu, iki farklı sonuç. Sınıfa sorun: "Bir yıl sonra bu projede bir hata arıyorsunuz. Hangi log'u okumak isterdiniz?" Genelde çoğunluk sağdakini seçer. Sonra ikinci soru: "Peki F1'i arkadaşınız da kullanıyorsa?" Bu soru, bir sonraki slayttaki altın kurala zemin hazırlar. Doğru cevap "hangisi daha iyi" değil, "hangi durumda hangisi" sorusudur.</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sessizce 3-4 saniye ekranda bırakın, sonra yavaşça okuyun. Kural iki koşullu: 1) uzak sunucuya push edilmiş VE 2) başkaları da üzerinde çalışıyor. Sadece senin kullandığın, henüz kimsenin çekmediği yerel veya kişisel dallarda rebase serbesttir. Nedeni commit anatomisinde: rebase commit'leri silip yeni hash'lerle yeniden basar. Bir sonraki slaytta bunun somut sonucunu Ahmet'in hikâyesiyle göreceğiz.</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Altı slaytlık bir hikâye başlıyor; her slaytta aynı üç şerit var: üstte senin bilgisayarın, ortada sunucu (koyu, GitHub), altta Ahmet'in bilgisayarı. Öğrencilere her adımda "hangi şerit değişti?" diye sorun. Bu ilk adımda herkes eşit: aynı commit'ler, aynı hash'ler. Commit'lerin altındaki kısa kodlar hash'tir; hikâyenin tamamı 7a3f2c1'in başına gelenlerle ilgili. Commit anatomisi slaytındaki formülü hatırlatın: parent değişirse hash de değişir.</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Sadece alt şerit değişti. Vurgulanacak nokta: A1'in içinde "parent: 7a3f2c1" satırı yazıyor. Yani A1 kendini C1'e bağlamış durumda; bina ancak bu temel yerinde durdukça ayakta kalır. Ahmet'in push etmemiş olması normal bir durum; takım çalışmasında herkesin yerelde henüz paylaşmadığı commit'leri olur. Sınıfa sorun: "Sunucudaki C1 bir şekilde değişirse Ahmet'in A1'i neyin üzerinde durur?"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Sadece üst şerit değişti. Senaryo: main dalına başka biri B commit'ini eklemiş; sen dev'i güncel tutmak için main'e rebase ettin. Rebase konu slaytındaki mekanizmanın aynısı: C1'in değişikliği B'nin üzerine yeniden uygulanır ve yeni bir commit (C1') doğar. İçerik birebir aynı olduğu için öğrenciler "aynı commit" sanar; hash'i işaret edin, aynı değil. Şu ana kadar hiçbir şey bozulmadı: bu değişiklik sadece senin bilgisayarında. Yerel dalını yeniden yazmak serbest. Sorun bir sonraki adımda başlıyor.</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Hatanın gerçekleştiği an bu. Git aslında seni uyardı: normal push reddedildi, çünkü sunucudaki C1 senin yeni geçmişinde yok ve kabul edilseydi kaybolacaktı. --force bu korumayı kapatır ve "sunucuda ne varsa sil, benimkini koy" der. Orta şeritte gri kesikli daire sunucudan silinen eski C1'i gösteriyor. Ahmet'in şeridine dikkat çekin: hiçbir şey değişmedi, çünkü Git kimseye bildirim göndermez. Ahmet bir sonraki push veya pull'a kadar hiçbir şey fark etmeyecek.</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Kırmızı kesikli çerçeveli C1, Ahmet'in inşa ettiği zemin; sunucuda artık bu hash yok. Git'in gözünden durum şu: sunucunun dev'i C0-B-C1' diye gidiyor, Ahmet'inki C0-C1-A1. Ortak nokta sadece C0. Push fast-forward olamadığı için reddedilir. Burada öğrencilere kritik soruyu sorun: "C1 ile C1'in içeriği aynı; Git bunu neden anlamıyor?" Cevap: Git commit'leri içerikle değil hash ile tanır; hash farklıysa, içerik aynı olsa bile, bunlar iki ayrı commit'tir. Sınıfta canlandırma önerisi: tahtada bir öğrenci sunucu olsun ve C1'i silip C1' yazsın; diğeri Ahmet olarak kendi defterindeki C1'in üzerine A1 eklesin.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kart, hikâyenin üç olası sonu. Soldaki: Ahmet ne olduğunu anlamadan git pull yaparsa Git iki geçmişi bir merge commit'iyle birleştirir; C1 ve C1' aynı değişikliği taşıdığı için log'da iki kez görünür, sonra biri bunu push edince geçmiş kalıcı olarak kirlenir. Ortadaki: rebase --onto şunu der: "7a3f2c1'den sonraki commit'lerimi (yani sadece A1'i) al, origin/dev'in üzerine koy." Sonuç: C0-B-C1'-A1', temiz geçmiş. Ek bilgi: Ahmet daha önce fetch yapmışsa git pull --rebase de çoğu zaman bu durumu kendiliğinden çözer (Git, origin/dev'in eski konumunu hatırlar). Sağdaki kart dersin asıl mesajı: dev'i güncel tutmak için rebase yerine merge kullanılsaydı hiçbir şey olmazdı. Paylaşılan dal şartsa rebase edilecekse, bunu ekiple konuşarak ve herkese haber vererek yapın.</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Altın kural "hiç force push yapma" demek değildir. Gerçek hayatta kişisel PR dallarını güncel main'e rebase etmek yaygındır ve sonrasında force push gerekir. O durumda bile --force yerine --force-with-lease kullanmak iyi bir alışkanlıktır. Öğrencilere bir alias önerebilirsiniz: git config --global alias.pushf "push --force-with-lease". Ayrıca birçok ekip main dalını GitHub'da "branch protection" ile force push'a kapatır.</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akış şeması modül 7'nin özeti. Öğrencilere gerçek hayattan iki örnek verin: 1) Ortak develop dalına katkı: merge. 2) Kendi feature dalını, PR açmadan önce güncel main'e yetiştirmek: rebase. Ayrıca git pull --rebase'den bahsedebilirsiniz: pull sırasında merge commit yerine yerel commit'lerinizi uzaktakilerin üzerine taşır; paylaşılmamış yerel commit'ler için güvenlidir. Son vurgu: araçlar tartışılabilir, takım içi tutarlılık tartışılamaz.</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Modül 8'e geçiş. Ahmet'in hikâyesinden hemen sonra gelmesi bilinçli: orada geçmişi yeniden yazmanın bedelini gördük. Revert, aynı "geri alma" ihtiyacını geçmişi yeniden yazmadan karşılar. Stash ise günlük hayatın en sık derdine çözüm: "Yarım işim var ama hemen başka dala geçmem lazım." Sınıfa sorun: "Push ettiğiniz bir commit'te hata buldunuz; şimdiye kadar öğrendiklerinizle ne yapardınız?" Cevaplar genelde reset + force olur; bu modül daha güvenli yolu gösterecek.</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Fotoğraf albümü benzetmesine dönün: reset albümden sayfa koparır; revert ise yeni bir sayfa ekleyip "önceki sayfadaki fotoğraf hatalıydı, düzeltmesi bu" yazar. Diyagramda C2 hatalı commit; revert sonrası C2 silinmedi, ama R onun satırlarını geri aldı. Kodun son hâli C2 hiç yapılmamış gibi olur. Revert'ün ortada bir commit'i de geri alabildiğine dikkat çekin: C3 yerinde kalır, sadece C2'nin değişikliği geri alınır. Hash vurgusu Ahmet hikâyesine bağlanır: hiçbir hash değişmediği için kimsenin zemini kaymaz.</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İkisi de "son commit'i geri al" der ama çok farklı yollarla. Reset etiketi geri kaydırır; C3 hiç yaşanmamış gibi olur. Bu yerelde harika, ama C3 zaten GitHub'daysa senin geçmişin sunucudan geride kalır ve push için --force gerekir: Ahmet hikâyesindeki sorunun aynısı. Revert ise ileri doğru hareket eder: yeni bir R commit'i C3'ü nötrler, geçmiş sadece uzar, kimsenin zemini kaymaz. Alttaki kuralı öğrencilere yüksek sesle tekrarlatın.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akışı: önce bilerek hatalı bir satır ekleyip commit ve push edin. git log --oneline ile hatalı commit'in hash'ini gösterin (öğrencilerde farklı çıkar). git revert komutu varsayılan olarak mesaj editörünü açar; Vim açılırsa :wq ile kaydedip çıkın ya da --no-edit kullanın. Sonra log'da "Revert "feat: hatali ozellik"" commit'ini ve cat app.txt ile satırın gittiğini gösterin. Son push'un --force olmadan kabul edilmesi dersin can alıcı noktası. Ek bilgi: bir merge commit'i geri almak için hangi tarafın korunacağını söylemek gerekir: git revert -m 1 &lt;merge-hash&gt; (no-ff slaytında görmüştük).</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Benzetme: masanda yarım bir yapboz var, ama masayı acilen başka bir iş için boşaltman gerekiyor. Yapbozu bozmadan bir tepsiye alıp rafa koyarsın; iş bitince tepsiyi geri indirirsin. git stash değişiklikleri çalışma alanından ve stage'den alıp rafa koyar; git stash pop en üstteki tepsiyi geri indirir ve raftan kaldırır. Raf bir yığındır (stack): son giren stash@{0} olur. Stash'lenmemiş değişikliklerle dal değiştirmeye çalışınca Git'in "Your local changes would be overwritten" hatası vermesi, stash'e ihtiyaç duyulan klasik anı gösterir.</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Tablodaki komutların hepsi "git" ile başlar; yer kazanmak için yazılmadı. Demo sırasında her adımdan sonra git status çalıştırın: stash sonrası "working tree clean" görmek öğrencide "iş kayboldu mu?" paniği yaratır; git stash list ile rafta durduğunu gösterin. pop ile apply farkı: pop geri alıp raftan siler, apply rafta bırakır (aynı değişikliği birden fazla dala uygulamak için). pop sırasında conflict çıkarsa Git stash'i silmez; conflict'i çözüp git stash drop ile elle silmek gerekir. Son uyarı: stash kalıcı bir yedek değildir ve push edilmez; uzun süre rafta unutulan işler kaybolmaya adaydır, bu durumda yarım işi bir WIP commit'i olarak kaydetmek daha güvenlidir.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Modül 2 ile Modül 8'i birleştiren özet. Öğrencilere tabloyu kapatıp sadece "Durum" sütununu okuyun, komutu onlar söylesin. Mavi satır bu modülün yeni bilgisi. Tablonun altındaki soru, sunum boyunca gördüğümüz tüm "tehlikeli" komutların (reset, rebase, --force) ortak ölçütüdür; Ahmet hikâyesine bir kez daha gönderme yapın.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PDF olarak indirip öğrencilere dağıtabilirsiniz. Sol tablo "tek başına Git", sağ tablo "takımla Git". Dersin sonunda öğrencilere tabloyu kapatıp 60 saniyede hatırladıkları komutları yazmalarını isteyin; sonra tabloyla karşılaştırsınlar. Geri çağırma egzersizi, tekrar okumaktan çok daha kalıcıdır.</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İkili çalışma önerisi: 5. adımda biri merge, diğeri rebase ile ilerlesin ve log çıktılarını yan yana karşılaştırsınlar. Değerlendirme ölçütü: grafikte her merge tipinin şeklini doğru işaretlemek. Sınıf dolaşırken en sık göreceğiniz sorunlar: git init unutmak, SSH anahtarı olmadan git@ adresine push, conflict işaretlerini dosyada bırakmak, rebase ortasında commit atmak. Bunlar derste işlendi; öğrenciyi doğrudan ilgili slayta yönlendirin.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anahtarı. 1) fetch sadece uzak bilgiyi indirir, çalışma alanına dokunmaz; pull = fetch + merge, kodu değiştirir. 2) Hedef dal, kaynak dal ayrıldıktan sonra hiç ilerlememişse; yeni commit oluşmaz, sadece etiket kayar. 3) İki: biri hedef dalın ucu, diğeri birleştirilen dalın ucu; bu yüzden log'da elmas şekli oluşur. 4) Senin commit'lerini, yani rebase edilen dalı; çünkü rebase önce hedef dala geçer ve senin commit'lerini "gelen" olarak uygular. 5) Rebase commit'leri yeni hash'lerle yeniden yazar; başkalarının üzerine inşa ettiği commit'ler sunucuda kaybolur ve geçmişler kopar. 6) git revert &lt;hash&gt;: hatalı commit'in tersini içeren yeni bir commit ekler, geçmişi yeniden yazmaz, normal push yeter; reset + --force yanlış cevaptır. Uygulama önerisi: öğrencileri gruplara ayırıp her soruya 1 dakika verin, cevabı en iyi anlatan grubu tahtaya çağırın.</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mesajı: Git'teki her komut, düğüm grafiğini değiştiren bir harekettir. Grafiği görebilen öğrenci, komutu unutsa bile doğru komutu bulur. Soru-cevaba geçmeden önce öğrencilere bir sonraki derste Pull Request ve code review akışını işleyeceğinizi söyleyebilirsiniz; bugünkü merge tipleri GitHub'daki "Merge / Squash / Rebase" butonlarının tam karşılığıdır.</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5.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34.png"/><Relationship Id="rId7"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image" Target="../media/image69.png"/></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47.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6.png"/><Relationship Id="rId7" Type="http://schemas.openxmlformats.org/officeDocument/2006/relationships/image" Target="../media/image7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7.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0.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7.png"/><Relationship Id="rId7" Type="http://schemas.openxmlformats.org/officeDocument/2006/relationships/image" Target="../media/image90.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2.png"/><Relationship Id="rId4" Type="http://schemas.openxmlformats.org/officeDocument/2006/relationships/image" Target="../media/image88.png"/><Relationship Id="rId9" Type="http://schemas.openxmlformats.org/officeDocument/2006/relationships/image" Target="../media/image12.png"/></Relationships>
</file>

<file path=ppt/slides/_rels/slide5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94.png"/><Relationship Id="rId4" Type="http://schemas.openxmlformats.org/officeDocument/2006/relationships/image" Target="../media/image9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98.png"/><Relationship Id="rId7"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101.png"/><Relationship Id="rId5" Type="http://schemas.openxmlformats.org/officeDocument/2006/relationships/image" Target="../media/image100.png"/><Relationship Id="rId10" Type="http://schemas.openxmlformats.org/officeDocument/2006/relationships/image" Target="../media/image103.png"/><Relationship Id="rId4" Type="http://schemas.openxmlformats.org/officeDocument/2006/relationships/image" Target="../media/image99.png"/><Relationship Id="rId9" Type="http://schemas.openxmlformats.org/officeDocument/2006/relationships/image" Target="../media/image102.png"/></Relationships>
</file>

<file path=ppt/slides/_rels/slide5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6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9" Type="http://schemas.openxmlformats.org/officeDocument/2006/relationships/image" Target="../media/image111.png"/></Relationships>
</file>

<file path=ppt/slides/_rels/slide6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113.png"/></Relationships>
</file>

<file path=ppt/slides/_rels/slide6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114.png"/><Relationship Id="rId4" Type="http://schemas.openxmlformats.org/officeDocument/2006/relationships/image" Target="../media/image113.png"/></Relationships>
</file>

<file path=ppt/slides/_rels/slide6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5.png"/></Relationships>
</file>

<file path=ppt/slides/_rels/slide66.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14.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116.png"/><Relationship Id="rId5" Type="http://schemas.openxmlformats.org/officeDocument/2006/relationships/image" Target="../media/image113.png"/><Relationship Id="rId4" Type="http://schemas.openxmlformats.org/officeDocument/2006/relationships/image" Target="../media/image115.png"/></Relationships>
</file>

<file path=ppt/slides/_rels/slide67.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14.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116.png"/><Relationship Id="rId5" Type="http://schemas.openxmlformats.org/officeDocument/2006/relationships/image" Target="../media/image113.png"/><Relationship Id="rId4" Type="http://schemas.openxmlformats.org/officeDocument/2006/relationships/image" Target="../media/image115.png"/></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6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122.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24.png"/></Relationships>
</file>

<file path=ppt/slides/_rels/slide7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126.png"/></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129.png"/><Relationship Id="rId4" Type="http://schemas.openxmlformats.org/officeDocument/2006/relationships/image" Target="../media/image128.png"/></Relationships>
</file>

<file path=ppt/slides/_rels/slide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C"/>
        </a:solidFill>
        <a:effectLst/>
      </p:bgPr>
    </p:bg>
    <p:spTree>
      <p:nvGrpSpPr>
        <p:cNvPr id="1" name=""/>
        <p:cNvGrpSpPr/>
        <p:nvPr/>
      </p:nvGrpSpPr>
      <p:grpSpPr>
        <a:xfrm>
          <a:off x="0" y="0"/>
          <a:ext cx="0" cy="0"/>
          <a:chOff x="0" y="0"/>
          <a:chExt cx="0" cy="0"/>
        </a:xfrm>
      </p:grpSpPr>
      <p:pic>
        <p:nvPicPr>
          <p:cNvPr id="2" name="Image 0" descr="connector"/>
          <p:cNvPicPr>
            <a:picLocks noChangeAspect="1"/>
          </p:cNvPicPr>
          <p:nvPr/>
        </p:nvPicPr>
        <p:blipFill>
          <a:blip r:embed="rId3"/>
          <a:srcRect/>
          <a:stretch/>
        </p:blipFill>
        <p:spPr>
          <a:xfrm>
            <a:off x="7270750" y="2063750"/>
            <a:ext cx="1333500" cy="190500"/>
          </a:xfrm>
          <a:prstGeom prst="rect">
            <a:avLst/>
          </a:prstGeom>
        </p:spPr>
      </p:pic>
      <p:pic>
        <p:nvPicPr>
          <p:cNvPr id="3" name="Image 1" descr="connector"/>
          <p:cNvPicPr>
            <a:picLocks noChangeAspect="1"/>
          </p:cNvPicPr>
          <p:nvPr/>
        </p:nvPicPr>
        <p:blipFill>
          <a:blip r:embed="rId3"/>
          <a:srcRect/>
          <a:stretch/>
        </p:blipFill>
        <p:spPr>
          <a:xfrm>
            <a:off x="8413750" y="2063750"/>
            <a:ext cx="1333500" cy="190500"/>
          </a:xfrm>
          <a:prstGeom prst="rect">
            <a:avLst/>
          </a:prstGeom>
        </p:spPr>
      </p:pic>
      <p:pic>
        <p:nvPicPr>
          <p:cNvPr id="4" name="Image 2" descr="connector"/>
          <p:cNvPicPr>
            <a:picLocks noChangeAspect="1"/>
          </p:cNvPicPr>
          <p:nvPr/>
        </p:nvPicPr>
        <p:blipFill>
          <a:blip r:embed="rId4"/>
          <a:srcRect/>
          <a:stretch/>
        </p:blipFill>
        <p:spPr>
          <a:xfrm>
            <a:off x="9556750" y="2063750"/>
            <a:ext cx="1587500" cy="190500"/>
          </a:xfrm>
          <a:prstGeom prst="rect">
            <a:avLst/>
          </a:prstGeom>
        </p:spPr>
      </p:pic>
      <p:pic>
        <p:nvPicPr>
          <p:cNvPr id="5" name="Image 3" descr="connector"/>
          <p:cNvPicPr>
            <a:picLocks noChangeAspect="1"/>
          </p:cNvPicPr>
          <p:nvPr/>
        </p:nvPicPr>
        <p:blipFill>
          <a:blip r:embed="rId5"/>
          <a:srcRect/>
          <a:stretch/>
        </p:blipFill>
        <p:spPr>
          <a:xfrm>
            <a:off x="7270750" y="2063750"/>
            <a:ext cx="762000" cy="1460500"/>
          </a:xfrm>
          <a:prstGeom prst="rect">
            <a:avLst/>
          </a:prstGeom>
        </p:spPr>
      </p:pic>
      <p:pic>
        <p:nvPicPr>
          <p:cNvPr id="6" name="Image 4" descr="connector"/>
          <p:cNvPicPr>
            <a:picLocks noChangeAspect="1"/>
          </p:cNvPicPr>
          <p:nvPr/>
        </p:nvPicPr>
        <p:blipFill>
          <a:blip r:embed="rId6"/>
          <a:srcRect/>
          <a:stretch/>
        </p:blipFill>
        <p:spPr>
          <a:xfrm>
            <a:off x="7842250" y="3333750"/>
            <a:ext cx="1333500" cy="190500"/>
          </a:xfrm>
          <a:prstGeom prst="rect">
            <a:avLst/>
          </a:prstGeom>
        </p:spPr>
      </p:pic>
      <p:pic>
        <p:nvPicPr>
          <p:cNvPr id="7" name="Image 5" descr="connector"/>
          <p:cNvPicPr>
            <a:picLocks noChangeAspect="1"/>
          </p:cNvPicPr>
          <p:nvPr/>
        </p:nvPicPr>
        <p:blipFill>
          <a:blip r:embed="rId6"/>
          <a:srcRect/>
          <a:stretch/>
        </p:blipFill>
        <p:spPr>
          <a:xfrm>
            <a:off x="8985250" y="3333750"/>
            <a:ext cx="1333500" cy="190500"/>
          </a:xfrm>
          <a:prstGeom prst="rect">
            <a:avLst/>
          </a:prstGeom>
        </p:spPr>
      </p:pic>
      <p:pic>
        <p:nvPicPr>
          <p:cNvPr id="8" name="Image 6" descr="connector"/>
          <p:cNvPicPr>
            <a:picLocks noChangeAspect="1"/>
          </p:cNvPicPr>
          <p:nvPr/>
        </p:nvPicPr>
        <p:blipFill>
          <a:blip r:embed="rId7"/>
          <a:srcRect/>
          <a:stretch/>
        </p:blipFill>
        <p:spPr>
          <a:xfrm>
            <a:off x="10128250" y="2063750"/>
            <a:ext cx="1016000" cy="1460500"/>
          </a:xfrm>
          <a:prstGeom prst="rect">
            <a:avLst/>
          </a:prstGeom>
        </p:spPr>
      </p:pic>
      <p:sp>
        <p:nvSpPr>
          <p:cNvPr id="9" name="Shape 0"/>
          <p:cNvSpPr/>
          <p:nvPr/>
        </p:nvSpPr>
        <p:spPr>
          <a:xfrm>
            <a:off x="7112000" y="1905000"/>
            <a:ext cx="508000" cy="508000"/>
          </a:xfrm>
          <a:prstGeom prst="roundRect">
            <a:avLst>
              <a:gd name="adj" fmla="val 50000"/>
            </a:avLst>
          </a:prstGeom>
          <a:solidFill>
            <a:srgbClr val="2F6FDB"/>
          </a:solidFill>
          <a:ln/>
        </p:spPr>
      </p:sp>
      <p:sp>
        <p:nvSpPr>
          <p:cNvPr id="10" name="Shape 1"/>
          <p:cNvSpPr/>
          <p:nvPr/>
        </p:nvSpPr>
        <p:spPr>
          <a:xfrm>
            <a:off x="8255000" y="1905000"/>
            <a:ext cx="508000" cy="508000"/>
          </a:xfrm>
          <a:prstGeom prst="roundRect">
            <a:avLst>
              <a:gd name="adj" fmla="val 50000"/>
            </a:avLst>
          </a:prstGeom>
          <a:solidFill>
            <a:srgbClr val="2F6FDB"/>
          </a:solidFill>
          <a:ln/>
        </p:spPr>
      </p:sp>
      <p:sp>
        <p:nvSpPr>
          <p:cNvPr id="11" name="Shape 2"/>
          <p:cNvSpPr/>
          <p:nvPr/>
        </p:nvSpPr>
        <p:spPr>
          <a:xfrm>
            <a:off x="9398000" y="1905000"/>
            <a:ext cx="508000" cy="508000"/>
          </a:xfrm>
          <a:prstGeom prst="roundRect">
            <a:avLst>
              <a:gd name="adj" fmla="val 50000"/>
            </a:avLst>
          </a:prstGeom>
          <a:solidFill>
            <a:srgbClr val="2F6FDB"/>
          </a:solidFill>
          <a:ln/>
        </p:spPr>
      </p:sp>
      <p:sp>
        <p:nvSpPr>
          <p:cNvPr id="12" name="Shape 3"/>
          <p:cNvSpPr/>
          <p:nvPr/>
        </p:nvSpPr>
        <p:spPr>
          <a:xfrm>
            <a:off x="10814050" y="1924050"/>
            <a:ext cx="469900" cy="469900"/>
          </a:xfrm>
          <a:prstGeom prst="roundRect">
            <a:avLst>
              <a:gd name="adj" fmla="val 50000"/>
            </a:avLst>
          </a:prstGeom>
          <a:solidFill>
            <a:srgbClr val="F6F4EE"/>
          </a:solidFill>
          <a:ln w="38100">
            <a:solidFill>
              <a:srgbClr val="F08C4B"/>
            </a:solidFill>
            <a:prstDash val="solid"/>
          </a:ln>
        </p:spPr>
      </p:sp>
      <p:sp>
        <p:nvSpPr>
          <p:cNvPr id="13" name="Shape 4"/>
          <p:cNvSpPr/>
          <p:nvPr/>
        </p:nvSpPr>
        <p:spPr>
          <a:xfrm>
            <a:off x="7683500" y="3175000"/>
            <a:ext cx="508000" cy="508000"/>
          </a:xfrm>
          <a:prstGeom prst="roundRect">
            <a:avLst>
              <a:gd name="adj" fmla="val 50000"/>
            </a:avLst>
          </a:prstGeom>
          <a:solidFill>
            <a:srgbClr val="F08C4B"/>
          </a:solidFill>
          <a:ln/>
        </p:spPr>
      </p:sp>
      <p:sp>
        <p:nvSpPr>
          <p:cNvPr id="14" name="Shape 5"/>
          <p:cNvSpPr/>
          <p:nvPr/>
        </p:nvSpPr>
        <p:spPr>
          <a:xfrm>
            <a:off x="8826500" y="3175000"/>
            <a:ext cx="508000" cy="508000"/>
          </a:xfrm>
          <a:prstGeom prst="roundRect">
            <a:avLst>
              <a:gd name="adj" fmla="val 50000"/>
            </a:avLst>
          </a:prstGeom>
          <a:solidFill>
            <a:srgbClr val="F08C4B"/>
          </a:solidFill>
          <a:ln/>
        </p:spPr>
      </p:sp>
      <p:sp>
        <p:nvSpPr>
          <p:cNvPr id="15" name="Shape 6"/>
          <p:cNvSpPr/>
          <p:nvPr/>
        </p:nvSpPr>
        <p:spPr>
          <a:xfrm>
            <a:off x="9969500" y="3175000"/>
            <a:ext cx="508000" cy="508000"/>
          </a:xfrm>
          <a:prstGeom prst="roundRect">
            <a:avLst>
              <a:gd name="adj" fmla="val 50000"/>
            </a:avLst>
          </a:prstGeom>
          <a:solidFill>
            <a:srgbClr val="F08C4B"/>
          </a:solidFill>
          <a:ln/>
        </p:spPr>
      </p:sp>
      <p:sp>
        <p:nvSpPr>
          <p:cNvPr id="16" name="Text 7"/>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7A46B"/>
                </a:solidFill>
                <a:latin typeface="JetBrains Mono" pitchFamily="34" charset="0"/>
                <a:ea typeface="JetBrains Mono" pitchFamily="34" charset="-122"/>
                <a:cs typeface="JetBrains Mono" pitchFamily="34" charset="-120"/>
              </a:rPr>
              <a:t>EĞİTMEN SUNUMU · VERSİYON KONTROLÜ</a:t>
            </a:r>
            <a:endParaRPr lang="en-US" sz="1300" dirty="0"/>
          </a:p>
        </p:txBody>
      </p:sp>
      <p:sp>
        <p:nvSpPr>
          <p:cNvPr id="17" name="Text 8"/>
          <p:cNvSpPr/>
          <p:nvPr/>
        </p:nvSpPr>
        <p:spPr>
          <a:xfrm>
            <a:off x="812800" y="1501080"/>
            <a:ext cx="5886450"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6F4EE"/>
                </a:solidFill>
                <a:latin typeface="Space Grotesk" pitchFamily="34" charset="0"/>
                <a:ea typeface="Space Grotesk" pitchFamily="34" charset="-122"/>
                <a:cs typeface="Space Grotesk" pitchFamily="34" charset="-120"/>
              </a:rPr>
              <a:t>Git</a:t>
            </a:r>
            <a:endParaRPr lang="en-US" sz="8000" dirty="0"/>
          </a:p>
        </p:txBody>
      </p:sp>
      <p:sp>
        <p:nvSpPr>
          <p:cNvPr id="18" name="Text 9"/>
          <p:cNvSpPr/>
          <p:nvPr/>
        </p:nvSpPr>
        <p:spPr>
          <a:xfrm>
            <a:off x="812800" y="2872680"/>
            <a:ext cx="5886450" cy="1492250"/>
          </a:xfrm>
          <a:prstGeom prst="rect">
            <a:avLst/>
          </a:prstGeom>
          <a:noFill/>
          <a:ln/>
        </p:spPr>
        <p:txBody>
          <a:bodyPr wrap="square" lIns="0" tIns="0" rIns="0" bIns="0" rtlCol="0" anchor="t">
            <a:normAutofit/>
          </a:bodyPr>
          <a:lstStyle/>
          <a:p>
            <a:pPr marL="0" indent="0" algn="l">
              <a:lnSpc>
                <a:spcPts val="5775"/>
              </a:lnSpc>
              <a:buNone/>
            </a:pPr>
            <a:r>
              <a:rPr lang="en-US" sz="5500" b="1" dirty="0">
                <a:solidFill>
                  <a:srgbClr val="F6F4EE"/>
                </a:solidFill>
                <a:latin typeface="Space Grotesk" pitchFamily="34" charset="0"/>
                <a:ea typeface="Space Grotesk" pitchFamily="34" charset="-122"/>
                <a:cs typeface="Space Grotesk" pitchFamily="34" charset="-120"/>
              </a:rPr>
              <a:t>Versiyon</a:t>
            </a:r>
            <a:endParaRPr lang="en-US" sz="5500" dirty="0"/>
          </a:p>
          <a:p>
            <a:pPr marL="0" indent="0" algn="l">
              <a:lnSpc>
                <a:spcPts val="5775"/>
              </a:lnSpc>
              <a:buNone/>
            </a:pPr>
            <a:r>
              <a:rPr lang="en-US" sz="5500" b="1" dirty="0">
                <a:solidFill>
                  <a:srgbClr val="F6F4EE"/>
                </a:solidFill>
                <a:latin typeface="Space Grotesk" pitchFamily="34" charset="0"/>
                <a:ea typeface="Space Grotesk" pitchFamily="34" charset="-122"/>
                <a:cs typeface="Space Grotesk" pitchFamily="34" charset="-120"/>
              </a:rPr>
              <a:t>Kontrolü</a:t>
            </a:r>
            <a:endParaRPr lang="en-US" sz="5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YOL HARİTASI</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Dokuz modülde Git</a:t>
            </a:r>
            <a:endParaRPr lang="en-US" sz="3600" dirty="0"/>
          </a:p>
        </p:txBody>
      </p:sp>
      <p:sp>
        <p:nvSpPr>
          <p:cNvPr id="4" name="Shape 2"/>
          <p:cNvSpPr/>
          <p:nvPr/>
        </p:nvSpPr>
        <p:spPr>
          <a:xfrm>
            <a:off x="819150" y="1908671"/>
            <a:ext cx="3424734" cy="1114921"/>
          </a:xfrm>
          <a:prstGeom prst="roundRect">
            <a:avLst>
              <a:gd name="adj" fmla="val 10821"/>
            </a:avLst>
          </a:prstGeom>
          <a:solidFill>
            <a:srgbClr val="FDFCF9"/>
          </a:solidFill>
          <a:ln w="12700">
            <a:solidFill>
              <a:srgbClr val="E2DDD0"/>
            </a:solidFill>
            <a:prstDash val="solid"/>
          </a:ln>
        </p:spPr>
      </p:sp>
      <p:sp>
        <p:nvSpPr>
          <p:cNvPr id="5" name="Text 3"/>
          <p:cNvSpPr/>
          <p:nvPr/>
        </p:nvSpPr>
        <p:spPr>
          <a:xfrm>
            <a:off x="1003300" y="206742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FDB"/>
                </a:solidFill>
                <a:latin typeface="JetBrains Mono" pitchFamily="34" charset="0"/>
                <a:ea typeface="JetBrains Mono" pitchFamily="34" charset="-122"/>
                <a:cs typeface="JetBrains Mono" pitchFamily="34" charset="-120"/>
              </a:rPr>
              <a:t>01</a:t>
            </a:r>
            <a:endParaRPr lang="en-US" sz="1600" dirty="0"/>
          </a:p>
        </p:txBody>
      </p:sp>
      <p:sp>
        <p:nvSpPr>
          <p:cNvPr id="6" name="Text 4"/>
          <p:cNvSpPr/>
          <p:nvPr/>
        </p:nvSpPr>
        <p:spPr>
          <a:xfrm>
            <a:off x="1348780" y="2072481"/>
            <a:ext cx="96688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Temeller</a:t>
            </a:r>
            <a:endParaRPr lang="en-US" sz="1800" dirty="0"/>
          </a:p>
        </p:txBody>
      </p:sp>
      <p:sp>
        <p:nvSpPr>
          <p:cNvPr id="7" name="Text 5"/>
          <p:cNvSpPr/>
          <p:nvPr/>
        </p:nvSpPr>
        <p:spPr>
          <a:xfrm>
            <a:off x="1003300" y="2402681"/>
            <a:ext cx="31481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Üç alan, config, ilk commit, commit'in anatomisi</a:t>
            </a:r>
            <a:endParaRPr lang="en-US" sz="1300" dirty="0"/>
          </a:p>
        </p:txBody>
      </p:sp>
      <p:sp>
        <p:nvSpPr>
          <p:cNvPr id="8" name="Shape 6"/>
          <p:cNvSpPr/>
          <p:nvPr/>
        </p:nvSpPr>
        <p:spPr>
          <a:xfrm>
            <a:off x="4383584" y="1908671"/>
            <a:ext cx="3424734" cy="1114921"/>
          </a:xfrm>
          <a:prstGeom prst="roundRect">
            <a:avLst>
              <a:gd name="adj" fmla="val 10821"/>
            </a:avLst>
          </a:prstGeom>
          <a:solidFill>
            <a:srgbClr val="FDFCF9"/>
          </a:solidFill>
          <a:ln w="12700">
            <a:solidFill>
              <a:srgbClr val="E2DDD0"/>
            </a:solidFill>
            <a:prstDash val="solid"/>
          </a:ln>
        </p:spPr>
      </p:sp>
      <p:sp>
        <p:nvSpPr>
          <p:cNvPr id="9" name="Text 7"/>
          <p:cNvSpPr/>
          <p:nvPr/>
        </p:nvSpPr>
        <p:spPr>
          <a:xfrm>
            <a:off x="4567734" y="206742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FDB"/>
                </a:solidFill>
                <a:latin typeface="JetBrains Mono" pitchFamily="34" charset="0"/>
                <a:ea typeface="JetBrains Mono" pitchFamily="34" charset="-122"/>
                <a:cs typeface="JetBrains Mono" pitchFamily="34" charset="-120"/>
              </a:rPr>
              <a:t>02</a:t>
            </a:r>
            <a:endParaRPr lang="en-US" sz="1600" dirty="0"/>
          </a:p>
        </p:txBody>
      </p:sp>
      <p:sp>
        <p:nvSpPr>
          <p:cNvPr id="10" name="Text 8"/>
          <p:cNvSpPr/>
          <p:nvPr/>
        </p:nvSpPr>
        <p:spPr>
          <a:xfrm>
            <a:off x="4913213" y="2072481"/>
            <a:ext cx="107384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Geri Alma</a:t>
            </a:r>
            <a:endParaRPr lang="en-US" sz="1800" dirty="0"/>
          </a:p>
        </p:txBody>
      </p:sp>
      <p:sp>
        <p:nvSpPr>
          <p:cNvPr id="11" name="Text 9"/>
          <p:cNvSpPr/>
          <p:nvPr/>
        </p:nvSpPr>
        <p:spPr>
          <a:xfrm>
            <a:off x="4567734" y="2402681"/>
            <a:ext cx="314812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git rm, reset türleri ve reflog ile kurtarma</a:t>
            </a:r>
            <a:endParaRPr lang="en-US" sz="1300" dirty="0"/>
          </a:p>
        </p:txBody>
      </p:sp>
      <p:sp>
        <p:nvSpPr>
          <p:cNvPr id="12" name="Shape 10"/>
          <p:cNvSpPr/>
          <p:nvPr/>
        </p:nvSpPr>
        <p:spPr>
          <a:xfrm>
            <a:off x="7948017" y="1908671"/>
            <a:ext cx="3424734" cy="1114921"/>
          </a:xfrm>
          <a:prstGeom prst="roundRect">
            <a:avLst>
              <a:gd name="adj" fmla="val 10821"/>
            </a:avLst>
          </a:prstGeom>
          <a:solidFill>
            <a:srgbClr val="FDFCF9"/>
          </a:solidFill>
          <a:ln w="12700">
            <a:solidFill>
              <a:srgbClr val="E2DDD0"/>
            </a:solidFill>
            <a:prstDash val="solid"/>
          </a:ln>
        </p:spPr>
      </p:sp>
      <p:sp>
        <p:nvSpPr>
          <p:cNvPr id="13" name="Text 11"/>
          <p:cNvSpPr/>
          <p:nvPr/>
        </p:nvSpPr>
        <p:spPr>
          <a:xfrm>
            <a:off x="8132167" y="206742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FDB"/>
                </a:solidFill>
                <a:latin typeface="JetBrains Mono" pitchFamily="34" charset="0"/>
                <a:ea typeface="JetBrains Mono" pitchFamily="34" charset="-122"/>
                <a:cs typeface="JetBrains Mono" pitchFamily="34" charset="-120"/>
              </a:rPr>
              <a:t>03</a:t>
            </a:r>
            <a:endParaRPr lang="en-US" sz="1600" dirty="0"/>
          </a:p>
        </p:txBody>
      </p:sp>
      <p:sp>
        <p:nvSpPr>
          <p:cNvPr id="14" name="Text 12"/>
          <p:cNvSpPr/>
          <p:nvPr/>
        </p:nvSpPr>
        <p:spPr>
          <a:xfrm>
            <a:off x="8477647" y="2072481"/>
            <a:ext cx="89068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Remote</a:t>
            </a:r>
            <a:endParaRPr lang="en-US" sz="1800" dirty="0"/>
          </a:p>
        </p:txBody>
      </p:sp>
      <p:sp>
        <p:nvSpPr>
          <p:cNvPr id="15" name="Text 13"/>
          <p:cNvSpPr/>
          <p:nvPr/>
        </p:nvSpPr>
        <p:spPr>
          <a:xfrm>
            <a:off x="8132167" y="2402681"/>
            <a:ext cx="314812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origin, push / fetch / pull farkı, upstream</a:t>
            </a:r>
            <a:endParaRPr lang="en-US" sz="1300" dirty="0"/>
          </a:p>
        </p:txBody>
      </p:sp>
      <p:sp>
        <p:nvSpPr>
          <p:cNvPr id="16" name="Shape 14"/>
          <p:cNvSpPr/>
          <p:nvPr/>
        </p:nvSpPr>
        <p:spPr>
          <a:xfrm>
            <a:off x="819150" y="3163292"/>
            <a:ext cx="3424734" cy="1114921"/>
          </a:xfrm>
          <a:prstGeom prst="roundRect">
            <a:avLst>
              <a:gd name="adj" fmla="val 10821"/>
            </a:avLst>
          </a:prstGeom>
          <a:solidFill>
            <a:srgbClr val="FDFCF9"/>
          </a:solidFill>
          <a:ln w="12700">
            <a:solidFill>
              <a:srgbClr val="E2DDD0"/>
            </a:solidFill>
            <a:prstDash val="solid"/>
          </a:ln>
        </p:spPr>
      </p:sp>
      <p:sp>
        <p:nvSpPr>
          <p:cNvPr id="17" name="Text 15"/>
          <p:cNvSpPr/>
          <p:nvPr/>
        </p:nvSpPr>
        <p:spPr>
          <a:xfrm>
            <a:off x="1003300" y="3322042"/>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FDB"/>
                </a:solidFill>
                <a:latin typeface="JetBrains Mono" pitchFamily="34" charset="0"/>
                <a:ea typeface="JetBrains Mono" pitchFamily="34" charset="-122"/>
                <a:cs typeface="JetBrains Mono" pitchFamily="34" charset="-120"/>
              </a:rPr>
              <a:t>04</a:t>
            </a:r>
            <a:endParaRPr lang="en-US" sz="1600" dirty="0"/>
          </a:p>
        </p:txBody>
      </p:sp>
      <p:sp>
        <p:nvSpPr>
          <p:cNvPr id="18" name="Text 16"/>
          <p:cNvSpPr/>
          <p:nvPr/>
        </p:nvSpPr>
        <p:spPr>
          <a:xfrm>
            <a:off x="1348780" y="3327102"/>
            <a:ext cx="156854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Fetch &amp; Prune</a:t>
            </a:r>
            <a:endParaRPr lang="en-US" sz="1800" dirty="0"/>
          </a:p>
        </p:txBody>
      </p:sp>
      <p:sp>
        <p:nvSpPr>
          <p:cNvPr id="19" name="Text 17"/>
          <p:cNvSpPr/>
          <p:nvPr/>
        </p:nvSpPr>
        <p:spPr>
          <a:xfrm>
            <a:off x="1003300" y="3657302"/>
            <a:ext cx="31481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Uzaktakini güvenle görmek, silinen dalları temizlemek</a:t>
            </a:r>
            <a:endParaRPr lang="en-US" sz="1300" dirty="0"/>
          </a:p>
        </p:txBody>
      </p:sp>
      <p:sp>
        <p:nvSpPr>
          <p:cNvPr id="20" name="Shape 18"/>
          <p:cNvSpPr/>
          <p:nvPr/>
        </p:nvSpPr>
        <p:spPr>
          <a:xfrm>
            <a:off x="4383584" y="3163292"/>
            <a:ext cx="3424734" cy="1114921"/>
          </a:xfrm>
          <a:prstGeom prst="roundRect">
            <a:avLst>
              <a:gd name="adj" fmla="val 10821"/>
            </a:avLst>
          </a:prstGeom>
          <a:solidFill>
            <a:srgbClr val="FDFCF9"/>
          </a:solidFill>
          <a:ln w="12700">
            <a:solidFill>
              <a:srgbClr val="E2DDD0"/>
            </a:solidFill>
            <a:prstDash val="solid"/>
          </a:ln>
        </p:spPr>
      </p:sp>
      <p:sp>
        <p:nvSpPr>
          <p:cNvPr id="21" name="Text 19"/>
          <p:cNvSpPr/>
          <p:nvPr/>
        </p:nvSpPr>
        <p:spPr>
          <a:xfrm>
            <a:off x="4567734" y="3322042"/>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430A"/>
                </a:solidFill>
                <a:latin typeface="JetBrains Mono" pitchFamily="34" charset="0"/>
                <a:ea typeface="JetBrains Mono" pitchFamily="34" charset="-122"/>
                <a:cs typeface="JetBrains Mono" pitchFamily="34" charset="-120"/>
              </a:rPr>
              <a:t>05</a:t>
            </a:r>
            <a:endParaRPr lang="en-US" sz="1600" dirty="0"/>
          </a:p>
        </p:txBody>
      </p:sp>
      <p:sp>
        <p:nvSpPr>
          <p:cNvPr id="22" name="Text 20"/>
          <p:cNvSpPr/>
          <p:nvPr/>
        </p:nvSpPr>
        <p:spPr>
          <a:xfrm>
            <a:off x="4913213" y="3327102"/>
            <a:ext cx="148213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Merge Tipleri</a:t>
            </a:r>
            <a:endParaRPr lang="en-US" sz="1800" dirty="0"/>
          </a:p>
        </p:txBody>
      </p:sp>
      <p:sp>
        <p:nvSpPr>
          <p:cNvPr id="23" name="Text 21"/>
          <p:cNvSpPr/>
          <p:nvPr/>
        </p:nvSpPr>
        <p:spPr>
          <a:xfrm>
            <a:off x="4567734" y="3657302"/>
            <a:ext cx="314812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Fast-forward, 3-way, no-ff, squash ve ort</a:t>
            </a:r>
            <a:endParaRPr lang="en-US" sz="1300" dirty="0"/>
          </a:p>
        </p:txBody>
      </p:sp>
      <p:sp>
        <p:nvSpPr>
          <p:cNvPr id="24" name="Shape 22"/>
          <p:cNvSpPr/>
          <p:nvPr/>
        </p:nvSpPr>
        <p:spPr>
          <a:xfrm>
            <a:off x="7948017" y="3163292"/>
            <a:ext cx="3424734" cy="1114921"/>
          </a:xfrm>
          <a:prstGeom prst="roundRect">
            <a:avLst>
              <a:gd name="adj" fmla="val 10821"/>
            </a:avLst>
          </a:prstGeom>
          <a:solidFill>
            <a:srgbClr val="FDFCF9"/>
          </a:solidFill>
          <a:ln w="12700">
            <a:solidFill>
              <a:srgbClr val="E2DDD0"/>
            </a:solidFill>
            <a:prstDash val="solid"/>
          </a:ln>
        </p:spPr>
      </p:sp>
      <p:sp>
        <p:nvSpPr>
          <p:cNvPr id="25" name="Text 23"/>
          <p:cNvSpPr/>
          <p:nvPr/>
        </p:nvSpPr>
        <p:spPr>
          <a:xfrm>
            <a:off x="8132167" y="3322042"/>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430A"/>
                </a:solidFill>
                <a:latin typeface="JetBrains Mono" pitchFamily="34" charset="0"/>
                <a:ea typeface="JetBrains Mono" pitchFamily="34" charset="-122"/>
                <a:cs typeface="JetBrains Mono" pitchFamily="34" charset="-120"/>
              </a:rPr>
              <a:t>06</a:t>
            </a:r>
            <a:endParaRPr lang="en-US" sz="1600" dirty="0"/>
          </a:p>
        </p:txBody>
      </p:sp>
      <p:sp>
        <p:nvSpPr>
          <p:cNvPr id="26" name="Text 24"/>
          <p:cNvSpPr/>
          <p:nvPr/>
        </p:nvSpPr>
        <p:spPr>
          <a:xfrm>
            <a:off x="8477647" y="3327102"/>
            <a:ext cx="92501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Conflict</a:t>
            </a:r>
            <a:endParaRPr lang="en-US" sz="1800" dirty="0"/>
          </a:p>
        </p:txBody>
      </p:sp>
      <p:sp>
        <p:nvSpPr>
          <p:cNvPr id="27" name="Text 25"/>
          <p:cNvSpPr/>
          <p:nvPr/>
        </p:nvSpPr>
        <p:spPr>
          <a:xfrm>
            <a:off x="8132167" y="3657302"/>
            <a:ext cx="314812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İşaretleri okumak ve üç çözüm yolu</a:t>
            </a:r>
            <a:endParaRPr lang="en-US" sz="1300" dirty="0"/>
          </a:p>
        </p:txBody>
      </p:sp>
      <p:sp>
        <p:nvSpPr>
          <p:cNvPr id="28" name="Shape 26"/>
          <p:cNvSpPr/>
          <p:nvPr/>
        </p:nvSpPr>
        <p:spPr>
          <a:xfrm>
            <a:off x="819150" y="4417913"/>
            <a:ext cx="3424734" cy="1114921"/>
          </a:xfrm>
          <a:prstGeom prst="roundRect">
            <a:avLst>
              <a:gd name="adj" fmla="val 10821"/>
            </a:avLst>
          </a:prstGeom>
          <a:solidFill>
            <a:srgbClr val="FDFCF9"/>
          </a:solidFill>
          <a:ln w="12700">
            <a:solidFill>
              <a:srgbClr val="E2DDD0"/>
            </a:solidFill>
            <a:prstDash val="solid"/>
          </a:ln>
        </p:spPr>
      </p:sp>
      <p:sp>
        <p:nvSpPr>
          <p:cNvPr id="29" name="Text 27"/>
          <p:cNvSpPr/>
          <p:nvPr/>
        </p:nvSpPr>
        <p:spPr>
          <a:xfrm>
            <a:off x="1003300" y="4576663"/>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430A"/>
                </a:solidFill>
                <a:latin typeface="JetBrains Mono" pitchFamily="34" charset="0"/>
                <a:ea typeface="JetBrains Mono" pitchFamily="34" charset="-122"/>
                <a:cs typeface="JetBrains Mono" pitchFamily="34" charset="-120"/>
              </a:rPr>
              <a:t>07</a:t>
            </a:r>
            <a:endParaRPr lang="en-US" sz="1600" dirty="0"/>
          </a:p>
        </p:txBody>
      </p:sp>
      <p:sp>
        <p:nvSpPr>
          <p:cNvPr id="30" name="Text 28"/>
          <p:cNvSpPr/>
          <p:nvPr/>
        </p:nvSpPr>
        <p:spPr>
          <a:xfrm>
            <a:off x="1348780" y="4581723"/>
            <a:ext cx="8559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Rebase</a:t>
            </a:r>
            <a:endParaRPr lang="en-US" sz="1800" dirty="0"/>
          </a:p>
        </p:txBody>
      </p:sp>
      <p:sp>
        <p:nvSpPr>
          <p:cNvPr id="31" name="Text 29"/>
          <p:cNvSpPr/>
          <p:nvPr/>
        </p:nvSpPr>
        <p:spPr>
          <a:xfrm>
            <a:off x="1003300" y="4911923"/>
            <a:ext cx="31481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Yeniden oturtma, altın kural, Ahmet'in hikâyesi</a:t>
            </a:r>
            <a:endParaRPr lang="en-US" sz="1300" dirty="0"/>
          </a:p>
        </p:txBody>
      </p:sp>
      <p:sp>
        <p:nvSpPr>
          <p:cNvPr id="32" name="Shape 30"/>
          <p:cNvSpPr/>
          <p:nvPr/>
        </p:nvSpPr>
        <p:spPr>
          <a:xfrm>
            <a:off x="4383584" y="4417913"/>
            <a:ext cx="3424734" cy="1114921"/>
          </a:xfrm>
          <a:prstGeom prst="roundRect">
            <a:avLst>
              <a:gd name="adj" fmla="val 10821"/>
            </a:avLst>
          </a:prstGeom>
          <a:solidFill>
            <a:srgbClr val="FDFCF9"/>
          </a:solidFill>
          <a:ln w="12700">
            <a:solidFill>
              <a:srgbClr val="E2DDD0"/>
            </a:solidFill>
            <a:prstDash val="solid"/>
          </a:ln>
        </p:spPr>
      </p:sp>
      <p:sp>
        <p:nvSpPr>
          <p:cNvPr id="33" name="Text 31"/>
          <p:cNvSpPr/>
          <p:nvPr/>
        </p:nvSpPr>
        <p:spPr>
          <a:xfrm>
            <a:off x="4567734" y="4576663"/>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430A"/>
                </a:solidFill>
                <a:latin typeface="JetBrains Mono" pitchFamily="34" charset="0"/>
                <a:ea typeface="JetBrains Mono" pitchFamily="34" charset="-122"/>
                <a:cs typeface="JetBrains Mono" pitchFamily="34" charset="-120"/>
              </a:rPr>
              <a:t>08</a:t>
            </a:r>
            <a:endParaRPr lang="en-US" sz="1600" dirty="0"/>
          </a:p>
        </p:txBody>
      </p:sp>
      <p:sp>
        <p:nvSpPr>
          <p:cNvPr id="34" name="Text 32"/>
          <p:cNvSpPr/>
          <p:nvPr/>
        </p:nvSpPr>
        <p:spPr>
          <a:xfrm>
            <a:off x="4913213" y="4581723"/>
            <a:ext cx="165864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C"/>
                </a:solidFill>
                <a:latin typeface="Space Grotesk" pitchFamily="34" charset="0"/>
                <a:ea typeface="Space Grotesk" pitchFamily="34" charset="-122"/>
                <a:cs typeface="Space Grotesk" pitchFamily="34" charset="-120"/>
              </a:rPr>
              <a:t>Revert &amp; Stash</a:t>
            </a:r>
            <a:endParaRPr lang="en-US" sz="1800" dirty="0"/>
          </a:p>
        </p:txBody>
      </p:sp>
      <p:sp>
        <p:nvSpPr>
          <p:cNvPr id="35" name="Text 33"/>
          <p:cNvSpPr/>
          <p:nvPr/>
        </p:nvSpPr>
        <p:spPr>
          <a:xfrm>
            <a:off x="4567734" y="4911923"/>
            <a:ext cx="31481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Geçmişi silmeden geri almak, yarım işi rafa kaldırmak</a:t>
            </a:r>
            <a:endParaRPr lang="en-US" sz="1300" dirty="0"/>
          </a:p>
        </p:txBody>
      </p:sp>
      <p:sp>
        <p:nvSpPr>
          <p:cNvPr id="36" name="Shape 34"/>
          <p:cNvSpPr/>
          <p:nvPr/>
        </p:nvSpPr>
        <p:spPr>
          <a:xfrm>
            <a:off x="7948017" y="4417913"/>
            <a:ext cx="3424734" cy="1114921"/>
          </a:xfrm>
          <a:prstGeom prst="roundRect">
            <a:avLst>
              <a:gd name="adj" fmla="val 10821"/>
            </a:avLst>
          </a:prstGeom>
          <a:solidFill>
            <a:srgbClr val="16202C"/>
          </a:solidFill>
          <a:ln w="12700">
            <a:solidFill>
              <a:srgbClr val="16202C"/>
            </a:solidFill>
            <a:prstDash val="solid"/>
          </a:ln>
        </p:spPr>
      </p:sp>
      <p:sp>
        <p:nvSpPr>
          <p:cNvPr id="37" name="Text 35"/>
          <p:cNvSpPr/>
          <p:nvPr/>
        </p:nvSpPr>
        <p:spPr>
          <a:xfrm>
            <a:off x="8132167" y="4576663"/>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A46B"/>
                </a:solidFill>
                <a:latin typeface="JetBrains Mono" pitchFamily="34" charset="0"/>
                <a:ea typeface="JetBrains Mono" pitchFamily="34" charset="-122"/>
                <a:cs typeface="JetBrains Mono" pitchFamily="34" charset="-120"/>
              </a:rPr>
              <a:t>09</a:t>
            </a:r>
            <a:endParaRPr lang="en-US" sz="1600" dirty="0"/>
          </a:p>
        </p:txBody>
      </p:sp>
      <p:sp>
        <p:nvSpPr>
          <p:cNvPr id="38" name="Text 36"/>
          <p:cNvSpPr/>
          <p:nvPr/>
        </p:nvSpPr>
        <p:spPr>
          <a:xfrm>
            <a:off x="8477647" y="4581723"/>
            <a:ext cx="92551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E"/>
                </a:solidFill>
                <a:latin typeface="Space Grotesk" pitchFamily="34" charset="0"/>
                <a:ea typeface="Space Grotesk" pitchFamily="34" charset="-122"/>
                <a:cs typeface="Space Grotesk" pitchFamily="34" charset="-120"/>
              </a:rPr>
              <a:t>Kapanış</a:t>
            </a:r>
            <a:endParaRPr lang="en-US" sz="1800" dirty="0"/>
          </a:p>
        </p:txBody>
      </p:sp>
      <p:sp>
        <p:nvSpPr>
          <p:cNvPr id="39" name="Text 37"/>
          <p:cNvSpPr/>
          <p:nvPr/>
        </p:nvSpPr>
        <p:spPr>
          <a:xfrm>
            <a:off x="8132167" y="4911923"/>
            <a:ext cx="314812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IBM Plex Sans" pitchFamily="34" charset="0"/>
                <a:ea typeface="IBM Plex Sans" pitchFamily="34" charset="-122"/>
                <a:cs typeface="IBM Plex Sans" pitchFamily="34" charset="-120"/>
              </a:rPr>
              <a:t>Özet tablo, lab görevi ve mini sınav</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SUNUMUN DİLİ</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İşaretler ve düğümler</a:t>
            </a:r>
            <a:endParaRPr lang="en-US" sz="3600" dirty="0"/>
          </a:p>
        </p:txBody>
      </p:sp>
      <p:sp>
        <p:nvSpPr>
          <p:cNvPr id="4" name="Shape 2"/>
          <p:cNvSpPr/>
          <p:nvPr/>
        </p:nvSpPr>
        <p:spPr>
          <a:xfrm>
            <a:off x="819150" y="1959471"/>
            <a:ext cx="2514600" cy="1795661"/>
          </a:xfrm>
          <a:prstGeom prst="roundRect">
            <a:avLst>
              <a:gd name="adj" fmla="val 6719"/>
            </a:avLst>
          </a:prstGeom>
          <a:solidFill>
            <a:srgbClr val="FDFCF9"/>
          </a:solidFill>
          <a:ln w="12700">
            <a:solidFill>
              <a:srgbClr val="E2DDD0"/>
            </a:solidFill>
            <a:prstDash val="solid"/>
          </a:ln>
        </p:spPr>
      </p:sp>
      <p:pic>
        <p:nvPicPr>
          <p:cNvPr id="5" name="Image 0" descr="Play"/>
          <p:cNvPicPr>
            <a:picLocks noChangeAspect="1"/>
          </p:cNvPicPr>
          <p:nvPr/>
        </p:nvPicPr>
        <p:blipFill>
          <a:blip r:embed="rId3"/>
          <a:srcRect/>
          <a:stretch/>
        </p:blipFill>
        <p:spPr>
          <a:xfrm>
            <a:off x="1054100" y="2194421"/>
            <a:ext cx="355600" cy="355600"/>
          </a:xfrm>
          <a:prstGeom prst="rect">
            <a:avLst/>
          </a:prstGeom>
        </p:spPr>
      </p:pic>
      <p:sp>
        <p:nvSpPr>
          <p:cNvPr id="6" name="Text 3"/>
          <p:cNvSpPr/>
          <p:nvPr/>
        </p:nvSpPr>
        <p:spPr>
          <a:xfrm>
            <a:off x="1054100" y="2651621"/>
            <a:ext cx="21060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Canlı Demo</a:t>
            </a:r>
            <a:endParaRPr lang="en-US" sz="2000" dirty="0"/>
          </a:p>
        </p:txBody>
      </p:sp>
      <p:sp>
        <p:nvSpPr>
          <p:cNvPr id="7" name="Text 4"/>
          <p:cNvSpPr/>
          <p:nvPr/>
        </p:nvSpPr>
        <p:spPr>
          <a:xfrm>
            <a:off x="1054100" y="3058021"/>
            <a:ext cx="210604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Terminali açın, komutları sınıfla birlikte yazın.</a:t>
            </a:r>
            <a:endParaRPr lang="en-US" sz="1300" dirty="0"/>
          </a:p>
        </p:txBody>
      </p:sp>
      <p:sp>
        <p:nvSpPr>
          <p:cNvPr id="8" name="Shape 5"/>
          <p:cNvSpPr/>
          <p:nvPr/>
        </p:nvSpPr>
        <p:spPr>
          <a:xfrm>
            <a:off x="3498850" y="1959471"/>
            <a:ext cx="2514600" cy="1795661"/>
          </a:xfrm>
          <a:prstGeom prst="roundRect">
            <a:avLst>
              <a:gd name="adj" fmla="val 6719"/>
            </a:avLst>
          </a:prstGeom>
          <a:solidFill>
            <a:srgbClr val="FDFCF9"/>
          </a:solidFill>
          <a:ln w="12700">
            <a:solidFill>
              <a:srgbClr val="E2DDD0"/>
            </a:solidFill>
            <a:prstDash val="solid"/>
          </a:ln>
        </p:spPr>
      </p:sp>
      <p:pic>
        <p:nvPicPr>
          <p:cNvPr id="9" name="Image 1" descr="Chat"/>
          <p:cNvPicPr>
            <a:picLocks noChangeAspect="1"/>
          </p:cNvPicPr>
          <p:nvPr/>
        </p:nvPicPr>
        <p:blipFill>
          <a:blip r:embed="rId4"/>
          <a:srcRect/>
          <a:stretch/>
        </p:blipFill>
        <p:spPr>
          <a:xfrm>
            <a:off x="3733800" y="2194421"/>
            <a:ext cx="355600" cy="355600"/>
          </a:xfrm>
          <a:prstGeom prst="rect">
            <a:avLst/>
          </a:prstGeom>
        </p:spPr>
      </p:pic>
      <p:sp>
        <p:nvSpPr>
          <p:cNvPr id="10" name="Text 6"/>
          <p:cNvSpPr/>
          <p:nvPr/>
        </p:nvSpPr>
        <p:spPr>
          <a:xfrm>
            <a:off x="3733800" y="2651621"/>
            <a:ext cx="21060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Sınıfa Sor</a:t>
            </a:r>
            <a:endParaRPr lang="en-US" sz="2000" dirty="0"/>
          </a:p>
        </p:txBody>
      </p:sp>
      <p:sp>
        <p:nvSpPr>
          <p:cNvPr id="11" name="Text 7"/>
          <p:cNvSpPr/>
          <p:nvPr/>
        </p:nvSpPr>
        <p:spPr>
          <a:xfrm>
            <a:off x="3733800" y="3058021"/>
            <a:ext cx="210604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Cevabı göstermeden önce tahmin ettirin.</a:t>
            </a:r>
            <a:endParaRPr lang="en-US" sz="1300" dirty="0"/>
          </a:p>
        </p:txBody>
      </p:sp>
      <p:sp>
        <p:nvSpPr>
          <p:cNvPr id="12" name="Shape 8"/>
          <p:cNvSpPr/>
          <p:nvPr/>
        </p:nvSpPr>
        <p:spPr>
          <a:xfrm>
            <a:off x="6178550" y="1959471"/>
            <a:ext cx="2514600" cy="1795661"/>
          </a:xfrm>
          <a:prstGeom prst="roundRect">
            <a:avLst>
              <a:gd name="adj" fmla="val 6719"/>
            </a:avLst>
          </a:prstGeom>
          <a:solidFill>
            <a:srgbClr val="FDFCF9"/>
          </a:solidFill>
          <a:ln w="12700">
            <a:solidFill>
              <a:srgbClr val="E2DDD0"/>
            </a:solidFill>
            <a:prstDash val="solid"/>
          </a:ln>
        </p:spPr>
      </p:sp>
      <p:pic>
        <p:nvPicPr>
          <p:cNvPr id="13" name="Image 2" descr="Warning"/>
          <p:cNvPicPr>
            <a:picLocks noChangeAspect="1"/>
          </p:cNvPicPr>
          <p:nvPr/>
        </p:nvPicPr>
        <p:blipFill>
          <a:blip r:embed="rId5"/>
          <a:srcRect/>
          <a:stretch/>
        </p:blipFill>
        <p:spPr>
          <a:xfrm>
            <a:off x="6413500" y="2194421"/>
            <a:ext cx="355600" cy="355600"/>
          </a:xfrm>
          <a:prstGeom prst="rect">
            <a:avLst/>
          </a:prstGeom>
        </p:spPr>
      </p:pic>
      <p:sp>
        <p:nvSpPr>
          <p:cNvPr id="14" name="Text 9"/>
          <p:cNvSpPr/>
          <p:nvPr/>
        </p:nvSpPr>
        <p:spPr>
          <a:xfrm>
            <a:off x="6413500" y="2651621"/>
            <a:ext cx="21060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Tuzak</a:t>
            </a:r>
            <a:endParaRPr lang="en-US" sz="2000" dirty="0"/>
          </a:p>
        </p:txBody>
      </p:sp>
      <p:sp>
        <p:nvSpPr>
          <p:cNvPr id="15" name="Text 10"/>
          <p:cNvSpPr/>
          <p:nvPr/>
        </p:nvSpPr>
        <p:spPr>
          <a:xfrm>
            <a:off x="6413500" y="3058021"/>
            <a:ext cx="210604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Öğrencilerin en sık düştüğü hata.</a:t>
            </a:r>
            <a:endParaRPr lang="en-US" sz="1300" dirty="0"/>
          </a:p>
        </p:txBody>
      </p:sp>
      <p:sp>
        <p:nvSpPr>
          <p:cNvPr id="16" name="Shape 11"/>
          <p:cNvSpPr/>
          <p:nvPr/>
        </p:nvSpPr>
        <p:spPr>
          <a:xfrm>
            <a:off x="8858250" y="1959471"/>
            <a:ext cx="2514600" cy="1795661"/>
          </a:xfrm>
          <a:prstGeom prst="roundRect">
            <a:avLst>
              <a:gd name="adj" fmla="val 6719"/>
            </a:avLst>
          </a:prstGeom>
          <a:solidFill>
            <a:srgbClr val="FDFCF9"/>
          </a:solidFill>
          <a:ln w="12700">
            <a:solidFill>
              <a:srgbClr val="E2DDD0"/>
            </a:solidFill>
            <a:prstDash val="solid"/>
          </a:ln>
        </p:spPr>
      </p:sp>
      <p:pic>
        <p:nvPicPr>
          <p:cNvPr id="17" name="Image 3" descr="Tool"/>
          <p:cNvPicPr>
            <a:picLocks noChangeAspect="1"/>
          </p:cNvPicPr>
          <p:nvPr/>
        </p:nvPicPr>
        <p:blipFill>
          <a:blip r:embed="rId6"/>
          <a:srcRect/>
          <a:stretch/>
        </p:blipFill>
        <p:spPr>
          <a:xfrm>
            <a:off x="9093200" y="2194421"/>
            <a:ext cx="355600" cy="355600"/>
          </a:xfrm>
          <a:prstGeom prst="rect">
            <a:avLst/>
          </a:prstGeom>
        </p:spPr>
      </p:pic>
      <p:sp>
        <p:nvSpPr>
          <p:cNvPr id="18" name="Text 12"/>
          <p:cNvSpPr/>
          <p:nvPr/>
        </p:nvSpPr>
        <p:spPr>
          <a:xfrm>
            <a:off x="9093200" y="2651621"/>
            <a:ext cx="21060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Lab</a:t>
            </a:r>
            <a:endParaRPr lang="en-US" sz="2000" dirty="0"/>
          </a:p>
        </p:txBody>
      </p:sp>
      <p:sp>
        <p:nvSpPr>
          <p:cNvPr id="19" name="Text 13"/>
          <p:cNvSpPr/>
          <p:nvPr/>
        </p:nvSpPr>
        <p:spPr>
          <a:xfrm>
            <a:off x="9093200" y="3058021"/>
            <a:ext cx="210604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Öğrencinin kendi başına yapacağı görev.</a:t>
            </a:r>
            <a:endParaRPr lang="en-US" sz="1300" dirty="0"/>
          </a:p>
        </p:txBody>
      </p:sp>
      <p:sp>
        <p:nvSpPr>
          <p:cNvPr id="20" name="Shape 14"/>
          <p:cNvSpPr/>
          <p:nvPr/>
        </p:nvSpPr>
        <p:spPr>
          <a:xfrm>
            <a:off x="812800" y="4066282"/>
            <a:ext cx="10566400" cy="914400"/>
          </a:xfrm>
          <a:prstGeom prst="roundRect">
            <a:avLst>
              <a:gd name="adj" fmla="val 13889"/>
            </a:avLst>
          </a:prstGeom>
          <a:solidFill>
            <a:srgbClr val="16202C"/>
          </a:solidFill>
          <a:ln/>
        </p:spPr>
      </p:sp>
      <p:sp>
        <p:nvSpPr>
          <p:cNvPr id="21" name="Text 15"/>
          <p:cNvSpPr/>
          <p:nvPr/>
        </p:nvSpPr>
        <p:spPr>
          <a:xfrm>
            <a:off x="1117600" y="4294882"/>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2F6FDB"/>
          </a:solidFill>
          <a:ln/>
        </p:spPr>
        <p:txBody>
          <a:bodyPr wrap="square" lIns="0" tIns="0" rIns="0" bIns="0" rtlCol="0" anchor="t">
            <a:normAutofit/>
          </a:bodyPr>
          <a:lstStyle/>
          <a:p>
            <a:pPr marL="0" indent="0" algn="ctr">
              <a:lnSpc>
                <a:spcPts val="3601"/>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22" name="Text 16"/>
          <p:cNvSpPr/>
          <p:nvPr/>
        </p:nvSpPr>
        <p:spPr>
          <a:xfrm>
            <a:off x="1676400" y="4407892"/>
            <a:ext cx="117187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master commit</a:t>
            </a:r>
            <a:endParaRPr lang="en-US" sz="1300" dirty="0"/>
          </a:p>
        </p:txBody>
      </p:sp>
      <p:sp>
        <p:nvSpPr>
          <p:cNvPr id="23" name="Text 17"/>
          <p:cNvSpPr/>
          <p:nvPr/>
        </p:nvSpPr>
        <p:spPr>
          <a:xfrm>
            <a:off x="3051473" y="4294882"/>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F08C4B"/>
          </a:solidFill>
          <a:ln/>
        </p:spPr>
        <p:txBody>
          <a:bodyPr wrap="square" lIns="0" tIns="0" rIns="0" bIns="0" rtlCol="0" anchor="t">
            <a:normAutofit/>
          </a:bodyPr>
          <a:lstStyle/>
          <a:p>
            <a:pPr marL="0" indent="0" algn="ctr">
              <a:lnSpc>
                <a:spcPts val="3601"/>
              </a:lnSpc>
              <a:buNone/>
            </a:pPr>
            <a:r>
              <a:rPr lang="en-US" sz="1300" b="1" dirty="0">
                <a:solidFill>
                  <a:srgbClr val="16202C"/>
                </a:solidFill>
                <a:latin typeface="JetBrains Mono" pitchFamily="34" charset="0"/>
                <a:ea typeface="JetBrains Mono" pitchFamily="34" charset="-122"/>
                <a:cs typeface="JetBrains Mono" pitchFamily="34" charset="-120"/>
              </a:rPr>
              <a:t>F1</a:t>
            </a:r>
            <a:endParaRPr lang="en-US" sz="1300" dirty="0"/>
          </a:p>
        </p:txBody>
      </p:sp>
      <p:sp>
        <p:nvSpPr>
          <p:cNvPr id="24" name="Text 18"/>
          <p:cNvSpPr/>
          <p:nvPr/>
        </p:nvSpPr>
        <p:spPr>
          <a:xfrm>
            <a:off x="3610273" y="4407892"/>
            <a:ext cx="96182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dal commit'i</a:t>
            </a:r>
            <a:endParaRPr lang="en-US" sz="1300" dirty="0"/>
          </a:p>
        </p:txBody>
      </p:sp>
      <p:sp>
        <p:nvSpPr>
          <p:cNvPr id="25" name="Text 19"/>
          <p:cNvSpPr/>
          <p:nvPr/>
        </p:nvSpPr>
        <p:spPr>
          <a:xfrm>
            <a:off x="4794349" y="4313932"/>
            <a:ext cx="419100" cy="419100"/>
          </a:xfrm>
          <a:custGeom>
            <a:avLst/>
            <a:gdLst/>
            <a:ahLst/>
            <a:cxnLst/>
            <a:rect l="l" t="t" r="r" b="b"/>
            <a:pathLst>
              <a:path w="419100" h="419100">
                <a:moveTo>
                  <a:pt x="209550" y="0"/>
                </a:moveTo>
                <a:lnTo>
                  <a:pt x="209550" y="0"/>
                </a:lnTo>
                <a:arcTo wR="209550" hR="209550" stAng="16200000" swAng="5400000"/>
                <a:lnTo>
                  <a:pt x="419100" y="209550"/>
                </a:lnTo>
                <a:arcTo wR="209550" hR="209550" stAng="0" swAng="5400000"/>
                <a:lnTo>
                  <a:pt x="209550" y="419100"/>
                </a:lnTo>
                <a:arcTo wR="209550" hR="209550" stAng="5400000" swAng="5400000"/>
                <a:lnTo>
                  <a:pt x="0" y="209550"/>
                </a:lnTo>
                <a:arcTo wR="209550" hR="209550" stAng="10800000" swAng="5400000"/>
                <a:close/>
              </a:path>
            </a:pathLst>
          </a:custGeom>
          <a:solidFill>
            <a:srgbClr val="F6F4EE"/>
          </a:solidFill>
          <a:ln w="38100">
            <a:solidFill>
              <a:srgbClr val="F08C4B"/>
            </a:solidFill>
            <a:prstDash val="solid"/>
          </a:ln>
        </p:spPr>
        <p:txBody>
          <a:bodyPr wrap="square" lIns="0" tIns="19050" rIns="0" bIns="0" rtlCol="0" anchor="t">
            <a:normAutofit/>
          </a:bodyPr>
          <a:lstStyle/>
          <a:p>
            <a:pPr marL="0" indent="0" algn="ctr">
              <a:lnSpc>
                <a:spcPts val="3003"/>
              </a:lnSpc>
              <a:buNone/>
            </a:pPr>
            <a:r>
              <a:rPr lang="en-US" sz="1300" b="1" dirty="0">
                <a:solidFill>
                  <a:srgbClr val="16202C"/>
                </a:solidFill>
                <a:latin typeface="JetBrains Mono" pitchFamily="34" charset="0"/>
                <a:ea typeface="JetBrains Mono" pitchFamily="34" charset="-122"/>
                <a:cs typeface="JetBrains Mono" pitchFamily="34" charset="-120"/>
              </a:rPr>
              <a:t>M</a:t>
            </a:r>
            <a:endParaRPr lang="en-US" sz="1300" dirty="0"/>
          </a:p>
        </p:txBody>
      </p:sp>
      <p:sp>
        <p:nvSpPr>
          <p:cNvPr id="26" name="Text 20"/>
          <p:cNvSpPr/>
          <p:nvPr/>
        </p:nvSpPr>
        <p:spPr>
          <a:xfrm>
            <a:off x="5334099" y="4407892"/>
            <a:ext cx="11201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merge commit</a:t>
            </a:r>
            <a:endParaRPr lang="en-US" sz="1300" dirty="0"/>
          </a:p>
        </p:txBody>
      </p:sp>
      <p:sp>
        <p:nvSpPr>
          <p:cNvPr id="27" name="Text 21"/>
          <p:cNvSpPr/>
          <p:nvPr/>
        </p:nvSpPr>
        <p:spPr>
          <a:xfrm>
            <a:off x="6667004" y="4304407"/>
            <a:ext cx="438150" cy="438150"/>
          </a:xfrm>
          <a:custGeom>
            <a:avLst/>
            <a:gdLst/>
            <a:ahLst/>
            <a:cxnLst/>
            <a:rect l="l" t="t" r="r" b="b"/>
            <a:pathLst>
              <a:path w="438150" h="438150">
                <a:moveTo>
                  <a:pt x="219075" y="0"/>
                </a:moveTo>
                <a:lnTo>
                  <a:pt x="219075" y="0"/>
                </a:lnTo>
                <a:arcTo wR="219075" hR="219075" stAng="16200000" swAng="5400000"/>
                <a:lnTo>
                  <a:pt x="438150" y="219075"/>
                </a:lnTo>
                <a:arcTo wR="219075" hR="219075" stAng="0" swAng="5400000"/>
                <a:lnTo>
                  <a:pt x="219075" y="438150"/>
                </a:lnTo>
                <a:arcTo wR="219075" hR="219075" stAng="5400000" swAng="5400000"/>
                <a:lnTo>
                  <a:pt x="0" y="219075"/>
                </a:lnTo>
                <a:arcTo wR="219075" hR="219075" stAng="10800000" swAng="5400000"/>
                <a:close/>
              </a:path>
            </a:pathLst>
          </a:custGeom>
          <a:solidFill>
            <a:srgbClr val="3A4656"/>
          </a:solidFill>
          <a:ln w="19050">
            <a:solidFill>
              <a:srgbClr val="9AA7B6"/>
            </a:solidFill>
            <a:prstDash val="dash"/>
          </a:ln>
        </p:spPr>
        <p:txBody>
          <a:bodyPr wrap="square" lIns="0" tIns="9525" rIns="0" bIns="0" rtlCol="0" anchor="t">
            <a:normAutofit/>
          </a:bodyPr>
          <a:lstStyle/>
          <a:p>
            <a:pPr marL="0" indent="0" algn="ctr">
              <a:lnSpc>
                <a:spcPts val="3302"/>
              </a:lnSpc>
              <a:buNone/>
            </a:pPr>
            <a:r>
              <a:rPr lang="en-US" sz="1300" b="1" dirty="0">
                <a:solidFill>
                  <a:srgbClr val="B8C4D1"/>
                </a:solidFill>
                <a:latin typeface="JetBrains Mono" pitchFamily="34" charset="0"/>
                <a:ea typeface="JetBrains Mono" pitchFamily="34" charset="-122"/>
                <a:cs typeface="JetBrains Mono" pitchFamily="34" charset="-120"/>
              </a:rPr>
              <a:t>F1</a:t>
            </a:r>
            <a:endParaRPr lang="en-US" sz="1300" dirty="0"/>
          </a:p>
        </p:txBody>
      </p:sp>
      <p:sp>
        <p:nvSpPr>
          <p:cNvPr id="28" name="Text 22"/>
          <p:cNvSpPr/>
          <p:nvPr/>
        </p:nvSpPr>
        <p:spPr>
          <a:xfrm>
            <a:off x="7216279" y="4407892"/>
            <a:ext cx="14433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terk edilen commit</a:t>
            </a:r>
            <a:endParaRPr lang="en-US" sz="1300" dirty="0"/>
          </a:p>
        </p:txBody>
      </p:sp>
      <p:sp>
        <p:nvSpPr>
          <p:cNvPr id="29" name="Text 23"/>
          <p:cNvSpPr/>
          <p:nvPr/>
        </p:nvSpPr>
        <p:spPr>
          <a:xfrm>
            <a:off x="8862814" y="4357092"/>
            <a:ext cx="650280" cy="332680"/>
          </a:xfrm>
          <a:prstGeom prst="roundRect">
            <a:avLst>
              <a:gd name="adj" fmla="val 45810"/>
            </a:avLst>
          </a:prstGeom>
          <a:solidFill>
            <a:srgbClr val="F7A46B"/>
          </a:solidFill>
          <a:ln/>
        </p:spPr>
        <p:txBody>
          <a:bodyPr wrap="none" lIns="0" tIns="0" rIns="0" bIns="0" rtlCol="0" anchor="ctr">
            <a:normAutofit/>
          </a:bodyPr>
          <a:lstStyle/>
          <a:p>
            <a:pPr marL="0" indent="0" algn="ctr">
              <a:lnSpc>
                <a:spcPts val="1820"/>
              </a:lnSpc>
              <a:buNone/>
            </a:pPr>
            <a:r>
              <a:rPr lang="en-US" sz="1300" b="1" dirty="0">
                <a:solidFill>
                  <a:srgbClr val="16202C"/>
                </a:solidFill>
                <a:latin typeface="JetBrains Mono" pitchFamily="34" charset="0"/>
                <a:ea typeface="JetBrains Mono" pitchFamily="34" charset="-122"/>
                <a:cs typeface="JetBrains Mono" pitchFamily="34" charset="-120"/>
              </a:rPr>
              <a:t>HEAD</a:t>
            </a:r>
            <a:endParaRPr lang="en-US" sz="1300" dirty="0"/>
          </a:p>
        </p:txBody>
      </p:sp>
      <p:sp>
        <p:nvSpPr>
          <p:cNvPr id="30" name="Text 24"/>
          <p:cNvSpPr/>
          <p:nvPr/>
        </p:nvSpPr>
        <p:spPr>
          <a:xfrm>
            <a:off x="9614694" y="4407892"/>
            <a:ext cx="5927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işaretçi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2C"/>
        </a:solidFill>
        <a:effectLst/>
      </p:bgPr>
    </p:bg>
    <p:spTree>
      <p:nvGrpSpPr>
        <p:cNvPr id="1" name=""/>
        <p:cNvGrpSpPr/>
        <p:nvPr/>
      </p:nvGrpSpPr>
      <p:grpSpPr>
        <a:xfrm>
          <a:off x="0" y="0"/>
          <a:ext cx="0" cy="0"/>
          <a:chOff x="0" y="0"/>
          <a:chExt cx="0" cy="0"/>
        </a:xfrm>
      </p:grpSpPr>
      <p:sp>
        <p:nvSpPr>
          <p:cNvPr id="2" name="Text 0"/>
          <p:cNvSpPr/>
          <p:nvPr/>
        </p:nvSpPr>
        <p:spPr>
          <a:xfrm>
            <a:off x="812800" y="187831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7A46B"/>
                </a:solidFill>
                <a:latin typeface="JetBrains Mono" pitchFamily="34" charset="0"/>
                <a:ea typeface="JetBrains Mono" pitchFamily="34" charset="-122"/>
                <a:cs typeface="JetBrains Mono" pitchFamily="34" charset="-120"/>
              </a:rPr>
              <a:t>MODÜL 1 · TEMELLER</a:t>
            </a:r>
            <a:endParaRPr lang="en-US" sz="1300" dirty="0"/>
          </a:p>
        </p:txBody>
      </p:sp>
      <p:sp>
        <p:nvSpPr>
          <p:cNvPr id="3" name="Text 1"/>
          <p:cNvSpPr/>
          <p:nvPr/>
        </p:nvSpPr>
        <p:spPr>
          <a:xfrm>
            <a:off x="812800" y="2414191"/>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E"/>
                </a:solidFill>
                <a:latin typeface="Space Grotesk" pitchFamily="34" charset="0"/>
                <a:ea typeface="Space Grotesk" pitchFamily="34" charset="-122"/>
                <a:cs typeface="Space Grotesk" pitchFamily="34" charset="-120"/>
              </a:rPr>
              <a:t>Git, projenin</a:t>
            </a:r>
            <a:endParaRPr lang="en-US" sz="6000" dirty="0"/>
          </a:p>
          <a:p>
            <a:pPr marL="0" indent="0" algn="l">
              <a:lnSpc>
                <a:spcPts val="6300"/>
              </a:lnSpc>
              <a:buNone/>
            </a:pPr>
            <a:r>
              <a:rPr lang="en-US" sz="6000" b="1" dirty="0">
                <a:solidFill>
                  <a:srgbClr val="F7A46B"/>
                </a:solidFill>
                <a:latin typeface="Space Grotesk" pitchFamily="34" charset="0"/>
                <a:ea typeface="Space Grotesk" pitchFamily="34" charset="-122"/>
                <a:cs typeface="Space Grotesk" pitchFamily="34" charset="-120"/>
              </a:rPr>
              <a:t>fotoğraf albümüdür.</a:t>
            </a:r>
            <a:endParaRPr lang="en-US" sz="6000" dirty="0"/>
          </a:p>
        </p:txBody>
      </p:sp>
      <p:sp>
        <p:nvSpPr>
          <p:cNvPr id="4" name="Text 2"/>
          <p:cNvSpPr/>
          <p:nvPr/>
        </p:nvSpPr>
        <p:spPr>
          <a:xfrm>
            <a:off x="812800" y="4319191"/>
            <a:ext cx="85026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8C4D1"/>
                </a:solidFill>
                <a:latin typeface="IBM Plex Sans" pitchFamily="34" charset="0"/>
                <a:ea typeface="IBM Plex Sans" pitchFamily="34" charset="-122"/>
                <a:cs typeface="IBM Plex Sans" pitchFamily="34" charset="-120"/>
              </a:rPr>
              <a:t>Her commit bir fotoğraf karesi. İstediğin kareye geri dönebilir, albümü çoğaltıp başka bir hikâye çekebilir, sonra iki albümü birleştirebilirsin.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1 · TEMELLER</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Git'in üç alanı</a:t>
            </a:r>
            <a:endParaRPr lang="en-US" sz="3600" dirty="0"/>
          </a:p>
        </p:txBody>
      </p:sp>
      <p:sp>
        <p:nvSpPr>
          <p:cNvPr id="4" name="Shape 2"/>
          <p:cNvSpPr/>
          <p:nvPr/>
        </p:nvSpPr>
        <p:spPr>
          <a:xfrm>
            <a:off x="819150" y="2148384"/>
            <a:ext cx="2459534" cy="1761430"/>
          </a:xfrm>
          <a:prstGeom prst="roundRect">
            <a:avLst>
              <a:gd name="adj" fmla="val 6850"/>
            </a:avLst>
          </a:prstGeom>
          <a:solidFill>
            <a:srgbClr val="FDFCF9"/>
          </a:solidFill>
          <a:ln w="12700">
            <a:solidFill>
              <a:srgbClr val="E2DDD0"/>
            </a:solidFill>
            <a:prstDash val="solid"/>
          </a:ln>
        </p:spPr>
      </p:sp>
      <p:sp>
        <p:nvSpPr>
          <p:cNvPr id="5" name="Text 3"/>
          <p:cNvSpPr/>
          <p:nvPr/>
        </p:nvSpPr>
        <p:spPr>
          <a:xfrm>
            <a:off x="1054100" y="2383334"/>
            <a:ext cx="204932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WORKING DIRECTORY</a:t>
            </a:r>
            <a:endParaRPr lang="en-US" sz="1300" dirty="0"/>
          </a:p>
        </p:txBody>
      </p:sp>
      <p:sp>
        <p:nvSpPr>
          <p:cNvPr id="6" name="Text 4"/>
          <p:cNvSpPr/>
          <p:nvPr/>
        </p:nvSpPr>
        <p:spPr>
          <a:xfrm>
            <a:off x="1054100" y="2716014"/>
            <a:ext cx="204932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Çalışma masası</a:t>
            </a:r>
            <a:endParaRPr lang="en-US" sz="2000" dirty="0"/>
          </a:p>
        </p:txBody>
      </p:sp>
      <p:sp>
        <p:nvSpPr>
          <p:cNvPr id="7" name="Text 5"/>
          <p:cNvSpPr/>
          <p:nvPr/>
        </p:nvSpPr>
        <p:spPr>
          <a:xfrm>
            <a:off x="1054100" y="3122414"/>
            <a:ext cx="2049323"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Dosyaları düzenlediğin klasör. Git sadece izler.</a:t>
            </a:r>
            <a:endParaRPr lang="en-US" sz="1500" dirty="0"/>
          </a:p>
        </p:txBody>
      </p:sp>
      <p:sp>
        <p:nvSpPr>
          <p:cNvPr id="8" name="Text 6"/>
          <p:cNvSpPr/>
          <p:nvPr/>
        </p:nvSpPr>
        <p:spPr>
          <a:xfrm>
            <a:off x="3725664" y="2646859"/>
            <a:ext cx="7442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git add</a:t>
            </a:r>
            <a:endParaRPr lang="en-US" sz="1300" dirty="0"/>
          </a:p>
        </p:txBody>
      </p:sp>
      <p:pic>
        <p:nvPicPr>
          <p:cNvPr id="9" name="Image 0" descr="arrow-right"/>
          <p:cNvPicPr>
            <a:picLocks noChangeAspect="1"/>
          </p:cNvPicPr>
          <p:nvPr/>
        </p:nvPicPr>
        <p:blipFill>
          <a:blip r:embed="rId3"/>
          <a:srcRect/>
          <a:stretch/>
        </p:blipFill>
        <p:spPr>
          <a:xfrm>
            <a:off x="3564434" y="2954139"/>
            <a:ext cx="1016000" cy="457200"/>
          </a:xfrm>
          <a:prstGeom prst="rect">
            <a:avLst/>
          </a:prstGeom>
        </p:spPr>
      </p:pic>
      <p:sp>
        <p:nvSpPr>
          <p:cNvPr id="10" name="Shape 7"/>
          <p:cNvSpPr/>
          <p:nvPr/>
        </p:nvSpPr>
        <p:spPr>
          <a:xfrm>
            <a:off x="4866184" y="2010271"/>
            <a:ext cx="2459633" cy="2037655"/>
          </a:xfrm>
          <a:prstGeom prst="roundRect">
            <a:avLst>
              <a:gd name="adj" fmla="val 5921"/>
            </a:avLst>
          </a:prstGeom>
          <a:solidFill>
            <a:srgbClr val="FDFCF9"/>
          </a:solidFill>
          <a:ln w="12700">
            <a:solidFill>
              <a:srgbClr val="E2DDD0"/>
            </a:solidFill>
            <a:prstDash val="solid"/>
          </a:ln>
        </p:spPr>
      </p:sp>
      <p:sp>
        <p:nvSpPr>
          <p:cNvPr id="11" name="Text 8"/>
          <p:cNvSpPr/>
          <p:nvPr/>
        </p:nvSpPr>
        <p:spPr>
          <a:xfrm>
            <a:off x="5101134" y="2245221"/>
            <a:ext cx="204942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STAGING AREA</a:t>
            </a:r>
            <a:endParaRPr lang="en-US" sz="1300" dirty="0"/>
          </a:p>
        </p:txBody>
      </p:sp>
      <p:sp>
        <p:nvSpPr>
          <p:cNvPr id="12" name="Text 9"/>
          <p:cNvSpPr/>
          <p:nvPr/>
        </p:nvSpPr>
        <p:spPr>
          <a:xfrm>
            <a:off x="5101134" y="2577902"/>
            <a:ext cx="204942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Kargo kutusu</a:t>
            </a:r>
            <a:endParaRPr lang="en-US" sz="2000" dirty="0"/>
          </a:p>
        </p:txBody>
      </p:sp>
      <p:sp>
        <p:nvSpPr>
          <p:cNvPr id="13" name="Text 10"/>
          <p:cNvSpPr/>
          <p:nvPr/>
        </p:nvSpPr>
        <p:spPr>
          <a:xfrm>
            <a:off x="5101134" y="2984302"/>
            <a:ext cx="2049425"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Bir sonraki fotoğrafa girecekleri seçtiğin alan.</a:t>
            </a:r>
            <a:endParaRPr lang="en-US" sz="1500" dirty="0"/>
          </a:p>
        </p:txBody>
      </p:sp>
      <p:sp>
        <p:nvSpPr>
          <p:cNvPr id="14" name="Text 11"/>
          <p:cNvSpPr/>
          <p:nvPr/>
        </p:nvSpPr>
        <p:spPr>
          <a:xfrm>
            <a:off x="7624266" y="2646859"/>
            <a:ext cx="10414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git commit</a:t>
            </a:r>
            <a:endParaRPr lang="en-US" sz="1300" dirty="0"/>
          </a:p>
        </p:txBody>
      </p:sp>
      <p:pic>
        <p:nvPicPr>
          <p:cNvPr id="15" name="Image 1" descr="arrow-right"/>
          <p:cNvPicPr>
            <a:picLocks noChangeAspect="1"/>
          </p:cNvPicPr>
          <p:nvPr/>
        </p:nvPicPr>
        <p:blipFill>
          <a:blip r:embed="rId3"/>
          <a:srcRect/>
          <a:stretch/>
        </p:blipFill>
        <p:spPr>
          <a:xfrm>
            <a:off x="7611566" y="2954139"/>
            <a:ext cx="1016000" cy="457200"/>
          </a:xfrm>
          <a:prstGeom prst="rect">
            <a:avLst/>
          </a:prstGeom>
        </p:spPr>
      </p:pic>
      <p:sp>
        <p:nvSpPr>
          <p:cNvPr id="16" name="Shape 12"/>
          <p:cNvSpPr/>
          <p:nvPr/>
        </p:nvSpPr>
        <p:spPr>
          <a:xfrm>
            <a:off x="8913316" y="2010271"/>
            <a:ext cx="2459534" cy="2037655"/>
          </a:xfrm>
          <a:prstGeom prst="roundRect">
            <a:avLst>
              <a:gd name="adj" fmla="val 5921"/>
            </a:avLst>
          </a:prstGeom>
          <a:solidFill>
            <a:srgbClr val="16202C"/>
          </a:solidFill>
          <a:ln w="12700">
            <a:solidFill>
              <a:srgbClr val="16202C"/>
            </a:solidFill>
            <a:prstDash val="solid"/>
          </a:ln>
        </p:spPr>
      </p:sp>
      <p:sp>
        <p:nvSpPr>
          <p:cNvPr id="17" name="Text 13"/>
          <p:cNvSpPr/>
          <p:nvPr/>
        </p:nvSpPr>
        <p:spPr>
          <a:xfrm>
            <a:off x="9148266" y="2245221"/>
            <a:ext cx="204932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REPOSITORY</a:t>
            </a:r>
            <a:endParaRPr lang="en-US" sz="1300" dirty="0"/>
          </a:p>
        </p:txBody>
      </p:sp>
      <p:sp>
        <p:nvSpPr>
          <p:cNvPr id="18" name="Text 14"/>
          <p:cNvSpPr/>
          <p:nvPr/>
        </p:nvSpPr>
        <p:spPr>
          <a:xfrm>
            <a:off x="9148266" y="2577902"/>
            <a:ext cx="204932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Arşiv</a:t>
            </a:r>
            <a:endParaRPr lang="en-US" sz="2000" dirty="0"/>
          </a:p>
        </p:txBody>
      </p:sp>
      <p:sp>
        <p:nvSpPr>
          <p:cNvPr id="19" name="Text 15"/>
          <p:cNvSpPr/>
          <p:nvPr/>
        </p:nvSpPr>
        <p:spPr>
          <a:xfrm>
            <a:off x="9148266" y="2984302"/>
            <a:ext cx="2049323"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Kalıcı fotoğraflar: commit geçmişi (.git klasörü).</a:t>
            </a:r>
            <a:endParaRPr lang="en-US" sz="1500" dirty="0"/>
          </a:p>
        </p:txBody>
      </p:sp>
      <p:sp>
        <p:nvSpPr>
          <p:cNvPr id="20" name="Shape 16"/>
          <p:cNvSpPr/>
          <p:nvPr/>
        </p:nvSpPr>
        <p:spPr>
          <a:xfrm>
            <a:off x="812800" y="4409877"/>
            <a:ext cx="10566400" cy="584200"/>
          </a:xfrm>
          <a:prstGeom prst="roundRect">
            <a:avLst>
              <a:gd name="adj" fmla="val 17391"/>
            </a:avLst>
          </a:prstGeom>
          <a:solidFill>
            <a:srgbClr val="FBE9DC"/>
          </a:solidFill>
          <a:ln/>
        </p:spPr>
      </p:sp>
      <p:pic>
        <p:nvPicPr>
          <p:cNvPr id="21" name="Image 2" descr="Lightbulb"/>
          <p:cNvPicPr>
            <a:picLocks noChangeAspect="1"/>
          </p:cNvPicPr>
          <p:nvPr/>
        </p:nvPicPr>
        <p:blipFill>
          <a:blip r:embed="rId4"/>
          <a:srcRect/>
          <a:stretch/>
        </p:blipFill>
        <p:spPr>
          <a:xfrm>
            <a:off x="1016000" y="4562277"/>
            <a:ext cx="279400" cy="279400"/>
          </a:xfrm>
          <a:prstGeom prst="rect">
            <a:avLst/>
          </a:prstGeom>
        </p:spPr>
      </p:pic>
      <p:sp>
        <p:nvSpPr>
          <p:cNvPr id="22" name="Text 17"/>
          <p:cNvSpPr/>
          <p:nvPr/>
        </p:nvSpPr>
        <p:spPr>
          <a:xfrm>
            <a:off x="1397000" y="4568627"/>
            <a:ext cx="720609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Kilit fikir:</a:t>
            </a:r>
            <a:r>
              <a:rPr lang="en-US" sz="1500" dirty="0">
                <a:solidFill>
                  <a:srgbClr val="16202C"/>
                </a:solidFill>
                <a:latin typeface="IBM Plex Sans" pitchFamily="34" charset="0"/>
                <a:ea typeface="IBM Plex Sans" pitchFamily="34" charset="-122"/>
                <a:cs typeface="IBM Plex Sans" pitchFamily="34" charset="-120"/>
              </a:rPr>
              <a:t> reset türlerinin tamamı bu üç kutudan hangisine dokunduklarıyla ayrışır.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1 · TEMELLER</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Önce kimlik: git config</a:t>
            </a:r>
            <a:endParaRPr lang="en-US" sz="3600" dirty="0"/>
          </a:p>
        </p:txBody>
      </p:sp>
      <p:sp>
        <p:nvSpPr>
          <p:cNvPr id="4" name="Text 2"/>
          <p:cNvSpPr/>
          <p:nvPr/>
        </p:nvSpPr>
        <p:spPr>
          <a:xfrm>
            <a:off x="812800" y="1953121"/>
            <a:ext cx="640447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YENİ SÖZ DİZİMİ (GIT 2.46+)</a:t>
            </a:r>
            <a:endParaRPr lang="en-US" sz="1300" dirty="0"/>
          </a:p>
        </p:txBody>
      </p:sp>
      <p:sp>
        <p:nvSpPr>
          <p:cNvPr id="5" name="Text 3"/>
          <p:cNvSpPr/>
          <p:nvPr/>
        </p:nvSpPr>
        <p:spPr>
          <a:xfrm>
            <a:off x="812800" y="2285802"/>
            <a:ext cx="6217940" cy="2120900"/>
          </a:xfrm>
          <a:prstGeom prst="roundRect">
            <a:avLst>
              <a:gd name="adj" fmla="val 4790"/>
            </a:avLst>
          </a:prstGeom>
          <a:solidFill>
            <a:srgbClr val="16202C"/>
          </a:solidFill>
          <a:ln/>
        </p:spPr>
        <p:txBody>
          <a:bodyPr wrap="square" lIns="224242" tIns="173442" rIns="52944" bIns="148042" rtlCol="0" anchor="t">
            <a:normAutofit/>
          </a:bodyPr>
          <a:lstStyle/>
          <a:p>
            <a:pPr marL="0" indent="0" algn="l">
              <a:lnSpc>
                <a:spcPts val="2250"/>
              </a:lnSpc>
              <a:buNone/>
            </a:pPr>
            <a:r>
              <a:rPr lang="en-US" sz="1500" dirty="0">
                <a:solidFill>
                  <a:srgbClr val="9AA7B6"/>
                </a:solidFill>
                <a:latin typeface="JetBrains Mono" pitchFamily="34" charset="0"/>
                <a:ea typeface="JetBrains Mono" pitchFamily="34" charset="-122"/>
                <a:cs typeface="JetBrains Mono" pitchFamily="34" charset="-120"/>
              </a:rPr>
              <a:t># Okumak</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config get --global user.name</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config get --global user.email</a:t>
            </a:r>
            <a:endParaRPr lang="en-US" sz="1500" dirty="0"/>
          </a:p>
          <a:p>
            <a:pPr marL="0" indent="0" algn="l">
              <a:lnSpc>
                <a:spcPts val="2250"/>
              </a:lnSpc>
              <a:buNone/>
            </a:pPr>
            <a:r>
              <a:rPr lang="en-US" sz="1500" dirty="0">
                <a:solidFill>
                  <a:srgbClr val="9AA7B6"/>
                </a:solidFill>
                <a:latin typeface="JetBrains Mono" pitchFamily="34" charset="0"/>
                <a:ea typeface="JetBrains Mono" pitchFamily="34" charset="-122"/>
                <a:cs typeface="JetBrains Mono" pitchFamily="34" charset="-120"/>
              </a:rPr>
              <a:t># Yazmak</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config set --global user.name </a:t>
            </a:r>
            <a:r>
              <a:rPr lang="en-US" sz="1500" dirty="0">
                <a:solidFill>
                  <a:srgbClr val="F7A46B"/>
                </a:solidFill>
                <a:latin typeface="JetBrains Mono" pitchFamily="34" charset="0"/>
                <a:ea typeface="JetBrains Mono" pitchFamily="34" charset="-122"/>
                <a:cs typeface="JetBrains Mono" pitchFamily="34" charset="-120"/>
              </a:rPr>
              <a:t>'Süleyman Önal'</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config set --global user.email </a:t>
            </a:r>
            <a:r>
              <a:rPr lang="en-US" sz="1500" dirty="0">
                <a:solidFill>
                  <a:srgbClr val="F7A46B"/>
                </a:solidFill>
                <a:latin typeface="JetBrains Mono" pitchFamily="34" charset="0"/>
                <a:ea typeface="JetBrains Mono" pitchFamily="34" charset="-122"/>
                <a:cs typeface="JetBrains Mono" pitchFamily="34" charset="-120"/>
              </a:rPr>
              <a:t>'ad@ornek.com'</a:t>
            </a:r>
            <a:endParaRPr lang="en-US" sz="1500" dirty="0"/>
          </a:p>
        </p:txBody>
      </p:sp>
      <p:sp>
        <p:nvSpPr>
          <p:cNvPr id="6" name="Text 4"/>
          <p:cNvSpPr/>
          <p:nvPr/>
        </p:nvSpPr>
        <p:spPr>
          <a:xfrm>
            <a:off x="7233940" y="1953121"/>
            <a:ext cx="426961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KLASİK SÖZ DİZİMİ</a:t>
            </a:r>
            <a:endParaRPr lang="en-US" sz="1300" dirty="0"/>
          </a:p>
        </p:txBody>
      </p:sp>
      <p:sp>
        <p:nvSpPr>
          <p:cNvPr id="7" name="Text 5"/>
          <p:cNvSpPr/>
          <p:nvPr/>
        </p:nvSpPr>
        <p:spPr>
          <a:xfrm>
            <a:off x="7233940" y="2285802"/>
            <a:ext cx="4145260" cy="1263650"/>
          </a:xfrm>
          <a:prstGeom prst="roundRect">
            <a:avLst>
              <a:gd name="adj" fmla="val 8040"/>
            </a:avLst>
          </a:prstGeom>
          <a:solidFill>
            <a:srgbClr val="E9E5DA"/>
          </a:solidFill>
          <a:ln/>
        </p:spPr>
        <p:txBody>
          <a:bodyPr wrap="square" lIns="224242" tIns="173442" rIns="115125" bIns="148042" rtlCol="0" anchor="t">
            <a:normAutofit/>
          </a:bodyPr>
          <a:lstStyle/>
          <a:p>
            <a:pPr marL="0" indent="0" algn="l">
              <a:lnSpc>
                <a:spcPts val="2250"/>
              </a:lnSpc>
              <a:buNone/>
            </a:pPr>
            <a:r>
              <a:rPr lang="en-US" sz="1500" dirty="0">
                <a:solidFill>
                  <a:srgbClr val="16202C"/>
                </a:solidFill>
                <a:latin typeface="JetBrains Mono" pitchFamily="34" charset="0"/>
                <a:ea typeface="JetBrains Mono" pitchFamily="34" charset="-122"/>
                <a:cs typeface="JetBrains Mono" pitchFamily="34" charset="-120"/>
              </a:rPr>
              <a:t>git config --global user.name </a:t>
            </a:r>
            <a:r>
              <a:rPr lang="en-US" sz="1500" dirty="0">
                <a:solidFill>
                  <a:srgbClr val="B8430A"/>
                </a:solidFill>
                <a:latin typeface="JetBrains Mono" pitchFamily="34" charset="0"/>
                <a:ea typeface="JetBrains Mono" pitchFamily="34" charset="-122"/>
                <a:cs typeface="JetBrains Mono" pitchFamily="34" charset="-120"/>
              </a:rPr>
              <a:t>'Ad'</a:t>
            </a:r>
            <a:endParaRPr lang="en-US" sz="1500" dirty="0"/>
          </a:p>
          <a:p>
            <a:pPr marL="0" indent="0" algn="l">
              <a:lnSpc>
                <a:spcPts val="2250"/>
              </a:lnSpc>
              <a:buNone/>
            </a:pPr>
            <a:r>
              <a:rPr lang="en-US" sz="1500" dirty="0">
                <a:solidFill>
                  <a:srgbClr val="16202C"/>
                </a:solidFill>
                <a:latin typeface="JetBrains Mono" pitchFamily="34" charset="0"/>
                <a:ea typeface="JetBrains Mono" pitchFamily="34" charset="-122"/>
                <a:cs typeface="JetBrains Mono" pitchFamily="34" charset="-120"/>
              </a:rPr>
              <a:t>git config --list</a:t>
            </a:r>
            <a:endParaRPr lang="en-US" sz="1500" dirty="0"/>
          </a:p>
        </p:txBody>
      </p:sp>
      <p:sp>
        <p:nvSpPr>
          <p:cNvPr id="8" name="Shape 6"/>
          <p:cNvSpPr/>
          <p:nvPr/>
        </p:nvSpPr>
        <p:spPr>
          <a:xfrm>
            <a:off x="7233940" y="3651052"/>
            <a:ext cx="4145260" cy="1125041"/>
          </a:xfrm>
          <a:prstGeom prst="roundRect">
            <a:avLst>
              <a:gd name="adj" fmla="val 9031"/>
            </a:avLst>
          </a:prstGeom>
          <a:solidFill>
            <a:srgbClr val="FBE9DC"/>
          </a:solidFill>
          <a:ln/>
        </p:spPr>
      </p:sp>
      <p:pic>
        <p:nvPicPr>
          <p:cNvPr id="9" name="Image 0" descr="Warning"/>
          <p:cNvPicPr>
            <a:picLocks noChangeAspect="1"/>
          </p:cNvPicPr>
          <p:nvPr/>
        </p:nvPicPr>
        <p:blipFill>
          <a:blip r:embed="rId3"/>
          <a:srcRect/>
          <a:stretch/>
        </p:blipFill>
        <p:spPr>
          <a:xfrm>
            <a:off x="7437140" y="3830042"/>
            <a:ext cx="228600" cy="228600"/>
          </a:xfrm>
          <a:prstGeom prst="rect">
            <a:avLst/>
          </a:prstGeom>
        </p:spPr>
      </p:pic>
      <p:sp>
        <p:nvSpPr>
          <p:cNvPr id="10" name="Text 7"/>
          <p:cNvSpPr/>
          <p:nvPr/>
        </p:nvSpPr>
        <p:spPr>
          <a:xfrm>
            <a:off x="7741940" y="3828852"/>
            <a:ext cx="5461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TUZAK</a:t>
            </a:r>
            <a:endParaRPr lang="en-US" sz="1300" dirty="0"/>
          </a:p>
        </p:txBody>
      </p:sp>
      <p:sp>
        <p:nvSpPr>
          <p:cNvPr id="11" name="Text 8"/>
          <p:cNvSpPr/>
          <p:nvPr/>
        </p:nvSpPr>
        <p:spPr>
          <a:xfrm>
            <a:off x="7437140" y="4136132"/>
            <a:ext cx="385102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Değersiz </a:t>
            </a:r>
            <a:r>
              <a:rPr lang="en-US" sz="1300" b="1" dirty="0">
                <a:solidFill>
                  <a:srgbClr val="16202C"/>
                </a:solidFill>
                <a:latin typeface="IBM Plex Sans" pitchFamily="34" charset="0"/>
                <a:ea typeface="IBM Plex Sans" pitchFamily="34" charset="-122"/>
                <a:cs typeface="IBM Plex Sans" pitchFamily="34" charset="-120"/>
              </a:rPr>
              <a:t>set</a:t>
            </a:r>
            <a:r>
              <a:rPr lang="en-US" sz="1300" dirty="0">
                <a:solidFill>
                  <a:srgbClr val="16202C"/>
                </a:solidFill>
                <a:latin typeface="IBM Plex Sans" pitchFamily="34" charset="0"/>
                <a:ea typeface="IBM Plex Sans" pitchFamily="34" charset="-122"/>
                <a:cs typeface="IBM Plex Sans" pitchFamily="34" charset="-120"/>
              </a:rPr>
              <a:t> hata verir. Eski Git sürümünde </a:t>
            </a:r>
            <a:r>
              <a:rPr lang="en-US" sz="1300" b="1" dirty="0">
                <a:solidFill>
                  <a:srgbClr val="16202C"/>
                </a:solidFill>
                <a:latin typeface="IBM Plex Sans" pitchFamily="34" charset="0"/>
                <a:ea typeface="IBM Plex Sans" pitchFamily="34" charset="-122"/>
                <a:cs typeface="IBM Plex Sans" pitchFamily="34" charset="-120"/>
              </a:rPr>
              <a:t>get/set</a:t>
            </a:r>
            <a:r>
              <a:rPr lang="en-US" sz="1300" dirty="0">
                <a:solidFill>
                  <a:srgbClr val="16202C"/>
                </a:solidFill>
                <a:latin typeface="IBM Plex Sans" pitchFamily="34" charset="0"/>
                <a:ea typeface="IBM Plex Sans" pitchFamily="34" charset="-122"/>
                <a:cs typeface="IBM Plex Sans" pitchFamily="34" charset="-120"/>
              </a:rPr>
              <a:t> yoksa klasik yazımı kullanın.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pic>
        <p:nvPicPr>
          <p:cNvPr id="2" name="Image 0" descr="Play"/>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302256"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CANLI DEMO · MODÜL 1</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İlk iki commit</a:t>
            </a:r>
            <a:endParaRPr lang="en-US" sz="3600" dirty="0"/>
          </a:p>
        </p:txBody>
      </p:sp>
      <p:sp>
        <p:nvSpPr>
          <p:cNvPr id="5" name="Text 2"/>
          <p:cNvSpPr/>
          <p:nvPr/>
        </p:nvSpPr>
        <p:spPr>
          <a:xfrm>
            <a:off x="2889250" y="1851521"/>
            <a:ext cx="6413500" cy="3022600"/>
          </a:xfrm>
          <a:prstGeom prst="roundRect">
            <a:avLst>
              <a:gd name="adj" fmla="val 3361"/>
            </a:avLst>
          </a:prstGeom>
          <a:solidFill>
            <a:srgbClr val="16202C"/>
          </a:solidFill>
          <a:ln/>
        </p:spPr>
        <p:txBody>
          <a:bodyPr wrap="square" lIns="224242" tIns="148042" rIns="47077" bIns="122642" rtlCol="0" anchor="t">
            <a:normAutofit/>
          </a:bodyPr>
          <a:lstStyle/>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mkdir proje1 &amp;&amp; cd proje1</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init</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touch dosya1 dosya2</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ls -al </a:t>
            </a:r>
            <a:r>
              <a:rPr lang="en-US" sz="1400" dirty="0">
                <a:solidFill>
                  <a:srgbClr val="9AA7B6"/>
                </a:solidFill>
                <a:latin typeface="JetBrains Mono" pitchFamily="34" charset="0"/>
                <a:ea typeface="JetBrains Mono" pitchFamily="34" charset="-122"/>
                <a:cs typeface="JetBrains Mono" pitchFamily="34" charset="-120"/>
              </a:rPr>
              <a:t># .git klasörünü gör</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add .</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commit -m </a:t>
            </a:r>
            <a:r>
              <a:rPr lang="en-US" sz="1400" dirty="0">
                <a:solidFill>
                  <a:srgbClr val="F7A46B"/>
                </a:solidFill>
                <a:latin typeface="JetBrains Mono" pitchFamily="34" charset="0"/>
                <a:ea typeface="JetBrains Mono" pitchFamily="34" charset="-122"/>
                <a:cs typeface="JetBrains Mono" pitchFamily="34" charset="-120"/>
              </a:rPr>
              <a:t>'first commit'</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branch </a:t>
            </a:r>
            <a:r>
              <a:rPr lang="en-US" sz="1400" dirty="0">
                <a:solidFill>
                  <a:srgbClr val="9AA7B6"/>
                </a:solidFill>
                <a:latin typeface="JetBrains Mono" pitchFamily="34" charset="0"/>
                <a:ea typeface="JetBrains Mono" pitchFamily="34" charset="-122"/>
                <a:cs typeface="JetBrains Mono" pitchFamily="34" charset="-120"/>
              </a:rPr>
              <a:t># * master</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touch dosya3</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add . &amp;&amp; git commit -m </a:t>
            </a:r>
            <a:r>
              <a:rPr lang="en-US" sz="1400" dirty="0">
                <a:solidFill>
                  <a:srgbClr val="F7A46B"/>
                </a:solidFill>
                <a:latin typeface="JetBrains Mono" pitchFamily="34" charset="0"/>
                <a:ea typeface="JetBrains Mono" pitchFamily="34" charset="-122"/>
                <a:cs typeface="JetBrains Mono" pitchFamily="34" charset="-120"/>
              </a:rPr>
              <a:t>'2nd commit'</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log --oneline</a:t>
            </a:r>
            <a:endParaRPr lang="en-US" sz="1400" dirty="0"/>
          </a:p>
        </p:txBody>
      </p:sp>
      <p:pic>
        <p:nvPicPr>
          <p:cNvPr id="6" name="Image 1" descr="Terminalde git log --oneline çıktısı: dört commit, HEAD dev dalını gösteriyor"/>
          <p:cNvPicPr>
            <a:picLocks noChangeAspect="1"/>
          </p:cNvPicPr>
          <p:nvPr/>
        </p:nvPicPr>
        <p:blipFill>
          <a:blip r:embed="rId4"/>
          <a:srcRect t="-192" b="-192"/>
          <a:stretch/>
        </p:blipFill>
        <p:spPr>
          <a:xfrm>
            <a:off x="2889250" y="5026521"/>
            <a:ext cx="6413500" cy="736600"/>
          </a:xfrm>
          <a:prstGeom prst="roundRect">
            <a:avLst>
              <a:gd name="adj" fmla="val 10345"/>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1 · TEMELLER</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Commit'in anatomisi</a:t>
            </a:r>
            <a:endParaRPr lang="en-US" sz="3600" dirty="0"/>
          </a:p>
        </p:txBody>
      </p:sp>
      <p:pic>
        <p:nvPicPr>
          <p:cNvPr id="4" name="Image 0" descr="connector"/>
          <p:cNvPicPr>
            <a:picLocks noChangeAspect="1"/>
          </p:cNvPicPr>
          <p:nvPr/>
        </p:nvPicPr>
        <p:blipFill>
          <a:blip r:embed="rId3"/>
          <a:srcRect/>
          <a:stretch/>
        </p:blipFill>
        <p:spPr>
          <a:xfrm>
            <a:off x="1866900" y="3238500"/>
            <a:ext cx="1092200" cy="127000"/>
          </a:xfrm>
          <a:prstGeom prst="rect">
            <a:avLst/>
          </a:prstGeom>
        </p:spPr>
      </p:pic>
      <p:pic>
        <p:nvPicPr>
          <p:cNvPr id="5" name="Image 1" descr="connector"/>
          <p:cNvPicPr>
            <a:picLocks noChangeAspect="1"/>
          </p:cNvPicPr>
          <p:nvPr/>
        </p:nvPicPr>
        <p:blipFill>
          <a:blip r:embed="rId3"/>
          <a:srcRect/>
          <a:stretch/>
        </p:blipFill>
        <p:spPr>
          <a:xfrm>
            <a:off x="3644900" y="3238500"/>
            <a:ext cx="1092200" cy="127000"/>
          </a:xfrm>
          <a:prstGeom prst="rect">
            <a:avLst/>
          </a:prstGeom>
        </p:spPr>
      </p:pic>
      <p:pic>
        <p:nvPicPr>
          <p:cNvPr id="6" name="Image 2" descr="connector"/>
          <p:cNvPicPr>
            <a:picLocks noChangeAspect="1"/>
          </p:cNvPicPr>
          <p:nvPr/>
        </p:nvPicPr>
        <p:blipFill>
          <a:blip r:embed="rId4"/>
          <a:srcRect/>
          <a:stretch/>
        </p:blipFill>
        <p:spPr>
          <a:xfrm>
            <a:off x="5016500" y="2298700"/>
            <a:ext cx="127000" cy="647700"/>
          </a:xfrm>
          <a:prstGeom prst="rect">
            <a:avLst/>
          </a:prstGeom>
        </p:spPr>
      </p:pic>
      <p:pic>
        <p:nvPicPr>
          <p:cNvPr id="7" name="Image 3" descr="connector"/>
          <p:cNvPicPr>
            <a:picLocks noChangeAspect="1"/>
          </p:cNvPicPr>
          <p:nvPr/>
        </p:nvPicPr>
        <p:blipFill>
          <a:blip r:embed="rId5"/>
          <a:srcRect/>
          <a:stretch/>
        </p:blipFill>
        <p:spPr>
          <a:xfrm>
            <a:off x="4064000" y="2133600"/>
            <a:ext cx="546100" cy="127000"/>
          </a:xfrm>
          <a:prstGeom prst="rect">
            <a:avLst/>
          </a:prstGeom>
        </p:spPr>
      </p:pic>
      <p:sp>
        <p:nvSpPr>
          <p:cNvPr id="8" name="Text 2"/>
          <p:cNvSpPr/>
          <p:nvPr/>
        </p:nvSpPr>
        <p:spPr>
          <a:xfrm>
            <a:off x="1143000" y="2921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9" name="Text 3"/>
          <p:cNvSpPr/>
          <p:nvPr/>
        </p:nvSpPr>
        <p:spPr>
          <a:xfrm>
            <a:off x="2921000" y="2921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C2</a:t>
            </a:r>
            <a:endParaRPr lang="en-US" sz="1500" dirty="0"/>
          </a:p>
        </p:txBody>
      </p:sp>
      <p:sp>
        <p:nvSpPr>
          <p:cNvPr id="10" name="Text 4"/>
          <p:cNvSpPr/>
          <p:nvPr/>
        </p:nvSpPr>
        <p:spPr>
          <a:xfrm>
            <a:off x="4699000" y="2921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C3</a:t>
            </a:r>
            <a:endParaRPr lang="en-US" sz="1500" dirty="0"/>
          </a:p>
        </p:txBody>
      </p:sp>
      <p:sp>
        <p:nvSpPr>
          <p:cNvPr id="11" name="Text 5"/>
          <p:cNvSpPr/>
          <p:nvPr/>
        </p:nvSpPr>
        <p:spPr>
          <a:xfrm>
            <a:off x="4572000" y="20320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2" name="Text 6"/>
          <p:cNvSpPr/>
          <p:nvPr/>
        </p:nvSpPr>
        <p:spPr>
          <a:xfrm>
            <a:off x="3302000" y="20320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7A46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HEAD</a:t>
            </a:r>
            <a:endParaRPr lang="en-US" sz="1300" dirty="0"/>
          </a:p>
        </p:txBody>
      </p:sp>
      <p:sp>
        <p:nvSpPr>
          <p:cNvPr id="13" name="Text 7"/>
          <p:cNvSpPr/>
          <p:nvPr/>
        </p:nvSpPr>
        <p:spPr>
          <a:xfrm>
            <a:off x="863600" y="38100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70c500a</a:t>
            </a:r>
            <a:endParaRPr lang="en-US" sz="1300" dirty="0"/>
          </a:p>
        </p:txBody>
      </p:sp>
      <p:sp>
        <p:nvSpPr>
          <p:cNvPr id="14" name="Text 8"/>
          <p:cNvSpPr/>
          <p:nvPr/>
        </p:nvSpPr>
        <p:spPr>
          <a:xfrm>
            <a:off x="2641600" y="38100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b7e21c4</a:t>
            </a:r>
            <a:endParaRPr lang="en-US" sz="1300" dirty="0"/>
          </a:p>
        </p:txBody>
      </p:sp>
      <p:sp>
        <p:nvSpPr>
          <p:cNvPr id="15" name="Text 9"/>
          <p:cNvSpPr/>
          <p:nvPr/>
        </p:nvSpPr>
        <p:spPr>
          <a:xfrm>
            <a:off x="4419600" y="38100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e41d9f0</a:t>
            </a:r>
            <a:endParaRPr lang="en-US" sz="1300" dirty="0"/>
          </a:p>
        </p:txBody>
      </p:sp>
      <p:sp>
        <p:nvSpPr>
          <p:cNvPr id="16" name="Text 10"/>
          <p:cNvSpPr/>
          <p:nvPr/>
        </p:nvSpPr>
        <p:spPr>
          <a:xfrm>
            <a:off x="889000" y="4445000"/>
            <a:ext cx="5232400" cy="8255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Oklar geriye bakar:</a:t>
            </a:r>
            <a:r>
              <a:rPr lang="en-US" sz="1500" dirty="0">
                <a:solidFill>
                  <a:srgbClr val="16202C"/>
                </a:solidFill>
                <a:latin typeface="IBM Plex Sans" pitchFamily="34" charset="0"/>
                <a:ea typeface="IBM Plex Sans" pitchFamily="34" charset="-122"/>
                <a:cs typeface="IBM Plex Sans" pitchFamily="34" charset="-120"/>
              </a:rPr>
              <a:t> her commit bir öncekini, yani </a:t>
            </a:r>
            <a:r>
              <a:rPr lang="en-US" sz="1500" b="1" dirty="0">
                <a:solidFill>
                  <a:srgbClr val="16202C"/>
                </a:solidFill>
                <a:latin typeface="IBM Plex Sans" pitchFamily="34" charset="0"/>
                <a:ea typeface="IBM Plex Sans" pitchFamily="34" charset="-122"/>
                <a:cs typeface="IBM Plex Sans" pitchFamily="34" charset="-120"/>
              </a:rPr>
              <a:t>parent</a:t>
            </a:r>
            <a:r>
              <a:rPr lang="en-US" sz="1500" dirty="0">
                <a:solidFill>
                  <a:srgbClr val="16202C"/>
                </a:solidFill>
                <a:latin typeface="IBM Plex Sans" pitchFamily="34" charset="0"/>
                <a:ea typeface="IBM Plex Sans" pitchFamily="34" charset="-122"/>
                <a:cs typeface="IBM Plex Sans" pitchFamily="34" charset="-120"/>
              </a:rPr>
              <a:t>'ını işaret eder. Dal ise sadece son commit'i gösteren bir etikettir.</a:t>
            </a:r>
            <a:endParaRPr lang="en-US" sz="1500" dirty="0"/>
          </a:p>
        </p:txBody>
      </p:sp>
      <p:sp>
        <p:nvSpPr>
          <p:cNvPr id="17" name="Shape 11"/>
          <p:cNvSpPr/>
          <p:nvPr/>
        </p:nvSpPr>
        <p:spPr>
          <a:xfrm>
            <a:off x="6731000" y="2032000"/>
            <a:ext cx="4648200" cy="3212505"/>
          </a:xfrm>
          <a:prstGeom prst="roundRect">
            <a:avLst>
              <a:gd name="adj" fmla="val 3953"/>
            </a:avLst>
          </a:prstGeom>
          <a:solidFill>
            <a:srgbClr val="16202C"/>
          </a:solidFill>
          <a:ln/>
        </p:spPr>
      </p:sp>
      <p:sp>
        <p:nvSpPr>
          <p:cNvPr id="18" name="Text 12"/>
          <p:cNvSpPr/>
          <p:nvPr/>
        </p:nvSpPr>
        <p:spPr>
          <a:xfrm>
            <a:off x="6985000" y="2286000"/>
            <a:ext cx="42644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C3'ün içinde ne var?</a:t>
            </a:r>
            <a:endParaRPr lang="en-US" sz="2000" dirty="0"/>
          </a:p>
        </p:txBody>
      </p:sp>
      <p:sp>
        <p:nvSpPr>
          <p:cNvPr id="19" name="Text 13"/>
          <p:cNvSpPr/>
          <p:nvPr/>
        </p:nvSpPr>
        <p:spPr>
          <a:xfrm>
            <a:off x="6985000" y="2717800"/>
            <a:ext cx="4264406" cy="1708944"/>
          </a:xfrm>
          <a:prstGeom prst="rect">
            <a:avLst/>
          </a:prstGeom>
          <a:noFill/>
          <a:ln/>
        </p:spPr>
        <p:txBody>
          <a:bodyPr wrap="square" lIns="0" tIns="0" rIns="0" bIns="0" rtlCol="0" anchor="t">
            <a:normAutofit/>
          </a:bodyPr>
          <a:lstStyle/>
          <a:p>
            <a:pPr marL="0" indent="0" algn="l">
              <a:lnSpc>
                <a:spcPts val="2210"/>
              </a:lnSpc>
              <a:buNone/>
            </a:pPr>
            <a:r>
              <a:rPr lang="en-US" sz="1300" dirty="0">
                <a:solidFill>
                  <a:srgbClr val="F7A46B"/>
                </a:solidFill>
                <a:latin typeface="JetBrains Mono" pitchFamily="34" charset="0"/>
                <a:ea typeface="JetBrains Mono" pitchFamily="34" charset="-122"/>
                <a:cs typeface="JetBrains Mono" pitchFamily="34" charset="-120"/>
              </a:rPr>
              <a:t>commit</a:t>
            </a:r>
            <a:r>
              <a:rPr lang="en-US" sz="1300" dirty="0">
                <a:solidFill>
                  <a:srgbClr val="F6F4EE"/>
                </a:solidFill>
                <a:latin typeface="JetBrains Mono" pitchFamily="34" charset="0"/>
                <a:ea typeface="JetBrains Mono" pitchFamily="34" charset="-122"/>
                <a:cs typeface="JetBrains Mono" pitchFamily="34" charset="-120"/>
              </a:rPr>
              <a:t> e41d9f0</a:t>
            </a:r>
            <a:endParaRPr lang="en-US" sz="1300" dirty="0"/>
          </a:p>
          <a:p>
            <a:pPr marL="0" indent="0" algn="l">
              <a:lnSpc>
                <a:spcPts val="2210"/>
              </a:lnSpc>
              <a:buNone/>
            </a:pPr>
            <a:r>
              <a:rPr lang="en-US" sz="1300" dirty="0">
                <a:solidFill>
                  <a:srgbClr val="F7A46B"/>
                </a:solidFill>
                <a:latin typeface="JetBrains Mono" pitchFamily="34" charset="0"/>
                <a:ea typeface="JetBrains Mono" pitchFamily="34" charset="-122"/>
                <a:cs typeface="JetBrains Mono" pitchFamily="34" charset="-120"/>
              </a:rPr>
              <a:t>tree</a:t>
            </a:r>
            <a:r>
              <a:rPr lang="en-US" sz="1300" dirty="0">
                <a:solidFill>
                  <a:srgbClr val="F6F4EE"/>
                </a:solidFill>
                <a:latin typeface="JetBrains Mono" pitchFamily="34" charset="0"/>
                <a:ea typeface="JetBrains Mono" pitchFamily="34" charset="-122"/>
                <a:cs typeface="JetBrains Mono" pitchFamily="34" charset="-120"/>
              </a:rPr>
              <a:t> 9a3f7c1 </a:t>
            </a:r>
            <a:r>
              <a:rPr lang="en-US" sz="1300" dirty="0">
                <a:solidFill>
                  <a:srgbClr val="9AA7B6"/>
                </a:solidFill>
                <a:latin typeface="JetBrains Mono" pitchFamily="34" charset="0"/>
                <a:ea typeface="JetBrains Mono" pitchFamily="34" charset="-122"/>
                <a:cs typeface="JetBrains Mono" pitchFamily="34" charset="-120"/>
              </a:rPr>
              <a:t>← dosyaların anlık görüntüsü</a:t>
            </a:r>
            <a:endParaRPr lang="en-US" sz="1300" dirty="0"/>
          </a:p>
          <a:p>
            <a:pPr marL="0" indent="0" algn="l">
              <a:lnSpc>
                <a:spcPts val="2210"/>
              </a:lnSpc>
              <a:buNone/>
            </a:pPr>
            <a:r>
              <a:rPr lang="en-US" sz="1300" dirty="0">
                <a:solidFill>
                  <a:srgbClr val="F7A46B"/>
                </a:solidFill>
                <a:latin typeface="JetBrains Mono" pitchFamily="34" charset="0"/>
                <a:ea typeface="JetBrains Mono" pitchFamily="34" charset="-122"/>
                <a:cs typeface="JetBrains Mono" pitchFamily="34" charset="-120"/>
              </a:rPr>
              <a:t>parent</a:t>
            </a:r>
            <a:r>
              <a:rPr lang="en-US" sz="1300" dirty="0">
                <a:solidFill>
                  <a:srgbClr val="F6F4EE"/>
                </a:solidFill>
                <a:latin typeface="JetBrains Mono" pitchFamily="34" charset="0"/>
                <a:ea typeface="JetBrains Mono" pitchFamily="34" charset="-122"/>
                <a:cs typeface="JetBrains Mono" pitchFamily="34" charset="-120"/>
              </a:rPr>
              <a:t> b7e21c4 </a:t>
            </a:r>
            <a:r>
              <a:rPr lang="en-US" sz="1300" dirty="0">
                <a:solidFill>
                  <a:srgbClr val="9AA7B6"/>
                </a:solidFill>
                <a:latin typeface="JetBrains Mono" pitchFamily="34" charset="0"/>
                <a:ea typeface="JetBrains Mono" pitchFamily="34" charset="-122"/>
                <a:cs typeface="JetBrains Mono" pitchFamily="34" charset="-120"/>
              </a:rPr>
              <a:t>← C2</a:t>
            </a:r>
            <a:endParaRPr lang="en-US" sz="1300" dirty="0"/>
          </a:p>
          <a:p>
            <a:pPr marL="0" indent="0" algn="l">
              <a:lnSpc>
                <a:spcPts val="2210"/>
              </a:lnSpc>
              <a:buNone/>
            </a:pPr>
            <a:r>
              <a:rPr lang="en-US" sz="1300" dirty="0">
                <a:solidFill>
                  <a:srgbClr val="F7A46B"/>
                </a:solidFill>
                <a:latin typeface="JetBrains Mono" pitchFamily="34" charset="0"/>
                <a:ea typeface="JetBrains Mono" pitchFamily="34" charset="-122"/>
                <a:cs typeface="JetBrains Mono" pitchFamily="34" charset="-120"/>
              </a:rPr>
              <a:t>author</a:t>
            </a:r>
            <a:r>
              <a:rPr lang="en-US" sz="1300" dirty="0">
                <a:solidFill>
                  <a:srgbClr val="F6F4EE"/>
                </a:solidFill>
                <a:latin typeface="JetBrains Mono" pitchFamily="34" charset="0"/>
                <a:ea typeface="JetBrains Mono" pitchFamily="34" charset="-122"/>
                <a:cs typeface="JetBrains Mono" pitchFamily="34" charset="-120"/>
              </a:rPr>
              <a:t> Süleyman Önal</a:t>
            </a:r>
            <a:endParaRPr lang="en-US" sz="1300" dirty="0"/>
          </a:p>
          <a:p>
            <a:pPr marL="0" indent="0" algn="l">
              <a:lnSpc>
                <a:spcPts val="2210"/>
              </a:lnSpc>
              <a:buNone/>
            </a:pPr>
            <a:r>
              <a:rPr lang="en-US" sz="1300" dirty="0">
                <a:solidFill>
                  <a:srgbClr val="F7A46B"/>
                </a:solidFill>
                <a:latin typeface="JetBrains Mono" pitchFamily="34" charset="0"/>
                <a:ea typeface="JetBrains Mono" pitchFamily="34" charset="-122"/>
                <a:cs typeface="JetBrains Mono" pitchFamily="34" charset="-120"/>
              </a:rPr>
              <a:t>date</a:t>
            </a:r>
            <a:r>
              <a:rPr lang="en-US" sz="1300" dirty="0">
                <a:solidFill>
                  <a:srgbClr val="F6F4EE"/>
                </a:solidFill>
                <a:latin typeface="JetBrains Mono" pitchFamily="34" charset="0"/>
                <a:ea typeface="JetBrains Mono" pitchFamily="34" charset="-122"/>
                <a:cs typeface="JetBrains Mono" pitchFamily="34" charset="-120"/>
              </a:rPr>
              <a:t> Mon Sep 28 20:17</a:t>
            </a:r>
            <a:endParaRPr lang="en-US" sz="1300" dirty="0"/>
          </a:p>
          <a:p>
            <a:pPr marL="0" indent="0" algn="l">
              <a:lnSpc>
                <a:spcPts val="2210"/>
              </a:lnSpc>
              <a:buNone/>
            </a:pPr>
            <a:r>
              <a:rPr lang="en-US" sz="1300" dirty="0">
                <a:solidFill>
                  <a:srgbClr val="F7A46B"/>
                </a:solidFill>
                <a:latin typeface="JetBrains Mono" pitchFamily="34" charset="0"/>
                <a:ea typeface="JetBrains Mono" pitchFamily="34" charset="-122"/>
                <a:cs typeface="JetBrains Mono" pitchFamily="34" charset="-120"/>
              </a:rPr>
              <a:t>mesaj</a:t>
            </a:r>
            <a:r>
              <a:rPr lang="en-US" sz="1300" dirty="0">
                <a:solidFill>
                  <a:srgbClr val="F6F4EE"/>
                </a:solidFill>
                <a:latin typeface="JetBrains Mono" pitchFamily="34" charset="0"/>
                <a:ea typeface="JetBrains Mono" pitchFamily="34" charset="-122"/>
                <a:cs typeface="JetBrains Mono" pitchFamily="34" charset="-120"/>
              </a:rPr>
              <a:t> 3rd commit</a:t>
            </a:r>
            <a:endParaRPr lang="en-US" sz="1300" dirty="0"/>
          </a:p>
        </p:txBody>
      </p:sp>
      <p:sp>
        <p:nvSpPr>
          <p:cNvPr id="20" name="Text 14"/>
          <p:cNvSpPr/>
          <p:nvPr/>
        </p:nvSpPr>
        <p:spPr>
          <a:xfrm>
            <a:off x="6985000" y="4528344"/>
            <a:ext cx="426440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IBM Plex Sans" pitchFamily="34" charset="0"/>
                <a:ea typeface="IBM Plex Sans" pitchFamily="34" charset="-122"/>
                <a:cs typeface="IBM Plex Sans" pitchFamily="34" charset="-120"/>
              </a:rPr>
              <a:t>Hash = bu bilgilerin parmak izi. Bir harf değişse hash de değişir.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GERİ ALMA</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git rm: diskten mi, takipten mi?</a:t>
            </a:r>
            <a:endParaRPr lang="en-US" sz="3600" dirty="0"/>
          </a:p>
        </p:txBody>
      </p:sp>
      <p:sp>
        <p:nvSpPr>
          <p:cNvPr id="4" name="Shape 2"/>
          <p:cNvSpPr/>
          <p:nvPr/>
        </p:nvSpPr>
        <p:spPr>
          <a:xfrm>
            <a:off x="812800" y="1959471"/>
            <a:ext cx="10566400" cy="0"/>
          </a:xfrm>
          <a:prstGeom prst="line">
            <a:avLst/>
          </a:prstGeom>
          <a:noFill/>
          <a:ln w="12700">
            <a:solidFill>
              <a:srgbClr val="141413">
                <a:alpha val="22000"/>
              </a:srgbClr>
            </a:solidFill>
            <a:prstDash val="solid"/>
          </a:ln>
        </p:spPr>
      </p:sp>
      <p:sp>
        <p:nvSpPr>
          <p:cNvPr id="5" name="Shape 3"/>
          <p:cNvSpPr/>
          <p:nvPr/>
        </p:nvSpPr>
        <p:spPr>
          <a:xfrm>
            <a:off x="819150" y="1953121"/>
            <a:ext cx="0" cy="2171105"/>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080121"/>
          <a:ext cx="10248900" cy="1929805"/>
        </p:xfrm>
        <a:graphic>
          <a:graphicData uri="http://schemas.openxmlformats.org/drawingml/2006/table">
            <a:tbl>
              <a:tblPr/>
              <a:tblGrid>
                <a:gridCol w="4099560">
                  <a:extLst>
                    <a:ext uri="{9D8B030D-6E8A-4147-A177-3AD203B41FA5}">
                      <a16:colId xmlns:a16="http://schemas.microsoft.com/office/drawing/2014/main" val="20000"/>
                    </a:ext>
                  </a:extLst>
                </a:gridCol>
                <a:gridCol w="3074670">
                  <a:extLst>
                    <a:ext uri="{9D8B030D-6E8A-4147-A177-3AD203B41FA5}">
                      <a16:colId xmlns:a16="http://schemas.microsoft.com/office/drawing/2014/main" val="20001"/>
                    </a:ext>
                  </a:extLst>
                </a:gridCol>
                <a:gridCol w="307467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Amaç</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Tekil dosya</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Klasör (-r)</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takibinden ve diskten sil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rm dosya</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rm -r klasör</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Diskte tut, sadece takipten çıkar</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8BA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rm --cached dosya</a:t>
                      </a:r>
                      <a:endParaRPr lang="en-US" sz="1400" dirty="0">
                        <a:latin typeface="IBM Plex Sans" charset="0"/>
                        <a:ea typeface="IBM Plex Sans" charset="0"/>
                        <a:cs typeface="IBM Plex Sans" charset="0"/>
                      </a:endParaRPr>
                    </a:p>
                  </a:txBody>
                  <a:tcPr marL="62230" marR="62230" marT="62230" marB="62230">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rm -r --cached klasör</a:t>
                      </a:r>
                      <a:endParaRPr lang="en-US" sz="1400" dirty="0">
                        <a:latin typeface="IBM Plex Sans" charset="0"/>
                        <a:ea typeface="IBM Plex Sans" charset="0"/>
                        <a:cs typeface="IBM Plex Sans" charset="0"/>
                      </a:endParaRPr>
                    </a:p>
                  </a:txBody>
                  <a:tcPr marL="62230" marR="62230" marT="62230" marB="62230">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Değişmiş dosyayı zorla sil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AC9C6"/>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rm -f dosya</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rm -rf klasör</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Takip edilmeyen dosyayı sil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rm dosya</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rm -rf klasör</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4"/>
                  </a:ext>
                </a:extLst>
              </a:tr>
            </a:tbl>
          </a:graphicData>
        </a:graphic>
      </p:graphicFrame>
      <p:sp>
        <p:nvSpPr>
          <p:cNvPr id="7" name="Shape 4"/>
          <p:cNvSpPr/>
          <p:nvPr/>
        </p:nvSpPr>
        <p:spPr>
          <a:xfrm>
            <a:off x="812800" y="4429026"/>
            <a:ext cx="10566400" cy="584200"/>
          </a:xfrm>
          <a:prstGeom prst="roundRect">
            <a:avLst>
              <a:gd name="adj" fmla="val 17391"/>
            </a:avLst>
          </a:prstGeom>
          <a:solidFill>
            <a:srgbClr val="FBE9DC"/>
          </a:solidFill>
          <a:ln/>
        </p:spPr>
      </p:sp>
      <p:pic>
        <p:nvPicPr>
          <p:cNvPr id="8" name="Image 0" descr="Warning"/>
          <p:cNvPicPr>
            <a:picLocks noChangeAspect="1"/>
          </p:cNvPicPr>
          <p:nvPr/>
        </p:nvPicPr>
        <p:blipFill>
          <a:blip r:embed="rId3"/>
          <a:srcRect/>
          <a:stretch/>
        </p:blipFill>
        <p:spPr>
          <a:xfrm>
            <a:off x="1016000" y="4581426"/>
            <a:ext cx="279400" cy="279400"/>
          </a:xfrm>
          <a:prstGeom prst="rect">
            <a:avLst/>
          </a:prstGeom>
        </p:spPr>
      </p:pic>
      <p:sp>
        <p:nvSpPr>
          <p:cNvPr id="9" name="Text 5"/>
          <p:cNvSpPr/>
          <p:nvPr/>
        </p:nvSpPr>
        <p:spPr>
          <a:xfrm>
            <a:off x="1397000" y="4587776"/>
            <a:ext cx="93688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Doğru terim:</a:t>
            </a:r>
            <a:r>
              <a:rPr lang="en-US" sz="1500" dirty="0">
                <a:solidFill>
                  <a:srgbClr val="16202C"/>
                </a:solidFill>
                <a:latin typeface="IBM Plex Sans" pitchFamily="34" charset="0"/>
                <a:ea typeface="IBM Plex Sans" pitchFamily="34" charset="-122"/>
                <a:cs typeface="IBM Plex Sans" pitchFamily="34" charset="-120"/>
              </a:rPr>
              <a:t> --cached sonrası dosya </a:t>
            </a:r>
            <a:r>
              <a:rPr lang="en-US" sz="1500" b="1" dirty="0">
                <a:solidFill>
                  <a:srgbClr val="16202C"/>
                </a:solidFill>
                <a:latin typeface="IBM Plex Sans" pitchFamily="34" charset="0"/>
                <a:ea typeface="IBM Plex Sans" pitchFamily="34" charset="-122"/>
                <a:cs typeface="IBM Plex Sans" pitchFamily="34" charset="-120"/>
              </a:rPr>
              <a:t>untracked</a:t>
            </a:r>
            <a:r>
              <a:rPr lang="en-US" sz="1500" dirty="0">
                <a:solidFill>
                  <a:srgbClr val="16202C"/>
                </a:solidFill>
                <a:latin typeface="IBM Plex Sans" pitchFamily="34" charset="0"/>
                <a:ea typeface="IBM Plex Sans" pitchFamily="34" charset="-122"/>
                <a:cs typeface="IBM Plex Sans" pitchFamily="34" charset="-120"/>
              </a:rPr>
              <a:t> olur; bir sonraki commit'te repodan silinir ama diskte kalır.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GERİ ALMA</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Reset ne kadar derine iner?</a:t>
            </a:r>
            <a:endParaRPr lang="en-US" sz="3600" dirty="0"/>
          </a:p>
        </p:txBody>
      </p:sp>
      <p:sp>
        <p:nvSpPr>
          <p:cNvPr id="4" name="Text 2"/>
          <p:cNvSpPr/>
          <p:nvPr/>
        </p:nvSpPr>
        <p:spPr>
          <a:xfrm>
            <a:off x="1976041" y="1989931"/>
            <a:ext cx="6452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COMMIT</a:t>
            </a:r>
            <a:endParaRPr lang="en-US" sz="1300" dirty="0"/>
          </a:p>
        </p:txBody>
      </p:sp>
      <p:sp>
        <p:nvSpPr>
          <p:cNvPr id="5" name="Text 3"/>
          <p:cNvSpPr/>
          <p:nvPr/>
        </p:nvSpPr>
        <p:spPr>
          <a:xfrm>
            <a:off x="4974530" y="1989931"/>
            <a:ext cx="7442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STAGING</a:t>
            </a:r>
            <a:endParaRPr lang="en-US" sz="1300" dirty="0"/>
          </a:p>
        </p:txBody>
      </p:sp>
      <p:sp>
        <p:nvSpPr>
          <p:cNvPr id="6" name="Text 4"/>
          <p:cNvSpPr/>
          <p:nvPr/>
        </p:nvSpPr>
        <p:spPr>
          <a:xfrm>
            <a:off x="7824391" y="1989931"/>
            <a:ext cx="11405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WORKING DIR</a:t>
            </a:r>
            <a:endParaRPr lang="en-US" sz="1300" dirty="0"/>
          </a:p>
        </p:txBody>
      </p:sp>
      <p:sp>
        <p:nvSpPr>
          <p:cNvPr id="7" name="Text 5"/>
          <p:cNvSpPr/>
          <p:nvPr/>
        </p:nvSpPr>
        <p:spPr>
          <a:xfrm>
            <a:off x="812800" y="2384921"/>
            <a:ext cx="2921000" cy="635000"/>
          </a:xfrm>
          <a:prstGeom prst="roundRect">
            <a:avLst>
              <a:gd name="adj" fmla="val 16000"/>
            </a:avLst>
          </a:prstGeom>
          <a:solidFill>
            <a:srgbClr val="F08C4B"/>
          </a:solidFill>
          <a:ln/>
        </p:spPr>
        <p:txBody>
          <a:bodyPr wrap="square" lIns="0" tIns="0" rIns="0" bIns="0" rtlCol="0" anchor="ctr">
            <a:normAutofit/>
          </a:bodyPr>
          <a:lstStyle/>
          <a:p>
            <a:pPr marL="0" indent="0" algn="ctr">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geri alınır</a:t>
            </a:r>
            <a:endParaRPr lang="en-US" sz="1500" dirty="0"/>
          </a:p>
        </p:txBody>
      </p:sp>
      <p:sp>
        <p:nvSpPr>
          <p:cNvPr id="8" name="Text 6"/>
          <p:cNvSpPr/>
          <p:nvPr/>
        </p:nvSpPr>
        <p:spPr>
          <a:xfrm>
            <a:off x="3870325" y="2394446"/>
            <a:ext cx="2901950" cy="615950"/>
          </a:xfrm>
          <a:prstGeom prst="roundRect">
            <a:avLst>
              <a:gd name="adj" fmla="val 14948"/>
            </a:avLst>
          </a:prstGeom>
          <a:noFill/>
          <a:ln w="19050">
            <a:solidFill>
              <a:srgbClr val="B9B3A5"/>
            </a:solidFill>
            <a:prstDash val="dash"/>
          </a:ln>
        </p:spPr>
        <p:txBody>
          <a:bodyPr wrap="square" lIns="0" tIns="0" rIns="0" bIns="0" rtlCol="0" anchor="ctr">
            <a:normAutofit/>
          </a:bodyPr>
          <a:lstStyle/>
          <a:p>
            <a:pPr marL="0" indent="0" algn="ctr">
              <a:lnSpc>
                <a:spcPts val="2100"/>
              </a:lnSpc>
              <a:buNone/>
            </a:pPr>
            <a:r>
              <a:rPr lang="en-US" sz="1500" dirty="0">
                <a:solidFill>
                  <a:srgbClr val="4A5566"/>
                </a:solidFill>
                <a:latin typeface="IBM Plex Sans" pitchFamily="34" charset="0"/>
                <a:ea typeface="IBM Plex Sans" pitchFamily="34" charset="-122"/>
                <a:cs typeface="IBM Plex Sans" pitchFamily="34" charset="-120"/>
              </a:rPr>
              <a:t>korunur</a:t>
            </a:r>
            <a:endParaRPr lang="en-US" sz="1500" dirty="0"/>
          </a:p>
        </p:txBody>
      </p:sp>
      <p:sp>
        <p:nvSpPr>
          <p:cNvPr id="9" name="Text 7"/>
          <p:cNvSpPr/>
          <p:nvPr/>
        </p:nvSpPr>
        <p:spPr>
          <a:xfrm>
            <a:off x="6918325" y="2394446"/>
            <a:ext cx="2901950" cy="615950"/>
          </a:xfrm>
          <a:prstGeom prst="roundRect">
            <a:avLst>
              <a:gd name="adj" fmla="val 14948"/>
            </a:avLst>
          </a:prstGeom>
          <a:noFill/>
          <a:ln w="19050">
            <a:solidFill>
              <a:srgbClr val="B9B3A5"/>
            </a:solidFill>
            <a:prstDash val="dash"/>
          </a:ln>
        </p:spPr>
        <p:txBody>
          <a:bodyPr wrap="square" lIns="0" tIns="0" rIns="0" bIns="0" rtlCol="0" anchor="ctr">
            <a:normAutofit/>
          </a:bodyPr>
          <a:lstStyle/>
          <a:p>
            <a:pPr marL="0" indent="0" algn="ctr">
              <a:lnSpc>
                <a:spcPts val="2100"/>
              </a:lnSpc>
              <a:buNone/>
            </a:pPr>
            <a:r>
              <a:rPr lang="en-US" sz="1500" dirty="0">
                <a:solidFill>
                  <a:srgbClr val="4A5566"/>
                </a:solidFill>
                <a:latin typeface="IBM Plex Sans" pitchFamily="34" charset="0"/>
                <a:ea typeface="IBM Plex Sans" pitchFamily="34" charset="-122"/>
                <a:cs typeface="IBM Plex Sans" pitchFamily="34" charset="-120"/>
              </a:rPr>
              <a:t>korunur</a:t>
            </a:r>
            <a:endParaRPr lang="en-US" sz="1500" dirty="0"/>
          </a:p>
        </p:txBody>
      </p:sp>
      <p:sp>
        <p:nvSpPr>
          <p:cNvPr id="10" name="Text 8"/>
          <p:cNvSpPr/>
          <p:nvPr/>
        </p:nvSpPr>
        <p:spPr>
          <a:xfrm>
            <a:off x="9956800" y="2569071"/>
            <a:ext cx="1447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--soft</a:t>
            </a:r>
            <a:endParaRPr lang="en-US" sz="1500" dirty="0"/>
          </a:p>
        </p:txBody>
      </p:sp>
      <p:sp>
        <p:nvSpPr>
          <p:cNvPr id="11" name="Text 9"/>
          <p:cNvSpPr/>
          <p:nvPr/>
        </p:nvSpPr>
        <p:spPr>
          <a:xfrm>
            <a:off x="812800" y="3146921"/>
            <a:ext cx="5969000" cy="635000"/>
          </a:xfrm>
          <a:prstGeom prst="roundRect">
            <a:avLst>
              <a:gd name="adj" fmla="val 16000"/>
            </a:avLst>
          </a:prstGeom>
          <a:solidFill>
            <a:srgbClr val="F08C4B"/>
          </a:solidFill>
          <a:ln/>
        </p:spPr>
        <p:txBody>
          <a:bodyPr wrap="square" lIns="0" tIns="0" rIns="0" bIns="0" rtlCol="0" anchor="ctr">
            <a:normAutofit/>
          </a:bodyPr>
          <a:lstStyle/>
          <a:p>
            <a:pPr marL="0" indent="0" algn="ctr">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geri alınır (varsayılan)</a:t>
            </a:r>
            <a:endParaRPr lang="en-US" sz="1500" dirty="0"/>
          </a:p>
        </p:txBody>
      </p:sp>
      <p:sp>
        <p:nvSpPr>
          <p:cNvPr id="12" name="Text 10"/>
          <p:cNvSpPr/>
          <p:nvPr/>
        </p:nvSpPr>
        <p:spPr>
          <a:xfrm>
            <a:off x="6918325" y="3156446"/>
            <a:ext cx="2901950" cy="615950"/>
          </a:xfrm>
          <a:prstGeom prst="roundRect">
            <a:avLst>
              <a:gd name="adj" fmla="val 14948"/>
            </a:avLst>
          </a:prstGeom>
          <a:noFill/>
          <a:ln w="19050">
            <a:solidFill>
              <a:srgbClr val="B9B3A5"/>
            </a:solidFill>
            <a:prstDash val="dash"/>
          </a:ln>
        </p:spPr>
        <p:txBody>
          <a:bodyPr wrap="square" lIns="0" tIns="0" rIns="0" bIns="0" rtlCol="0" anchor="ctr">
            <a:normAutofit/>
          </a:bodyPr>
          <a:lstStyle/>
          <a:p>
            <a:pPr marL="0" indent="0" algn="ctr">
              <a:lnSpc>
                <a:spcPts val="2100"/>
              </a:lnSpc>
              <a:buNone/>
            </a:pPr>
            <a:r>
              <a:rPr lang="en-US" sz="1500" dirty="0">
                <a:solidFill>
                  <a:srgbClr val="4A5566"/>
                </a:solidFill>
                <a:latin typeface="IBM Plex Sans" pitchFamily="34" charset="0"/>
                <a:ea typeface="IBM Plex Sans" pitchFamily="34" charset="-122"/>
                <a:cs typeface="IBM Plex Sans" pitchFamily="34" charset="-120"/>
              </a:rPr>
              <a:t>korunur</a:t>
            </a:r>
            <a:endParaRPr lang="en-US" sz="1500" dirty="0"/>
          </a:p>
        </p:txBody>
      </p:sp>
      <p:sp>
        <p:nvSpPr>
          <p:cNvPr id="13" name="Text 11"/>
          <p:cNvSpPr/>
          <p:nvPr/>
        </p:nvSpPr>
        <p:spPr>
          <a:xfrm>
            <a:off x="9956800" y="3331071"/>
            <a:ext cx="1447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--mixed</a:t>
            </a:r>
            <a:endParaRPr lang="en-US" sz="1500" dirty="0"/>
          </a:p>
        </p:txBody>
      </p:sp>
      <p:sp>
        <p:nvSpPr>
          <p:cNvPr id="14" name="Shape 12"/>
          <p:cNvSpPr/>
          <p:nvPr/>
        </p:nvSpPr>
        <p:spPr>
          <a:xfrm>
            <a:off x="812800" y="3908921"/>
            <a:ext cx="9017000" cy="635000"/>
          </a:xfrm>
          <a:prstGeom prst="roundRect">
            <a:avLst>
              <a:gd name="adj" fmla="val 16000"/>
            </a:avLst>
          </a:prstGeom>
          <a:solidFill>
            <a:srgbClr val="B8430A"/>
          </a:solidFill>
          <a:ln/>
        </p:spPr>
      </p:sp>
      <p:pic>
        <p:nvPicPr>
          <p:cNvPr id="15" name="Image 0" descr="Warning"/>
          <p:cNvPicPr>
            <a:picLocks noChangeAspect="1"/>
          </p:cNvPicPr>
          <p:nvPr/>
        </p:nvPicPr>
        <p:blipFill>
          <a:blip r:embed="rId3"/>
          <a:srcRect/>
          <a:stretch/>
        </p:blipFill>
        <p:spPr>
          <a:xfrm>
            <a:off x="3296940" y="4099421"/>
            <a:ext cx="254000" cy="254000"/>
          </a:xfrm>
          <a:prstGeom prst="rect">
            <a:avLst/>
          </a:prstGeom>
        </p:spPr>
      </p:pic>
      <p:sp>
        <p:nvSpPr>
          <p:cNvPr id="16" name="Text 13"/>
          <p:cNvSpPr/>
          <p:nvPr/>
        </p:nvSpPr>
        <p:spPr>
          <a:xfrm>
            <a:off x="3652540" y="4093071"/>
            <a:ext cx="380391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hepsi sıfırlanır: kaydedilmemiş kod silinir</a:t>
            </a:r>
            <a:endParaRPr lang="en-US" sz="1500" dirty="0"/>
          </a:p>
        </p:txBody>
      </p:sp>
      <p:sp>
        <p:nvSpPr>
          <p:cNvPr id="17" name="Text 14"/>
          <p:cNvSpPr/>
          <p:nvPr/>
        </p:nvSpPr>
        <p:spPr>
          <a:xfrm>
            <a:off x="9956800" y="4093071"/>
            <a:ext cx="1447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--hard</a:t>
            </a:r>
            <a:endParaRPr lang="en-US" sz="1500" dirty="0"/>
          </a:p>
        </p:txBody>
      </p:sp>
      <p:sp>
        <p:nvSpPr>
          <p:cNvPr id="18" name="Text 15"/>
          <p:cNvSpPr/>
          <p:nvPr/>
        </p:nvSpPr>
        <p:spPr>
          <a:xfrm>
            <a:off x="812800" y="4848721"/>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Sınıfa sor: "Commit'i geri al, ama kod ekranımda kalsın" diyen bir arkadaşa hangisini önerirsin?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GIT RESET</a:t>
            </a:r>
            <a:endParaRPr lang="en-US" sz="1300" dirty="0"/>
          </a:p>
        </p:txBody>
      </p:sp>
      <p:pic>
        <p:nvPicPr>
          <p:cNvPr id="3" name="Image 0" descr="Terminal: new-file önce untracked, git add ile staged, git reset ile tekrar untracked oluyor"/>
          <p:cNvPicPr>
            <a:picLocks noChangeAspect="1"/>
          </p:cNvPicPr>
          <p:nvPr/>
        </p:nvPicPr>
        <p:blipFill>
          <a:blip r:embed="rId3"/>
          <a:srcRect l="-17" r="-17"/>
          <a:stretch/>
        </p:blipFill>
        <p:spPr>
          <a:xfrm>
            <a:off x="3175000" y="1379141"/>
            <a:ext cx="5842000" cy="4064000"/>
          </a:xfrm>
          <a:prstGeom prst="roundRect">
            <a:avLst>
              <a:gd name="adj" fmla="val 1875"/>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git reset</a:t>
            </a:r>
            <a:r>
              <a:rPr lang="en-US" sz="1500" dirty="0">
                <a:solidFill>
                  <a:srgbClr val="4A5566"/>
                </a:solidFill>
                <a:latin typeface="IBM Plex Sans" pitchFamily="34" charset="0"/>
                <a:ea typeface="IBM Plex Sans" pitchFamily="34" charset="-122"/>
                <a:cs typeface="IBM Plex Sans" pitchFamily="34" charset="-120"/>
              </a:rPr>
              <a:t> dosyayı silmez: new-file stage'den çıktı, diskte duruyor.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SOFT RESET</a:t>
            </a:r>
            <a:endParaRPr lang="en-US" sz="1300" dirty="0"/>
          </a:p>
        </p:txBody>
      </p:sp>
      <p:pic>
        <p:nvPicPr>
          <p:cNvPr id="3" name="Image 0" descr="Terminal: git reset ca67dc9 --soft sonrası 4. commit log'dan çıkıyor, d4 dosyası staged kalıyor"/>
          <p:cNvPicPr>
            <a:picLocks noChangeAspect="1"/>
          </p:cNvPicPr>
          <p:nvPr/>
        </p:nvPicPr>
        <p:blipFill>
          <a:blip r:embed="rId3"/>
          <a:srcRect t="-1" b="-1"/>
          <a:stretch/>
        </p:blipFill>
        <p:spPr>
          <a:xfrm>
            <a:off x="2349500" y="1382316"/>
            <a:ext cx="7493000" cy="4057650"/>
          </a:xfrm>
          <a:prstGeom prst="roundRect">
            <a:avLst>
              <a:gd name="adj" fmla="val 1878"/>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--soft:</a:t>
            </a:r>
            <a:r>
              <a:rPr lang="en-US" sz="1500" dirty="0">
                <a:solidFill>
                  <a:srgbClr val="4A5566"/>
                </a:solidFill>
                <a:latin typeface="IBM Plex Sans" pitchFamily="34" charset="0"/>
                <a:ea typeface="IBM Plex Sans" pitchFamily="34" charset="-122"/>
                <a:cs typeface="IBM Plex Sans" pitchFamily="34" charset="-120"/>
              </a:rPr>
              <a:t> 4. commit gitti, d4 dosyası diskte ve hâlâ staged.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MIXED RESET</a:t>
            </a:r>
            <a:endParaRPr lang="en-US" sz="1300" dirty="0"/>
          </a:p>
        </p:txBody>
      </p:sp>
      <p:pic>
        <p:nvPicPr>
          <p:cNvPr id="3" name="Image 0" descr="Terminal: git reset ca67dc9 --mixed sonrası d4 dosyası diskte ama untracked"/>
          <p:cNvPicPr>
            <a:picLocks noChangeAspect="1"/>
          </p:cNvPicPr>
          <p:nvPr/>
        </p:nvPicPr>
        <p:blipFill>
          <a:blip r:embed="rId3"/>
          <a:srcRect t="-39" b="-39"/>
          <a:stretch/>
        </p:blipFill>
        <p:spPr>
          <a:xfrm>
            <a:off x="2317750" y="1385491"/>
            <a:ext cx="7556500" cy="4051300"/>
          </a:xfrm>
          <a:prstGeom prst="roundRect">
            <a:avLst>
              <a:gd name="adj" fmla="val 1881"/>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--mixed:</a:t>
            </a:r>
            <a:r>
              <a:rPr lang="en-US" sz="1500" dirty="0">
                <a:solidFill>
                  <a:srgbClr val="4A5566"/>
                </a:solidFill>
                <a:latin typeface="IBM Plex Sans" pitchFamily="34" charset="0"/>
                <a:ea typeface="IBM Plex Sans" pitchFamily="34" charset="-122"/>
                <a:cs typeface="IBM Plex Sans" pitchFamily="34" charset="-120"/>
              </a:rPr>
              <a:t> commit gitti, stage boşaldı; d4 diskte ama untracked.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HARD RESET</a:t>
            </a:r>
            <a:endParaRPr lang="en-US" sz="1300" dirty="0"/>
          </a:p>
        </p:txBody>
      </p:sp>
      <p:pic>
        <p:nvPicPr>
          <p:cNvPr id="3" name="Image 0" descr="Terminal: git reset ca67dc9 --hard sonrası d4 dosyası da siliniyor, working tree clean"/>
          <p:cNvPicPr>
            <a:picLocks noChangeAspect="1"/>
          </p:cNvPicPr>
          <p:nvPr/>
        </p:nvPicPr>
        <p:blipFill>
          <a:blip r:embed="rId3"/>
          <a:srcRect l="-18" r="-18"/>
          <a:stretch/>
        </p:blipFill>
        <p:spPr>
          <a:xfrm>
            <a:off x="1968500" y="1480741"/>
            <a:ext cx="8255000" cy="3860800"/>
          </a:xfrm>
          <a:prstGeom prst="roundRect">
            <a:avLst>
              <a:gd name="adj" fmla="val 1974"/>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--hard:</a:t>
            </a:r>
            <a:r>
              <a:rPr lang="en-US" sz="1500" dirty="0">
                <a:solidFill>
                  <a:srgbClr val="4A5566"/>
                </a:solidFill>
                <a:latin typeface="IBM Plex Sans" pitchFamily="34" charset="0"/>
                <a:ea typeface="IBM Plex Sans" pitchFamily="34" charset="-122"/>
                <a:cs typeface="IBM Plex Sans" pitchFamily="34" charset="-120"/>
              </a:rPr>
              <a:t> commit de d4 dosyası da gitti; "working tree clean".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GERİ ALMA</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Reset türleri tek tabloda</a:t>
            </a:r>
            <a:endParaRPr lang="en-US" sz="3600" dirty="0"/>
          </a:p>
        </p:txBody>
      </p:sp>
      <p:sp>
        <p:nvSpPr>
          <p:cNvPr id="4" name="Shape 2"/>
          <p:cNvSpPr/>
          <p:nvPr/>
        </p:nvSpPr>
        <p:spPr>
          <a:xfrm>
            <a:off x="812800" y="1959471"/>
            <a:ext cx="10566400" cy="0"/>
          </a:xfrm>
          <a:prstGeom prst="line">
            <a:avLst/>
          </a:prstGeom>
          <a:noFill/>
          <a:ln w="12700">
            <a:solidFill>
              <a:srgbClr val="141413">
                <a:alpha val="22000"/>
              </a:srgbClr>
            </a:solidFill>
            <a:prstDash val="solid"/>
          </a:ln>
        </p:spPr>
      </p:sp>
      <p:sp>
        <p:nvSpPr>
          <p:cNvPr id="5" name="Shape 3"/>
          <p:cNvSpPr/>
          <p:nvPr/>
        </p:nvSpPr>
        <p:spPr>
          <a:xfrm>
            <a:off x="819150" y="1953121"/>
            <a:ext cx="0" cy="194310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3300" y="2105521"/>
          <a:ext cx="10198100" cy="1651000"/>
        </p:xfrm>
        <a:graphic>
          <a:graphicData uri="http://schemas.openxmlformats.org/drawingml/2006/table">
            <a:tbl>
              <a:tblPr/>
              <a:tblGrid>
                <a:gridCol w="3161411">
                  <a:extLst>
                    <a:ext uri="{9D8B030D-6E8A-4147-A177-3AD203B41FA5}">
                      <a16:colId xmlns:a16="http://schemas.microsoft.com/office/drawing/2014/main" val="20000"/>
                    </a:ext>
                  </a:extLst>
                </a:gridCol>
                <a:gridCol w="2141601">
                  <a:extLst>
                    <a:ext uri="{9D8B030D-6E8A-4147-A177-3AD203B41FA5}">
                      <a16:colId xmlns:a16="http://schemas.microsoft.com/office/drawing/2014/main" val="20001"/>
                    </a:ext>
                  </a:extLst>
                </a:gridCol>
                <a:gridCol w="2447544">
                  <a:extLst>
                    <a:ext uri="{9D8B030D-6E8A-4147-A177-3AD203B41FA5}">
                      <a16:colId xmlns:a16="http://schemas.microsoft.com/office/drawing/2014/main" val="20002"/>
                    </a:ext>
                  </a:extLst>
                </a:gridCol>
                <a:gridCol w="2447544">
                  <a:extLst>
                    <a:ext uri="{9D8B030D-6E8A-4147-A177-3AD203B41FA5}">
                      <a16:colId xmlns:a16="http://schemas.microsoft.com/office/drawing/2014/main" val="20003"/>
                    </a:ext>
                  </a:extLst>
                </a:gridCol>
              </a:tblGrid>
              <a:tr h="412750">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Komut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Commit iptal?</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Staging sıfırlanır?</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Kod silinir?</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reset --soft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Evet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Hayır, staged kalır</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Hayır</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reset (--mixed)</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Evet</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Evet, unstaged olur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Hayır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reset --hard</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Evet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Evet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EVET, silinir</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extLst>
                  <a:ext uri="{0D108BD9-81ED-4DB2-BD59-A6C34878D82A}">
                    <a16:rowId xmlns:a16="http://schemas.microsoft.com/office/drawing/2014/main" val="10003"/>
                  </a:ext>
                </a:extLst>
              </a:tr>
            </a:tbl>
          </a:graphicData>
        </a:graphic>
      </p:graphicFrame>
      <p:sp>
        <p:nvSpPr>
          <p:cNvPr id="7" name="Text 4"/>
          <p:cNvSpPr/>
          <p:nvPr/>
        </p:nvSpPr>
        <p:spPr>
          <a:xfrm>
            <a:off x="812800" y="4201021"/>
            <a:ext cx="5207000" cy="927100"/>
          </a:xfrm>
          <a:prstGeom prst="roundRect">
            <a:avLst>
              <a:gd name="adj" fmla="val 10959"/>
            </a:avLst>
          </a:prstGeom>
          <a:solidFill>
            <a:srgbClr val="16202C"/>
          </a:solidFill>
          <a:ln/>
        </p:spPr>
        <p:txBody>
          <a:bodyPr wrap="square" lIns="198842" tIns="148042" rIns="56348" bIns="122642" rtlCol="0" anchor="t">
            <a:normAutofit/>
          </a:bodyPr>
          <a:lstStyle/>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reset --soft HEAD~1</a:t>
            </a:r>
            <a:endParaRPr lang="en-US" sz="1500" dirty="0"/>
          </a:p>
          <a:p>
            <a:pPr marL="0" indent="0" algn="l">
              <a:lnSpc>
                <a:spcPts val="2250"/>
              </a:lnSpc>
              <a:buNone/>
            </a:pPr>
            <a:r>
              <a:rPr lang="en-US" sz="1500" dirty="0">
                <a:solidFill>
                  <a:srgbClr val="9AA7B6"/>
                </a:solidFill>
                <a:latin typeface="JetBrains Mono" pitchFamily="34" charset="0"/>
                <a:ea typeface="JetBrains Mono" pitchFamily="34" charset="-122"/>
                <a:cs typeface="JetBrains Mono" pitchFamily="34" charset="-120"/>
              </a:rPr>
              <a:t># son commit'i geri al</a:t>
            </a:r>
            <a:endParaRPr lang="en-US" sz="1500" dirty="0"/>
          </a:p>
        </p:txBody>
      </p:sp>
      <p:sp>
        <p:nvSpPr>
          <p:cNvPr id="8" name="Text 5"/>
          <p:cNvSpPr/>
          <p:nvPr/>
        </p:nvSpPr>
        <p:spPr>
          <a:xfrm>
            <a:off x="6172200" y="4201021"/>
            <a:ext cx="5207000" cy="927100"/>
          </a:xfrm>
          <a:prstGeom prst="roundRect">
            <a:avLst>
              <a:gd name="adj" fmla="val 10959"/>
            </a:avLst>
          </a:prstGeom>
          <a:solidFill>
            <a:srgbClr val="16202C"/>
          </a:solidFill>
          <a:ln/>
        </p:spPr>
        <p:txBody>
          <a:bodyPr wrap="square" lIns="198842" tIns="148042" rIns="56348" bIns="122642" rtlCol="0" anchor="t">
            <a:normAutofit/>
          </a:bodyPr>
          <a:lstStyle/>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touch temp &amp;&amp; git add .</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reset </a:t>
            </a:r>
            <a:r>
              <a:rPr lang="en-US" sz="1500" dirty="0">
                <a:solidFill>
                  <a:srgbClr val="9AA7B6"/>
                </a:solidFill>
                <a:latin typeface="JetBrains Mono" pitchFamily="34" charset="0"/>
                <a:ea typeface="JetBrains Mono" pitchFamily="34" charset="-122"/>
                <a:cs typeface="JetBrains Mono" pitchFamily="34" charset="-120"/>
              </a:rPr>
              <a:t># unstage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2 · GERİ ALMA</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reflog: Git'in kara kutusu</a:t>
            </a:r>
            <a:endParaRPr lang="en-US" sz="3600" dirty="0"/>
          </a:p>
        </p:txBody>
      </p:sp>
      <p:pic>
        <p:nvPicPr>
          <p:cNvPr id="4" name="Image 0" descr="connector"/>
          <p:cNvPicPr>
            <a:picLocks noChangeAspect="1"/>
          </p:cNvPicPr>
          <p:nvPr/>
        </p:nvPicPr>
        <p:blipFill>
          <a:blip r:embed="rId3"/>
          <a:srcRect/>
          <a:stretch/>
        </p:blipFill>
        <p:spPr>
          <a:xfrm>
            <a:off x="1270000" y="3111500"/>
            <a:ext cx="1714500" cy="190500"/>
          </a:xfrm>
          <a:prstGeom prst="rect">
            <a:avLst/>
          </a:prstGeom>
        </p:spPr>
      </p:pic>
      <p:pic>
        <p:nvPicPr>
          <p:cNvPr id="5" name="Image 1" descr="connector"/>
          <p:cNvPicPr>
            <a:picLocks noChangeAspect="1"/>
          </p:cNvPicPr>
          <p:nvPr/>
        </p:nvPicPr>
        <p:blipFill>
          <a:blip r:embed="rId4"/>
          <a:srcRect/>
          <a:stretch/>
        </p:blipFill>
        <p:spPr>
          <a:xfrm>
            <a:off x="2825750" y="3143250"/>
            <a:ext cx="1651000" cy="127000"/>
          </a:xfrm>
          <a:prstGeom prst="rect">
            <a:avLst/>
          </a:prstGeom>
        </p:spPr>
      </p:pic>
      <p:pic>
        <p:nvPicPr>
          <p:cNvPr id="6" name="Image 2" descr="connector"/>
          <p:cNvPicPr>
            <a:picLocks noChangeAspect="1"/>
          </p:cNvPicPr>
          <p:nvPr/>
        </p:nvPicPr>
        <p:blipFill>
          <a:blip r:embed="rId5"/>
          <a:srcRect/>
          <a:stretch/>
        </p:blipFill>
        <p:spPr>
          <a:xfrm>
            <a:off x="2825750" y="2298700"/>
            <a:ext cx="127000" cy="596900"/>
          </a:xfrm>
          <a:prstGeom prst="rect">
            <a:avLst/>
          </a:prstGeom>
        </p:spPr>
      </p:pic>
      <p:sp>
        <p:nvSpPr>
          <p:cNvPr id="7" name="Text 2"/>
          <p:cNvSpPr/>
          <p:nvPr/>
        </p:nvSpPr>
        <p:spPr>
          <a:xfrm>
            <a:off x="1016000" y="2857500"/>
            <a:ext cx="698500" cy="698500"/>
          </a:xfrm>
          <a:custGeom>
            <a:avLst/>
            <a:gdLst/>
            <a:ahLst/>
            <a:cxnLst/>
            <a:rect l="l" t="t" r="r" b="b"/>
            <a:pathLst>
              <a:path w="698500" h="698500">
                <a:moveTo>
                  <a:pt x="349250" y="0"/>
                </a:moveTo>
                <a:lnTo>
                  <a:pt x="349250" y="0"/>
                </a:lnTo>
                <a:arcTo wR="349250" hR="349250" stAng="16200000" swAng="5400000"/>
                <a:lnTo>
                  <a:pt x="698500" y="349250"/>
                </a:lnTo>
                <a:arcTo wR="349250" hR="349250" stAng="0" swAng="5400000"/>
                <a:lnTo>
                  <a:pt x="349250" y="698500"/>
                </a:lnTo>
                <a:arcTo wR="349250" hR="349250" stAng="5400000" swAng="5400000"/>
                <a:lnTo>
                  <a:pt x="0" y="349250"/>
                </a:lnTo>
                <a:arcTo wR="349250" hR="349250" stAng="10800000" swAng="5400000"/>
                <a:close/>
              </a:path>
            </a:pathLst>
          </a:custGeom>
          <a:solidFill>
            <a:srgbClr val="2F6FDB"/>
          </a:solidFill>
          <a:ln/>
        </p:spPr>
        <p:txBody>
          <a:bodyPr wrap="square" lIns="0" tIns="0" rIns="0" bIns="0" rtlCol="0" anchor="t">
            <a:normAutofit/>
          </a:bodyPr>
          <a:lstStyle/>
          <a:p>
            <a:pPr marL="0" indent="0" algn="ctr">
              <a:lnSpc>
                <a:spcPts val="5505"/>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8" name="Text 3"/>
          <p:cNvSpPr/>
          <p:nvPr/>
        </p:nvSpPr>
        <p:spPr>
          <a:xfrm>
            <a:off x="2540000" y="2857500"/>
            <a:ext cx="698500" cy="698500"/>
          </a:xfrm>
          <a:custGeom>
            <a:avLst/>
            <a:gdLst/>
            <a:ahLst/>
            <a:cxnLst/>
            <a:rect l="l" t="t" r="r" b="b"/>
            <a:pathLst>
              <a:path w="698500" h="698500">
                <a:moveTo>
                  <a:pt x="349250" y="0"/>
                </a:moveTo>
                <a:lnTo>
                  <a:pt x="349250" y="0"/>
                </a:lnTo>
                <a:arcTo wR="349250" hR="349250" stAng="16200000" swAng="5400000"/>
                <a:lnTo>
                  <a:pt x="698500" y="349250"/>
                </a:lnTo>
                <a:arcTo wR="349250" hR="349250" stAng="0" swAng="5400000"/>
                <a:lnTo>
                  <a:pt x="349250" y="698500"/>
                </a:lnTo>
                <a:arcTo wR="349250" hR="349250" stAng="5400000" swAng="5400000"/>
                <a:lnTo>
                  <a:pt x="0" y="349250"/>
                </a:lnTo>
                <a:arcTo wR="349250" hR="349250" stAng="10800000" swAng="5400000"/>
                <a:close/>
              </a:path>
            </a:pathLst>
          </a:custGeom>
          <a:solidFill>
            <a:srgbClr val="2F6FDB"/>
          </a:solidFill>
          <a:ln/>
        </p:spPr>
        <p:txBody>
          <a:bodyPr wrap="square" lIns="0" tIns="0" rIns="0" bIns="0" rtlCol="0" anchor="t">
            <a:normAutofit/>
          </a:bodyPr>
          <a:lstStyle/>
          <a:p>
            <a:pPr marL="0" indent="0" algn="ctr">
              <a:lnSpc>
                <a:spcPts val="5505"/>
              </a:lnSpc>
              <a:buNone/>
            </a:pPr>
            <a:r>
              <a:rPr lang="en-US" sz="1500" b="1" dirty="0">
                <a:solidFill>
                  <a:srgbClr val="F6F4EE"/>
                </a:solidFill>
                <a:latin typeface="JetBrains Mono" pitchFamily="34" charset="0"/>
                <a:ea typeface="JetBrains Mono" pitchFamily="34" charset="-122"/>
                <a:cs typeface="JetBrains Mono" pitchFamily="34" charset="-120"/>
              </a:rPr>
              <a:t>C2</a:t>
            </a:r>
            <a:endParaRPr lang="en-US" sz="1500" dirty="0"/>
          </a:p>
        </p:txBody>
      </p:sp>
      <p:sp>
        <p:nvSpPr>
          <p:cNvPr id="9" name="Text 4"/>
          <p:cNvSpPr/>
          <p:nvPr/>
        </p:nvSpPr>
        <p:spPr>
          <a:xfrm>
            <a:off x="4076700" y="2870200"/>
            <a:ext cx="673100" cy="673100"/>
          </a:xfrm>
          <a:custGeom>
            <a:avLst/>
            <a:gdLst/>
            <a:ahLst/>
            <a:cxnLst/>
            <a:rect l="l" t="t" r="r" b="b"/>
            <a:pathLst>
              <a:path w="673100" h="673100">
                <a:moveTo>
                  <a:pt x="336550" y="0"/>
                </a:moveTo>
                <a:lnTo>
                  <a:pt x="336550" y="0"/>
                </a:lnTo>
                <a:arcTo wR="336550" hR="336550" stAng="16200000" swAng="5400000"/>
                <a:lnTo>
                  <a:pt x="673100" y="336550"/>
                </a:lnTo>
                <a:arcTo wR="336550" hR="336550" stAng="0" swAng="5400000"/>
                <a:lnTo>
                  <a:pt x="336550" y="673100"/>
                </a:lnTo>
                <a:arcTo wR="336550" hR="336550" stAng="5400000" swAng="5400000"/>
                <a:lnTo>
                  <a:pt x="0" y="336550"/>
                </a:lnTo>
                <a:arcTo wR="336550" hR="336550" stAng="10800000" swAng="5400000"/>
                <a:close/>
              </a:path>
            </a:pathLst>
          </a:custGeom>
          <a:solidFill>
            <a:srgbClr val="E9E5DA"/>
          </a:solidFill>
          <a:ln w="25400">
            <a:solidFill>
              <a:srgbClr val="9AA7B6"/>
            </a:solidFill>
            <a:prstDash val="dash"/>
          </a:ln>
        </p:spPr>
        <p:txBody>
          <a:bodyPr wrap="square" lIns="0" tIns="12700" rIns="0" bIns="0" rtlCol="0" anchor="t">
            <a:normAutofit/>
          </a:bodyPr>
          <a:lstStyle/>
          <a:p>
            <a:pPr marL="0" indent="0" algn="ctr">
              <a:lnSpc>
                <a:spcPts val="5100"/>
              </a:lnSpc>
              <a:buNone/>
            </a:pPr>
            <a:r>
              <a:rPr lang="en-US" sz="1500" b="1" dirty="0">
                <a:solidFill>
                  <a:srgbClr val="4A5566"/>
                </a:solidFill>
                <a:latin typeface="JetBrains Mono" pitchFamily="34" charset="0"/>
                <a:ea typeface="JetBrains Mono" pitchFamily="34" charset="-122"/>
                <a:cs typeface="JetBrains Mono" pitchFamily="34" charset="-120"/>
              </a:rPr>
              <a:t>C3</a:t>
            </a:r>
            <a:endParaRPr lang="en-US" sz="1500" dirty="0"/>
          </a:p>
        </p:txBody>
      </p:sp>
      <p:sp>
        <p:nvSpPr>
          <p:cNvPr id="10" name="Text 5"/>
          <p:cNvSpPr/>
          <p:nvPr/>
        </p:nvSpPr>
        <p:spPr>
          <a:xfrm>
            <a:off x="2381250" y="20320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1" name="Text 6"/>
          <p:cNvSpPr/>
          <p:nvPr/>
        </p:nvSpPr>
        <p:spPr>
          <a:xfrm>
            <a:off x="3784600" y="3683000"/>
            <a:ext cx="12573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e41d9f0</a:t>
            </a:r>
            <a:endParaRPr lang="en-US" sz="1300" dirty="0"/>
          </a:p>
        </p:txBody>
      </p:sp>
      <p:sp>
        <p:nvSpPr>
          <p:cNvPr id="12" name="Text 7"/>
          <p:cNvSpPr/>
          <p:nvPr/>
        </p:nvSpPr>
        <p:spPr>
          <a:xfrm>
            <a:off x="889000" y="4318000"/>
            <a:ext cx="4447540"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Yanlışlıkla </a:t>
            </a:r>
            <a:r>
              <a:rPr lang="en-US" sz="1500" b="1" dirty="0">
                <a:solidFill>
                  <a:srgbClr val="16202C"/>
                </a:solidFill>
                <a:latin typeface="IBM Plex Sans" pitchFamily="34" charset="0"/>
                <a:ea typeface="IBM Plex Sans" pitchFamily="34" charset="-122"/>
                <a:cs typeface="IBM Plex Sans" pitchFamily="34" charset="-120"/>
              </a:rPr>
              <a:t>reset --hard HEAD~1</a:t>
            </a:r>
            <a:r>
              <a:rPr lang="en-US" sz="1500" dirty="0">
                <a:solidFill>
                  <a:srgbClr val="16202C"/>
                </a:solidFill>
                <a:latin typeface="IBM Plex Sans" pitchFamily="34" charset="0"/>
                <a:ea typeface="IBM Plex Sans" pitchFamily="34" charset="-122"/>
                <a:cs typeface="IBM Plex Sans" pitchFamily="34" charset="-120"/>
              </a:rPr>
              <a:t> yaptın. C3 artık hiçbir dalda görünmüyor ama silinmedi: reflog onu hâlâ hatırlıyor.</a:t>
            </a:r>
            <a:endParaRPr lang="en-US" sz="1500" dirty="0"/>
          </a:p>
        </p:txBody>
      </p:sp>
      <p:sp>
        <p:nvSpPr>
          <p:cNvPr id="13" name="Text 8"/>
          <p:cNvSpPr/>
          <p:nvPr/>
        </p:nvSpPr>
        <p:spPr>
          <a:xfrm>
            <a:off x="5715000" y="2032000"/>
            <a:ext cx="5664200" cy="2255242"/>
          </a:xfrm>
          <a:prstGeom prst="roundRect">
            <a:avLst>
              <a:gd name="adj" fmla="val 4505"/>
            </a:avLst>
          </a:prstGeom>
          <a:solidFill>
            <a:srgbClr val="16202C"/>
          </a:solidFill>
          <a:ln/>
        </p:spPr>
        <p:txBody>
          <a:bodyPr wrap="square" lIns="198842" tIns="173442" rIns="42632" bIns="14804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 git reflog</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b7e21c4 HEAD@{0}: reset: moving to HEAD~1</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e41d9f0 HEAD@{1}: commit: 3rd commit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b7e21c4 HEAD@{2}: commit: 2nd commit</a:t>
            </a:r>
            <a:endParaRPr lang="en-US" sz="1300" dirty="0"/>
          </a:p>
          <a:p>
            <a:pPr marL="0" indent="0" algn="l">
              <a:lnSpc>
                <a:spcPts val="2080"/>
              </a:lnSpc>
              <a:buNone/>
            </a:pP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 git reset --hard </a:t>
            </a:r>
            <a:r>
              <a:rPr lang="en-US" sz="1300" dirty="0">
                <a:solidFill>
                  <a:srgbClr val="F7A46B"/>
                </a:solidFill>
                <a:latin typeface="JetBrains Mono" pitchFamily="34" charset="0"/>
                <a:ea typeface="JetBrains Mono" pitchFamily="34" charset="-122"/>
                <a:cs typeface="JetBrains Mono" pitchFamily="34" charset="-120"/>
              </a:rPr>
              <a:t>HEAD@{1}</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HEAD is now at e41d9f0 3rd commit</a:t>
            </a:r>
            <a:endParaRPr lang="en-US" sz="1300" dirty="0"/>
          </a:p>
        </p:txBody>
      </p:sp>
      <p:sp>
        <p:nvSpPr>
          <p:cNvPr id="14" name="Shape 9"/>
          <p:cNvSpPr/>
          <p:nvPr/>
        </p:nvSpPr>
        <p:spPr>
          <a:xfrm>
            <a:off x="5715000" y="4439642"/>
            <a:ext cx="5664200" cy="766961"/>
          </a:xfrm>
          <a:prstGeom prst="roundRect">
            <a:avLst>
              <a:gd name="adj" fmla="val 13247"/>
            </a:avLst>
          </a:prstGeom>
          <a:solidFill>
            <a:srgbClr val="FBE9DC"/>
          </a:solidFill>
          <a:ln/>
        </p:spPr>
      </p:sp>
      <p:pic>
        <p:nvPicPr>
          <p:cNvPr id="15" name="Image 3" descr="Lightbulb"/>
          <p:cNvPicPr>
            <a:picLocks noChangeAspect="1"/>
          </p:cNvPicPr>
          <p:nvPr/>
        </p:nvPicPr>
        <p:blipFill>
          <a:blip r:embed="rId6"/>
          <a:srcRect l="-176" r="-176"/>
          <a:stretch/>
        </p:blipFill>
        <p:spPr>
          <a:xfrm>
            <a:off x="5918200" y="4696123"/>
            <a:ext cx="197545" cy="254000"/>
          </a:xfrm>
          <a:prstGeom prst="rect">
            <a:avLst/>
          </a:prstGeom>
        </p:spPr>
      </p:pic>
      <p:sp>
        <p:nvSpPr>
          <p:cNvPr id="16" name="Text 10"/>
          <p:cNvSpPr/>
          <p:nvPr/>
        </p:nvSpPr>
        <p:spPr>
          <a:xfrm>
            <a:off x="6217345" y="4592042"/>
            <a:ext cx="510741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reflog sadece senin bilgisayarında tutulur ve varsayılan olarak yaklaşık 90 gün saklanır.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E9DC"/>
        </a:solidFill>
        <a:effectLst/>
      </p:bgPr>
    </p:bg>
    <p:spTree>
      <p:nvGrpSpPr>
        <p:cNvPr id="1" name=""/>
        <p:cNvGrpSpPr/>
        <p:nvPr/>
      </p:nvGrpSpPr>
      <p:grpSpPr>
        <a:xfrm>
          <a:off x="0" y="0"/>
          <a:ext cx="0" cy="0"/>
          <a:chOff x="0" y="0"/>
          <a:chExt cx="0" cy="0"/>
        </a:xfrm>
      </p:grpSpPr>
      <p:pic>
        <p:nvPicPr>
          <p:cNvPr id="2" name="Image 0" descr="Chat"/>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302256"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SINIFA SOR · MODÜL 2</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Hangi komut?</a:t>
            </a:r>
            <a:endParaRPr lang="en-US" sz="3600" dirty="0"/>
          </a:p>
        </p:txBody>
      </p:sp>
      <p:sp>
        <p:nvSpPr>
          <p:cNvPr id="5" name="Shape 2"/>
          <p:cNvSpPr/>
          <p:nvPr/>
        </p:nvSpPr>
        <p:spPr>
          <a:xfrm>
            <a:off x="812800" y="1953121"/>
            <a:ext cx="5207000" cy="1323280"/>
          </a:xfrm>
          <a:prstGeom prst="roundRect">
            <a:avLst>
              <a:gd name="adj" fmla="val 9597"/>
            </a:avLst>
          </a:prstGeom>
          <a:solidFill>
            <a:srgbClr val="FDFCF9"/>
          </a:solidFill>
          <a:ln/>
        </p:spPr>
      </p:sp>
      <p:sp>
        <p:nvSpPr>
          <p:cNvPr id="6" name="Text 3"/>
          <p:cNvSpPr/>
          <p:nvPr/>
        </p:nvSpPr>
        <p:spPr>
          <a:xfrm>
            <a:off x="1041400" y="2181721"/>
            <a:ext cx="48922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1. Commit mesajında yazım hatası var, kod aynen kalsın, hemen tekrar commit edeceğim.</a:t>
            </a:r>
            <a:endParaRPr lang="en-US" sz="1500" dirty="0"/>
          </a:p>
        </p:txBody>
      </p:sp>
      <p:sp>
        <p:nvSpPr>
          <p:cNvPr id="7" name="Text 4"/>
          <p:cNvSpPr/>
          <p:nvPr/>
        </p:nvSpPr>
        <p:spPr>
          <a:xfrm>
            <a:off x="1041400" y="2816721"/>
            <a:ext cx="489229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reset --soft HEAD~1</a:t>
            </a:r>
            <a:endParaRPr lang="en-US" sz="1300" dirty="0"/>
          </a:p>
        </p:txBody>
      </p:sp>
      <p:sp>
        <p:nvSpPr>
          <p:cNvPr id="8" name="Shape 5"/>
          <p:cNvSpPr/>
          <p:nvPr/>
        </p:nvSpPr>
        <p:spPr>
          <a:xfrm>
            <a:off x="6172200" y="1953121"/>
            <a:ext cx="5207000" cy="1323280"/>
          </a:xfrm>
          <a:prstGeom prst="roundRect">
            <a:avLst>
              <a:gd name="adj" fmla="val 9597"/>
            </a:avLst>
          </a:prstGeom>
          <a:solidFill>
            <a:srgbClr val="FDFCF9"/>
          </a:solidFill>
          <a:ln/>
        </p:spPr>
      </p:sp>
      <p:sp>
        <p:nvSpPr>
          <p:cNvPr id="9" name="Text 6"/>
          <p:cNvSpPr/>
          <p:nvPr/>
        </p:nvSpPr>
        <p:spPr>
          <a:xfrm>
            <a:off x="6400800" y="2181721"/>
            <a:ext cx="48922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2. Yanlışlıkla her şeyi git add yaptım, stage'i boşaltmak istiyorum.</a:t>
            </a:r>
            <a:endParaRPr lang="en-US" sz="1500" dirty="0"/>
          </a:p>
        </p:txBody>
      </p:sp>
      <p:sp>
        <p:nvSpPr>
          <p:cNvPr id="10" name="Text 7"/>
          <p:cNvSpPr/>
          <p:nvPr/>
        </p:nvSpPr>
        <p:spPr>
          <a:xfrm>
            <a:off x="6400800" y="2816721"/>
            <a:ext cx="489229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reset</a:t>
            </a:r>
            <a:endParaRPr lang="en-US" sz="1300" dirty="0"/>
          </a:p>
        </p:txBody>
      </p:sp>
      <p:sp>
        <p:nvSpPr>
          <p:cNvPr id="11" name="Shape 8"/>
          <p:cNvSpPr/>
          <p:nvPr/>
        </p:nvSpPr>
        <p:spPr>
          <a:xfrm>
            <a:off x="812800" y="3428802"/>
            <a:ext cx="5207000" cy="1323280"/>
          </a:xfrm>
          <a:prstGeom prst="roundRect">
            <a:avLst>
              <a:gd name="adj" fmla="val 9597"/>
            </a:avLst>
          </a:prstGeom>
          <a:solidFill>
            <a:srgbClr val="FDFCF9"/>
          </a:solidFill>
          <a:ln/>
        </p:spPr>
      </p:sp>
      <p:sp>
        <p:nvSpPr>
          <p:cNvPr id="12" name="Text 9"/>
          <p:cNvSpPr/>
          <p:nvPr/>
        </p:nvSpPr>
        <p:spPr>
          <a:xfrm>
            <a:off x="1041400" y="3657402"/>
            <a:ext cx="48922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3. Son saatteki deneme kodu çöp; son commit'e tertemiz dönmek istiyorum.</a:t>
            </a:r>
            <a:endParaRPr lang="en-US" sz="1500" dirty="0"/>
          </a:p>
        </p:txBody>
      </p:sp>
      <p:sp>
        <p:nvSpPr>
          <p:cNvPr id="13" name="Text 10"/>
          <p:cNvSpPr/>
          <p:nvPr/>
        </p:nvSpPr>
        <p:spPr>
          <a:xfrm>
            <a:off x="1041400" y="4292402"/>
            <a:ext cx="489229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reset --hard</a:t>
            </a:r>
            <a:endParaRPr lang="en-US" sz="1300" dirty="0"/>
          </a:p>
        </p:txBody>
      </p:sp>
      <p:sp>
        <p:nvSpPr>
          <p:cNvPr id="14" name="Shape 11"/>
          <p:cNvSpPr/>
          <p:nvPr/>
        </p:nvSpPr>
        <p:spPr>
          <a:xfrm>
            <a:off x="6172200" y="3428802"/>
            <a:ext cx="5207000" cy="1323280"/>
          </a:xfrm>
          <a:prstGeom prst="roundRect">
            <a:avLst>
              <a:gd name="adj" fmla="val 9597"/>
            </a:avLst>
          </a:prstGeom>
          <a:solidFill>
            <a:srgbClr val="FDFCF9"/>
          </a:solidFill>
          <a:ln/>
        </p:spPr>
      </p:sp>
      <p:sp>
        <p:nvSpPr>
          <p:cNvPr id="15" name="Text 12"/>
          <p:cNvSpPr/>
          <p:nvPr/>
        </p:nvSpPr>
        <p:spPr>
          <a:xfrm>
            <a:off x="6400800" y="3657402"/>
            <a:ext cx="489229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4. reset --hard yaptım, silinen commit'i geri istiyorum.</a:t>
            </a:r>
            <a:endParaRPr lang="en-US" sz="1500" dirty="0"/>
          </a:p>
        </p:txBody>
      </p:sp>
      <p:sp>
        <p:nvSpPr>
          <p:cNvPr id="16" name="Text 13"/>
          <p:cNvSpPr/>
          <p:nvPr/>
        </p:nvSpPr>
        <p:spPr>
          <a:xfrm>
            <a:off x="6400800" y="4025702"/>
            <a:ext cx="489229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reflog + reset --hard HEAD@{1}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REMOTE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Yerel repo ve origin</a:t>
            </a:r>
            <a:endParaRPr lang="en-US" sz="3600" dirty="0"/>
          </a:p>
        </p:txBody>
      </p:sp>
      <p:sp>
        <p:nvSpPr>
          <p:cNvPr id="4" name="Shape 2"/>
          <p:cNvSpPr/>
          <p:nvPr/>
        </p:nvSpPr>
        <p:spPr>
          <a:xfrm>
            <a:off x="819150" y="1959471"/>
            <a:ext cx="3416300" cy="1936750"/>
          </a:xfrm>
          <a:prstGeom prst="roundRect">
            <a:avLst>
              <a:gd name="adj" fmla="val 6230"/>
            </a:avLst>
          </a:prstGeom>
          <a:solidFill>
            <a:srgbClr val="FDFCF9"/>
          </a:solidFill>
          <a:ln w="12700">
            <a:solidFill>
              <a:srgbClr val="E2DDD0"/>
            </a:solidFill>
            <a:prstDash val="solid"/>
          </a:ln>
        </p:spPr>
      </p:sp>
      <p:pic>
        <p:nvPicPr>
          <p:cNvPr id="5" name="Image 0" descr="Home"/>
          <p:cNvPicPr>
            <a:picLocks noChangeAspect="1"/>
          </p:cNvPicPr>
          <p:nvPr/>
        </p:nvPicPr>
        <p:blipFill>
          <a:blip r:embed="rId3"/>
          <a:srcRect/>
          <a:stretch/>
        </p:blipFill>
        <p:spPr>
          <a:xfrm>
            <a:off x="1079500" y="2219821"/>
            <a:ext cx="355600" cy="355600"/>
          </a:xfrm>
          <a:prstGeom prst="rect">
            <a:avLst/>
          </a:prstGeom>
        </p:spPr>
      </p:pic>
      <p:sp>
        <p:nvSpPr>
          <p:cNvPr id="6" name="Text 3"/>
          <p:cNvSpPr/>
          <p:nvPr/>
        </p:nvSpPr>
        <p:spPr>
          <a:xfrm>
            <a:off x="1079500" y="2677021"/>
            <a:ext cx="298246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Yerel repo</a:t>
            </a:r>
            <a:endParaRPr lang="en-US" sz="2000" dirty="0"/>
          </a:p>
        </p:txBody>
      </p:sp>
      <p:sp>
        <p:nvSpPr>
          <p:cNvPr id="7" name="Text 4"/>
          <p:cNvSpPr/>
          <p:nvPr/>
        </p:nvSpPr>
        <p:spPr>
          <a:xfrm>
            <a:off x="1079500" y="3083421"/>
            <a:ext cx="2982468"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Senin bilgisayarın. İnternetsiz çalışır.</a:t>
            </a:r>
            <a:endParaRPr lang="en-US" sz="1500" dirty="0"/>
          </a:p>
        </p:txBody>
      </p:sp>
      <p:sp>
        <p:nvSpPr>
          <p:cNvPr id="8" name="Text 5"/>
          <p:cNvSpPr/>
          <p:nvPr/>
        </p:nvSpPr>
        <p:spPr>
          <a:xfrm>
            <a:off x="4445000" y="2210296"/>
            <a:ext cx="1447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8430A"/>
                </a:solidFill>
                <a:latin typeface="JetBrains Mono" pitchFamily="34" charset="0"/>
                <a:ea typeface="JetBrains Mono" pitchFamily="34" charset="-122"/>
                <a:cs typeface="JetBrains Mono" pitchFamily="34" charset="-120"/>
              </a:rPr>
              <a:t>git push</a:t>
            </a:r>
            <a:endParaRPr lang="en-US" sz="1500" dirty="0"/>
          </a:p>
        </p:txBody>
      </p:sp>
      <p:pic>
        <p:nvPicPr>
          <p:cNvPr id="9" name="Image 1" descr="arrow-right"/>
          <p:cNvPicPr>
            <a:picLocks noChangeAspect="1"/>
          </p:cNvPicPr>
          <p:nvPr/>
        </p:nvPicPr>
        <p:blipFill>
          <a:blip r:embed="rId4"/>
          <a:srcRect/>
          <a:stretch/>
        </p:blipFill>
        <p:spPr>
          <a:xfrm>
            <a:off x="5969000" y="2140446"/>
            <a:ext cx="1651000" cy="406400"/>
          </a:xfrm>
          <a:prstGeom prst="rect">
            <a:avLst/>
          </a:prstGeom>
        </p:spPr>
      </p:pic>
      <p:sp>
        <p:nvSpPr>
          <p:cNvPr id="10" name="Text 6"/>
          <p:cNvSpPr/>
          <p:nvPr/>
        </p:nvSpPr>
        <p:spPr>
          <a:xfrm>
            <a:off x="4445000" y="2794496"/>
            <a:ext cx="1447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6FDB"/>
                </a:solidFill>
                <a:latin typeface="JetBrains Mono" pitchFamily="34" charset="0"/>
                <a:ea typeface="JetBrains Mono" pitchFamily="34" charset="-122"/>
                <a:cs typeface="JetBrains Mono" pitchFamily="34" charset="-120"/>
              </a:rPr>
              <a:t>git fetch</a:t>
            </a:r>
            <a:endParaRPr lang="en-US" sz="1500" dirty="0"/>
          </a:p>
        </p:txBody>
      </p:sp>
      <p:pic>
        <p:nvPicPr>
          <p:cNvPr id="11" name="Image 2" descr="arrow-left"/>
          <p:cNvPicPr>
            <a:picLocks noChangeAspect="1"/>
          </p:cNvPicPr>
          <p:nvPr/>
        </p:nvPicPr>
        <p:blipFill>
          <a:blip r:embed="rId5"/>
          <a:srcRect/>
          <a:stretch/>
        </p:blipFill>
        <p:spPr>
          <a:xfrm>
            <a:off x="5969000" y="2724646"/>
            <a:ext cx="1651000" cy="406400"/>
          </a:xfrm>
          <a:prstGeom prst="rect">
            <a:avLst/>
          </a:prstGeom>
        </p:spPr>
      </p:pic>
      <p:sp>
        <p:nvSpPr>
          <p:cNvPr id="12" name="Text 7"/>
          <p:cNvSpPr/>
          <p:nvPr/>
        </p:nvSpPr>
        <p:spPr>
          <a:xfrm>
            <a:off x="4445000" y="3378696"/>
            <a:ext cx="1447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git pull</a:t>
            </a:r>
            <a:endParaRPr lang="en-US" sz="1500" dirty="0"/>
          </a:p>
        </p:txBody>
      </p:sp>
      <p:pic>
        <p:nvPicPr>
          <p:cNvPr id="13" name="Image 3" descr="arrow-left"/>
          <p:cNvPicPr>
            <a:picLocks noChangeAspect="1"/>
          </p:cNvPicPr>
          <p:nvPr/>
        </p:nvPicPr>
        <p:blipFill>
          <a:blip r:embed="rId6"/>
          <a:srcRect/>
          <a:stretch/>
        </p:blipFill>
        <p:spPr>
          <a:xfrm>
            <a:off x="5969000" y="3308846"/>
            <a:ext cx="1651000" cy="406400"/>
          </a:xfrm>
          <a:prstGeom prst="rect">
            <a:avLst/>
          </a:prstGeom>
        </p:spPr>
      </p:pic>
      <p:sp>
        <p:nvSpPr>
          <p:cNvPr id="14" name="Shape 8"/>
          <p:cNvSpPr/>
          <p:nvPr/>
        </p:nvSpPr>
        <p:spPr>
          <a:xfrm>
            <a:off x="7956550" y="1959471"/>
            <a:ext cx="3416300" cy="1936750"/>
          </a:xfrm>
          <a:prstGeom prst="roundRect">
            <a:avLst>
              <a:gd name="adj" fmla="val 6230"/>
            </a:avLst>
          </a:prstGeom>
          <a:solidFill>
            <a:srgbClr val="16202C"/>
          </a:solidFill>
          <a:ln w="12700">
            <a:solidFill>
              <a:srgbClr val="16202C"/>
            </a:solidFill>
            <a:prstDash val="solid"/>
          </a:ln>
        </p:spPr>
      </p:sp>
      <p:pic>
        <p:nvPicPr>
          <p:cNvPr id="15" name="Image 4" descr="Cloud"/>
          <p:cNvPicPr>
            <a:picLocks noChangeAspect="1"/>
          </p:cNvPicPr>
          <p:nvPr/>
        </p:nvPicPr>
        <p:blipFill>
          <a:blip r:embed="rId7"/>
          <a:srcRect/>
          <a:stretch/>
        </p:blipFill>
        <p:spPr>
          <a:xfrm>
            <a:off x="8216900" y="2219821"/>
            <a:ext cx="355600" cy="355600"/>
          </a:xfrm>
          <a:prstGeom prst="rect">
            <a:avLst/>
          </a:prstGeom>
        </p:spPr>
      </p:pic>
      <p:sp>
        <p:nvSpPr>
          <p:cNvPr id="16" name="Text 9"/>
          <p:cNvSpPr/>
          <p:nvPr/>
        </p:nvSpPr>
        <p:spPr>
          <a:xfrm>
            <a:off x="8216900" y="2677021"/>
            <a:ext cx="298246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origin</a:t>
            </a:r>
            <a:endParaRPr lang="en-US" sz="2000" dirty="0"/>
          </a:p>
        </p:txBody>
      </p:sp>
      <p:sp>
        <p:nvSpPr>
          <p:cNvPr id="17" name="Text 10"/>
          <p:cNvSpPr/>
          <p:nvPr/>
        </p:nvSpPr>
        <p:spPr>
          <a:xfrm>
            <a:off x="8216900" y="3083421"/>
            <a:ext cx="2982468"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GitHub'daki kopya. "origin" sadece bir takma ad.</a:t>
            </a:r>
            <a:endParaRPr lang="en-US" sz="1500" dirty="0"/>
          </a:p>
        </p:txBody>
      </p:sp>
      <p:sp>
        <p:nvSpPr>
          <p:cNvPr id="18" name="Text 11"/>
          <p:cNvSpPr/>
          <p:nvPr/>
        </p:nvSpPr>
        <p:spPr>
          <a:xfrm>
            <a:off x="812800" y="4207371"/>
            <a:ext cx="10566400" cy="641350"/>
          </a:xfrm>
          <a:prstGeom prst="roundRect">
            <a:avLst>
              <a:gd name="adj" fmla="val 15842"/>
            </a:avLst>
          </a:prstGeom>
          <a:solidFill>
            <a:srgbClr val="16202C"/>
          </a:solidFill>
          <a:ln/>
        </p:spPr>
        <p:txBody>
          <a:bodyPr wrap="square" lIns="224242" tIns="148042" rIns="0" bIns="122642" rtlCol="0" anchor="t">
            <a:normAutofit/>
          </a:bodyPr>
          <a:lstStyle/>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remote add origin </a:t>
            </a:r>
            <a:r>
              <a:rPr lang="en-US" sz="1500" dirty="0">
                <a:solidFill>
                  <a:srgbClr val="F7A46B"/>
                </a:solidFill>
                <a:latin typeface="JetBrains Mono" pitchFamily="34" charset="0"/>
                <a:ea typeface="JetBrains Mono" pitchFamily="34" charset="-122"/>
                <a:cs typeface="JetBrains Mono" pitchFamily="34" charset="-120"/>
              </a:rPr>
              <a:t>git@github.com:suleymanonal/project1.git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Aslında üç "main" var</a:t>
            </a:r>
            <a:endParaRPr lang="en-US" sz="3600" dirty="0"/>
          </a:p>
        </p:txBody>
      </p:sp>
      <p:sp>
        <p:nvSpPr>
          <p:cNvPr id="4" name="Shape 2"/>
          <p:cNvSpPr/>
          <p:nvPr/>
        </p:nvSpPr>
        <p:spPr>
          <a:xfrm>
            <a:off x="812800" y="1905000"/>
            <a:ext cx="4699000" cy="2095500"/>
          </a:xfrm>
          <a:prstGeom prst="roundRect">
            <a:avLst>
              <a:gd name="adj" fmla="val 6061"/>
            </a:avLst>
          </a:prstGeom>
          <a:solidFill>
            <a:srgbClr val="16202C"/>
          </a:solidFill>
          <a:ln/>
        </p:spPr>
      </p:sp>
      <p:sp>
        <p:nvSpPr>
          <p:cNvPr id="5" name="Shape 3"/>
          <p:cNvSpPr/>
          <p:nvPr/>
        </p:nvSpPr>
        <p:spPr>
          <a:xfrm>
            <a:off x="5899150" y="1911350"/>
            <a:ext cx="5473700" cy="2082800"/>
          </a:xfrm>
          <a:prstGeom prst="roundRect">
            <a:avLst>
              <a:gd name="adj" fmla="val 5793"/>
            </a:avLst>
          </a:prstGeom>
          <a:solidFill>
            <a:srgbClr val="FDFCF9"/>
          </a:solidFill>
          <a:ln w="12700">
            <a:solidFill>
              <a:srgbClr val="E2DDD0"/>
            </a:solidFill>
            <a:prstDash val="solid"/>
          </a:ln>
        </p:spPr>
      </p:sp>
      <p:pic>
        <p:nvPicPr>
          <p:cNvPr id="6" name="Image 0" descr="connector"/>
          <p:cNvPicPr>
            <a:picLocks noChangeAspect="1"/>
          </p:cNvPicPr>
          <p:nvPr/>
        </p:nvPicPr>
        <p:blipFill>
          <a:blip r:embed="rId3"/>
          <a:srcRect/>
          <a:stretch/>
        </p:blipFill>
        <p:spPr>
          <a:xfrm>
            <a:off x="1384300" y="2971800"/>
            <a:ext cx="1930400" cy="152400"/>
          </a:xfrm>
          <a:prstGeom prst="rect">
            <a:avLst/>
          </a:prstGeom>
        </p:spPr>
      </p:pic>
      <p:pic>
        <p:nvPicPr>
          <p:cNvPr id="7" name="Image 1" descr="connector"/>
          <p:cNvPicPr>
            <a:picLocks noChangeAspect="1"/>
          </p:cNvPicPr>
          <p:nvPr/>
        </p:nvPicPr>
        <p:blipFill>
          <a:blip r:embed="rId4"/>
          <a:srcRect/>
          <a:stretch/>
        </p:blipFill>
        <p:spPr>
          <a:xfrm>
            <a:off x="6464300" y="2971800"/>
            <a:ext cx="1930400" cy="152400"/>
          </a:xfrm>
          <a:prstGeom prst="rect">
            <a:avLst/>
          </a:prstGeom>
        </p:spPr>
      </p:pic>
      <p:sp>
        <p:nvSpPr>
          <p:cNvPr id="8" name="Text 4"/>
          <p:cNvSpPr/>
          <p:nvPr/>
        </p:nvSpPr>
        <p:spPr>
          <a:xfrm>
            <a:off x="1016000" y="201930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GITHUB · origin</a:t>
            </a:r>
            <a:endParaRPr lang="en-US" sz="1300" dirty="0"/>
          </a:p>
        </p:txBody>
      </p:sp>
      <p:sp>
        <p:nvSpPr>
          <p:cNvPr id="9" name="Text 5"/>
          <p:cNvSpPr/>
          <p:nvPr/>
        </p:nvSpPr>
        <p:spPr>
          <a:xfrm>
            <a:off x="6096000" y="2019300"/>
            <a:ext cx="45783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SENİN BİLGİSAYARIN</a:t>
            </a:r>
            <a:endParaRPr lang="en-US" sz="1300" dirty="0"/>
          </a:p>
        </p:txBody>
      </p:sp>
      <p:sp>
        <p:nvSpPr>
          <p:cNvPr id="10" name="Text 6"/>
          <p:cNvSpPr/>
          <p:nvPr/>
        </p:nvSpPr>
        <p:spPr>
          <a:xfrm>
            <a:off x="117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1" name="Text 7"/>
          <p:cNvSpPr/>
          <p:nvPr/>
        </p:nvSpPr>
        <p:spPr>
          <a:xfrm>
            <a:off x="206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2" name="Text 8"/>
          <p:cNvSpPr/>
          <p:nvPr/>
        </p:nvSpPr>
        <p:spPr>
          <a:xfrm>
            <a:off x="2952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C3</a:t>
            </a:r>
            <a:endParaRPr lang="en-US" sz="1300" dirty="0"/>
          </a:p>
        </p:txBody>
      </p:sp>
      <p:sp>
        <p:nvSpPr>
          <p:cNvPr id="13" name="Text 9"/>
          <p:cNvSpPr/>
          <p:nvPr/>
        </p:nvSpPr>
        <p:spPr>
          <a:xfrm>
            <a:off x="285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F7A46B"/>
          </a:solidFill>
          <a:ln/>
        </p:spPr>
        <p:txBody>
          <a:bodyPr wrap="square" lIns="0" tIns="0" rIns="0" bIns="0" rtlCol="0" anchor="t">
            <a:normAutofit/>
          </a:bodyPr>
          <a:lstStyle/>
          <a:p>
            <a:pPr marL="0" indent="0" algn="ctr">
              <a:lnSpc>
                <a:spcPts val="2197"/>
              </a:lnSpc>
              <a:buNone/>
            </a:pPr>
            <a:r>
              <a:rPr lang="en-US" sz="1300" b="1" dirty="0">
                <a:solidFill>
                  <a:srgbClr val="16202C"/>
                </a:solidFill>
                <a:latin typeface="JetBrains Mono" pitchFamily="34" charset="0"/>
                <a:ea typeface="JetBrains Mono" pitchFamily="34" charset="-122"/>
                <a:cs typeface="JetBrains Mono" pitchFamily="34" charset="-120"/>
              </a:rPr>
              <a:t>main</a:t>
            </a:r>
            <a:endParaRPr lang="en-US" sz="1300" dirty="0"/>
          </a:p>
        </p:txBody>
      </p:sp>
      <p:sp>
        <p:nvSpPr>
          <p:cNvPr id="14" name="Text 10"/>
          <p:cNvSpPr/>
          <p:nvPr/>
        </p:nvSpPr>
        <p:spPr>
          <a:xfrm>
            <a:off x="625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5" name="Text 11"/>
          <p:cNvSpPr/>
          <p:nvPr/>
        </p:nvSpPr>
        <p:spPr>
          <a:xfrm>
            <a:off x="714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6" name="Text 12"/>
          <p:cNvSpPr/>
          <p:nvPr/>
        </p:nvSpPr>
        <p:spPr>
          <a:xfrm>
            <a:off x="8032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C3</a:t>
            </a:r>
            <a:endParaRPr lang="en-US" sz="1300" dirty="0"/>
          </a:p>
        </p:txBody>
      </p:sp>
      <p:sp>
        <p:nvSpPr>
          <p:cNvPr id="17" name="Text 13"/>
          <p:cNvSpPr/>
          <p:nvPr/>
        </p:nvSpPr>
        <p:spPr>
          <a:xfrm>
            <a:off x="793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2F6FDB"/>
          </a:solidFill>
          <a:ln/>
        </p:spPr>
        <p:txBody>
          <a:bodyPr wrap="square" lIns="0" tIns="0" rIns="0" bIns="0" rtlCol="0" anchor="t">
            <a:normAutofit/>
          </a:bodyPr>
          <a:lstStyle/>
          <a:p>
            <a:pPr marL="0" indent="0" algn="ctr">
              <a:lnSpc>
                <a:spcPts val="2197"/>
              </a:lnSpc>
              <a:buNone/>
            </a:pPr>
            <a:r>
              <a:rPr lang="en-US" sz="1300" b="1" dirty="0">
                <a:solidFill>
                  <a:srgbClr val="F6F4EE"/>
                </a:solidFill>
                <a:latin typeface="JetBrains Mono" pitchFamily="34" charset="0"/>
                <a:ea typeface="JetBrains Mono" pitchFamily="34" charset="-122"/>
                <a:cs typeface="JetBrains Mono" pitchFamily="34" charset="-120"/>
              </a:rPr>
              <a:t>main</a:t>
            </a:r>
            <a:endParaRPr lang="en-US" sz="1300" dirty="0"/>
          </a:p>
        </p:txBody>
      </p:sp>
      <p:sp>
        <p:nvSpPr>
          <p:cNvPr id="18" name="Text 14"/>
          <p:cNvSpPr/>
          <p:nvPr/>
        </p:nvSpPr>
        <p:spPr>
          <a:xfrm>
            <a:off x="7658100" y="3435350"/>
            <a:ext cx="1320800" cy="266700"/>
          </a:xfrm>
          <a:custGeom>
            <a:avLst/>
            <a:gdLst/>
            <a:ahLst/>
            <a:cxnLst/>
            <a:rect l="l" t="t" r="r" b="b"/>
            <a:pathLst>
              <a:path w="1320800" h="266700">
                <a:moveTo>
                  <a:pt x="133350" y="0"/>
                </a:moveTo>
                <a:lnTo>
                  <a:pt x="1187450" y="0"/>
                </a:lnTo>
                <a:arcTo wR="133350" hR="133350" stAng="16200000" swAng="5400000"/>
                <a:lnTo>
                  <a:pt x="1320800" y="133350"/>
                </a:lnTo>
                <a:arcTo wR="133350" hR="133350" stAng="0" swAng="5400000"/>
                <a:lnTo>
                  <a:pt x="133350" y="266700"/>
                </a:lnTo>
                <a:arcTo wR="133350" hR="133350" stAng="5400000" swAng="5400000"/>
                <a:lnTo>
                  <a:pt x="0" y="133350"/>
                </a:lnTo>
                <a:arcTo wR="133350" hR="133350" stAng="10800000" swAng="5400000"/>
                <a:close/>
              </a:path>
            </a:pathLst>
          </a:custGeom>
          <a:solidFill>
            <a:srgbClr val="E3ECFB"/>
          </a:solidFill>
          <a:ln w="12700">
            <a:solidFill>
              <a:srgbClr val="2F6FDB"/>
            </a:solidFill>
            <a:prstDash val="solid"/>
          </a:ln>
        </p:spPr>
        <p:txBody>
          <a:bodyPr wrap="square" lIns="0" tIns="6350" rIns="0" bIns="0" rtlCol="0" anchor="t">
            <a:normAutofit/>
          </a:bodyPr>
          <a:lstStyle/>
          <a:p>
            <a:pPr marL="0" indent="0" algn="ctr">
              <a:lnSpc>
                <a:spcPts val="2002"/>
              </a:lnSpc>
              <a:buNone/>
            </a:pPr>
            <a:r>
              <a:rPr lang="en-US" sz="1300" b="1" dirty="0">
                <a:solidFill>
                  <a:srgbClr val="16202C"/>
                </a:solidFill>
                <a:latin typeface="JetBrains Mono" pitchFamily="34" charset="0"/>
                <a:ea typeface="JetBrains Mono" pitchFamily="34" charset="-122"/>
                <a:cs typeface="JetBrains Mono" pitchFamily="34" charset="-120"/>
              </a:rPr>
              <a:t>origin/main</a:t>
            </a:r>
            <a:endParaRPr lang="en-US" sz="1300" dirty="0"/>
          </a:p>
        </p:txBody>
      </p:sp>
      <p:sp>
        <p:nvSpPr>
          <p:cNvPr id="19" name="Shape 15"/>
          <p:cNvSpPr/>
          <p:nvPr/>
        </p:nvSpPr>
        <p:spPr>
          <a:xfrm>
            <a:off x="812800" y="4216400"/>
            <a:ext cx="3403600" cy="1137741"/>
          </a:xfrm>
          <a:prstGeom prst="roundRect">
            <a:avLst>
              <a:gd name="adj" fmla="val 8930"/>
            </a:avLst>
          </a:prstGeom>
          <a:solidFill>
            <a:srgbClr val="16202C"/>
          </a:solidFill>
          <a:ln/>
        </p:spPr>
      </p:sp>
      <p:sp>
        <p:nvSpPr>
          <p:cNvPr id="20" name="Text 16"/>
          <p:cNvSpPr/>
          <p:nvPr/>
        </p:nvSpPr>
        <p:spPr>
          <a:xfrm>
            <a:off x="1016000" y="4394200"/>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1 · GitHub'daki main</a:t>
            </a:r>
            <a:endParaRPr lang="en-US" sz="1300" dirty="0"/>
          </a:p>
        </p:txBody>
      </p:sp>
      <p:sp>
        <p:nvSpPr>
          <p:cNvPr id="21" name="Text 17"/>
          <p:cNvSpPr/>
          <p:nvPr/>
        </p:nvSpPr>
        <p:spPr>
          <a:xfrm>
            <a:off x="1016000" y="4688780"/>
            <a:ext cx="308711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IBM Plex Sans" pitchFamily="34" charset="0"/>
                <a:ea typeface="IBM Plex Sans" pitchFamily="34" charset="-122"/>
                <a:cs typeface="IBM Plex Sans" pitchFamily="34" charset="-120"/>
              </a:rPr>
              <a:t>Asıl ortak dal. Sadece push ile değişir.</a:t>
            </a:r>
            <a:endParaRPr lang="en-US" sz="1300" dirty="0"/>
          </a:p>
        </p:txBody>
      </p:sp>
      <p:sp>
        <p:nvSpPr>
          <p:cNvPr id="22" name="Shape 18"/>
          <p:cNvSpPr/>
          <p:nvPr/>
        </p:nvSpPr>
        <p:spPr>
          <a:xfrm>
            <a:off x="4375150" y="4222750"/>
            <a:ext cx="3416300" cy="1125041"/>
          </a:xfrm>
          <a:prstGeom prst="roundRect">
            <a:avLst>
              <a:gd name="adj" fmla="val 8466"/>
            </a:avLst>
          </a:prstGeom>
          <a:solidFill>
            <a:srgbClr val="E3ECFB"/>
          </a:solidFill>
          <a:ln w="12700">
            <a:solidFill>
              <a:srgbClr val="2F6FDB"/>
            </a:solidFill>
            <a:prstDash val="solid"/>
          </a:ln>
        </p:spPr>
      </p:sp>
      <p:sp>
        <p:nvSpPr>
          <p:cNvPr id="23" name="Text 19"/>
          <p:cNvSpPr/>
          <p:nvPr/>
        </p:nvSpPr>
        <p:spPr>
          <a:xfrm>
            <a:off x="4584700" y="4406900"/>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2 · origin/main</a:t>
            </a:r>
            <a:endParaRPr lang="en-US" sz="1300" dirty="0"/>
          </a:p>
        </p:txBody>
      </p:sp>
      <p:sp>
        <p:nvSpPr>
          <p:cNvPr id="24" name="Text 20"/>
          <p:cNvSpPr/>
          <p:nvPr/>
        </p:nvSpPr>
        <p:spPr>
          <a:xfrm>
            <a:off x="4584700" y="4701480"/>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GitHub'ın sendeki fotoğrafı. Salt okunur; fetch ile güncellenir.</a:t>
            </a:r>
            <a:endParaRPr lang="en-US" sz="1300" dirty="0"/>
          </a:p>
        </p:txBody>
      </p:sp>
      <p:sp>
        <p:nvSpPr>
          <p:cNvPr id="25" name="Shape 21"/>
          <p:cNvSpPr/>
          <p:nvPr/>
        </p:nvSpPr>
        <p:spPr>
          <a:xfrm>
            <a:off x="7956550" y="4222750"/>
            <a:ext cx="3416300" cy="1125041"/>
          </a:xfrm>
          <a:prstGeom prst="roundRect">
            <a:avLst>
              <a:gd name="adj" fmla="val 8466"/>
            </a:avLst>
          </a:prstGeom>
          <a:solidFill>
            <a:srgbClr val="FDFCF9"/>
          </a:solidFill>
          <a:ln w="12700">
            <a:solidFill>
              <a:srgbClr val="E2DDD0"/>
            </a:solidFill>
            <a:prstDash val="solid"/>
          </a:ln>
        </p:spPr>
      </p:sp>
      <p:sp>
        <p:nvSpPr>
          <p:cNvPr id="26" name="Text 22"/>
          <p:cNvSpPr/>
          <p:nvPr/>
        </p:nvSpPr>
        <p:spPr>
          <a:xfrm>
            <a:off x="8166100" y="4406900"/>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JetBrains Mono" pitchFamily="34" charset="0"/>
                <a:ea typeface="JetBrains Mono" pitchFamily="34" charset="-122"/>
                <a:cs typeface="JetBrains Mono" pitchFamily="34" charset="-120"/>
              </a:rPr>
              <a:t>3 · senin main'in</a:t>
            </a:r>
            <a:endParaRPr lang="en-US" sz="1300" dirty="0"/>
          </a:p>
        </p:txBody>
      </p:sp>
      <p:sp>
        <p:nvSpPr>
          <p:cNvPr id="27" name="Text 23"/>
          <p:cNvSpPr/>
          <p:nvPr/>
        </p:nvSpPr>
        <p:spPr>
          <a:xfrm>
            <a:off x="8166100" y="4701480"/>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Üzerinde çalıştığın dal. Commit, merge, pull ile değişir.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pic>
        <p:nvPicPr>
          <p:cNvPr id="3" name="Image 0" descr="Terminal: git push origin master ile ilk gönderim, ardından git branch -a çıktısında remotes/origin/master"/>
          <p:cNvPicPr>
            <a:picLocks noChangeAspect="1"/>
          </p:cNvPicPr>
          <p:nvPr/>
        </p:nvPicPr>
        <p:blipFill>
          <a:blip r:embed="rId3"/>
          <a:srcRect t="-22" b="-22"/>
          <a:stretch/>
        </p:blipFill>
        <p:spPr>
          <a:xfrm>
            <a:off x="1333500" y="1458516"/>
            <a:ext cx="9525000" cy="3905250"/>
          </a:xfrm>
          <a:prstGeom prst="roundRect">
            <a:avLst>
              <a:gd name="adj" fmla="val 1951"/>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4A5566"/>
                </a:solidFill>
                <a:latin typeface="IBM Plex Sans" pitchFamily="34" charset="0"/>
                <a:ea typeface="IBM Plex Sans" pitchFamily="34" charset="-122"/>
                <a:cs typeface="IBM Plex Sans" pitchFamily="34" charset="-120"/>
              </a:rPr>
              <a:t>İlk push'tan sonra </a:t>
            </a:r>
            <a:r>
              <a:rPr lang="en-US" sz="1500" b="1" dirty="0">
                <a:solidFill>
                  <a:srgbClr val="4A5566"/>
                </a:solidFill>
                <a:latin typeface="IBM Plex Sans" pitchFamily="34" charset="0"/>
                <a:ea typeface="IBM Plex Sans" pitchFamily="34" charset="-122"/>
                <a:cs typeface="IBM Plex Sans" pitchFamily="34" charset="-120"/>
              </a:rPr>
              <a:t>git branch -a</a:t>
            </a:r>
            <a:r>
              <a:rPr lang="en-US" sz="1500" dirty="0">
                <a:solidFill>
                  <a:srgbClr val="4A5566"/>
                </a:solidFill>
                <a:latin typeface="IBM Plex Sans" pitchFamily="34" charset="0"/>
                <a:ea typeface="IBM Plex Sans" pitchFamily="34" charset="-122"/>
                <a:cs typeface="IBM Plex Sans" pitchFamily="34" charset="-120"/>
              </a:rPr>
              <a:t> çıktısında remotes/origin/master belirdi.</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git push: senden GitHub'a</a:t>
            </a:r>
            <a:endParaRPr lang="en-US" sz="3600" dirty="0"/>
          </a:p>
        </p:txBody>
      </p:sp>
      <p:sp>
        <p:nvSpPr>
          <p:cNvPr id="4" name="Shape 2"/>
          <p:cNvSpPr/>
          <p:nvPr/>
        </p:nvSpPr>
        <p:spPr>
          <a:xfrm>
            <a:off x="812800" y="1905000"/>
            <a:ext cx="4699000" cy="2095500"/>
          </a:xfrm>
          <a:prstGeom prst="roundRect">
            <a:avLst>
              <a:gd name="adj" fmla="val 6061"/>
            </a:avLst>
          </a:prstGeom>
          <a:solidFill>
            <a:srgbClr val="16202C"/>
          </a:solidFill>
          <a:ln/>
        </p:spPr>
      </p:sp>
      <p:sp>
        <p:nvSpPr>
          <p:cNvPr id="5" name="Shape 3"/>
          <p:cNvSpPr/>
          <p:nvPr/>
        </p:nvSpPr>
        <p:spPr>
          <a:xfrm>
            <a:off x="5899150" y="1911350"/>
            <a:ext cx="5473700" cy="2082800"/>
          </a:xfrm>
          <a:prstGeom prst="roundRect">
            <a:avLst>
              <a:gd name="adj" fmla="val 5793"/>
            </a:avLst>
          </a:prstGeom>
          <a:solidFill>
            <a:srgbClr val="FDFCF9"/>
          </a:solidFill>
          <a:ln w="12700">
            <a:solidFill>
              <a:srgbClr val="E2DDD0"/>
            </a:solidFill>
            <a:prstDash val="solid"/>
          </a:ln>
        </p:spPr>
      </p:sp>
      <p:pic>
        <p:nvPicPr>
          <p:cNvPr id="6" name="Image 0" descr="connector"/>
          <p:cNvPicPr>
            <a:picLocks noChangeAspect="1"/>
          </p:cNvPicPr>
          <p:nvPr/>
        </p:nvPicPr>
        <p:blipFill>
          <a:blip r:embed="rId3"/>
          <a:srcRect/>
          <a:stretch/>
        </p:blipFill>
        <p:spPr>
          <a:xfrm>
            <a:off x="1384300" y="2971800"/>
            <a:ext cx="1041400" cy="152400"/>
          </a:xfrm>
          <a:prstGeom prst="rect">
            <a:avLst/>
          </a:prstGeom>
        </p:spPr>
      </p:pic>
      <p:pic>
        <p:nvPicPr>
          <p:cNvPr id="7" name="Image 1" descr="connector"/>
          <p:cNvPicPr>
            <a:picLocks noChangeAspect="1"/>
          </p:cNvPicPr>
          <p:nvPr/>
        </p:nvPicPr>
        <p:blipFill>
          <a:blip r:embed="rId4"/>
          <a:srcRect/>
          <a:stretch/>
        </p:blipFill>
        <p:spPr>
          <a:xfrm>
            <a:off x="2298700" y="2997200"/>
            <a:ext cx="990600" cy="101600"/>
          </a:xfrm>
          <a:prstGeom prst="rect">
            <a:avLst/>
          </a:prstGeom>
        </p:spPr>
      </p:pic>
      <p:pic>
        <p:nvPicPr>
          <p:cNvPr id="8" name="Image 2" descr="connector"/>
          <p:cNvPicPr>
            <a:picLocks noChangeAspect="1"/>
          </p:cNvPicPr>
          <p:nvPr/>
        </p:nvPicPr>
        <p:blipFill>
          <a:blip r:embed="rId5"/>
          <a:srcRect/>
          <a:stretch/>
        </p:blipFill>
        <p:spPr>
          <a:xfrm>
            <a:off x="6464300" y="2971800"/>
            <a:ext cx="1930400" cy="152400"/>
          </a:xfrm>
          <a:prstGeom prst="rect">
            <a:avLst/>
          </a:prstGeom>
        </p:spPr>
      </p:pic>
      <p:pic>
        <p:nvPicPr>
          <p:cNvPr id="9" name="Image 3" descr="connector"/>
          <p:cNvPicPr>
            <a:picLocks noChangeAspect="1"/>
          </p:cNvPicPr>
          <p:nvPr/>
        </p:nvPicPr>
        <p:blipFill>
          <a:blip r:embed="rId6"/>
          <a:srcRect/>
          <a:stretch/>
        </p:blipFill>
        <p:spPr>
          <a:xfrm>
            <a:off x="8318500" y="3517900"/>
            <a:ext cx="596900" cy="101600"/>
          </a:xfrm>
          <a:prstGeom prst="rect">
            <a:avLst/>
          </a:prstGeom>
        </p:spPr>
      </p:pic>
      <p:sp>
        <p:nvSpPr>
          <p:cNvPr id="10" name="Text 4"/>
          <p:cNvSpPr/>
          <p:nvPr/>
        </p:nvSpPr>
        <p:spPr>
          <a:xfrm>
            <a:off x="1016000" y="201930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GITHUB · origin</a:t>
            </a:r>
            <a:endParaRPr lang="en-US" sz="1300" dirty="0"/>
          </a:p>
        </p:txBody>
      </p:sp>
      <p:sp>
        <p:nvSpPr>
          <p:cNvPr id="11" name="Text 5"/>
          <p:cNvSpPr/>
          <p:nvPr/>
        </p:nvSpPr>
        <p:spPr>
          <a:xfrm>
            <a:off x="6096000" y="2019300"/>
            <a:ext cx="45783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SENİN BİLGİSAYARIN</a:t>
            </a:r>
            <a:endParaRPr lang="en-US" sz="1300" dirty="0"/>
          </a:p>
        </p:txBody>
      </p:sp>
      <p:sp>
        <p:nvSpPr>
          <p:cNvPr id="12" name="Text 6"/>
          <p:cNvSpPr/>
          <p:nvPr/>
        </p:nvSpPr>
        <p:spPr>
          <a:xfrm>
            <a:off x="117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3" name="Text 7"/>
          <p:cNvSpPr/>
          <p:nvPr/>
        </p:nvSpPr>
        <p:spPr>
          <a:xfrm>
            <a:off x="206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4" name="Text 8"/>
          <p:cNvSpPr/>
          <p:nvPr/>
        </p:nvSpPr>
        <p:spPr>
          <a:xfrm>
            <a:off x="2962275" y="2771775"/>
            <a:ext cx="552450" cy="552252"/>
          </a:xfrm>
          <a:custGeom>
            <a:avLst/>
            <a:gdLst/>
            <a:ahLst/>
            <a:cxnLst/>
            <a:rect l="l" t="t" r="r" b="b"/>
            <a:pathLst>
              <a:path w="552450" h="552252">
                <a:moveTo>
                  <a:pt x="276126" y="0"/>
                </a:moveTo>
                <a:lnTo>
                  <a:pt x="276324" y="0"/>
                </a:lnTo>
                <a:arcTo wR="276126" hR="276126" stAng="16200000" swAng="5400000"/>
                <a:lnTo>
                  <a:pt x="552450" y="276126"/>
                </a:lnTo>
                <a:arcTo wR="276126" hR="276126" stAng="0" swAng="5400000"/>
                <a:lnTo>
                  <a:pt x="276126" y="552252"/>
                </a:lnTo>
                <a:arcTo wR="276126" hR="276126" stAng="5400000" swAng="5400000"/>
                <a:lnTo>
                  <a:pt x="0" y="276126"/>
                </a:lnTo>
                <a:arcTo wR="276126" hR="276126" stAng="10800000" swAng="5400000"/>
                <a:close/>
              </a:path>
            </a:pathLst>
          </a:custGeom>
          <a:solidFill>
            <a:srgbClr val="26323F"/>
          </a:solidFill>
          <a:ln w="19050">
            <a:solidFill>
              <a:srgbClr val="F7A46B"/>
            </a:solidFill>
            <a:prstDash val="dash"/>
          </a:ln>
        </p:spPr>
        <p:txBody>
          <a:bodyPr wrap="square" lIns="0" tIns="9525" rIns="0" bIns="0" rtlCol="0" anchor="t">
            <a:normAutofit/>
          </a:bodyPr>
          <a:lstStyle/>
          <a:p>
            <a:pPr marL="0" indent="0" algn="ctr">
              <a:lnSpc>
                <a:spcPts val="4199"/>
              </a:lnSpc>
              <a:buNone/>
            </a:pPr>
            <a:r>
              <a:rPr lang="en-US" sz="1300" b="1" dirty="0">
                <a:solidFill>
                  <a:srgbClr val="F7A46B"/>
                </a:solidFill>
                <a:latin typeface="JetBrains Mono" pitchFamily="34" charset="0"/>
                <a:ea typeface="JetBrains Mono" pitchFamily="34" charset="-122"/>
                <a:cs typeface="JetBrains Mono" pitchFamily="34" charset="-120"/>
              </a:rPr>
              <a:t>C3</a:t>
            </a:r>
            <a:endParaRPr lang="en-US" sz="1300" dirty="0"/>
          </a:p>
        </p:txBody>
      </p:sp>
      <p:sp>
        <p:nvSpPr>
          <p:cNvPr id="15" name="Text 9"/>
          <p:cNvSpPr/>
          <p:nvPr/>
        </p:nvSpPr>
        <p:spPr>
          <a:xfrm>
            <a:off x="1968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F7A46B"/>
          </a:solidFill>
          <a:ln/>
        </p:spPr>
        <p:txBody>
          <a:bodyPr wrap="square" lIns="0" tIns="0" rIns="0" bIns="0" rtlCol="0" anchor="t">
            <a:normAutofit/>
          </a:bodyPr>
          <a:lstStyle/>
          <a:p>
            <a:pPr marL="0" indent="0" algn="ctr">
              <a:lnSpc>
                <a:spcPts val="2197"/>
              </a:lnSpc>
              <a:buNone/>
            </a:pPr>
            <a:r>
              <a:rPr lang="en-US" sz="1300" b="1" dirty="0">
                <a:solidFill>
                  <a:srgbClr val="16202C"/>
                </a:solidFill>
                <a:latin typeface="JetBrains Mono" pitchFamily="34" charset="0"/>
                <a:ea typeface="JetBrains Mono" pitchFamily="34" charset="-122"/>
                <a:cs typeface="JetBrains Mono" pitchFamily="34" charset="-120"/>
              </a:rPr>
              <a:t>main</a:t>
            </a:r>
            <a:endParaRPr lang="en-US" sz="1300" dirty="0"/>
          </a:p>
        </p:txBody>
      </p:sp>
      <p:sp>
        <p:nvSpPr>
          <p:cNvPr id="16" name="Text 10"/>
          <p:cNvSpPr/>
          <p:nvPr/>
        </p:nvSpPr>
        <p:spPr>
          <a:xfrm>
            <a:off x="2641600" y="3460750"/>
            <a:ext cx="1701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push ile gelir</a:t>
            </a:r>
            <a:endParaRPr lang="en-US" sz="1300" dirty="0"/>
          </a:p>
        </p:txBody>
      </p:sp>
      <p:sp>
        <p:nvSpPr>
          <p:cNvPr id="17" name="Text 11"/>
          <p:cNvSpPr/>
          <p:nvPr/>
        </p:nvSpPr>
        <p:spPr>
          <a:xfrm>
            <a:off x="625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8" name="Text 12"/>
          <p:cNvSpPr/>
          <p:nvPr/>
        </p:nvSpPr>
        <p:spPr>
          <a:xfrm>
            <a:off x="714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9" name="Text 13"/>
          <p:cNvSpPr/>
          <p:nvPr/>
        </p:nvSpPr>
        <p:spPr>
          <a:xfrm>
            <a:off x="8032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F08C4B"/>
          </a:solidFill>
          <a:ln/>
        </p:spPr>
        <p:txBody>
          <a:bodyPr wrap="square" lIns="0" tIns="0" rIns="0" bIns="0" rtlCol="0" anchor="t">
            <a:normAutofit/>
          </a:bodyPr>
          <a:lstStyle/>
          <a:p>
            <a:pPr marL="0" indent="0" algn="ctr">
              <a:lnSpc>
                <a:spcPts val="4498"/>
              </a:lnSpc>
              <a:buNone/>
            </a:pPr>
            <a:r>
              <a:rPr lang="en-US" sz="1300" b="1" dirty="0">
                <a:solidFill>
                  <a:srgbClr val="16202C"/>
                </a:solidFill>
                <a:latin typeface="JetBrains Mono" pitchFamily="34" charset="0"/>
                <a:ea typeface="JetBrains Mono" pitchFamily="34" charset="-122"/>
                <a:cs typeface="JetBrains Mono" pitchFamily="34" charset="-120"/>
              </a:rPr>
              <a:t>C3</a:t>
            </a:r>
            <a:endParaRPr lang="en-US" sz="1300" dirty="0"/>
          </a:p>
        </p:txBody>
      </p:sp>
      <p:sp>
        <p:nvSpPr>
          <p:cNvPr id="20" name="Text 14"/>
          <p:cNvSpPr/>
          <p:nvPr/>
        </p:nvSpPr>
        <p:spPr>
          <a:xfrm>
            <a:off x="793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2F6FDB"/>
          </a:solidFill>
          <a:ln/>
        </p:spPr>
        <p:txBody>
          <a:bodyPr wrap="square" lIns="0" tIns="0" rIns="0" bIns="0" rtlCol="0" anchor="t">
            <a:normAutofit/>
          </a:bodyPr>
          <a:lstStyle/>
          <a:p>
            <a:pPr marL="0" indent="0" algn="ctr">
              <a:lnSpc>
                <a:spcPts val="2197"/>
              </a:lnSpc>
              <a:buNone/>
            </a:pPr>
            <a:r>
              <a:rPr lang="en-US" sz="1300" b="1" dirty="0">
                <a:solidFill>
                  <a:srgbClr val="F6F4EE"/>
                </a:solidFill>
                <a:latin typeface="JetBrains Mono" pitchFamily="34" charset="0"/>
                <a:ea typeface="JetBrains Mono" pitchFamily="34" charset="-122"/>
                <a:cs typeface="JetBrains Mono" pitchFamily="34" charset="-120"/>
              </a:rPr>
              <a:t>main</a:t>
            </a:r>
            <a:endParaRPr lang="en-US" sz="1300" dirty="0"/>
          </a:p>
        </p:txBody>
      </p:sp>
      <p:sp>
        <p:nvSpPr>
          <p:cNvPr id="21" name="Text 15"/>
          <p:cNvSpPr/>
          <p:nvPr/>
        </p:nvSpPr>
        <p:spPr>
          <a:xfrm>
            <a:off x="6769100" y="3435350"/>
            <a:ext cx="1320800" cy="266700"/>
          </a:xfrm>
          <a:custGeom>
            <a:avLst/>
            <a:gdLst/>
            <a:ahLst/>
            <a:cxnLst/>
            <a:rect l="l" t="t" r="r" b="b"/>
            <a:pathLst>
              <a:path w="1320800" h="266700">
                <a:moveTo>
                  <a:pt x="133350" y="0"/>
                </a:moveTo>
                <a:lnTo>
                  <a:pt x="1187450" y="0"/>
                </a:lnTo>
                <a:arcTo wR="133350" hR="133350" stAng="16200000" swAng="5400000"/>
                <a:lnTo>
                  <a:pt x="1320800" y="133350"/>
                </a:lnTo>
                <a:arcTo wR="133350" hR="133350" stAng="0" swAng="5400000"/>
                <a:lnTo>
                  <a:pt x="133350" y="266700"/>
                </a:lnTo>
                <a:arcTo wR="133350" hR="133350" stAng="5400000" swAng="5400000"/>
                <a:lnTo>
                  <a:pt x="0" y="133350"/>
                </a:lnTo>
                <a:arcTo wR="133350" hR="133350" stAng="10800000" swAng="5400000"/>
                <a:close/>
              </a:path>
            </a:pathLst>
          </a:custGeom>
          <a:solidFill>
            <a:srgbClr val="E3ECFB"/>
          </a:solidFill>
          <a:ln w="12700">
            <a:solidFill>
              <a:srgbClr val="2F6FDB"/>
            </a:solidFill>
            <a:prstDash val="solid"/>
          </a:ln>
        </p:spPr>
        <p:txBody>
          <a:bodyPr wrap="square" lIns="0" tIns="6350" rIns="0" bIns="0" rtlCol="0" anchor="t">
            <a:normAutofit/>
          </a:bodyPr>
          <a:lstStyle/>
          <a:p>
            <a:pPr marL="0" indent="0" algn="ctr">
              <a:lnSpc>
                <a:spcPts val="2002"/>
              </a:lnSpc>
              <a:buNone/>
            </a:pPr>
            <a:r>
              <a:rPr lang="en-US" sz="1300" b="1" dirty="0">
                <a:solidFill>
                  <a:srgbClr val="16202C"/>
                </a:solidFill>
                <a:latin typeface="JetBrains Mono" pitchFamily="34" charset="0"/>
                <a:ea typeface="JetBrains Mono" pitchFamily="34" charset="-122"/>
                <a:cs typeface="JetBrains Mono" pitchFamily="34" charset="-120"/>
              </a:rPr>
              <a:t>origin/main</a:t>
            </a:r>
            <a:endParaRPr lang="en-US" sz="1300" dirty="0"/>
          </a:p>
        </p:txBody>
      </p:sp>
      <p:sp>
        <p:nvSpPr>
          <p:cNvPr id="22" name="Text 16"/>
          <p:cNvSpPr/>
          <p:nvPr/>
        </p:nvSpPr>
        <p:spPr>
          <a:xfrm>
            <a:off x="8953500" y="3448050"/>
            <a:ext cx="222377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F6FDB"/>
                </a:solidFill>
                <a:latin typeface="IBM Plex Sans" pitchFamily="34" charset="0"/>
                <a:ea typeface="IBM Plex Sans" pitchFamily="34" charset="-122"/>
                <a:cs typeface="IBM Plex Sans" pitchFamily="34" charset="-120"/>
              </a:rPr>
              <a:t>push sonrası C3'e kayar</a:t>
            </a:r>
            <a:endParaRPr lang="en-US" sz="1300" dirty="0"/>
          </a:p>
        </p:txBody>
      </p:sp>
      <p:sp>
        <p:nvSpPr>
          <p:cNvPr id="23" name="Shape 17"/>
          <p:cNvSpPr/>
          <p:nvPr/>
        </p:nvSpPr>
        <p:spPr>
          <a:xfrm>
            <a:off x="819150" y="4222750"/>
            <a:ext cx="10553700" cy="1196975"/>
          </a:xfrm>
          <a:prstGeom prst="roundRect">
            <a:avLst>
              <a:gd name="adj" fmla="val 10080"/>
            </a:avLst>
          </a:prstGeom>
          <a:solidFill>
            <a:srgbClr val="FDFCF9"/>
          </a:solidFill>
          <a:ln w="12700">
            <a:solidFill>
              <a:srgbClr val="E2DDD0"/>
            </a:solidFill>
            <a:prstDash val="solid"/>
          </a:ln>
        </p:spPr>
      </p:sp>
      <p:sp>
        <p:nvSpPr>
          <p:cNvPr id="24" name="Text 18"/>
          <p:cNvSpPr/>
          <p:nvPr/>
        </p:nvSpPr>
        <p:spPr>
          <a:xfrm>
            <a:off x="1054100" y="4430117"/>
            <a:ext cx="3937000" cy="782241"/>
          </a:xfrm>
          <a:prstGeom prst="roundRect">
            <a:avLst>
              <a:gd name="adj" fmla="val 9741"/>
            </a:avLst>
          </a:prstGeom>
          <a:solidFill>
            <a:srgbClr val="16202C"/>
          </a:solidFill>
          <a:ln/>
        </p:spPr>
        <p:txBody>
          <a:bodyPr wrap="square" lIns="155482" tIns="104682" rIns="48040"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 </a:t>
            </a:r>
            <a:r>
              <a:rPr lang="en-US" sz="1300" dirty="0">
                <a:solidFill>
                  <a:srgbClr val="9AA7B6"/>
                </a:solidFill>
                <a:latin typeface="JetBrains Mono" pitchFamily="34" charset="0"/>
                <a:ea typeface="JetBrains Mono" pitchFamily="34" charset="-122"/>
                <a:cs typeface="JetBrains Mono" pitchFamily="34" charset="-120"/>
              </a:rPr>
              <a:t># upstream kuruluysa</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 origin main</a:t>
            </a:r>
            <a:endParaRPr lang="en-US" sz="1300" dirty="0"/>
          </a:p>
        </p:txBody>
      </p:sp>
      <p:sp>
        <p:nvSpPr>
          <p:cNvPr id="25" name="Text 19"/>
          <p:cNvSpPr/>
          <p:nvPr/>
        </p:nvSpPr>
        <p:spPr>
          <a:xfrm>
            <a:off x="5194300" y="4406900"/>
            <a:ext cx="6121908"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02C"/>
                </a:solidFill>
                <a:latin typeface="IBM Plex Sans" pitchFamily="34" charset="0"/>
                <a:ea typeface="IBM Plex Sans" pitchFamily="34" charset="-122"/>
                <a:cs typeface="IBM Plex Sans" pitchFamily="34" charset="-120"/>
              </a:rPr>
              <a:t>Senin commit'lerini GitHub'a yükler; origin/main de kendiliğinden ilerler. </a:t>
            </a:r>
            <a:r>
              <a:rPr lang="en-US" sz="1500" b="1" dirty="0">
                <a:solidFill>
                  <a:srgbClr val="16202C"/>
                </a:solidFill>
                <a:latin typeface="IBM Plex Sans" pitchFamily="34" charset="0"/>
                <a:ea typeface="IBM Plex Sans" pitchFamily="34" charset="-122"/>
                <a:cs typeface="IBM Plex Sans" pitchFamily="34" charset="-120"/>
              </a:rPr>
              <a:t>Sadece commit'ler gider:</a:t>
            </a:r>
            <a:r>
              <a:rPr lang="en-US" sz="1500" dirty="0">
                <a:solidFill>
                  <a:srgbClr val="16202C"/>
                </a:solidFill>
                <a:latin typeface="IBM Plex Sans" pitchFamily="34" charset="0"/>
                <a:ea typeface="IBM Plex Sans" pitchFamily="34" charset="-122"/>
                <a:cs typeface="IBM Plex Sans" pitchFamily="34" charset="-120"/>
              </a:rPr>
              <a:t> commit edilmemiş değişiklikler bilgisayarında kalır.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pic>
        <p:nvPicPr>
          <p:cNvPr id="3" name="Image 0" descr="Terminal: git remote show origin local out of date diyor, git pull origin master fast-forward yapıyor, sonra up to date"/>
          <p:cNvPicPr>
            <a:picLocks noChangeAspect="1"/>
          </p:cNvPicPr>
          <p:nvPr/>
        </p:nvPicPr>
        <p:blipFill>
          <a:blip r:embed="rId3"/>
          <a:srcRect t="-40" b="-40"/>
          <a:stretch/>
        </p:blipFill>
        <p:spPr>
          <a:xfrm>
            <a:off x="3616325" y="1379141"/>
            <a:ext cx="4959350" cy="4064000"/>
          </a:xfrm>
          <a:prstGeom prst="roundRect">
            <a:avLst>
              <a:gd name="adj" fmla="val 1875"/>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remote show origin</a:t>
            </a:r>
            <a:r>
              <a:rPr lang="en-US" sz="1500" dirty="0">
                <a:solidFill>
                  <a:srgbClr val="4A5566"/>
                </a:solidFill>
                <a:latin typeface="IBM Plex Sans" pitchFamily="34" charset="0"/>
                <a:ea typeface="IBM Plex Sans" pitchFamily="34" charset="-122"/>
                <a:cs typeface="IBM Plex Sans" pitchFamily="34" charset="-120"/>
              </a:rPr>
              <a:t> "local out of date" dedi; pull bir fast-forward yaptı.</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a:effectLst/>
      </p:bgPr>
    </p:bg>
    <p:spTree>
      <p:nvGrpSpPr>
        <p:cNvPr id="1" name=""/>
        <p:cNvGrpSpPr/>
        <p:nvPr/>
      </p:nvGrpSpPr>
      <p:grpSpPr>
        <a:xfrm>
          <a:off x="0" y="0"/>
          <a:ext cx="0" cy="0"/>
          <a:chOff x="0" y="0"/>
          <a:chExt cx="0" cy="0"/>
        </a:xfrm>
      </p:grpSpPr>
      <p:pic>
        <p:nvPicPr>
          <p:cNvPr id="2" name="Image 0" descr="Warning"/>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877820"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TUZAK · PUSH, FETCH, PULL</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Push reddedildi: önce çek</a:t>
            </a:r>
            <a:endParaRPr lang="en-US" sz="3600" dirty="0"/>
          </a:p>
        </p:txBody>
      </p:sp>
      <p:sp>
        <p:nvSpPr>
          <p:cNvPr id="5" name="Shape 2"/>
          <p:cNvSpPr/>
          <p:nvPr/>
        </p:nvSpPr>
        <p:spPr>
          <a:xfrm>
            <a:off x="812800" y="1905000"/>
            <a:ext cx="4699000" cy="2095500"/>
          </a:xfrm>
          <a:prstGeom prst="roundRect">
            <a:avLst>
              <a:gd name="adj" fmla="val 6061"/>
            </a:avLst>
          </a:prstGeom>
          <a:solidFill>
            <a:srgbClr val="16202C"/>
          </a:solidFill>
          <a:ln/>
        </p:spPr>
      </p:sp>
      <p:sp>
        <p:nvSpPr>
          <p:cNvPr id="6" name="Shape 3"/>
          <p:cNvSpPr/>
          <p:nvPr/>
        </p:nvSpPr>
        <p:spPr>
          <a:xfrm>
            <a:off x="5899150" y="1911350"/>
            <a:ext cx="5473700" cy="2082800"/>
          </a:xfrm>
          <a:prstGeom prst="roundRect">
            <a:avLst>
              <a:gd name="adj" fmla="val 5793"/>
            </a:avLst>
          </a:prstGeom>
          <a:solidFill>
            <a:srgbClr val="FDFCF9"/>
          </a:solidFill>
          <a:ln w="12700">
            <a:solidFill>
              <a:srgbClr val="E2DDD0"/>
            </a:solidFill>
            <a:prstDash val="solid"/>
          </a:ln>
        </p:spPr>
      </p:sp>
      <p:pic>
        <p:nvPicPr>
          <p:cNvPr id="7" name="Image 1" descr="connector"/>
          <p:cNvPicPr>
            <a:picLocks noChangeAspect="1"/>
          </p:cNvPicPr>
          <p:nvPr/>
        </p:nvPicPr>
        <p:blipFill>
          <a:blip r:embed="rId4"/>
          <a:srcRect/>
          <a:stretch/>
        </p:blipFill>
        <p:spPr>
          <a:xfrm>
            <a:off x="1384300" y="2971800"/>
            <a:ext cx="1930400" cy="152400"/>
          </a:xfrm>
          <a:prstGeom prst="rect">
            <a:avLst/>
          </a:prstGeom>
        </p:spPr>
      </p:pic>
      <p:pic>
        <p:nvPicPr>
          <p:cNvPr id="8" name="Image 2" descr="connector"/>
          <p:cNvPicPr>
            <a:picLocks noChangeAspect="1"/>
          </p:cNvPicPr>
          <p:nvPr/>
        </p:nvPicPr>
        <p:blipFill>
          <a:blip r:embed="rId5"/>
          <a:srcRect/>
          <a:stretch/>
        </p:blipFill>
        <p:spPr>
          <a:xfrm>
            <a:off x="6464300" y="2971800"/>
            <a:ext cx="1930400" cy="152400"/>
          </a:xfrm>
          <a:prstGeom prst="rect">
            <a:avLst/>
          </a:prstGeom>
        </p:spPr>
      </p:pic>
      <p:sp>
        <p:nvSpPr>
          <p:cNvPr id="9" name="Text 4"/>
          <p:cNvSpPr/>
          <p:nvPr/>
        </p:nvSpPr>
        <p:spPr>
          <a:xfrm>
            <a:off x="1016000" y="201930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GITHUB · origin</a:t>
            </a:r>
            <a:endParaRPr lang="en-US" sz="1300" dirty="0"/>
          </a:p>
        </p:txBody>
      </p:sp>
      <p:sp>
        <p:nvSpPr>
          <p:cNvPr id="10" name="Text 5"/>
          <p:cNvSpPr/>
          <p:nvPr/>
        </p:nvSpPr>
        <p:spPr>
          <a:xfrm>
            <a:off x="6096000" y="2019300"/>
            <a:ext cx="45783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SENİN BİLGİSAYARIN</a:t>
            </a:r>
            <a:endParaRPr lang="en-US" sz="1300" dirty="0"/>
          </a:p>
        </p:txBody>
      </p:sp>
      <p:sp>
        <p:nvSpPr>
          <p:cNvPr id="11" name="Text 6"/>
          <p:cNvSpPr/>
          <p:nvPr/>
        </p:nvSpPr>
        <p:spPr>
          <a:xfrm>
            <a:off x="117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2" name="Text 7"/>
          <p:cNvSpPr/>
          <p:nvPr/>
        </p:nvSpPr>
        <p:spPr>
          <a:xfrm>
            <a:off x="206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3" name="Text 8"/>
          <p:cNvSpPr/>
          <p:nvPr/>
        </p:nvSpPr>
        <p:spPr>
          <a:xfrm>
            <a:off x="2965450" y="2774950"/>
            <a:ext cx="546100" cy="545405"/>
          </a:xfrm>
          <a:custGeom>
            <a:avLst/>
            <a:gdLst/>
            <a:ahLst/>
            <a:cxnLst/>
            <a:rect l="l" t="t" r="r" b="b"/>
            <a:pathLst>
              <a:path w="546100" h="545405">
                <a:moveTo>
                  <a:pt x="272703" y="0"/>
                </a:moveTo>
                <a:lnTo>
                  <a:pt x="273397" y="0"/>
                </a:lnTo>
                <a:arcTo wR="272703" hR="272703" stAng="16200000" swAng="5400000"/>
                <a:lnTo>
                  <a:pt x="546100" y="272703"/>
                </a:lnTo>
                <a:arcTo wR="272703" hR="272703" stAng="0" swAng="5400000"/>
                <a:lnTo>
                  <a:pt x="272703" y="545405"/>
                </a:lnTo>
                <a:arcTo wR="272703" hR="272703" stAng="5400000" swAng="5400000"/>
                <a:lnTo>
                  <a:pt x="0" y="272703"/>
                </a:lnTo>
                <a:arcTo wR="272703" hR="272703" stAng="10800000" swAng="5400000"/>
                <a:close/>
              </a:path>
            </a:pathLst>
          </a:custGeom>
          <a:solidFill>
            <a:srgbClr val="DCE7FA"/>
          </a:solidFill>
          <a:ln w="25400">
            <a:solidFill>
              <a:srgbClr val="7FA6EA"/>
            </a:solidFill>
            <a:prstDash val="solid"/>
          </a:ln>
        </p:spPr>
        <p:txBody>
          <a:bodyPr wrap="square" lIns="0" tIns="12700" rIns="0" bIns="0" rtlCol="0" anchor="t">
            <a:normAutofit/>
          </a:bodyPr>
          <a:lstStyle/>
          <a:p>
            <a:pPr marL="0" indent="0" algn="ctr">
              <a:lnSpc>
                <a:spcPts val="4095"/>
              </a:lnSpc>
              <a:buNone/>
            </a:pPr>
            <a:r>
              <a:rPr lang="en-US" sz="1300" b="1" dirty="0">
                <a:solidFill>
                  <a:srgbClr val="16202C"/>
                </a:solidFill>
                <a:latin typeface="JetBrains Mono" pitchFamily="34" charset="0"/>
                <a:ea typeface="JetBrains Mono" pitchFamily="34" charset="-122"/>
                <a:cs typeface="JetBrains Mono" pitchFamily="34" charset="-120"/>
              </a:rPr>
              <a:t>D</a:t>
            </a:r>
            <a:endParaRPr lang="en-US" sz="1300" dirty="0"/>
          </a:p>
        </p:txBody>
      </p:sp>
      <p:sp>
        <p:nvSpPr>
          <p:cNvPr id="14" name="Text 9"/>
          <p:cNvSpPr/>
          <p:nvPr/>
        </p:nvSpPr>
        <p:spPr>
          <a:xfrm>
            <a:off x="285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F7A46B"/>
          </a:solidFill>
          <a:ln/>
        </p:spPr>
        <p:txBody>
          <a:bodyPr wrap="square" lIns="0" tIns="0" rIns="0" bIns="0" rtlCol="0" anchor="t">
            <a:normAutofit/>
          </a:bodyPr>
          <a:lstStyle/>
          <a:p>
            <a:pPr marL="0" indent="0" algn="ctr">
              <a:lnSpc>
                <a:spcPts val="2197"/>
              </a:lnSpc>
              <a:buNone/>
            </a:pPr>
            <a:r>
              <a:rPr lang="en-US" sz="1300" b="1" dirty="0">
                <a:solidFill>
                  <a:srgbClr val="16202C"/>
                </a:solidFill>
                <a:latin typeface="JetBrains Mono" pitchFamily="34" charset="0"/>
                <a:ea typeface="JetBrains Mono" pitchFamily="34" charset="-122"/>
                <a:cs typeface="JetBrains Mono" pitchFamily="34" charset="-120"/>
              </a:rPr>
              <a:t>main</a:t>
            </a:r>
            <a:endParaRPr lang="en-US" sz="1300" dirty="0"/>
          </a:p>
        </p:txBody>
      </p:sp>
      <p:sp>
        <p:nvSpPr>
          <p:cNvPr id="15" name="Text 10"/>
          <p:cNvSpPr/>
          <p:nvPr/>
        </p:nvSpPr>
        <p:spPr>
          <a:xfrm>
            <a:off x="2374900" y="3460750"/>
            <a:ext cx="26162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B8C4D1"/>
                </a:solidFill>
                <a:latin typeface="IBM Plex Sans" pitchFamily="34" charset="0"/>
                <a:ea typeface="IBM Plex Sans" pitchFamily="34" charset="-122"/>
                <a:cs typeface="IBM Plex Sans" pitchFamily="34" charset="-120"/>
              </a:rPr>
              <a:t>D: arkadaşının commit'i</a:t>
            </a:r>
            <a:endParaRPr lang="en-US" sz="1300" dirty="0"/>
          </a:p>
        </p:txBody>
      </p:sp>
      <p:sp>
        <p:nvSpPr>
          <p:cNvPr id="16" name="Text 11"/>
          <p:cNvSpPr/>
          <p:nvPr/>
        </p:nvSpPr>
        <p:spPr>
          <a:xfrm>
            <a:off x="625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7" name="Text 12"/>
          <p:cNvSpPr/>
          <p:nvPr/>
        </p:nvSpPr>
        <p:spPr>
          <a:xfrm>
            <a:off x="714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8" name="Text 13"/>
          <p:cNvSpPr/>
          <p:nvPr/>
        </p:nvSpPr>
        <p:spPr>
          <a:xfrm>
            <a:off x="8032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F08C4B"/>
          </a:solidFill>
          <a:ln/>
        </p:spPr>
        <p:txBody>
          <a:bodyPr wrap="square" lIns="0" tIns="0" rIns="0" bIns="0" rtlCol="0" anchor="t">
            <a:normAutofit/>
          </a:bodyPr>
          <a:lstStyle/>
          <a:p>
            <a:pPr marL="0" indent="0" algn="ctr">
              <a:lnSpc>
                <a:spcPts val="4498"/>
              </a:lnSpc>
              <a:buNone/>
            </a:pPr>
            <a:r>
              <a:rPr lang="en-US" sz="1300" b="1" dirty="0">
                <a:solidFill>
                  <a:srgbClr val="16202C"/>
                </a:solidFill>
                <a:latin typeface="JetBrains Mono" pitchFamily="34" charset="0"/>
                <a:ea typeface="JetBrains Mono" pitchFamily="34" charset="-122"/>
                <a:cs typeface="JetBrains Mono" pitchFamily="34" charset="-120"/>
              </a:rPr>
              <a:t>C3</a:t>
            </a:r>
            <a:endParaRPr lang="en-US" sz="1300" dirty="0"/>
          </a:p>
        </p:txBody>
      </p:sp>
      <p:sp>
        <p:nvSpPr>
          <p:cNvPr id="19" name="Text 14"/>
          <p:cNvSpPr/>
          <p:nvPr/>
        </p:nvSpPr>
        <p:spPr>
          <a:xfrm>
            <a:off x="793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2F6FDB"/>
          </a:solidFill>
          <a:ln/>
        </p:spPr>
        <p:txBody>
          <a:bodyPr wrap="square" lIns="0" tIns="0" rIns="0" bIns="0" rtlCol="0" anchor="t">
            <a:normAutofit/>
          </a:bodyPr>
          <a:lstStyle/>
          <a:p>
            <a:pPr marL="0" indent="0" algn="ctr">
              <a:lnSpc>
                <a:spcPts val="2197"/>
              </a:lnSpc>
              <a:buNone/>
            </a:pPr>
            <a:r>
              <a:rPr lang="en-US" sz="1300" b="1" dirty="0">
                <a:solidFill>
                  <a:srgbClr val="F6F4EE"/>
                </a:solidFill>
                <a:latin typeface="JetBrains Mono" pitchFamily="34" charset="0"/>
                <a:ea typeface="JetBrains Mono" pitchFamily="34" charset="-122"/>
                <a:cs typeface="JetBrains Mono" pitchFamily="34" charset="-120"/>
              </a:rPr>
              <a:t>main</a:t>
            </a:r>
            <a:endParaRPr lang="en-US" sz="1300" dirty="0"/>
          </a:p>
        </p:txBody>
      </p:sp>
      <p:sp>
        <p:nvSpPr>
          <p:cNvPr id="20" name="Text 15"/>
          <p:cNvSpPr/>
          <p:nvPr/>
        </p:nvSpPr>
        <p:spPr>
          <a:xfrm>
            <a:off x="6769100" y="3435350"/>
            <a:ext cx="1320800" cy="266700"/>
          </a:xfrm>
          <a:custGeom>
            <a:avLst/>
            <a:gdLst/>
            <a:ahLst/>
            <a:cxnLst/>
            <a:rect l="l" t="t" r="r" b="b"/>
            <a:pathLst>
              <a:path w="1320800" h="266700">
                <a:moveTo>
                  <a:pt x="133350" y="0"/>
                </a:moveTo>
                <a:lnTo>
                  <a:pt x="1187450" y="0"/>
                </a:lnTo>
                <a:arcTo wR="133350" hR="133350" stAng="16200000" swAng="5400000"/>
                <a:lnTo>
                  <a:pt x="1320800" y="133350"/>
                </a:lnTo>
                <a:arcTo wR="133350" hR="133350" stAng="0" swAng="5400000"/>
                <a:lnTo>
                  <a:pt x="133350" y="266700"/>
                </a:lnTo>
                <a:arcTo wR="133350" hR="133350" stAng="5400000" swAng="5400000"/>
                <a:lnTo>
                  <a:pt x="0" y="133350"/>
                </a:lnTo>
                <a:arcTo wR="133350" hR="133350" stAng="10800000" swAng="5400000"/>
                <a:close/>
              </a:path>
            </a:pathLst>
          </a:custGeom>
          <a:solidFill>
            <a:srgbClr val="E3ECFB"/>
          </a:solidFill>
          <a:ln w="12700">
            <a:solidFill>
              <a:srgbClr val="2F6FDB"/>
            </a:solidFill>
            <a:prstDash val="solid"/>
          </a:ln>
        </p:spPr>
        <p:txBody>
          <a:bodyPr wrap="square" lIns="0" tIns="6350" rIns="0" bIns="0" rtlCol="0" anchor="t">
            <a:normAutofit/>
          </a:bodyPr>
          <a:lstStyle/>
          <a:p>
            <a:pPr marL="0" indent="0" algn="ctr">
              <a:lnSpc>
                <a:spcPts val="2002"/>
              </a:lnSpc>
              <a:buNone/>
            </a:pPr>
            <a:r>
              <a:rPr lang="en-US" sz="1300" b="1" dirty="0">
                <a:solidFill>
                  <a:srgbClr val="16202C"/>
                </a:solidFill>
                <a:latin typeface="JetBrains Mono" pitchFamily="34" charset="0"/>
                <a:ea typeface="JetBrains Mono" pitchFamily="34" charset="-122"/>
                <a:cs typeface="JetBrains Mono" pitchFamily="34" charset="-120"/>
              </a:rPr>
              <a:t>origin/main</a:t>
            </a:r>
            <a:endParaRPr lang="en-US" sz="1300" dirty="0"/>
          </a:p>
        </p:txBody>
      </p:sp>
      <p:sp>
        <p:nvSpPr>
          <p:cNvPr id="21" name="Text 16"/>
          <p:cNvSpPr/>
          <p:nvPr/>
        </p:nvSpPr>
        <p:spPr>
          <a:xfrm>
            <a:off x="8890000" y="2857500"/>
            <a:ext cx="23545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IBM Plex Sans" pitchFamily="34" charset="0"/>
                <a:ea typeface="IBM Plex Sans" pitchFamily="34" charset="-122"/>
                <a:cs typeface="IBM Plex Sans" pitchFamily="34" charset="-120"/>
              </a:rPr>
              <a:t>C3 senin, D'den habersiz</a:t>
            </a:r>
            <a:endParaRPr lang="en-US" sz="1300" dirty="0"/>
          </a:p>
        </p:txBody>
      </p:sp>
      <p:sp>
        <p:nvSpPr>
          <p:cNvPr id="22" name="Shape 17"/>
          <p:cNvSpPr/>
          <p:nvPr/>
        </p:nvSpPr>
        <p:spPr>
          <a:xfrm>
            <a:off x="812800" y="4216400"/>
            <a:ext cx="10566400" cy="1401961"/>
          </a:xfrm>
          <a:prstGeom prst="roundRect">
            <a:avLst>
              <a:gd name="adj" fmla="val 9059"/>
            </a:avLst>
          </a:prstGeom>
          <a:solidFill>
            <a:srgbClr val="FBE9DC"/>
          </a:solidFill>
          <a:ln/>
        </p:spPr>
      </p:sp>
      <p:sp>
        <p:nvSpPr>
          <p:cNvPr id="23" name="Text 18"/>
          <p:cNvSpPr/>
          <p:nvPr/>
        </p:nvSpPr>
        <p:spPr>
          <a:xfrm>
            <a:off x="1041400" y="4394200"/>
            <a:ext cx="4445000" cy="1046361"/>
          </a:xfrm>
          <a:prstGeom prst="roundRect">
            <a:avLst>
              <a:gd name="adj" fmla="val 7282"/>
            </a:avLst>
          </a:prstGeom>
          <a:solidFill>
            <a:srgbClr val="16202C"/>
          </a:solidFill>
          <a:ln/>
        </p:spPr>
        <p:txBody>
          <a:bodyPr wrap="square" lIns="155482" tIns="104682" rIns="32800" bIns="79282" rtlCol="0" anchor="t">
            <a:normAutofit/>
          </a:bodyPr>
          <a:lstStyle/>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 [rejected] main -&gt; main (fetch first)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pull </a:t>
            </a:r>
            <a:r>
              <a:rPr lang="en-US" sz="1300" dirty="0">
                <a:solidFill>
                  <a:srgbClr val="9AA7B6"/>
                </a:solidFill>
                <a:latin typeface="JetBrains Mono" pitchFamily="34" charset="0"/>
                <a:ea typeface="JetBrains Mono" pitchFamily="34" charset="-122"/>
                <a:cs typeface="JetBrains Mono" pitchFamily="34" charset="-120"/>
              </a:rPr>
              <a:t># önce D'yi al</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 </a:t>
            </a:r>
            <a:r>
              <a:rPr lang="en-US" sz="1300" dirty="0">
                <a:solidFill>
                  <a:srgbClr val="9AA7B6"/>
                </a:solidFill>
                <a:latin typeface="JetBrains Mono" pitchFamily="34" charset="0"/>
                <a:ea typeface="JetBrains Mono" pitchFamily="34" charset="-122"/>
                <a:cs typeface="JetBrains Mono" pitchFamily="34" charset="-120"/>
              </a:rPr>
              <a:t># sonra gönder</a:t>
            </a:r>
            <a:endParaRPr lang="en-US" sz="1300" dirty="0"/>
          </a:p>
        </p:txBody>
      </p:sp>
      <p:sp>
        <p:nvSpPr>
          <p:cNvPr id="24" name="Text 19"/>
          <p:cNvSpPr/>
          <p:nvPr/>
        </p:nvSpPr>
        <p:spPr>
          <a:xfrm>
            <a:off x="5689600" y="4641155"/>
            <a:ext cx="562483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02C"/>
                </a:solidFill>
                <a:latin typeface="IBM Plex Sans" pitchFamily="34" charset="0"/>
                <a:ea typeface="IBM Plex Sans" pitchFamily="34" charset="-122"/>
                <a:cs typeface="IBM Plex Sans" pitchFamily="34" charset="-120"/>
              </a:rPr>
              <a:t>Git, D'yi ezmemek için push'u reddeder. </a:t>
            </a:r>
            <a:r>
              <a:rPr lang="en-US" sz="1500" b="1" dirty="0">
                <a:solidFill>
                  <a:srgbClr val="16202C"/>
                </a:solidFill>
                <a:latin typeface="IBM Plex Sans" pitchFamily="34" charset="0"/>
                <a:ea typeface="IBM Plex Sans" pitchFamily="34" charset="-122"/>
                <a:cs typeface="IBM Plex Sans" pitchFamily="34" charset="-120"/>
              </a:rPr>
              <a:t>İlk refleks asla --force olmamalı.</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git fetch: bak ama dokunma</a:t>
            </a:r>
            <a:endParaRPr lang="en-US" sz="3600" dirty="0"/>
          </a:p>
        </p:txBody>
      </p:sp>
      <p:sp>
        <p:nvSpPr>
          <p:cNvPr id="4" name="Shape 2"/>
          <p:cNvSpPr/>
          <p:nvPr/>
        </p:nvSpPr>
        <p:spPr>
          <a:xfrm>
            <a:off x="812800" y="1905000"/>
            <a:ext cx="4699000" cy="2095500"/>
          </a:xfrm>
          <a:prstGeom prst="roundRect">
            <a:avLst>
              <a:gd name="adj" fmla="val 6061"/>
            </a:avLst>
          </a:prstGeom>
          <a:solidFill>
            <a:srgbClr val="16202C"/>
          </a:solidFill>
          <a:ln/>
        </p:spPr>
      </p:sp>
      <p:sp>
        <p:nvSpPr>
          <p:cNvPr id="5" name="Shape 3"/>
          <p:cNvSpPr/>
          <p:nvPr/>
        </p:nvSpPr>
        <p:spPr>
          <a:xfrm>
            <a:off x="5899150" y="1911350"/>
            <a:ext cx="5473700" cy="2082800"/>
          </a:xfrm>
          <a:prstGeom prst="roundRect">
            <a:avLst>
              <a:gd name="adj" fmla="val 5793"/>
            </a:avLst>
          </a:prstGeom>
          <a:solidFill>
            <a:srgbClr val="FDFCF9"/>
          </a:solidFill>
          <a:ln w="12700">
            <a:solidFill>
              <a:srgbClr val="E2DDD0"/>
            </a:solidFill>
            <a:prstDash val="solid"/>
          </a:ln>
        </p:spPr>
      </p:sp>
      <p:pic>
        <p:nvPicPr>
          <p:cNvPr id="6" name="Image 0" descr="connector"/>
          <p:cNvPicPr>
            <a:picLocks noChangeAspect="1"/>
          </p:cNvPicPr>
          <p:nvPr/>
        </p:nvPicPr>
        <p:blipFill>
          <a:blip r:embed="rId3"/>
          <a:srcRect/>
          <a:stretch/>
        </p:blipFill>
        <p:spPr>
          <a:xfrm>
            <a:off x="1384300" y="2971800"/>
            <a:ext cx="1930400" cy="152400"/>
          </a:xfrm>
          <a:prstGeom prst="rect">
            <a:avLst/>
          </a:prstGeom>
        </p:spPr>
      </p:pic>
      <p:pic>
        <p:nvPicPr>
          <p:cNvPr id="7" name="Image 1" descr="connector"/>
          <p:cNvPicPr>
            <a:picLocks noChangeAspect="1"/>
          </p:cNvPicPr>
          <p:nvPr/>
        </p:nvPicPr>
        <p:blipFill>
          <a:blip r:embed="rId4"/>
          <a:srcRect/>
          <a:stretch/>
        </p:blipFill>
        <p:spPr>
          <a:xfrm>
            <a:off x="6464300" y="2971800"/>
            <a:ext cx="1041400" cy="152400"/>
          </a:xfrm>
          <a:prstGeom prst="rect">
            <a:avLst/>
          </a:prstGeom>
        </p:spPr>
      </p:pic>
      <p:pic>
        <p:nvPicPr>
          <p:cNvPr id="8" name="Image 2" descr="connector"/>
          <p:cNvPicPr>
            <a:picLocks noChangeAspect="1"/>
          </p:cNvPicPr>
          <p:nvPr/>
        </p:nvPicPr>
        <p:blipFill>
          <a:blip r:embed="rId5"/>
          <a:srcRect/>
          <a:stretch/>
        </p:blipFill>
        <p:spPr>
          <a:xfrm>
            <a:off x="7353300" y="2971800"/>
            <a:ext cx="1041400" cy="152400"/>
          </a:xfrm>
          <a:prstGeom prst="rect">
            <a:avLst/>
          </a:prstGeom>
        </p:spPr>
      </p:pic>
      <p:sp>
        <p:nvSpPr>
          <p:cNvPr id="9" name="Text 4"/>
          <p:cNvSpPr/>
          <p:nvPr/>
        </p:nvSpPr>
        <p:spPr>
          <a:xfrm>
            <a:off x="1016000" y="201930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GITHUB · origin</a:t>
            </a:r>
            <a:endParaRPr lang="en-US" sz="1300" dirty="0"/>
          </a:p>
        </p:txBody>
      </p:sp>
      <p:sp>
        <p:nvSpPr>
          <p:cNvPr id="10" name="Text 5"/>
          <p:cNvSpPr/>
          <p:nvPr/>
        </p:nvSpPr>
        <p:spPr>
          <a:xfrm>
            <a:off x="6096000" y="2019300"/>
            <a:ext cx="45783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SENİN BİLGİSAYARIN · FETCH SONRASI</a:t>
            </a:r>
            <a:endParaRPr lang="en-US" sz="1300" dirty="0"/>
          </a:p>
        </p:txBody>
      </p:sp>
      <p:sp>
        <p:nvSpPr>
          <p:cNvPr id="11" name="Text 6"/>
          <p:cNvSpPr/>
          <p:nvPr/>
        </p:nvSpPr>
        <p:spPr>
          <a:xfrm>
            <a:off x="117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2" name="Text 7"/>
          <p:cNvSpPr/>
          <p:nvPr/>
        </p:nvSpPr>
        <p:spPr>
          <a:xfrm>
            <a:off x="206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3" name="Text 8"/>
          <p:cNvSpPr/>
          <p:nvPr/>
        </p:nvSpPr>
        <p:spPr>
          <a:xfrm>
            <a:off x="2965450" y="2774950"/>
            <a:ext cx="546100" cy="545405"/>
          </a:xfrm>
          <a:custGeom>
            <a:avLst/>
            <a:gdLst/>
            <a:ahLst/>
            <a:cxnLst/>
            <a:rect l="l" t="t" r="r" b="b"/>
            <a:pathLst>
              <a:path w="546100" h="545405">
                <a:moveTo>
                  <a:pt x="272703" y="0"/>
                </a:moveTo>
                <a:lnTo>
                  <a:pt x="273397" y="0"/>
                </a:lnTo>
                <a:arcTo wR="272703" hR="272703" stAng="16200000" swAng="5400000"/>
                <a:lnTo>
                  <a:pt x="546100" y="272703"/>
                </a:lnTo>
                <a:arcTo wR="272703" hR="272703" stAng="0" swAng="5400000"/>
                <a:lnTo>
                  <a:pt x="272703" y="545405"/>
                </a:lnTo>
                <a:arcTo wR="272703" hR="272703" stAng="5400000" swAng="5400000"/>
                <a:lnTo>
                  <a:pt x="0" y="272703"/>
                </a:lnTo>
                <a:arcTo wR="272703" hR="272703" stAng="10800000" swAng="5400000"/>
                <a:close/>
              </a:path>
            </a:pathLst>
          </a:custGeom>
          <a:solidFill>
            <a:srgbClr val="DCE7FA"/>
          </a:solidFill>
          <a:ln w="25400">
            <a:solidFill>
              <a:srgbClr val="7FA6EA"/>
            </a:solidFill>
            <a:prstDash val="solid"/>
          </a:ln>
        </p:spPr>
        <p:txBody>
          <a:bodyPr wrap="square" lIns="0" tIns="12700" rIns="0" bIns="0" rtlCol="0" anchor="t">
            <a:normAutofit/>
          </a:bodyPr>
          <a:lstStyle/>
          <a:p>
            <a:pPr marL="0" indent="0" algn="ctr">
              <a:lnSpc>
                <a:spcPts val="4095"/>
              </a:lnSpc>
              <a:buNone/>
            </a:pPr>
            <a:r>
              <a:rPr lang="en-US" sz="1300" b="1" dirty="0">
                <a:solidFill>
                  <a:srgbClr val="16202C"/>
                </a:solidFill>
                <a:latin typeface="JetBrains Mono" pitchFamily="34" charset="0"/>
                <a:ea typeface="JetBrains Mono" pitchFamily="34" charset="-122"/>
                <a:cs typeface="JetBrains Mono" pitchFamily="34" charset="-120"/>
              </a:rPr>
              <a:t>D</a:t>
            </a:r>
            <a:endParaRPr lang="en-US" sz="1300" dirty="0"/>
          </a:p>
        </p:txBody>
      </p:sp>
      <p:sp>
        <p:nvSpPr>
          <p:cNvPr id="14" name="Text 9"/>
          <p:cNvSpPr/>
          <p:nvPr/>
        </p:nvSpPr>
        <p:spPr>
          <a:xfrm>
            <a:off x="285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F7A46B"/>
          </a:solidFill>
          <a:ln/>
        </p:spPr>
        <p:txBody>
          <a:bodyPr wrap="square" lIns="0" tIns="0" rIns="0" bIns="0" rtlCol="0" anchor="t">
            <a:normAutofit/>
          </a:bodyPr>
          <a:lstStyle/>
          <a:p>
            <a:pPr marL="0" indent="0" algn="ctr">
              <a:lnSpc>
                <a:spcPts val="2197"/>
              </a:lnSpc>
              <a:buNone/>
            </a:pPr>
            <a:r>
              <a:rPr lang="en-US" sz="1300" b="1" dirty="0">
                <a:solidFill>
                  <a:srgbClr val="16202C"/>
                </a:solidFill>
                <a:latin typeface="JetBrains Mono" pitchFamily="34" charset="0"/>
                <a:ea typeface="JetBrains Mono" pitchFamily="34" charset="-122"/>
                <a:cs typeface="JetBrains Mono" pitchFamily="34" charset="-120"/>
              </a:rPr>
              <a:t>main</a:t>
            </a:r>
            <a:endParaRPr lang="en-US" sz="1300" dirty="0"/>
          </a:p>
        </p:txBody>
      </p:sp>
      <p:sp>
        <p:nvSpPr>
          <p:cNvPr id="15" name="Text 10"/>
          <p:cNvSpPr/>
          <p:nvPr/>
        </p:nvSpPr>
        <p:spPr>
          <a:xfrm>
            <a:off x="625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6" name="Text 11"/>
          <p:cNvSpPr/>
          <p:nvPr/>
        </p:nvSpPr>
        <p:spPr>
          <a:xfrm>
            <a:off x="714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7" name="Text 12"/>
          <p:cNvSpPr/>
          <p:nvPr/>
        </p:nvSpPr>
        <p:spPr>
          <a:xfrm>
            <a:off x="8045450" y="2774950"/>
            <a:ext cx="546100" cy="545405"/>
          </a:xfrm>
          <a:custGeom>
            <a:avLst/>
            <a:gdLst/>
            <a:ahLst/>
            <a:cxnLst/>
            <a:rect l="l" t="t" r="r" b="b"/>
            <a:pathLst>
              <a:path w="546100" h="545405">
                <a:moveTo>
                  <a:pt x="272703" y="0"/>
                </a:moveTo>
                <a:lnTo>
                  <a:pt x="273397" y="0"/>
                </a:lnTo>
                <a:arcTo wR="272703" hR="272703" stAng="16200000" swAng="5400000"/>
                <a:lnTo>
                  <a:pt x="546100" y="272703"/>
                </a:lnTo>
                <a:arcTo wR="272703" hR="272703" stAng="0" swAng="5400000"/>
                <a:lnTo>
                  <a:pt x="272703" y="545405"/>
                </a:lnTo>
                <a:arcTo wR="272703" hR="272703" stAng="5400000" swAng="5400000"/>
                <a:lnTo>
                  <a:pt x="0" y="272703"/>
                </a:lnTo>
                <a:arcTo wR="272703" hR="272703" stAng="10800000" swAng="5400000"/>
                <a:close/>
              </a:path>
            </a:pathLst>
          </a:custGeom>
          <a:solidFill>
            <a:srgbClr val="DCE7FA"/>
          </a:solidFill>
          <a:ln w="25400">
            <a:solidFill>
              <a:srgbClr val="7FA6EA"/>
            </a:solidFill>
            <a:prstDash val="solid"/>
          </a:ln>
        </p:spPr>
        <p:txBody>
          <a:bodyPr wrap="square" lIns="0" tIns="12700" rIns="0" bIns="0" rtlCol="0" anchor="t">
            <a:normAutofit/>
          </a:bodyPr>
          <a:lstStyle/>
          <a:p>
            <a:pPr marL="0" indent="0" algn="ctr">
              <a:lnSpc>
                <a:spcPts val="4095"/>
              </a:lnSpc>
              <a:buNone/>
            </a:pPr>
            <a:r>
              <a:rPr lang="en-US" sz="1300" b="1" dirty="0">
                <a:solidFill>
                  <a:srgbClr val="16202C"/>
                </a:solidFill>
                <a:latin typeface="JetBrains Mono" pitchFamily="34" charset="0"/>
                <a:ea typeface="JetBrains Mono" pitchFamily="34" charset="-122"/>
                <a:cs typeface="JetBrains Mono" pitchFamily="34" charset="-120"/>
              </a:rPr>
              <a:t>D</a:t>
            </a:r>
            <a:endParaRPr lang="en-US" sz="1300" dirty="0"/>
          </a:p>
        </p:txBody>
      </p:sp>
      <p:sp>
        <p:nvSpPr>
          <p:cNvPr id="18" name="Text 13"/>
          <p:cNvSpPr/>
          <p:nvPr/>
        </p:nvSpPr>
        <p:spPr>
          <a:xfrm>
            <a:off x="7048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2F6FDB"/>
          </a:solidFill>
          <a:ln/>
        </p:spPr>
        <p:txBody>
          <a:bodyPr wrap="square" lIns="0" tIns="0" rIns="0" bIns="0" rtlCol="0" anchor="t">
            <a:normAutofit/>
          </a:bodyPr>
          <a:lstStyle/>
          <a:p>
            <a:pPr marL="0" indent="0" algn="ctr">
              <a:lnSpc>
                <a:spcPts val="2197"/>
              </a:lnSpc>
              <a:buNone/>
            </a:pPr>
            <a:r>
              <a:rPr lang="en-US" sz="1300" b="1" dirty="0">
                <a:solidFill>
                  <a:srgbClr val="F6F4EE"/>
                </a:solidFill>
                <a:latin typeface="JetBrains Mono" pitchFamily="34" charset="0"/>
                <a:ea typeface="JetBrains Mono" pitchFamily="34" charset="-122"/>
                <a:cs typeface="JetBrains Mono" pitchFamily="34" charset="-120"/>
              </a:rPr>
              <a:t>main</a:t>
            </a:r>
            <a:endParaRPr lang="en-US" sz="1300" dirty="0"/>
          </a:p>
        </p:txBody>
      </p:sp>
      <p:sp>
        <p:nvSpPr>
          <p:cNvPr id="19" name="Text 14"/>
          <p:cNvSpPr/>
          <p:nvPr/>
        </p:nvSpPr>
        <p:spPr>
          <a:xfrm>
            <a:off x="7658100" y="3435350"/>
            <a:ext cx="1320800" cy="266700"/>
          </a:xfrm>
          <a:custGeom>
            <a:avLst/>
            <a:gdLst/>
            <a:ahLst/>
            <a:cxnLst/>
            <a:rect l="l" t="t" r="r" b="b"/>
            <a:pathLst>
              <a:path w="1320800" h="266700">
                <a:moveTo>
                  <a:pt x="133350" y="0"/>
                </a:moveTo>
                <a:lnTo>
                  <a:pt x="1187450" y="0"/>
                </a:lnTo>
                <a:arcTo wR="133350" hR="133350" stAng="16200000" swAng="5400000"/>
                <a:lnTo>
                  <a:pt x="1320800" y="133350"/>
                </a:lnTo>
                <a:arcTo wR="133350" hR="133350" stAng="0" swAng="5400000"/>
                <a:lnTo>
                  <a:pt x="133350" y="266700"/>
                </a:lnTo>
                <a:arcTo wR="133350" hR="133350" stAng="5400000" swAng="5400000"/>
                <a:lnTo>
                  <a:pt x="0" y="133350"/>
                </a:lnTo>
                <a:arcTo wR="133350" hR="133350" stAng="10800000" swAng="5400000"/>
                <a:close/>
              </a:path>
            </a:pathLst>
          </a:custGeom>
          <a:solidFill>
            <a:srgbClr val="E3ECFB"/>
          </a:solidFill>
          <a:ln w="12700">
            <a:solidFill>
              <a:srgbClr val="2F6FDB"/>
            </a:solidFill>
            <a:prstDash val="solid"/>
          </a:ln>
        </p:spPr>
        <p:txBody>
          <a:bodyPr wrap="square" lIns="0" tIns="6350" rIns="0" bIns="0" rtlCol="0" anchor="t">
            <a:normAutofit/>
          </a:bodyPr>
          <a:lstStyle/>
          <a:p>
            <a:pPr marL="0" indent="0" algn="ctr">
              <a:lnSpc>
                <a:spcPts val="2002"/>
              </a:lnSpc>
              <a:buNone/>
            </a:pPr>
            <a:r>
              <a:rPr lang="en-US" sz="1300" b="1" dirty="0">
                <a:solidFill>
                  <a:srgbClr val="16202C"/>
                </a:solidFill>
                <a:latin typeface="JetBrains Mono" pitchFamily="34" charset="0"/>
                <a:ea typeface="JetBrains Mono" pitchFamily="34" charset="-122"/>
                <a:cs typeface="JetBrains Mono" pitchFamily="34" charset="-120"/>
              </a:rPr>
              <a:t>origin/main</a:t>
            </a:r>
            <a:endParaRPr lang="en-US" sz="1300" dirty="0"/>
          </a:p>
        </p:txBody>
      </p:sp>
      <p:sp>
        <p:nvSpPr>
          <p:cNvPr id="20" name="Text 15"/>
          <p:cNvSpPr/>
          <p:nvPr/>
        </p:nvSpPr>
        <p:spPr>
          <a:xfrm>
            <a:off x="8890000" y="2667000"/>
            <a:ext cx="2419985"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D indi</a:t>
            </a:r>
            <a:r>
              <a:rPr lang="en-US" sz="1300" dirty="0">
                <a:solidFill>
                  <a:srgbClr val="16202C"/>
                </a:solidFill>
                <a:latin typeface="IBM Plex Sans" pitchFamily="34" charset="0"/>
                <a:ea typeface="IBM Plex Sans" pitchFamily="34" charset="-122"/>
                <a:cs typeface="IBM Plex Sans" pitchFamily="34" charset="-120"/>
              </a:rPr>
              <a:t>, ama sadece origin/main onu gösteriyor.</a:t>
            </a:r>
            <a:endParaRPr lang="en-US" sz="1300" dirty="0"/>
          </a:p>
        </p:txBody>
      </p:sp>
      <p:sp>
        <p:nvSpPr>
          <p:cNvPr id="21" name="Shape 16"/>
          <p:cNvSpPr/>
          <p:nvPr/>
        </p:nvSpPr>
        <p:spPr>
          <a:xfrm>
            <a:off x="812800" y="4216400"/>
            <a:ext cx="10566400" cy="1401961"/>
          </a:xfrm>
          <a:prstGeom prst="roundRect">
            <a:avLst>
              <a:gd name="adj" fmla="val 9059"/>
            </a:avLst>
          </a:prstGeom>
          <a:solidFill>
            <a:srgbClr val="E3ECFB"/>
          </a:solidFill>
          <a:ln/>
        </p:spPr>
      </p:sp>
      <p:sp>
        <p:nvSpPr>
          <p:cNvPr id="22" name="Text 17"/>
          <p:cNvSpPr/>
          <p:nvPr/>
        </p:nvSpPr>
        <p:spPr>
          <a:xfrm>
            <a:off x="1041400" y="4394200"/>
            <a:ext cx="4445000" cy="1046361"/>
          </a:xfrm>
          <a:prstGeom prst="roundRect">
            <a:avLst>
              <a:gd name="adj" fmla="val 7282"/>
            </a:avLst>
          </a:prstGeom>
          <a:solidFill>
            <a:srgbClr val="16202C"/>
          </a:solidFill>
          <a:ln/>
        </p:spPr>
        <p:txBody>
          <a:bodyPr wrap="square" lIns="155482" tIns="104682" rIns="32800"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fetch origin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log main..origin/main --oneline</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diff main origin/main</a:t>
            </a:r>
            <a:endParaRPr lang="en-US" sz="1300" dirty="0"/>
          </a:p>
        </p:txBody>
      </p:sp>
      <p:sp>
        <p:nvSpPr>
          <p:cNvPr id="23" name="Text 18"/>
          <p:cNvSpPr/>
          <p:nvPr/>
        </p:nvSpPr>
        <p:spPr>
          <a:xfrm>
            <a:off x="5689600" y="4641155"/>
            <a:ext cx="562483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02C"/>
                </a:solidFill>
                <a:latin typeface="IBM Plex Sans" pitchFamily="34" charset="0"/>
                <a:ea typeface="IBM Plex Sans" pitchFamily="34" charset="-122"/>
                <a:cs typeface="IBM Plex Sans" pitchFamily="34" charset="-120"/>
              </a:rPr>
              <a:t>main'in ve dosyaların </a:t>
            </a:r>
            <a:r>
              <a:rPr lang="en-US" sz="1500" b="1" dirty="0">
                <a:solidFill>
                  <a:srgbClr val="16202C"/>
                </a:solidFill>
                <a:latin typeface="IBM Plex Sans" pitchFamily="34" charset="0"/>
                <a:ea typeface="IBM Plex Sans" pitchFamily="34" charset="-122"/>
                <a:cs typeface="IBM Plex Sans" pitchFamily="34" charset="-120"/>
              </a:rPr>
              <a:t>hiç değişmedi.</a:t>
            </a:r>
            <a:r>
              <a:rPr lang="en-US" sz="1500" dirty="0">
                <a:solidFill>
                  <a:srgbClr val="16202C"/>
                </a:solidFill>
                <a:latin typeface="IBM Plex Sans" pitchFamily="34" charset="0"/>
                <a:ea typeface="IBM Plex Sans" pitchFamily="34" charset="-122"/>
                <a:cs typeface="IBM Plex Sans" pitchFamily="34" charset="-120"/>
              </a:rPr>
              <a:t> Gelen işi inceleyebilirsin; hiçbir risk yok.</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pic>
        <p:nvPicPr>
          <p:cNvPr id="3" name="Image 0" descr="Terminal: yerel commit sonrası git push origin master rejected (fetch first), ardından git fetch origin"/>
          <p:cNvPicPr>
            <a:picLocks noChangeAspect="1"/>
          </p:cNvPicPr>
          <p:nvPr/>
        </p:nvPicPr>
        <p:blipFill>
          <a:blip r:embed="rId3"/>
          <a:srcRect l="-16" r="-16"/>
          <a:stretch/>
        </p:blipFill>
        <p:spPr>
          <a:xfrm>
            <a:off x="2787650" y="1379141"/>
            <a:ext cx="6616700" cy="4064000"/>
          </a:xfrm>
          <a:prstGeom prst="roundRect">
            <a:avLst>
              <a:gd name="adj" fmla="val 1875"/>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4A5566"/>
                </a:solidFill>
                <a:latin typeface="IBM Plex Sans" pitchFamily="34" charset="0"/>
                <a:ea typeface="IBM Plex Sans" pitchFamily="34" charset="-122"/>
                <a:cs typeface="IBM Plex Sans" pitchFamily="34" charset="-120"/>
              </a:rPr>
              <a:t>Push </a:t>
            </a:r>
            <a:r>
              <a:rPr lang="en-US" sz="1500" b="1" dirty="0">
                <a:solidFill>
                  <a:srgbClr val="4A5566"/>
                </a:solidFill>
                <a:latin typeface="IBM Plex Sans" pitchFamily="34" charset="0"/>
                <a:ea typeface="IBM Plex Sans" pitchFamily="34" charset="-122"/>
                <a:cs typeface="IBM Plex Sans" pitchFamily="34" charset="-120"/>
              </a:rPr>
              <a:t>rejected (fetch first)</a:t>
            </a:r>
            <a:r>
              <a:rPr lang="en-US" sz="1500" dirty="0">
                <a:solidFill>
                  <a:srgbClr val="4A5566"/>
                </a:solidFill>
                <a:latin typeface="IBM Plex Sans" pitchFamily="34" charset="0"/>
                <a:ea typeface="IBM Plex Sans" pitchFamily="34" charset="-122"/>
                <a:cs typeface="IBM Plex Sans" pitchFamily="34" charset="-120"/>
              </a:rPr>
              <a:t>; git fetch origin ile origin/master güncellendi.</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pic>
        <p:nvPicPr>
          <p:cNvPr id="3" name="Image 0" descr="Terminal: git diff master origin/master, git merge origin/master ort stratejisiyle, ardından başarılı git push origin master"/>
          <p:cNvPicPr>
            <a:picLocks noChangeAspect="1"/>
          </p:cNvPicPr>
          <p:nvPr/>
        </p:nvPicPr>
        <p:blipFill>
          <a:blip r:embed="rId3"/>
          <a:srcRect l="-37" r="-37"/>
          <a:stretch/>
        </p:blipFill>
        <p:spPr>
          <a:xfrm>
            <a:off x="4111625" y="1379141"/>
            <a:ext cx="3968750" cy="4064000"/>
          </a:xfrm>
          <a:prstGeom prst="roundRect">
            <a:avLst>
              <a:gd name="adj" fmla="val 1920"/>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4A5566"/>
                </a:solidFill>
                <a:latin typeface="IBM Plex Sans" pitchFamily="34" charset="0"/>
                <a:ea typeface="IBM Plex Sans" pitchFamily="34" charset="-122"/>
                <a:cs typeface="IBM Plex Sans" pitchFamily="34" charset="-120"/>
              </a:rPr>
              <a:t>Önce </a:t>
            </a:r>
            <a:r>
              <a:rPr lang="en-US" sz="1500" b="1" dirty="0">
                <a:solidFill>
                  <a:srgbClr val="4A5566"/>
                </a:solidFill>
                <a:latin typeface="IBM Plex Sans" pitchFamily="34" charset="0"/>
                <a:ea typeface="IBM Plex Sans" pitchFamily="34" charset="-122"/>
                <a:cs typeface="IBM Plex Sans" pitchFamily="34" charset="-120"/>
              </a:rPr>
              <a:t>diff</a:t>
            </a:r>
            <a:r>
              <a:rPr lang="en-US" sz="1500" dirty="0">
                <a:solidFill>
                  <a:srgbClr val="4A5566"/>
                </a:solidFill>
                <a:latin typeface="IBM Plex Sans" pitchFamily="34" charset="0"/>
                <a:ea typeface="IBM Plex Sans" pitchFamily="34" charset="-122"/>
                <a:cs typeface="IBM Plex Sans" pitchFamily="34" charset="-120"/>
              </a:rPr>
              <a:t> ile incele, sonra </a:t>
            </a:r>
            <a:r>
              <a:rPr lang="en-US" sz="1500" b="1" dirty="0">
                <a:solidFill>
                  <a:srgbClr val="4A5566"/>
                </a:solidFill>
                <a:latin typeface="IBM Plex Sans" pitchFamily="34" charset="0"/>
                <a:ea typeface="IBM Plex Sans" pitchFamily="34" charset="-122"/>
                <a:cs typeface="IBM Plex Sans" pitchFamily="34" charset="-120"/>
              </a:rPr>
              <a:t>merge origin/master</a:t>
            </a:r>
            <a:r>
              <a:rPr lang="en-US" sz="1500" dirty="0">
                <a:solidFill>
                  <a:srgbClr val="4A5566"/>
                </a:solidFill>
                <a:latin typeface="IBM Plex Sans" pitchFamily="34" charset="0"/>
                <a:ea typeface="IBM Plex Sans" pitchFamily="34" charset="-122"/>
                <a:cs typeface="IBM Plex Sans" pitchFamily="34" charset="-120"/>
              </a:rPr>
              <a:t>, en son push.</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git pull = fetch + merge</a:t>
            </a:r>
            <a:endParaRPr lang="en-US" sz="3600" dirty="0"/>
          </a:p>
        </p:txBody>
      </p:sp>
      <p:sp>
        <p:nvSpPr>
          <p:cNvPr id="4" name="Shape 2"/>
          <p:cNvSpPr/>
          <p:nvPr/>
        </p:nvSpPr>
        <p:spPr>
          <a:xfrm>
            <a:off x="812800" y="1905000"/>
            <a:ext cx="4699000" cy="2095500"/>
          </a:xfrm>
          <a:prstGeom prst="roundRect">
            <a:avLst>
              <a:gd name="adj" fmla="val 6061"/>
            </a:avLst>
          </a:prstGeom>
          <a:solidFill>
            <a:srgbClr val="16202C"/>
          </a:solidFill>
          <a:ln/>
        </p:spPr>
      </p:sp>
      <p:sp>
        <p:nvSpPr>
          <p:cNvPr id="5" name="Shape 3"/>
          <p:cNvSpPr/>
          <p:nvPr/>
        </p:nvSpPr>
        <p:spPr>
          <a:xfrm>
            <a:off x="5899150" y="1911350"/>
            <a:ext cx="5473700" cy="2082800"/>
          </a:xfrm>
          <a:prstGeom prst="roundRect">
            <a:avLst>
              <a:gd name="adj" fmla="val 5793"/>
            </a:avLst>
          </a:prstGeom>
          <a:solidFill>
            <a:srgbClr val="FDFCF9"/>
          </a:solidFill>
          <a:ln w="12700">
            <a:solidFill>
              <a:srgbClr val="E2DDD0"/>
            </a:solidFill>
            <a:prstDash val="solid"/>
          </a:ln>
        </p:spPr>
      </p:sp>
      <p:pic>
        <p:nvPicPr>
          <p:cNvPr id="6" name="Image 0" descr="connector"/>
          <p:cNvPicPr>
            <a:picLocks noChangeAspect="1"/>
          </p:cNvPicPr>
          <p:nvPr/>
        </p:nvPicPr>
        <p:blipFill>
          <a:blip r:embed="rId3"/>
          <a:srcRect/>
          <a:stretch/>
        </p:blipFill>
        <p:spPr>
          <a:xfrm>
            <a:off x="1384300" y="2971800"/>
            <a:ext cx="1930400" cy="152400"/>
          </a:xfrm>
          <a:prstGeom prst="rect">
            <a:avLst/>
          </a:prstGeom>
        </p:spPr>
      </p:pic>
      <p:pic>
        <p:nvPicPr>
          <p:cNvPr id="7" name="Image 1" descr="connector"/>
          <p:cNvPicPr>
            <a:picLocks noChangeAspect="1"/>
          </p:cNvPicPr>
          <p:nvPr/>
        </p:nvPicPr>
        <p:blipFill>
          <a:blip r:embed="rId4"/>
          <a:srcRect/>
          <a:stretch/>
        </p:blipFill>
        <p:spPr>
          <a:xfrm>
            <a:off x="6464300" y="2971800"/>
            <a:ext cx="1930400" cy="152400"/>
          </a:xfrm>
          <a:prstGeom prst="rect">
            <a:avLst/>
          </a:prstGeom>
        </p:spPr>
      </p:pic>
      <p:sp>
        <p:nvSpPr>
          <p:cNvPr id="8" name="Text 4"/>
          <p:cNvSpPr/>
          <p:nvPr/>
        </p:nvSpPr>
        <p:spPr>
          <a:xfrm>
            <a:off x="1016000" y="201930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GITHUB · origin</a:t>
            </a:r>
            <a:endParaRPr lang="en-US" sz="1300" dirty="0"/>
          </a:p>
        </p:txBody>
      </p:sp>
      <p:sp>
        <p:nvSpPr>
          <p:cNvPr id="9" name="Text 5"/>
          <p:cNvSpPr/>
          <p:nvPr/>
        </p:nvSpPr>
        <p:spPr>
          <a:xfrm>
            <a:off x="6096000" y="2019300"/>
            <a:ext cx="52324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SENİN BİLGİSAYARIN · PULL SONRASI</a:t>
            </a:r>
            <a:endParaRPr lang="en-US" sz="1300" dirty="0"/>
          </a:p>
        </p:txBody>
      </p:sp>
      <p:sp>
        <p:nvSpPr>
          <p:cNvPr id="10" name="Text 6"/>
          <p:cNvSpPr/>
          <p:nvPr/>
        </p:nvSpPr>
        <p:spPr>
          <a:xfrm>
            <a:off x="117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1" name="Text 7"/>
          <p:cNvSpPr/>
          <p:nvPr/>
        </p:nvSpPr>
        <p:spPr>
          <a:xfrm>
            <a:off x="206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2" name="Text 8"/>
          <p:cNvSpPr/>
          <p:nvPr/>
        </p:nvSpPr>
        <p:spPr>
          <a:xfrm>
            <a:off x="2965450" y="2774950"/>
            <a:ext cx="546100" cy="545405"/>
          </a:xfrm>
          <a:custGeom>
            <a:avLst/>
            <a:gdLst/>
            <a:ahLst/>
            <a:cxnLst/>
            <a:rect l="l" t="t" r="r" b="b"/>
            <a:pathLst>
              <a:path w="546100" h="545405">
                <a:moveTo>
                  <a:pt x="272703" y="0"/>
                </a:moveTo>
                <a:lnTo>
                  <a:pt x="273397" y="0"/>
                </a:lnTo>
                <a:arcTo wR="272703" hR="272703" stAng="16200000" swAng="5400000"/>
                <a:lnTo>
                  <a:pt x="546100" y="272703"/>
                </a:lnTo>
                <a:arcTo wR="272703" hR="272703" stAng="0" swAng="5400000"/>
                <a:lnTo>
                  <a:pt x="272703" y="545405"/>
                </a:lnTo>
                <a:arcTo wR="272703" hR="272703" stAng="5400000" swAng="5400000"/>
                <a:lnTo>
                  <a:pt x="0" y="272703"/>
                </a:lnTo>
                <a:arcTo wR="272703" hR="272703" stAng="10800000" swAng="5400000"/>
                <a:close/>
              </a:path>
            </a:pathLst>
          </a:custGeom>
          <a:solidFill>
            <a:srgbClr val="DCE7FA"/>
          </a:solidFill>
          <a:ln w="25400">
            <a:solidFill>
              <a:srgbClr val="7FA6EA"/>
            </a:solidFill>
            <a:prstDash val="solid"/>
          </a:ln>
        </p:spPr>
        <p:txBody>
          <a:bodyPr wrap="square" lIns="0" tIns="12700" rIns="0" bIns="0" rtlCol="0" anchor="t">
            <a:normAutofit/>
          </a:bodyPr>
          <a:lstStyle/>
          <a:p>
            <a:pPr marL="0" indent="0" algn="ctr">
              <a:lnSpc>
                <a:spcPts val="4095"/>
              </a:lnSpc>
              <a:buNone/>
            </a:pPr>
            <a:r>
              <a:rPr lang="en-US" sz="1300" b="1" dirty="0">
                <a:solidFill>
                  <a:srgbClr val="16202C"/>
                </a:solidFill>
                <a:latin typeface="JetBrains Mono" pitchFamily="34" charset="0"/>
                <a:ea typeface="JetBrains Mono" pitchFamily="34" charset="-122"/>
                <a:cs typeface="JetBrains Mono" pitchFamily="34" charset="-120"/>
              </a:rPr>
              <a:t>D</a:t>
            </a:r>
            <a:endParaRPr lang="en-US" sz="1300" dirty="0"/>
          </a:p>
        </p:txBody>
      </p:sp>
      <p:sp>
        <p:nvSpPr>
          <p:cNvPr id="13" name="Text 9"/>
          <p:cNvSpPr/>
          <p:nvPr/>
        </p:nvSpPr>
        <p:spPr>
          <a:xfrm>
            <a:off x="285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F7A46B"/>
          </a:solidFill>
          <a:ln/>
        </p:spPr>
        <p:txBody>
          <a:bodyPr wrap="square" lIns="0" tIns="0" rIns="0" bIns="0" rtlCol="0" anchor="t">
            <a:normAutofit/>
          </a:bodyPr>
          <a:lstStyle/>
          <a:p>
            <a:pPr marL="0" indent="0" algn="ctr">
              <a:lnSpc>
                <a:spcPts val="2197"/>
              </a:lnSpc>
              <a:buNone/>
            </a:pPr>
            <a:r>
              <a:rPr lang="en-US" sz="1300" b="1" dirty="0">
                <a:solidFill>
                  <a:srgbClr val="16202C"/>
                </a:solidFill>
                <a:latin typeface="JetBrains Mono" pitchFamily="34" charset="0"/>
                <a:ea typeface="JetBrains Mono" pitchFamily="34" charset="-122"/>
                <a:cs typeface="JetBrains Mono" pitchFamily="34" charset="-120"/>
              </a:rPr>
              <a:t>main</a:t>
            </a:r>
            <a:endParaRPr lang="en-US" sz="1300" dirty="0"/>
          </a:p>
        </p:txBody>
      </p:sp>
      <p:sp>
        <p:nvSpPr>
          <p:cNvPr id="14" name="Text 10"/>
          <p:cNvSpPr/>
          <p:nvPr/>
        </p:nvSpPr>
        <p:spPr>
          <a:xfrm>
            <a:off x="625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5" name="Text 11"/>
          <p:cNvSpPr/>
          <p:nvPr/>
        </p:nvSpPr>
        <p:spPr>
          <a:xfrm>
            <a:off x="714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6" name="Text 12"/>
          <p:cNvSpPr/>
          <p:nvPr/>
        </p:nvSpPr>
        <p:spPr>
          <a:xfrm>
            <a:off x="8045450" y="2774950"/>
            <a:ext cx="546100" cy="545405"/>
          </a:xfrm>
          <a:custGeom>
            <a:avLst/>
            <a:gdLst/>
            <a:ahLst/>
            <a:cxnLst/>
            <a:rect l="l" t="t" r="r" b="b"/>
            <a:pathLst>
              <a:path w="546100" h="545405">
                <a:moveTo>
                  <a:pt x="272703" y="0"/>
                </a:moveTo>
                <a:lnTo>
                  <a:pt x="273397" y="0"/>
                </a:lnTo>
                <a:arcTo wR="272703" hR="272703" stAng="16200000" swAng="5400000"/>
                <a:lnTo>
                  <a:pt x="546100" y="272703"/>
                </a:lnTo>
                <a:arcTo wR="272703" hR="272703" stAng="0" swAng="5400000"/>
                <a:lnTo>
                  <a:pt x="272703" y="545405"/>
                </a:lnTo>
                <a:arcTo wR="272703" hR="272703" stAng="5400000" swAng="5400000"/>
                <a:lnTo>
                  <a:pt x="0" y="272703"/>
                </a:lnTo>
                <a:arcTo wR="272703" hR="272703" stAng="10800000" swAng="5400000"/>
                <a:close/>
              </a:path>
            </a:pathLst>
          </a:custGeom>
          <a:solidFill>
            <a:srgbClr val="DCE7FA"/>
          </a:solidFill>
          <a:ln w="25400">
            <a:solidFill>
              <a:srgbClr val="7FA6EA"/>
            </a:solidFill>
            <a:prstDash val="solid"/>
          </a:ln>
        </p:spPr>
        <p:txBody>
          <a:bodyPr wrap="square" lIns="0" tIns="12700" rIns="0" bIns="0" rtlCol="0" anchor="t">
            <a:normAutofit/>
          </a:bodyPr>
          <a:lstStyle/>
          <a:p>
            <a:pPr marL="0" indent="0" algn="ctr">
              <a:lnSpc>
                <a:spcPts val="4095"/>
              </a:lnSpc>
              <a:buNone/>
            </a:pPr>
            <a:r>
              <a:rPr lang="en-US" sz="1300" b="1" dirty="0">
                <a:solidFill>
                  <a:srgbClr val="16202C"/>
                </a:solidFill>
                <a:latin typeface="JetBrains Mono" pitchFamily="34" charset="0"/>
                <a:ea typeface="JetBrains Mono" pitchFamily="34" charset="-122"/>
                <a:cs typeface="JetBrains Mono" pitchFamily="34" charset="-120"/>
              </a:rPr>
              <a:t>D</a:t>
            </a:r>
            <a:endParaRPr lang="en-US" sz="1300" dirty="0"/>
          </a:p>
        </p:txBody>
      </p:sp>
      <p:sp>
        <p:nvSpPr>
          <p:cNvPr id="17" name="Text 13"/>
          <p:cNvSpPr/>
          <p:nvPr/>
        </p:nvSpPr>
        <p:spPr>
          <a:xfrm>
            <a:off x="7054850" y="2419350"/>
            <a:ext cx="749300" cy="266700"/>
          </a:xfrm>
          <a:custGeom>
            <a:avLst/>
            <a:gdLst/>
            <a:ahLst/>
            <a:cxnLst/>
            <a:rect l="l" t="t" r="r" b="b"/>
            <a:pathLst>
              <a:path w="749300" h="266700">
                <a:moveTo>
                  <a:pt x="133350" y="0"/>
                </a:moveTo>
                <a:lnTo>
                  <a:pt x="615950" y="0"/>
                </a:lnTo>
                <a:arcTo wR="133350" hR="133350" stAng="16200000" swAng="5400000"/>
                <a:lnTo>
                  <a:pt x="749300" y="133350"/>
                </a:lnTo>
                <a:arcTo wR="133350" hR="133350" stAng="0" swAng="5400000"/>
                <a:lnTo>
                  <a:pt x="133350" y="266700"/>
                </a:lnTo>
                <a:arcTo wR="133350" hR="133350" stAng="5400000" swAng="5400000"/>
                <a:lnTo>
                  <a:pt x="0" y="133350"/>
                </a:lnTo>
                <a:arcTo wR="133350" hR="133350" stAng="10800000" swAng="5400000"/>
                <a:close/>
              </a:path>
            </a:pathLst>
          </a:custGeom>
          <a:noFill/>
          <a:ln w="12700">
            <a:solidFill>
              <a:srgbClr val="9AA7B6"/>
            </a:solidFill>
            <a:prstDash val="dash"/>
          </a:ln>
        </p:spPr>
        <p:txBody>
          <a:bodyPr wrap="square" lIns="0" tIns="6350" rIns="0" bIns="0" rtlCol="0" anchor="t">
            <a:normAutofit/>
          </a:bodyPr>
          <a:lstStyle/>
          <a:p>
            <a:pPr marL="0" indent="0" algn="ctr">
              <a:lnSpc>
                <a:spcPts val="2002"/>
              </a:lnSpc>
              <a:buNone/>
            </a:pPr>
            <a:r>
              <a:rPr lang="en-US" sz="1300" b="1" dirty="0">
                <a:solidFill>
                  <a:srgbClr val="9AA7B6"/>
                </a:solidFill>
                <a:latin typeface="JetBrains Mono" pitchFamily="34" charset="0"/>
                <a:ea typeface="JetBrains Mono" pitchFamily="34" charset="-122"/>
                <a:cs typeface="JetBrains Mono" pitchFamily="34" charset="-120"/>
              </a:rPr>
              <a:t>main</a:t>
            </a:r>
            <a:endParaRPr lang="en-US" sz="1300" dirty="0"/>
          </a:p>
        </p:txBody>
      </p:sp>
      <p:sp>
        <p:nvSpPr>
          <p:cNvPr id="18" name="Text 14"/>
          <p:cNvSpPr/>
          <p:nvPr/>
        </p:nvSpPr>
        <p:spPr>
          <a:xfrm>
            <a:off x="793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2F6FDB"/>
          </a:solidFill>
          <a:ln/>
        </p:spPr>
        <p:txBody>
          <a:bodyPr wrap="square" lIns="0" tIns="0" rIns="0" bIns="0" rtlCol="0" anchor="t">
            <a:normAutofit/>
          </a:bodyPr>
          <a:lstStyle/>
          <a:p>
            <a:pPr marL="0" indent="0" algn="ctr">
              <a:lnSpc>
                <a:spcPts val="2197"/>
              </a:lnSpc>
              <a:buNone/>
            </a:pPr>
            <a:r>
              <a:rPr lang="en-US" sz="1300" b="1" dirty="0">
                <a:solidFill>
                  <a:srgbClr val="F6F4EE"/>
                </a:solidFill>
                <a:latin typeface="JetBrains Mono" pitchFamily="34" charset="0"/>
                <a:ea typeface="JetBrains Mono" pitchFamily="34" charset="-122"/>
                <a:cs typeface="JetBrains Mono" pitchFamily="34" charset="-120"/>
              </a:rPr>
              <a:t>main</a:t>
            </a:r>
            <a:endParaRPr lang="en-US" sz="1300" dirty="0"/>
          </a:p>
        </p:txBody>
      </p:sp>
      <p:sp>
        <p:nvSpPr>
          <p:cNvPr id="19" name="Text 15"/>
          <p:cNvSpPr/>
          <p:nvPr/>
        </p:nvSpPr>
        <p:spPr>
          <a:xfrm>
            <a:off x="7658100" y="3435350"/>
            <a:ext cx="1320800" cy="266700"/>
          </a:xfrm>
          <a:custGeom>
            <a:avLst/>
            <a:gdLst/>
            <a:ahLst/>
            <a:cxnLst/>
            <a:rect l="l" t="t" r="r" b="b"/>
            <a:pathLst>
              <a:path w="1320800" h="266700">
                <a:moveTo>
                  <a:pt x="133350" y="0"/>
                </a:moveTo>
                <a:lnTo>
                  <a:pt x="1187450" y="0"/>
                </a:lnTo>
                <a:arcTo wR="133350" hR="133350" stAng="16200000" swAng="5400000"/>
                <a:lnTo>
                  <a:pt x="1320800" y="133350"/>
                </a:lnTo>
                <a:arcTo wR="133350" hR="133350" stAng="0" swAng="5400000"/>
                <a:lnTo>
                  <a:pt x="133350" y="266700"/>
                </a:lnTo>
                <a:arcTo wR="133350" hR="133350" stAng="5400000" swAng="5400000"/>
                <a:lnTo>
                  <a:pt x="0" y="133350"/>
                </a:lnTo>
                <a:arcTo wR="133350" hR="133350" stAng="10800000" swAng="5400000"/>
                <a:close/>
              </a:path>
            </a:pathLst>
          </a:custGeom>
          <a:solidFill>
            <a:srgbClr val="E3ECFB"/>
          </a:solidFill>
          <a:ln w="12700">
            <a:solidFill>
              <a:srgbClr val="2F6FDB"/>
            </a:solidFill>
            <a:prstDash val="solid"/>
          </a:ln>
        </p:spPr>
        <p:txBody>
          <a:bodyPr wrap="square" lIns="0" tIns="6350" rIns="0" bIns="0" rtlCol="0" anchor="t">
            <a:normAutofit/>
          </a:bodyPr>
          <a:lstStyle/>
          <a:p>
            <a:pPr marL="0" indent="0" algn="ctr">
              <a:lnSpc>
                <a:spcPts val="2002"/>
              </a:lnSpc>
              <a:buNone/>
            </a:pPr>
            <a:r>
              <a:rPr lang="en-US" sz="1300" b="1" dirty="0">
                <a:solidFill>
                  <a:srgbClr val="16202C"/>
                </a:solidFill>
                <a:latin typeface="JetBrains Mono" pitchFamily="34" charset="0"/>
                <a:ea typeface="JetBrains Mono" pitchFamily="34" charset="-122"/>
                <a:cs typeface="JetBrains Mono" pitchFamily="34" charset="-120"/>
              </a:rPr>
              <a:t>origin/main</a:t>
            </a:r>
            <a:endParaRPr lang="en-US" sz="1300" dirty="0"/>
          </a:p>
        </p:txBody>
      </p:sp>
      <p:sp>
        <p:nvSpPr>
          <p:cNvPr id="20" name="Text 16"/>
          <p:cNvSpPr/>
          <p:nvPr/>
        </p:nvSpPr>
        <p:spPr>
          <a:xfrm>
            <a:off x="8890000" y="2730500"/>
            <a:ext cx="2419985"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main D'ye kaydı</a:t>
            </a:r>
            <a:r>
              <a:rPr lang="en-US" sz="1300" dirty="0">
                <a:solidFill>
                  <a:srgbClr val="16202C"/>
                </a:solidFill>
                <a:latin typeface="IBM Plex Sans" pitchFamily="34" charset="0"/>
                <a:ea typeface="IBM Plex Sans" pitchFamily="34" charset="-122"/>
                <a:cs typeface="IBM Plex Sans" pitchFamily="34" charset="-120"/>
              </a:rPr>
              <a:t>, dosyaların da güncellendi.</a:t>
            </a:r>
            <a:endParaRPr lang="en-US" sz="1300" dirty="0"/>
          </a:p>
        </p:txBody>
      </p:sp>
      <p:sp>
        <p:nvSpPr>
          <p:cNvPr id="21" name="Shape 17"/>
          <p:cNvSpPr/>
          <p:nvPr/>
        </p:nvSpPr>
        <p:spPr>
          <a:xfrm>
            <a:off x="819150" y="4222750"/>
            <a:ext cx="10553700" cy="1414661"/>
          </a:xfrm>
          <a:prstGeom prst="roundRect">
            <a:avLst>
              <a:gd name="adj" fmla="val 8529"/>
            </a:avLst>
          </a:prstGeom>
          <a:solidFill>
            <a:srgbClr val="FDFCF9"/>
          </a:solidFill>
          <a:ln w="12700">
            <a:solidFill>
              <a:srgbClr val="E2DDD0"/>
            </a:solidFill>
            <a:prstDash val="solid"/>
          </a:ln>
        </p:spPr>
      </p:sp>
      <p:sp>
        <p:nvSpPr>
          <p:cNvPr id="22" name="Text 18"/>
          <p:cNvSpPr/>
          <p:nvPr/>
        </p:nvSpPr>
        <p:spPr>
          <a:xfrm>
            <a:off x="1054100" y="4406900"/>
            <a:ext cx="4445000" cy="1046361"/>
          </a:xfrm>
          <a:prstGeom prst="roundRect">
            <a:avLst>
              <a:gd name="adj" fmla="val 7282"/>
            </a:avLst>
          </a:prstGeom>
          <a:solidFill>
            <a:srgbClr val="16202C"/>
          </a:solidFill>
          <a:ln/>
        </p:spPr>
        <p:txBody>
          <a:bodyPr wrap="square" lIns="155482" tIns="104682" rIns="32800"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pull</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 git fetch + git merge origin/main</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Fast-forward</a:t>
            </a:r>
            <a:endParaRPr lang="en-US" sz="1300" dirty="0"/>
          </a:p>
        </p:txBody>
      </p:sp>
      <p:sp>
        <p:nvSpPr>
          <p:cNvPr id="23" name="Text 19"/>
          <p:cNvSpPr/>
          <p:nvPr/>
        </p:nvSpPr>
        <p:spPr>
          <a:xfrm>
            <a:off x="5702300" y="4653855"/>
            <a:ext cx="5598668"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02C"/>
                </a:solidFill>
                <a:latin typeface="IBM Plex Sans" pitchFamily="34" charset="0"/>
                <a:ea typeface="IBM Plex Sans" pitchFamily="34" charset="-122"/>
                <a:cs typeface="IBM Plex Sans" pitchFamily="34" charset="-120"/>
              </a:rPr>
              <a:t>Durum 1:</a:t>
            </a:r>
            <a:r>
              <a:rPr lang="en-US" sz="1500" dirty="0">
                <a:solidFill>
                  <a:srgbClr val="16202C"/>
                </a:solidFill>
                <a:latin typeface="IBM Plex Sans" pitchFamily="34" charset="0"/>
                <a:ea typeface="IBM Plex Sans" pitchFamily="34" charset="-122"/>
                <a:cs typeface="IBM Plex Sans" pitchFamily="34" charset="-120"/>
              </a:rPr>
              <a:t> sende yeni commit yok. Pull, fetch'ten sonra bir fast-forward yapar; yeni commit oluşmaz.</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Pull, iki taraf da ilerlediyse</a:t>
            </a:r>
            <a:endParaRPr lang="en-US" sz="3600" dirty="0"/>
          </a:p>
        </p:txBody>
      </p:sp>
      <p:sp>
        <p:nvSpPr>
          <p:cNvPr id="4" name="Shape 2"/>
          <p:cNvSpPr/>
          <p:nvPr/>
        </p:nvSpPr>
        <p:spPr>
          <a:xfrm>
            <a:off x="812800" y="1905000"/>
            <a:ext cx="4699000" cy="2095500"/>
          </a:xfrm>
          <a:prstGeom prst="roundRect">
            <a:avLst>
              <a:gd name="adj" fmla="val 6061"/>
            </a:avLst>
          </a:prstGeom>
          <a:solidFill>
            <a:srgbClr val="16202C"/>
          </a:solidFill>
          <a:ln/>
        </p:spPr>
      </p:sp>
      <p:sp>
        <p:nvSpPr>
          <p:cNvPr id="5" name="Shape 3"/>
          <p:cNvSpPr/>
          <p:nvPr/>
        </p:nvSpPr>
        <p:spPr>
          <a:xfrm>
            <a:off x="5899150" y="1911350"/>
            <a:ext cx="5473700" cy="2082800"/>
          </a:xfrm>
          <a:prstGeom prst="roundRect">
            <a:avLst>
              <a:gd name="adj" fmla="val 5793"/>
            </a:avLst>
          </a:prstGeom>
          <a:solidFill>
            <a:srgbClr val="FDFCF9"/>
          </a:solidFill>
          <a:ln w="12700">
            <a:solidFill>
              <a:srgbClr val="E2DDD0"/>
            </a:solidFill>
            <a:prstDash val="solid"/>
          </a:ln>
        </p:spPr>
      </p:sp>
      <p:pic>
        <p:nvPicPr>
          <p:cNvPr id="6" name="Image 0" descr="connector"/>
          <p:cNvPicPr>
            <a:picLocks noChangeAspect="1"/>
          </p:cNvPicPr>
          <p:nvPr/>
        </p:nvPicPr>
        <p:blipFill>
          <a:blip r:embed="rId3"/>
          <a:srcRect/>
          <a:stretch/>
        </p:blipFill>
        <p:spPr>
          <a:xfrm>
            <a:off x="1384300" y="2971800"/>
            <a:ext cx="1930400" cy="152400"/>
          </a:xfrm>
          <a:prstGeom prst="rect">
            <a:avLst/>
          </a:prstGeom>
        </p:spPr>
      </p:pic>
      <p:pic>
        <p:nvPicPr>
          <p:cNvPr id="7" name="Image 1" descr="connector"/>
          <p:cNvPicPr>
            <a:picLocks noChangeAspect="1"/>
          </p:cNvPicPr>
          <p:nvPr/>
        </p:nvPicPr>
        <p:blipFill>
          <a:blip r:embed="rId4"/>
          <a:srcRect/>
          <a:stretch/>
        </p:blipFill>
        <p:spPr>
          <a:xfrm>
            <a:off x="6337300" y="2971800"/>
            <a:ext cx="914400" cy="152400"/>
          </a:xfrm>
          <a:prstGeom prst="rect">
            <a:avLst/>
          </a:prstGeom>
        </p:spPr>
      </p:pic>
      <p:pic>
        <p:nvPicPr>
          <p:cNvPr id="8" name="Image 2" descr="connector"/>
          <p:cNvPicPr>
            <a:picLocks noChangeAspect="1"/>
          </p:cNvPicPr>
          <p:nvPr/>
        </p:nvPicPr>
        <p:blipFill>
          <a:blip r:embed="rId5"/>
          <a:srcRect/>
          <a:stretch/>
        </p:blipFill>
        <p:spPr>
          <a:xfrm>
            <a:off x="7099300" y="2527300"/>
            <a:ext cx="1041400" cy="596900"/>
          </a:xfrm>
          <a:prstGeom prst="rect">
            <a:avLst/>
          </a:prstGeom>
        </p:spPr>
      </p:pic>
      <p:pic>
        <p:nvPicPr>
          <p:cNvPr id="9" name="Image 3" descr="connector"/>
          <p:cNvPicPr>
            <a:picLocks noChangeAspect="1"/>
          </p:cNvPicPr>
          <p:nvPr/>
        </p:nvPicPr>
        <p:blipFill>
          <a:blip r:embed="rId6"/>
          <a:srcRect/>
          <a:stretch/>
        </p:blipFill>
        <p:spPr>
          <a:xfrm>
            <a:off x="7099300" y="2971800"/>
            <a:ext cx="1041400" cy="660400"/>
          </a:xfrm>
          <a:prstGeom prst="rect">
            <a:avLst/>
          </a:prstGeom>
        </p:spPr>
      </p:pic>
      <p:pic>
        <p:nvPicPr>
          <p:cNvPr id="10" name="Image 4" descr="connector"/>
          <p:cNvPicPr>
            <a:picLocks noChangeAspect="1"/>
          </p:cNvPicPr>
          <p:nvPr/>
        </p:nvPicPr>
        <p:blipFill>
          <a:blip r:embed="rId7"/>
          <a:srcRect/>
          <a:stretch/>
        </p:blipFill>
        <p:spPr>
          <a:xfrm>
            <a:off x="7988300" y="2527300"/>
            <a:ext cx="1104900" cy="596900"/>
          </a:xfrm>
          <a:prstGeom prst="rect">
            <a:avLst/>
          </a:prstGeom>
        </p:spPr>
      </p:pic>
      <p:pic>
        <p:nvPicPr>
          <p:cNvPr id="11" name="Image 5" descr="connector"/>
          <p:cNvPicPr>
            <a:picLocks noChangeAspect="1"/>
          </p:cNvPicPr>
          <p:nvPr/>
        </p:nvPicPr>
        <p:blipFill>
          <a:blip r:embed="rId8"/>
          <a:srcRect/>
          <a:stretch/>
        </p:blipFill>
        <p:spPr>
          <a:xfrm>
            <a:off x="7988300" y="2971800"/>
            <a:ext cx="1104900" cy="660400"/>
          </a:xfrm>
          <a:prstGeom prst="rect">
            <a:avLst/>
          </a:prstGeom>
        </p:spPr>
      </p:pic>
      <p:sp>
        <p:nvSpPr>
          <p:cNvPr id="12" name="Text 4"/>
          <p:cNvSpPr/>
          <p:nvPr/>
        </p:nvSpPr>
        <p:spPr>
          <a:xfrm>
            <a:off x="1016000" y="201930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GITHUB · origin</a:t>
            </a:r>
            <a:endParaRPr lang="en-US" sz="1300" dirty="0"/>
          </a:p>
        </p:txBody>
      </p:sp>
      <p:sp>
        <p:nvSpPr>
          <p:cNvPr id="13" name="Text 5"/>
          <p:cNvSpPr/>
          <p:nvPr/>
        </p:nvSpPr>
        <p:spPr>
          <a:xfrm>
            <a:off x="6096000" y="2019300"/>
            <a:ext cx="52324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SENİN BİLGİSAYARIN · PULL SONRASI</a:t>
            </a:r>
            <a:endParaRPr lang="en-US" sz="1300" dirty="0"/>
          </a:p>
        </p:txBody>
      </p:sp>
      <p:sp>
        <p:nvSpPr>
          <p:cNvPr id="14" name="Text 6"/>
          <p:cNvSpPr/>
          <p:nvPr/>
        </p:nvSpPr>
        <p:spPr>
          <a:xfrm>
            <a:off x="1174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5" name="Text 7"/>
          <p:cNvSpPr/>
          <p:nvPr/>
        </p:nvSpPr>
        <p:spPr>
          <a:xfrm>
            <a:off x="2063750" y="2762250"/>
            <a:ext cx="571500" cy="571202"/>
          </a:xfrm>
          <a:custGeom>
            <a:avLst/>
            <a:gdLst/>
            <a:ahLst/>
            <a:cxnLst/>
            <a:rect l="l" t="t" r="r" b="b"/>
            <a:pathLst>
              <a:path w="571500" h="571202">
                <a:moveTo>
                  <a:pt x="285601" y="0"/>
                </a:moveTo>
                <a:lnTo>
                  <a:pt x="285899" y="0"/>
                </a:lnTo>
                <a:arcTo wR="285601" hR="285601" stAng="16200000" swAng="5400000"/>
                <a:lnTo>
                  <a:pt x="571500" y="285601"/>
                </a:lnTo>
                <a:arcTo wR="285601" hR="285601" stAng="0" swAng="5400000"/>
                <a:lnTo>
                  <a:pt x="285601" y="571202"/>
                </a:lnTo>
                <a:arcTo wR="285601" hR="285601" stAng="5400000" swAng="5400000"/>
                <a:lnTo>
                  <a:pt x="0" y="285601"/>
                </a:lnTo>
                <a:arcTo wR="285601" hR="285601" stAng="10800000" swAng="5400000"/>
                <a:close/>
              </a:path>
            </a:pathLst>
          </a:custGeom>
          <a:solidFill>
            <a:srgbClr val="2F6FDB"/>
          </a:solidFill>
          <a:ln/>
        </p:spPr>
        <p:txBody>
          <a:bodyPr wrap="square" lIns="0" tIns="0" rIns="0" bIns="0" rtlCol="0" anchor="t">
            <a:normAutofit/>
          </a:bodyPr>
          <a:lstStyle/>
          <a:p>
            <a:pPr marL="0" indent="0" algn="ctr">
              <a:lnSpc>
                <a:spcPts val="4498"/>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6" name="Text 8"/>
          <p:cNvSpPr/>
          <p:nvPr/>
        </p:nvSpPr>
        <p:spPr>
          <a:xfrm>
            <a:off x="2965450" y="2774950"/>
            <a:ext cx="546100" cy="545405"/>
          </a:xfrm>
          <a:custGeom>
            <a:avLst/>
            <a:gdLst/>
            <a:ahLst/>
            <a:cxnLst/>
            <a:rect l="l" t="t" r="r" b="b"/>
            <a:pathLst>
              <a:path w="546100" h="545405">
                <a:moveTo>
                  <a:pt x="272703" y="0"/>
                </a:moveTo>
                <a:lnTo>
                  <a:pt x="273397" y="0"/>
                </a:lnTo>
                <a:arcTo wR="272703" hR="272703" stAng="16200000" swAng="5400000"/>
                <a:lnTo>
                  <a:pt x="546100" y="272703"/>
                </a:lnTo>
                <a:arcTo wR="272703" hR="272703" stAng="0" swAng="5400000"/>
                <a:lnTo>
                  <a:pt x="272703" y="545405"/>
                </a:lnTo>
                <a:arcTo wR="272703" hR="272703" stAng="5400000" swAng="5400000"/>
                <a:lnTo>
                  <a:pt x="0" y="272703"/>
                </a:lnTo>
                <a:arcTo wR="272703" hR="272703" stAng="10800000" swAng="5400000"/>
                <a:close/>
              </a:path>
            </a:pathLst>
          </a:custGeom>
          <a:solidFill>
            <a:srgbClr val="DCE7FA"/>
          </a:solidFill>
          <a:ln w="25400">
            <a:solidFill>
              <a:srgbClr val="7FA6EA"/>
            </a:solidFill>
            <a:prstDash val="solid"/>
          </a:ln>
        </p:spPr>
        <p:txBody>
          <a:bodyPr wrap="square" lIns="0" tIns="12700" rIns="0" bIns="0" rtlCol="0" anchor="t">
            <a:normAutofit/>
          </a:bodyPr>
          <a:lstStyle/>
          <a:p>
            <a:pPr marL="0" indent="0" algn="ctr">
              <a:lnSpc>
                <a:spcPts val="4095"/>
              </a:lnSpc>
              <a:buNone/>
            </a:pPr>
            <a:r>
              <a:rPr lang="en-US" sz="1300" b="1" dirty="0">
                <a:solidFill>
                  <a:srgbClr val="16202C"/>
                </a:solidFill>
                <a:latin typeface="JetBrains Mono" pitchFamily="34" charset="0"/>
                <a:ea typeface="JetBrains Mono" pitchFamily="34" charset="-122"/>
                <a:cs typeface="JetBrains Mono" pitchFamily="34" charset="-120"/>
              </a:rPr>
              <a:t>D</a:t>
            </a:r>
            <a:endParaRPr lang="en-US" sz="1300" dirty="0"/>
          </a:p>
        </p:txBody>
      </p:sp>
      <p:sp>
        <p:nvSpPr>
          <p:cNvPr id="17" name="Text 9"/>
          <p:cNvSpPr/>
          <p:nvPr/>
        </p:nvSpPr>
        <p:spPr>
          <a:xfrm>
            <a:off x="2857500" y="24130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F7A46B"/>
          </a:solidFill>
          <a:ln/>
        </p:spPr>
        <p:txBody>
          <a:bodyPr wrap="square" lIns="0" tIns="0" rIns="0" bIns="0" rtlCol="0" anchor="t">
            <a:normAutofit/>
          </a:bodyPr>
          <a:lstStyle/>
          <a:p>
            <a:pPr marL="0" indent="0" algn="ctr">
              <a:lnSpc>
                <a:spcPts val="2197"/>
              </a:lnSpc>
              <a:buNone/>
            </a:pPr>
            <a:r>
              <a:rPr lang="en-US" sz="1300" b="1" dirty="0">
                <a:solidFill>
                  <a:srgbClr val="16202C"/>
                </a:solidFill>
                <a:latin typeface="JetBrains Mono" pitchFamily="34" charset="0"/>
                <a:ea typeface="JetBrains Mono" pitchFamily="34" charset="-122"/>
                <a:cs typeface="JetBrains Mono" pitchFamily="34" charset="-120"/>
              </a:rPr>
              <a:t>main</a:t>
            </a:r>
            <a:endParaRPr lang="en-US" sz="1300" dirty="0"/>
          </a:p>
        </p:txBody>
      </p:sp>
      <p:sp>
        <p:nvSpPr>
          <p:cNvPr id="18" name="Text 10"/>
          <p:cNvSpPr/>
          <p:nvPr/>
        </p:nvSpPr>
        <p:spPr>
          <a:xfrm>
            <a:off x="6159500" y="27940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9" name="Text 11"/>
          <p:cNvSpPr/>
          <p:nvPr/>
        </p:nvSpPr>
        <p:spPr>
          <a:xfrm>
            <a:off x="6921500" y="27940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20" name="Text 12"/>
          <p:cNvSpPr/>
          <p:nvPr/>
        </p:nvSpPr>
        <p:spPr>
          <a:xfrm>
            <a:off x="7810500" y="23495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F08C4B"/>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C3</a:t>
            </a:r>
            <a:endParaRPr lang="en-US" sz="1300" dirty="0"/>
          </a:p>
        </p:txBody>
      </p:sp>
      <p:sp>
        <p:nvSpPr>
          <p:cNvPr id="21" name="Text 13"/>
          <p:cNvSpPr/>
          <p:nvPr/>
        </p:nvSpPr>
        <p:spPr>
          <a:xfrm>
            <a:off x="7823200" y="3314700"/>
            <a:ext cx="482600" cy="482600"/>
          </a:xfrm>
          <a:custGeom>
            <a:avLst/>
            <a:gdLst/>
            <a:ahLst/>
            <a:cxnLst/>
            <a:rect l="l" t="t" r="r" b="b"/>
            <a:pathLst>
              <a:path w="482600" h="482600">
                <a:moveTo>
                  <a:pt x="241300" y="0"/>
                </a:moveTo>
                <a:lnTo>
                  <a:pt x="241300" y="0"/>
                </a:lnTo>
                <a:arcTo wR="241300" hR="241300" stAng="16200000" swAng="5400000"/>
                <a:lnTo>
                  <a:pt x="482600" y="241300"/>
                </a:lnTo>
                <a:arcTo wR="241300" hR="241300" stAng="0" swAng="5400000"/>
                <a:lnTo>
                  <a:pt x="241300" y="482600"/>
                </a:lnTo>
                <a:arcTo wR="241300" hR="241300" stAng="5400000" swAng="5400000"/>
                <a:lnTo>
                  <a:pt x="0" y="241300"/>
                </a:lnTo>
                <a:arcTo wR="241300" hR="241300" stAng="10800000" swAng="5400000"/>
                <a:close/>
              </a:path>
            </a:pathLst>
          </a:custGeom>
          <a:solidFill>
            <a:srgbClr val="DCE7FA"/>
          </a:solidFill>
          <a:ln w="25400">
            <a:solidFill>
              <a:srgbClr val="7FA6EA"/>
            </a:solidFill>
            <a:prstDash val="solid"/>
          </a:ln>
        </p:spPr>
        <p:txBody>
          <a:bodyPr wrap="square" lIns="0" tIns="12700" rIns="0" bIns="0" rtlCol="0" anchor="t">
            <a:normAutofit/>
          </a:bodyPr>
          <a:lstStyle/>
          <a:p>
            <a:pPr marL="0" indent="0" algn="ctr">
              <a:lnSpc>
                <a:spcPts val="3601"/>
              </a:lnSpc>
              <a:buNone/>
            </a:pPr>
            <a:r>
              <a:rPr lang="en-US" sz="1300" b="1" dirty="0">
                <a:solidFill>
                  <a:srgbClr val="16202C"/>
                </a:solidFill>
                <a:latin typeface="JetBrains Mono" pitchFamily="34" charset="0"/>
                <a:ea typeface="JetBrains Mono" pitchFamily="34" charset="-122"/>
                <a:cs typeface="JetBrains Mono" pitchFamily="34" charset="-120"/>
              </a:rPr>
              <a:t>D</a:t>
            </a:r>
            <a:endParaRPr lang="en-US" sz="1300" dirty="0"/>
          </a:p>
        </p:txBody>
      </p:sp>
      <p:sp>
        <p:nvSpPr>
          <p:cNvPr id="22" name="Text 14"/>
          <p:cNvSpPr/>
          <p:nvPr/>
        </p:nvSpPr>
        <p:spPr>
          <a:xfrm>
            <a:off x="8782050" y="2813050"/>
            <a:ext cx="469900" cy="469900"/>
          </a:xfrm>
          <a:custGeom>
            <a:avLst/>
            <a:gdLst/>
            <a:ahLst/>
            <a:cxnLst/>
            <a:rect l="l" t="t" r="r" b="b"/>
            <a:pathLst>
              <a:path w="469900" h="469900">
                <a:moveTo>
                  <a:pt x="234950" y="0"/>
                </a:moveTo>
                <a:lnTo>
                  <a:pt x="234950" y="0"/>
                </a:lnTo>
                <a:arcTo wR="234950" hR="234950" stAng="16200000" swAng="5400000"/>
                <a:lnTo>
                  <a:pt x="469900" y="234950"/>
                </a:lnTo>
                <a:arcTo wR="234950" hR="234950" stAng="0" swAng="5400000"/>
                <a:lnTo>
                  <a:pt x="234950" y="469900"/>
                </a:lnTo>
                <a:arcTo wR="234950" hR="234950" stAng="5400000" swAng="5400000"/>
                <a:lnTo>
                  <a:pt x="0" y="234950"/>
                </a:lnTo>
                <a:arcTo wR="234950" hR="234950" stAng="10800000" swAng="5400000"/>
                <a:close/>
              </a:path>
            </a:pathLst>
          </a:custGeom>
          <a:solidFill>
            <a:srgbClr val="FDFCF9"/>
          </a:solidFill>
          <a:ln w="38100">
            <a:solidFill>
              <a:srgbClr val="F08C4B"/>
            </a:solidFill>
            <a:prstDash val="solid"/>
          </a:ln>
        </p:spPr>
        <p:txBody>
          <a:bodyPr wrap="square" lIns="0" tIns="19050" rIns="0" bIns="0" rtlCol="0" anchor="t">
            <a:normAutofit/>
          </a:bodyPr>
          <a:lstStyle/>
          <a:p>
            <a:pPr marL="0" indent="0" algn="ctr">
              <a:lnSpc>
                <a:spcPts val="3406"/>
              </a:lnSpc>
              <a:buNone/>
            </a:pPr>
            <a:r>
              <a:rPr lang="en-US" sz="1300" b="1" dirty="0">
                <a:solidFill>
                  <a:srgbClr val="16202C"/>
                </a:solidFill>
                <a:latin typeface="JetBrains Mono" pitchFamily="34" charset="0"/>
                <a:ea typeface="JetBrains Mono" pitchFamily="34" charset="-122"/>
                <a:cs typeface="JetBrains Mono" pitchFamily="34" charset="-120"/>
              </a:rPr>
              <a:t>M</a:t>
            </a:r>
            <a:endParaRPr lang="en-US" sz="1300" dirty="0"/>
          </a:p>
        </p:txBody>
      </p:sp>
      <p:sp>
        <p:nvSpPr>
          <p:cNvPr id="23" name="Text 15"/>
          <p:cNvSpPr/>
          <p:nvPr/>
        </p:nvSpPr>
        <p:spPr>
          <a:xfrm>
            <a:off x="8636000" y="2451100"/>
            <a:ext cx="762000" cy="279003"/>
          </a:xfrm>
          <a:custGeom>
            <a:avLst/>
            <a:gdLst/>
            <a:ahLst/>
            <a:cxnLst/>
            <a:rect l="l" t="t" r="r" b="b"/>
            <a:pathLst>
              <a:path w="762000" h="279003">
                <a:moveTo>
                  <a:pt x="139502" y="0"/>
                </a:moveTo>
                <a:lnTo>
                  <a:pt x="622498" y="0"/>
                </a:lnTo>
                <a:arcTo wR="139502" hR="139502" stAng="16200000" swAng="5400000"/>
                <a:lnTo>
                  <a:pt x="762000" y="139502"/>
                </a:lnTo>
                <a:arcTo wR="139502" hR="139502" stAng="0" swAng="5400000"/>
                <a:lnTo>
                  <a:pt x="139502" y="279003"/>
                </a:lnTo>
                <a:arcTo wR="139502" hR="139502" stAng="5400000" swAng="5400000"/>
                <a:lnTo>
                  <a:pt x="0" y="139502"/>
                </a:lnTo>
                <a:arcTo wR="139502" hR="139502" stAng="10800000" swAng="5400000"/>
                <a:close/>
              </a:path>
            </a:pathLst>
          </a:custGeom>
          <a:solidFill>
            <a:srgbClr val="2F6FDB"/>
          </a:solidFill>
          <a:ln/>
        </p:spPr>
        <p:txBody>
          <a:bodyPr wrap="square" lIns="0" tIns="0" rIns="0" bIns="0" rtlCol="0" anchor="t">
            <a:normAutofit/>
          </a:bodyPr>
          <a:lstStyle/>
          <a:p>
            <a:pPr marL="0" indent="0" algn="ctr">
              <a:lnSpc>
                <a:spcPts val="2197"/>
              </a:lnSpc>
              <a:buNone/>
            </a:pPr>
            <a:r>
              <a:rPr lang="en-US" sz="1300" b="1" dirty="0">
                <a:solidFill>
                  <a:srgbClr val="F6F4EE"/>
                </a:solidFill>
                <a:latin typeface="JetBrains Mono" pitchFamily="34" charset="0"/>
                <a:ea typeface="JetBrains Mono" pitchFamily="34" charset="-122"/>
                <a:cs typeface="JetBrains Mono" pitchFamily="34" charset="-120"/>
              </a:rPr>
              <a:t>main</a:t>
            </a:r>
            <a:endParaRPr lang="en-US" sz="1300" dirty="0"/>
          </a:p>
        </p:txBody>
      </p:sp>
      <p:sp>
        <p:nvSpPr>
          <p:cNvPr id="24" name="Text 16"/>
          <p:cNvSpPr/>
          <p:nvPr/>
        </p:nvSpPr>
        <p:spPr>
          <a:xfrm>
            <a:off x="8388350" y="3422650"/>
            <a:ext cx="1320800" cy="266700"/>
          </a:xfrm>
          <a:custGeom>
            <a:avLst/>
            <a:gdLst/>
            <a:ahLst/>
            <a:cxnLst/>
            <a:rect l="l" t="t" r="r" b="b"/>
            <a:pathLst>
              <a:path w="1320800" h="266700">
                <a:moveTo>
                  <a:pt x="133350" y="0"/>
                </a:moveTo>
                <a:lnTo>
                  <a:pt x="1187450" y="0"/>
                </a:lnTo>
                <a:arcTo wR="133350" hR="133350" stAng="16200000" swAng="5400000"/>
                <a:lnTo>
                  <a:pt x="1320800" y="133350"/>
                </a:lnTo>
                <a:arcTo wR="133350" hR="133350" stAng="0" swAng="5400000"/>
                <a:lnTo>
                  <a:pt x="133350" y="266700"/>
                </a:lnTo>
                <a:arcTo wR="133350" hR="133350" stAng="5400000" swAng="5400000"/>
                <a:lnTo>
                  <a:pt x="0" y="133350"/>
                </a:lnTo>
                <a:arcTo wR="133350" hR="133350" stAng="10800000" swAng="5400000"/>
                <a:close/>
              </a:path>
            </a:pathLst>
          </a:custGeom>
          <a:solidFill>
            <a:srgbClr val="E3ECFB"/>
          </a:solidFill>
          <a:ln w="12700">
            <a:solidFill>
              <a:srgbClr val="2F6FDB"/>
            </a:solidFill>
            <a:prstDash val="solid"/>
          </a:ln>
        </p:spPr>
        <p:txBody>
          <a:bodyPr wrap="square" lIns="0" tIns="6350" rIns="0" bIns="0" rtlCol="0" anchor="t">
            <a:normAutofit/>
          </a:bodyPr>
          <a:lstStyle/>
          <a:p>
            <a:pPr marL="0" indent="0" algn="ctr">
              <a:lnSpc>
                <a:spcPts val="2002"/>
              </a:lnSpc>
              <a:buNone/>
            </a:pPr>
            <a:r>
              <a:rPr lang="en-US" sz="1300" b="1" dirty="0">
                <a:solidFill>
                  <a:srgbClr val="16202C"/>
                </a:solidFill>
                <a:latin typeface="JetBrains Mono" pitchFamily="34" charset="0"/>
                <a:ea typeface="JetBrains Mono" pitchFamily="34" charset="-122"/>
                <a:cs typeface="JetBrains Mono" pitchFamily="34" charset="-120"/>
              </a:rPr>
              <a:t>origin/main</a:t>
            </a:r>
            <a:endParaRPr lang="en-US" sz="1300" dirty="0"/>
          </a:p>
        </p:txBody>
      </p:sp>
      <p:sp>
        <p:nvSpPr>
          <p:cNvPr id="25" name="Text 17"/>
          <p:cNvSpPr/>
          <p:nvPr/>
        </p:nvSpPr>
        <p:spPr>
          <a:xfrm>
            <a:off x="9525000" y="2825750"/>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M:</a:t>
            </a:r>
            <a:r>
              <a:rPr lang="en-US" sz="1300" dirty="0">
                <a:solidFill>
                  <a:srgbClr val="16202C"/>
                </a:solidFill>
                <a:latin typeface="IBM Plex Sans" pitchFamily="34" charset="0"/>
                <a:ea typeface="IBM Plex Sans" pitchFamily="34" charset="-122"/>
                <a:cs typeface="IBM Plex Sans" pitchFamily="34" charset="-120"/>
              </a:rPr>
              <a:t> C3 + D birleşimi</a:t>
            </a:r>
            <a:endParaRPr lang="en-US" sz="1300" dirty="0"/>
          </a:p>
        </p:txBody>
      </p:sp>
      <p:sp>
        <p:nvSpPr>
          <p:cNvPr id="26" name="Shape 18"/>
          <p:cNvSpPr/>
          <p:nvPr/>
        </p:nvSpPr>
        <p:spPr>
          <a:xfrm>
            <a:off x="819150" y="4222750"/>
            <a:ext cx="10553700" cy="1414661"/>
          </a:xfrm>
          <a:prstGeom prst="roundRect">
            <a:avLst>
              <a:gd name="adj" fmla="val 8529"/>
            </a:avLst>
          </a:prstGeom>
          <a:solidFill>
            <a:srgbClr val="FDFCF9"/>
          </a:solidFill>
          <a:ln w="12700">
            <a:solidFill>
              <a:srgbClr val="E2DDD0"/>
            </a:solidFill>
            <a:prstDash val="solid"/>
          </a:ln>
        </p:spPr>
      </p:sp>
      <p:sp>
        <p:nvSpPr>
          <p:cNvPr id="27" name="Text 19"/>
          <p:cNvSpPr/>
          <p:nvPr/>
        </p:nvSpPr>
        <p:spPr>
          <a:xfrm>
            <a:off x="1054100" y="4406900"/>
            <a:ext cx="4445000" cy="1046361"/>
          </a:xfrm>
          <a:prstGeom prst="roundRect">
            <a:avLst>
              <a:gd name="adj" fmla="val 7282"/>
            </a:avLst>
          </a:prstGeom>
          <a:solidFill>
            <a:srgbClr val="16202C"/>
          </a:solidFill>
          <a:ln/>
        </p:spPr>
        <p:txBody>
          <a:bodyPr wrap="square" lIns="155482" tIns="104682" rIns="32800"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pull</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Merge made by the 'ort' strategy.</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 </a:t>
            </a:r>
            <a:r>
              <a:rPr lang="en-US" sz="1300" dirty="0">
                <a:solidFill>
                  <a:srgbClr val="9AA7B6"/>
                </a:solidFill>
                <a:latin typeface="JetBrains Mono" pitchFamily="34" charset="0"/>
                <a:ea typeface="JetBrains Mono" pitchFamily="34" charset="-122"/>
                <a:cs typeface="JetBrains Mono" pitchFamily="34" charset="-120"/>
              </a:rPr>
              <a:t># artık kabul edilir</a:t>
            </a:r>
            <a:endParaRPr lang="en-US" sz="1300" dirty="0"/>
          </a:p>
        </p:txBody>
      </p:sp>
      <p:sp>
        <p:nvSpPr>
          <p:cNvPr id="28" name="Text 20"/>
          <p:cNvSpPr/>
          <p:nvPr/>
        </p:nvSpPr>
        <p:spPr>
          <a:xfrm>
            <a:off x="5702300" y="4653855"/>
            <a:ext cx="5598668"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02C"/>
                </a:solidFill>
                <a:latin typeface="IBM Plex Sans" pitchFamily="34" charset="0"/>
                <a:ea typeface="IBM Plex Sans" pitchFamily="34" charset="-122"/>
                <a:cs typeface="IBM Plex Sans" pitchFamily="34" charset="-120"/>
              </a:rPr>
              <a:t>Durum 2:</a:t>
            </a:r>
            <a:r>
              <a:rPr lang="en-US" sz="1500" dirty="0">
                <a:solidFill>
                  <a:srgbClr val="16202C"/>
                </a:solidFill>
                <a:latin typeface="IBM Plex Sans" pitchFamily="34" charset="0"/>
                <a:ea typeface="IBM Plex Sans" pitchFamily="34" charset="-122"/>
                <a:cs typeface="IBM Plex Sans" pitchFamily="34" charset="-120"/>
              </a:rPr>
              <a:t> sende C3, GitHub'da D var. Pull bir 3-way merge yapar ve M oluşur. Aynı satırlar değiştiyse conflict çıkar.</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pic>
        <p:nvPicPr>
          <p:cNvPr id="3" name="Image 0" descr="Görsel özet: fast-forward merge düz geçmiş bırakır; 3-way merge merge commit üretir ve conflict çıkarabilir"/>
          <p:cNvPicPr>
            <a:picLocks noChangeAspect="1"/>
          </p:cNvPicPr>
          <p:nvPr/>
        </p:nvPicPr>
        <p:blipFill>
          <a:blip r:embed="rId3"/>
          <a:srcRect l="-13" r="-13"/>
          <a:stretch/>
        </p:blipFill>
        <p:spPr>
          <a:xfrm>
            <a:off x="2441575" y="1379141"/>
            <a:ext cx="7308850" cy="4064000"/>
          </a:xfrm>
          <a:prstGeom prst="roundRect">
            <a:avLst>
              <a:gd name="adj" fmla="val 1875"/>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4A5566"/>
                </a:solidFill>
                <a:latin typeface="IBM Plex Sans" pitchFamily="34" charset="0"/>
                <a:ea typeface="IBM Plex Sans" pitchFamily="34" charset="-122"/>
                <a:cs typeface="IBM Plex Sans" pitchFamily="34" charset="-120"/>
              </a:rPr>
              <a:t>Pull'un içindeki merge: </a:t>
            </a:r>
            <a:r>
              <a:rPr lang="en-US" sz="1500" b="1" dirty="0">
                <a:solidFill>
                  <a:srgbClr val="4A5566"/>
                </a:solidFill>
                <a:latin typeface="IBM Plex Sans" pitchFamily="34" charset="0"/>
                <a:ea typeface="IBM Plex Sans" pitchFamily="34" charset="-122"/>
                <a:cs typeface="IBM Plex Sans" pitchFamily="34" charset="-120"/>
              </a:rPr>
              <a:t>fast-forward</a:t>
            </a:r>
            <a:r>
              <a:rPr lang="en-US" sz="1500" dirty="0">
                <a:solidFill>
                  <a:srgbClr val="4A5566"/>
                </a:solidFill>
                <a:latin typeface="IBM Plex Sans" pitchFamily="34" charset="0"/>
                <a:ea typeface="IBM Plex Sans" pitchFamily="34" charset="-122"/>
                <a:cs typeface="IBM Plex Sans" pitchFamily="34" charset="-120"/>
              </a:rPr>
              <a:t> ya da </a:t>
            </a:r>
            <a:r>
              <a:rPr lang="en-US" sz="1500" b="1" dirty="0">
                <a:solidFill>
                  <a:srgbClr val="4A5566"/>
                </a:solidFill>
                <a:latin typeface="IBM Plex Sans" pitchFamily="34" charset="0"/>
                <a:ea typeface="IBM Plex Sans" pitchFamily="34" charset="-122"/>
                <a:cs typeface="IBM Plex Sans" pitchFamily="34" charset="-120"/>
              </a:rPr>
              <a:t>3-way merge</a:t>
            </a:r>
            <a:r>
              <a:rPr lang="en-US" sz="1500" dirty="0">
                <a:solidFill>
                  <a:srgbClr val="4A5566"/>
                </a:solidFill>
                <a:latin typeface="IBM Plex Sans" pitchFamily="34" charset="0"/>
                <a:ea typeface="IBM Plex Sans" pitchFamily="34" charset="-122"/>
                <a:cs typeface="IBM Plex Sans" pitchFamily="34" charset="-120"/>
              </a:rPr>
              <a: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Pull'un üç davranışı</a:t>
            </a:r>
            <a:endParaRPr lang="en-US" sz="3600" dirty="0"/>
          </a:p>
        </p:txBody>
      </p:sp>
      <p:sp>
        <p:nvSpPr>
          <p:cNvPr id="4" name="Shape 2"/>
          <p:cNvSpPr/>
          <p:nvPr/>
        </p:nvSpPr>
        <p:spPr>
          <a:xfrm>
            <a:off x="819150" y="1908671"/>
            <a:ext cx="3407767" cy="2280741"/>
          </a:xfrm>
          <a:prstGeom prst="roundRect">
            <a:avLst>
              <a:gd name="adj" fmla="val 5290"/>
            </a:avLst>
          </a:prstGeom>
          <a:solidFill>
            <a:srgbClr val="FDFCF9"/>
          </a:solidFill>
          <a:ln w="12700">
            <a:solidFill>
              <a:srgbClr val="E2DDD0"/>
            </a:solidFill>
            <a:prstDash val="solid"/>
          </a:ln>
        </p:spPr>
      </p:sp>
      <p:sp>
        <p:nvSpPr>
          <p:cNvPr id="5" name="Text 3"/>
          <p:cNvSpPr/>
          <p:nvPr/>
        </p:nvSpPr>
        <p:spPr>
          <a:xfrm>
            <a:off x="1028700" y="2118221"/>
            <a:ext cx="30783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git pull</a:t>
            </a:r>
            <a:endParaRPr lang="en-US" sz="1500" dirty="0"/>
          </a:p>
        </p:txBody>
      </p:sp>
      <p:pic>
        <p:nvPicPr>
          <p:cNvPr id="6" name="Image 0" descr="C2'den ayrılan C3 ve D, M merge commit'inde birleşiyor"/>
          <p:cNvPicPr>
            <a:picLocks noChangeAspect="1"/>
          </p:cNvPicPr>
          <p:nvPr/>
        </p:nvPicPr>
        <p:blipFill>
          <a:blip r:embed="rId3"/>
          <a:srcRect/>
          <a:stretch/>
        </p:blipFill>
        <p:spPr>
          <a:xfrm>
            <a:off x="1028700" y="2486521"/>
            <a:ext cx="1905000" cy="698500"/>
          </a:xfrm>
          <a:prstGeom prst="rect">
            <a:avLst/>
          </a:prstGeom>
        </p:spPr>
      </p:pic>
      <p:sp>
        <p:nvSpPr>
          <p:cNvPr id="7" name="Text 4"/>
          <p:cNvSpPr/>
          <p:nvPr/>
        </p:nvSpPr>
        <p:spPr>
          <a:xfrm>
            <a:off x="1028700" y="3286621"/>
            <a:ext cx="3078327"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IBM Plex Sans" pitchFamily="34" charset="0"/>
                <a:ea typeface="IBM Plex Sans" pitchFamily="34" charset="-122"/>
                <a:cs typeface="IBM Plex Sans" pitchFamily="34" charset="-120"/>
              </a:rPr>
              <a:t>Varsayılan: merge.</a:t>
            </a:r>
            <a:r>
              <a:rPr lang="en-US" sz="1300" dirty="0">
                <a:solidFill>
                  <a:srgbClr val="4A5566"/>
                </a:solidFill>
                <a:latin typeface="IBM Plex Sans" pitchFamily="34" charset="0"/>
                <a:ea typeface="IBM Plex Sans" pitchFamily="34" charset="-122"/>
                <a:cs typeface="IBM Plex Sans" pitchFamily="34" charset="-120"/>
              </a:rPr>
              <a:t> Taraflar ayrıştıysa M merge commit'i üretir.</a:t>
            </a:r>
            <a:endParaRPr lang="en-US" sz="1300" dirty="0"/>
          </a:p>
        </p:txBody>
      </p:sp>
      <p:sp>
        <p:nvSpPr>
          <p:cNvPr id="8" name="Shape 5"/>
          <p:cNvSpPr/>
          <p:nvPr/>
        </p:nvSpPr>
        <p:spPr>
          <a:xfrm>
            <a:off x="4392017" y="1908671"/>
            <a:ext cx="3407866" cy="2280741"/>
          </a:xfrm>
          <a:prstGeom prst="roundRect">
            <a:avLst>
              <a:gd name="adj" fmla="val 5290"/>
            </a:avLst>
          </a:prstGeom>
          <a:solidFill>
            <a:srgbClr val="FDFCF9"/>
          </a:solidFill>
          <a:ln w="12700">
            <a:solidFill>
              <a:srgbClr val="E2DDD0"/>
            </a:solidFill>
            <a:prstDash val="solid"/>
          </a:ln>
        </p:spPr>
      </p:sp>
      <p:sp>
        <p:nvSpPr>
          <p:cNvPr id="9" name="Text 6"/>
          <p:cNvSpPr/>
          <p:nvPr/>
        </p:nvSpPr>
        <p:spPr>
          <a:xfrm>
            <a:off x="4601567" y="2118221"/>
            <a:ext cx="307842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8430A"/>
                </a:solidFill>
                <a:latin typeface="JetBrains Mono" pitchFamily="34" charset="0"/>
                <a:ea typeface="JetBrains Mono" pitchFamily="34" charset="-122"/>
                <a:cs typeface="JetBrains Mono" pitchFamily="34" charset="-120"/>
              </a:rPr>
              <a:t>git pull --rebase</a:t>
            </a:r>
            <a:endParaRPr lang="en-US" sz="1500" dirty="0"/>
          </a:p>
        </p:txBody>
      </p:sp>
      <p:pic>
        <p:nvPicPr>
          <p:cNvPr id="10" name="Image 1" descr="C2, D ve yeniden basılan C3 tek düz çizgide"/>
          <p:cNvPicPr>
            <a:picLocks noChangeAspect="1"/>
          </p:cNvPicPr>
          <p:nvPr/>
        </p:nvPicPr>
        <p:blipFill>
          <a:blip r:embed="rId4"/>
          <a:srcRect/>
          <a:stretch/>
        </p:blipFill>
        <p:spPr>
          <a:xfrm>
            <a:off x="4601567" y="2486521"/>
            <a:ext cx="1905000" cy="698500"/>
          </a:xfrm>
          <a:prstGeom prst="rect">
            <a:avLst/>
          </a:prstGeom>
        </p:spPr>
      </p:pic>
      <p:sp>
        <p:nvSpPr>
          <p:cNvPr id="11" name="Text 7"/>
          <p:cNvSpPr/>
          <p:nvPr/>
        </p:nvSpPr>
        <p:spPr>
          <a:xfrm>
            <a:off x="4601567" y="3286621"/>
            <a:ext cx="3078429"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IBM Plex Sans" pitchFamily="34" charset="0"/>
                <a:ea typeface="IBM Plex Sans" pitchFamily="34" charset="-122"/>
                <a:cs typeface="IBM Plex Sans" pitchFamily="34" charset="-120"/>
              </a:rPr>
              <a:t>C3'ü D'nin üzerine taşır (C3').</a:t>
            </a:r>
            <a:r>
              <a:rPr lang="en-US" sz="1300" dirty="0">
                <a:solidFill>
                  <a:srgbClr val="4A5566"/>
                </a:solidFill>
                <a:latin typeface="IBM Plex Sans" pitchFamily="34" charset="0"/>
                <a:ea typeface="IBM Plex Sans" pitchFamily="34" charset="-122"/>
                <a:cs typeface="IBM Plex Sans" pitchFamily="34" charset="-120"/>
              </a:rPr>
              <a:t> Düz geçmiş, M yok. Sadece henüz push edilmemiş commit'ler için.</a:t>
            </a:r>
            <a:endParaRPr lang="en-US" sz="1300" dirty="0"/>
          </a:p>
        </p:txBody>
      </p:sp>
      <p:sp>
        <p:nvSpPr>
          <p:cNvPr id="12" name="Shape 8"/>
          <p:cNvSpPr/>
          <p:nvPr/>
        </p:nvSpPr>
        <p:spPr>
          <a:xfrm>
            <a:off x="7964984" y="1908671"/>
            <a:ext cx="3407866" cy="2280741"/>
          </a:xfrm>
          <a:prstGeom prst="roundRect">
            <a:avLst>
              <a:gd name="adj" fmla="val 5290"/>
            </a:avLst>
          </a:prstGeom>
          <a:solidFill>
            <a:srgbClr val="FDFCF9"/>
          </a:solidFill>
          <a:ln w="12700">
            <a:solidFill>
              <a:srgbClr val="E2DDD0"/>
            </a:solidFill>
            <a:prstDash val="solid"/>
          </a:ln>
        </p:spPr>
      </p:sp>
      <p:sp>
        <p:nvSpPr>
          <p:cNvPr id="13" name="Text 9"/>
          <p:cNvSpPr/>
          <p:nvPr/>
        </p:nvSpPr>
        <p:spPr>
          <a:xfrm>
            <a:off x="8174534" y="2118221"/>
            <a:ext cx="307842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6FDB"/>
                </a:solidFill>
                <a:latin typeface="JetBrains Mono" pitchFamily="34" charset="0"/>
                <a:ea typeface="JetBrains Mono" pitchFamily="34" charset="-122"/>
                <a:cs typeface="JetBrains Mono" pitchFamily="34" charset="-120"/>
              </a:rPr>
              <a:t>git pull --ff-only</a:t>
            </a:r>
            <a:endParaRPr lang="en-US" sz="1500" dirty="0"/>
          </a:p>
        </p:txBody>
      </p:sp>
      <p:pic>
        <p:nvPicPr>
          <p:cNvPr id="14" name="Image 2" descr="Ayrışma varsa pull duruyor; dur işareti"/>
          <p:cNvPicPr>
            <a:picLocks noChangeAspect="1"/>
          </p:cNvPicPr>
          <p:nvPr/>
        </p:nvPicPr>
        <p:blipFill>
          <a:blip r:embed="rId5"/>
          <a:srcRect/>
          <a:stretch/>
        </p:blipFill>
        <p:spPr>
          <a:xfrm>
            <a:off x="8174534" y="2486521"/>
            <a:ext cx="1905000" cy="698500"/>
          </a:xfrm>
          <a:prstGeom prst="rect">
            <a:avLst/>
          </a:prstGeom>
        </p:spPr>
      </p:pic>
      <p:sp>
        <p:nvSpPr>
          <p:cNvPr id="15" name="Text 10"/>
          <p:cNvSpPr/>
          <p:nvPr/>
        </p:nvSpPr>
        <p:spPr>
          <a:xfrm>
            <a:off x="8174534" y="3286621"/>
            <a:ext cx="3078429"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IBM Plex Sans" pitchFamily="34" charset="0"/>
                <a:ea typeface="IBM Plex Sans" pitchFamily="34" charset="-122"/>
                <a:cs typeface="IBM Plex Sans" pitchFamily="34" charset="-120"/>
              </a:rPr>
              <a:t>Sadece fast-forward.</a:t>
            </a:r>
            <a:r>
              <a:rPr lang="en-US" sz="1300" dirty="0">
                <a:solidFill>
                  <a:srgbClr val="4A5566"/>
                </a:solidFill>
                <a:latin typeface="IBM Plex Sans" pitchFamily="34" charset="0"/>
                <a:ea typeface="IBM Plex Sans" pitchFamily="34" charset="-122"/>
                <a:cs typeface="IBM Plex Sans" pitchFamily="34" charset="-120"/>
              </a:rPr>
              <a:t> Taraflar ayrıştıysa durur ve kararı sana bırakır.</a:t>
            </a:r>
            <a:endParaRPr lang="en-US" sz="1300" dirty="0"/>
          </a:p>
        </p:txBody>
      </p:sp>
      <p:sp>
        <p:nvSpPr>
          <p:cNvPr id="16" name="Text 11"/>
          <p:cNvSpPr/>
          <p:nvPr/>
        </p:nvSpPr>
        <p:spPr>
          <a:xfrm>
            <a:off x="812800" y="4449763"/>
            <a:ext cx="10566400" cy="1097161"/>
          </a:xfrm>
          <a:prstGeom prst="roundRect">
            <a:avLst>
              <a:gd name="adj" fmla="val 9260"/>
            </a:avLst>
          </a:prstGeom>
          <a:solidFill>
            <a:srgbClr val="16202C"/>
          </a:solidFill>
          <a:ln/>
        </p:spPr>
        <p:txBody>
          <a:bodyPr wrap="square" lIns="198842" tIns="122642" rIns="0" bIns="9724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config --global pull.rebase false </a:t>
            </a:r>
            <a:r>
              <a:rPr lang="en-US" sz="1300" dirty="0">
                <a:solidFill>
                  <a:srgbClr val="9AA7B6"/>
                </a:solidFill>
                <a:latin typeface="JetBrains Mono" pitchFamily="34" charset="0"/>
                <a:ea typeface="JetBrains Mono" pitchFamily="34" charset="-122"/>
                <a:cs typeface="JetBrains Mono" pitchFamily="34" charset="-120"/>
              </a:rPr>
              <a:t># varsayılan: merge</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config --global pull.rebase true </a:t>
            </a:r>
            <a:r>
              <a:rPr lang="en-US" sz="1300" dirty="0">
                <a:solidFill>
                  <a:srgbClr val="9AA7B6"/>
                </a:solidFill>
                <a:latin typeface="JetBrains Mono" pitchFamily="34" charset="0"/>
                <a:ea typeface="JetBrains Mono" pitchFamily="34" charset="-122"/>
                <a:cs typeface="JetBrains Mono" pitchFamily="34" charset="-120"/>
              </a:rPr>
              <a:t># rebase</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config --global pull.ff only </a:t>
            </a:r>
            <a:r>
              <a:rPr lang="en-US" sz="1300" dirty="0">
                <a:solidFill>
                  <a:srgbClr val="9AA7B6"/>
                </a:solidFill>
                <a:latin typeface="JetBrains Mono" pitchFamily="34" charset="0"/>
                <a:ea typeface="JetBrains Mono" pitchFamily="34" charset="-122"/>
                <a:cs typeface="JetBrains Mono" pitchFamily="34" charset="-120"/>
              </a:rPr>
              <a:t># sadece FF</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PUSH, FETCH, PULL</a:t>
            </a:r>
            <a:endParaRPr lang="en-US" sz="1300" dirty="0"/>
          </a:p>
        </p:txBody>
      </p:sp>
      <p:pic>
        <p:nvPicPr>
          <p:cNvPr id="3" name="Image 0" descr="VS Code: git pull --rebase origin master çıktısı ve Git grafiğinde düz commit çizgisi"/>
          <p:cNvPicPr>
            <a:picLocks noChangeAspect="1"/>
          </p:cNvPicPr>
          <p:nvPr/>
        </p:nvPicPr>
        <p:blipFill>
          <a:blip r:embed="rId3"/>
          <a:srcRect t="-34" b="-34"/>
          <a:stretch/>
        </p:blipFill>
        <p:spPr>
          <a:xfrm>
            <a:off x="812800" y="1969691"/>
            <a:ext cx="10566400" cy="2882900"/>
          </a:xfrm>
          <a:prstGeom prst="roundRect">
            <a:avLst>
              <a:gd name="adj" fmla="val 2643"/>
            </a:avLst>
          </a:prstGeom>
          <a:effectLst>
            <a:outerShdw blurRad="254000" dist="76200" dir="5400000" algn="bl" rotWithShape="0">
              <a:srgbClr val="16202C">
                <a:alpha val="18000"/>
              </a:srgbClr>
            </a:outerShdw>
          </a:effectLst>
        </p:spPr>
      </p:pic>
      <p:sp>
        <p:nvSpPr>
          <p:cNvPr id="4" name="Text 1"/>
          <p:cNvSpPr/>
          <p:nvPr/>
        </p:nvSpPr>
        <p:spPr>
          <a:xfrm>
            <a:off x="654304" y="5778500"/>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git pull --rebase origin master:</a:t>
            </a:r>
            <a:r>
              <a:rPr lang="en-US" sz="1500" dirty="0">
                <a:solidFill>
                  <a:srgbClr val="4A5566"/>
                </a:solidFill>
                <a:latin typeface="IBM Plex Sans" pitchFamily="34" charset="0"/>
                <a:ea typeface="IBM Plex Sans" pitchFamily="34" charset="-122"/>
                <a:cs typeface="IBM Plex Sans" pitchFamily="34" charset="-120"/>
              </a:rPr>
              <a:t> yerel commit, gelen commit'in üzerine taşındı.</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4 · FETCH &amp; PULL</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fetch haritayı günceller, pull yollar</a:t>
            </a:r>
            <a:endParaRPr lang="en-US" sz="3600" dirty="0"/>
          </a:p>
        </p:txBody>
      </p:sp>
      <p:sp>
        <p:nvSpPr>
          <p:cNvPr id="4" name="Shape 2"/>
          <p:cNvSpPr/>
          <p:nvPr/>
        </p:nvSpPr>
        <p:spPr>
          <a:xfrm>
            <a:off x="812800" y="1953121"/>
            <a:ext cx="2573834" cy="1475680"/>
          </a:xfrm>
          <a:prstGeom prst="roundRect">
            <a:avLst>
              <a:gd name="adj" fmla="val 8606"/>
            </a:avLst>
          </a:prstGeom>
          <a:solidFill>
            <a:srgbClr val="16202C"/>
          </a:solidFill>
          <a:ln/>
        </p:spPr>
      </p:sp>
      <p:pic>
        <p:nvPicPr>
          <p:cNvPr id="5" name="Image 0" descr="Cloud"/>
          <p:cNvPicPr>
            <a:picLocks noChangeAspect="1"/>
          </p:cNvPicPr>
          <p:nvPr/>
        </p:nvPicPr>
        <p:blipFill>
          <a:blip r:embed="rId3"/>
          <a:srcRect/>
          <a:stretch/>
        </p:blipFill>
        <p:spPr>
          <a:xfrm>
            <a:off x="1041400" y="2181721"/>
            <a:ext cx="304800" cy="304800"/>
          </a:xfrm>
          <a:prstGeom prst="rect">
            <a:avLst/>
          </a:prstGeom>
        </p:spPr>
      </p:pic>
      <p:sp>
        <p:nvSpPr>
          <p:cNvPr id="6" name="Text 3"/>
          <p:cNvSpPr/>
          <p:nvPr/>
        </p:nvSpPr>
        <p:spPr>
          <a:xfrm>
            <a:off x="1041400" y="2562721"/>
            <a:ext cx="218013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GitHub</a:t>
            </a:r>
            <a:endParaRPr lang="en-US" sz="2000" dirty="0"/>
          </a:p>
        </p:txBody>
      </p:sp>
      <p:sp>
        <p:nvSpPr>
          <p:cNvPr id="7" name="Text 4"/>
          <p:cNvSpPr/>
          <p:nvPr/>
        </p:nvSpPr>
        <p:spPr>
          <a:xfrm>
            <a:off x="1041400" y="2943721"/>
            <a:ext cx="21801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JetBrains Mono" pitchFamily="34" charset="0"/>
                <a:ea typeface="JetBrains Mono" pitchFamily="34" charset="-122"/>
                <a:cs typeface="JetBrains Mono" pitchFamily="34" charset="-120"/>
              </a:rPr>
              <a:t>main</a:t>
            </a:r>
            <a:endParaRPr lang="en-US" sz="1300" dirty="0"/>
          </a:p>
        </p:txBody>
      </p:sp>
      <p:sp>
        <p:nvSpPr>
          <p:cNvPr id="8" name="Text 5"/>
          <p:cNvSpPr/>
          <p:nvPr/>
        </p:nvSpPr>
        <p:spPr>
          <a:xfrm>
            <a:off x="3837484" y="2346821"/>
            <a:ext cx="5461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fetch</a:t>
            </a:r>
            <a:endParaRPr lang="en-US" sz="1300" dirty="0"/>
          </a:p>
        </p:txBody>
      </p:sp>
      <p:pic>
        <p:nvPicPr>
          <p:cNvPr id="9" name="Image 1" descr="arrow-right"/>
          <p:cNvPicPr>
            <a:picLocks noChangeAspect="1"/>
          </p:cNvPicPr>
          <p:nvPr/>
        </p:nvPicPr>
        <p:blipFill>
          <a:blip r:embed="rId4"/>
          <a:srcRect/>
          <a:stretch/>
        </p:blipFill>
        <p:spPr>
          <a:xfrm>
            <a:off x="3608884" y="2654102"/>
            <a:ext cx="952500" cy="381000"/>
          </a:xfrm>
          <a:prstGeom prst="rect">
            <a:avLst/>
          </a:prstGeom>
        </p:spPr>
      </p:pic>
      <p:sp>
        <p:nvSpPr>
          <p:cNvPr id="10" name="Shape 6"/>
          <p:cNvSpPr/>
          <p:nvPr/>
        </p:nvSpPr>
        <p:spPr>
          <a:xfrm>
            <a:off x="4789984" y="1959471"/>
            <a:ext cx="2586633" cy="1462980"/>
          </a:xfrm>
          <a:prstGeom prst="roundRect">
            <a:avLst>
              <a:gd name="adj" fmla="val 8247"/>
            </a:avLst>
          </a:prstGeom>
          <a:solidFill>
            <a:srgbClr val="E3ECFB"/>
          </a:solidFill>
          <a:ln w="12700">
            <a:solidFill>
              <a:srgbClr val="2F6FDB"/>
            </a:solidFill>
            <a:prstDash val="solid"/>
          </a:ln>
        </p:spPr>
      </p:sp>
      <p:pic>
        <p:nvPicPr>
          <p:cNvPr id="11" name="Image 2" descr="Database"/>
          <p:cNvPicPr>
            <a:picLocks noChangeAspect="1"/>
          </p:cNvPicPr>
          <p:nvPr/>
        </p:nvPicPr>
        <p:blipFill>
          <a:blip r:embed="rId5"/>
          <a:srcRect/>
          <a:stretch/>
        </p:blipFill>
        <p:spPr>
          <a:xfrm>
            <a:off x="5024934" y="2194421"/>
            <a:ext cx="304800" cy="304800"/>
          </a:xfrm>
          <a:prstGeom prst="rect">
            <a:avLst/>
          </a:prstGeom>
        </p:spPr>
      </p:pic>
      <p:sp>
        <p:nvSpPr>
          <p:cNvPr id="12" name="Text 7"/>
          <p:cNvSpPr/>
          <p:nvPr/>
        </p:nvSpPr>
        <p:spPr>
          <a:xfrm>
            <a:off x="5024934" y="2575421"/>
            <a:ext cx="218023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Uzak kopya</a:t>
            </a:r>
            <a:endParaRPr lang="en-US" sz="2000" dirty="0"/>
          </a:p>
        </p:txBody>
      </p:sp>
      <p:sp>
        <p:nvSpPr>
          <p:cNvPr id="13" name="Text 8"/>
          <p:cNvSpPr/>
          <p:nvPr/>
        </p:nvSpPr>
        <p:spPr>
          <a:xfrm>
            <a:off x="5024934" y="2956421"/>
            <a:ext cx="21802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JetBrains Mono" pitchFamily="34" charset="0"/>
                <a:ea typeface="JetBrains Mono" pitchFamily="34" charset="-122"/>
                <a:cs typeface="JetBrains Mono" pitchFamily="34" charset="-120"/>
              </a:rPr>
              <a:t>origin/main</a:t>
            </a:r>
            <a:endParaRPr lang="en-US" sz="1300" dirty="0"/>
          </a:p>
        </p:txBody>
      </p:sp>
      <p:sp>
        <p:nvSpPr>
          <p:cNvPr id="14" name="Text 9"/>
          <p:cNvSpPr/>
          <p:nvPr/>
        </p:nvSpPr>
        <p:spPr>
          <a:xfrm>
            <a:off x="7833816" y="2346821"/>
            <a:ext cx="5461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merge</a:t>
            </a:r>
            <a:endParaRPr lang="en-US" sz="1300" dirty="0"/>
          </a:p>
        </p:txBody>
      </p:sp>
      <p:pic>
        <p:nvPicPr>
          <p:cNvPr id="15" name="Image 3" descr="arrow-right"/>
          <p:cNvPicPr>
            <a:picLocks noChangeAspect="1"/>
          </p:cNvPicPr>
          <p:nvPr/>
        </p:nvPicPr>
        <p:blipFill>
          <a:blip r:embed="rId6"/>
          <a:srcRect/>
          <a:stretch/>
        </p:blipFill>
        <p:spPr>
          <a:xfrm>
            <a:off x="7605216" y="2654102"/>
            <a:ext cx="952500" cy="381000"/>
          </a:xfrm>
          <a:prstGeom prst="rect">
            <a:avLst/>
          </a:prstGeom>
        </p:spPr>
      </p:pic>
      <p:sp>
        <p:nvSpPr>
          <p:cNvPr id="16" name="Shape 10"/>
          <p:cNvSpPr/>
          <p:nvPr/>
        </p:nvSpPr>
        <p:spPr>
          <a:xfrm>
            <a:off x="8786316" y="1959471"/>
            <a:ext cx="2586534" cy="1462980"/>
          </a:xfrm>
          <a:prstGeom prst="roundRect">
            <a:avLst>
              <a:gd name="adj" fmla="val 8247"/>
            </a:avLst>
          </a:prstGeom>
          <a:solidFill>
            <a:srgbClr val="FDFCF9"/>
          </a:solidFill>
          <a:ln w="12700">
            <a:solidFill>
              <a:srgbClr val="E2DDD0"/>
            </a:solidFill>
            <a:prstDash val="solid"/>
          </a:ln>
        </p:spPr>
      </p:sp>
      <p:pic>
        <p:nvPicPr>
          <p:cNvPr id="17" name="Image 4" descr="Code"/>
          <p:cNvPicPr>
            <a:picLocks noChangeAspect="1"/>
          </p:cNvPicPr>
          <p:nvPr/>
        </p:nvPicPr>
        <p:blipFill>
          <a:blip r:embed="rId7"/>
          <a:srcRect/>
          <a:stretch/>
        </p:blipFill>
        <p:spPr>
          <a:xfrm>
            <a:off x="9021266" y="2194421"/>
            <a:ext cx="304800" cy="304800"/>
          </a:xfrm>
          <a:prstGeom prst="rect">
            <a:avLst/>
          </a:prstGeom>
        </p:spPr>
      </p:pic>
      <p:sp>
        <p:nvSpPr>
          <p:cNvPr id="18" name="Text 11"/>
          <p:cNvSpPr/>
          <p:nvPr/>
        </p:nvSpPr>
        <p:spPr>
          <a:xfrm>
            <a:off x="9021266" y="2575421"/>
            <a:ext cx="218013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Senin kodun</a:t>
            </a:r>
            <a:endParaRPr lang="en-US" sz="2000" dirty="0"/>
          </a:p>
        </p:txBody>
      </p:sp>
      <p:sp>
        <p:nvSpPr>
          <p:cNvPr id="19" name="Text 12"/>
          <p:cNvSpPr/>
          <p:nvPr/>
        </p:nvSpPr>
        <p:spPr>
          <a:xfrm>
            <a:off x="9021266" y="2956421"/>
            <a:ext cx="21801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JetBrains Mono" pitchFamily="34" charset="0"/>
                <a:ea typeface="JetBrains Mono" pitchFamily="34" charset="-122"/>
                <a:cs typeface="JetBrains Mono" pitchFamily="34" charset="-120"/>
              </a:rPr>
              <a:t>main</a:t>
            </a:r>
            <a:endParaRPr lang="en-US" sz="1300" dirty="0"/>
          </a:p>
        </p:txBody>
      </p:sp>
      <p:sp>
        <p:nvSpPr>
          <p:cNvPr id="20" name="Shape 13"/>
          <p:cNvSpPr/>
          <p:nvPr/>
        </p:nvSpPr>
        <p:spPr>
          <a:xfrm>
            <a:off x="812800" y="3733602"/>
            <a:ext cx="5207000" cy="1301750"/>
          </a:xfrm>
          <a:prstGeom prst="roundRect">
            <a:avLst>
              <a:gd name="adj" fmla="val 9756"/>
            </a:avLst>
          </a:prstGeom>
          <a:solidFill>
            <a:srgbClr val="E3ECFB"/>
          </a:solidFill>
          <a:ln/>
        </p:spPr>
      </p:sp>
      <p:sp>
        <p:nvSpPr>
          <p:cNvPr id="21" name="Text 14"/>
          <p:cNvSpPr/>
          <p:nvPr/>
        </p:nvSpPr>
        <p:spPr>
          <a:xfrm>
            <a:off x="1041400" y="3936802"/>
            <a:ext cx="489229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6FDB"/>
                </a:solidFill>
                <a:latin typeface="JetBrains Mono" pitchFamily="34" charset="0"/>
                <a:ea typeface="JetBrains Mono" pitchFamily="34" charset="-122"/>
                <a:cs typeface="JetBrains Mono" pitchFamily="34" charset="-120"/>
              </a:rPr>
              <a:t>git fetch</a:t>
            </a:r>
            <a:endParaRPr lang="en-US" sz="1500" dirty="0"/>
          </a:p>
        </p:txBody>
      </p:sp>
      <p:sp>
        <p:nvSpPr>
          <p:cNvPr id="22" name="Text 15"/>
          <p:cNvSpPr/>
          <p:nvPr/>
        </p:nvSpPr>
        <p:spPr>
          <a:xfrm>
            <a:off x="1041400" y="4279702"/>
            <a:ext cx="4892294"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02C"/>
                </a:solidFill>
                <a:latin typeface="IBM Plex Sans" pitchFamily="34" charset="0"/>
                <a:ea typeface="IBM Plex Sans" pitchFamily="34" charset="-122"/>
                <a:cs typeface="IBM Plex Sans" pitchFamily="34" charset="-120"/>
              </a:rPr>
              <a:t>Sadece ilk ok. Çalışma alanındaki kodlara dokunmaz, tamamen güvenli.</a:t>
            </a:r>
            <a:endParaRPr lang="en-US" sz="1500" dirty="0"/>
          </a:p>
        </p:txBody>
      </p:sp>
      <p:sp>
        <p:nvSpPr>
          <p:cNvPr id="23" name="Shape 16"/>
          <p:cNvSpPr/>
          <p:nvPr/>
        </p:nvSpPr>
        <p:spPr>
          <a:xfrm>
            <a:off x="6172200" y="3733602"/>
            <a:ext cx="5207000" cy="1301750"/>
          </a:xfrm>
          <a:prstGeom prst="roundRect">
            <a:avLst>
              <a:gd name="adj" fmla="val 9756"/>
            </a:avLst>
          </a:prstGeom>
          <a:solidFill>
            <a:srgbClr val="FBE9DC"/>
          </a:solidFill>
          <a:ln/>
        </p:spPr>
      </p:sp>
      <p:sp>
        <p:nvSpPr>
          <p:cNvPr id="24" name="Text 17"/>
          <p:cNvSpPr/>
          <p:nvPr/>
        </p:nvSpPr>
        <p:spPr>
          <a:xfrm>
            <a:off x="6400800" y="3936802"/>
            <a:ext cx="489229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8430A"/>
                </a:solidFill>
                <a:latin typeface="JetBrains Mono" pitchFamily="34" charset="0"/>
                <a:ea typeface="JetBrains Mono" pitchFamily="34" charset="-122"/>
                <a:cs typeface="JetBrains Mono" pitchFamily="34" charset="-120"/>
              </a:rPr>
              <a:t>git pull</a:t>
            </a:r>
            <a:endParaRPr lang="en-US" sz="1500" dirty="0"/>
          </a:p>
        </p:txBody>
      </p:sp>
      <p:sp>
        <p:nvSpPr>
          <p:cNvPr id="25" name="Text 18"/>
          <p:cNvSpPr/>
          <p:nvPr/>
        </p:nvSpPr>
        <p:spPr>
          <a:xfrm>
            <a:off x="6400800" y="4279702"/>
            <a:ext cx="4892294"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02C"/>
                </a:solidFill>
                <a:latin typeface="IBM Plex Sans" pitchFamily="34" charset="0"/>
                <a:ea typeface="IBM Plex Sans" pitchFamily="34" charset="-122"/>
                <a:cs typeface="IBM Plex Sans" pitchFamily="34" charset="-120"/>
              </a:rPr>
              <a:t>İki ok birden: fetch + merge. Kodun değişir, conflict çıkabilir.</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ÖZET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Push, fetch, pull yan yana</a:t>
            </a:r>
            <a:endParaRPr lang="en-US" sz="3600" dirty="0"/>
          </a:p>
        </p:txBody>
      </p:sp>
      <p:sp>
        <p:nvSpPr>
          <p:cNvPr id="4" name="Shape 2"/>
          <p:cNvSpPr/>
          <p:nvPr/>
        </p:nvSpPr>
        <p:spPr>
          <a:xfrm>
            <a:off x="812800" y="1959471"/>
            <a:ext cx="10566400" cy="0"/>
          </a:xfrm>
          <a:prstGeom prst="line">
            <a:avLst/>
          </a:prstGeom>
          <a:noFill/>
          <a:ln w="12700">
            <a:solidFill>
              <a:srgbClr val="141413">
                <a:alpha val="22000"/>
              </a:srgbClr>
            </a:solidFill>
            <a:prstDash val="solid"/>
          </a:ln>
        </p:spPr>
      </p:sp>
      <p:sp>
        <p:nvSpPr>
          <p:cNvPr id="5" name="Shape 3"/>
          <p:cNvSpPr/>
          <p:nvPr/>
        </p:nvSpPr>
        <p:spPr>
          <a:xfrm>
            <a:off x="819150" y="1953121"/>
            <a:ext cx="0" cy="2730897"/>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65200" y="2080121"/>
          <a:ext cx="10274300" cy="2489598"/>
        </p:xfrm>
        <a:graphic>
          <a:graphicData uri="http://schemas.openxmlformats.org/drawingml/2006/table">
            <a:tbl>
              <a:tblPr/>
              <a:tblGrid>
                <a:gridCol w="2054860">
                  <a:extLst>
                    <a:ext uri="{9D8B030D-6E8A-4147-A177-3AD203B41FA5}">
                      <a16:colId xmlns:a16="http://schemas.microsoft.com/office/drawing/2014/main" val="20000"/>
                    </a:ext>
                  </a:extLst>
                </a:gridCol>
                <a:gridCol w="2054860">
                  <a:extLst>
                    <a:ext uri="{9D8B030D-6E8A-4147-A177-3AD203B41FA5}">
                      <a16:colId xmlns:a16="http://schemas.microsoft.com/office/drawing/2014/main" val="20001"/>
                    </a:ext>
                  </a:extLst>
                </a:gridCol>
                <a:gridCol w="1849374">
                  <a:extLst>
                    <a:ext uri="{9D8B030D-6E8A-4147-A177-3AD203B41FA5}">
                      <a16:colId xmlns:a16="http://schemas.microsoft.com/office/drawing/2014/main" val="20002"/>
                    </a:ext>
                  </a:extLst>
                </a:gridCol>
                <a:gridCol w="1849374">
                  <a:extLst>
                    <a:ext uri="{9D8B030D-6E8A-4147-A177-3AD203B41FA5}">
                      <a16:colId xmlns:a16="http://schemas.microsoft.com/office/drawing/2014/main" val="20003"/>
                    </a:ext>
                  </a:extLst>
                </a:gridCol>
                <a:gridCol w="2465832">
                  <a:extLst>
                    <a:ext uri="{9D8B030D-6E8A-4147-A177-3AD203B41FA5}">
                      <a16:colId xmlns:a16="http://schemas.microsoft.com/office/drawing/2014/main" val="20004"/>
                    </a:ext>
                  </a:extLst>
                </a:gridCol>
              </a:tblGrid>
              <a:tr h="590352">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Komut</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Yön</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Dosyalarına dokunur mu?</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Yeni commit?</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Risk</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push</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8BAB0"/>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Sen → GitHub</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Hayır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Hayır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Reddedilebilir; --force tehlikeli</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fetch</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5BCC8"/>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GitHub → origin/main</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Hayır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Hayır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Yok, tamamen güvenli</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 origin/main</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origin/main → main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Evet</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Olabilir (M)</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Conflict çıkabilir; internet gerekmez</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pull</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GitHub → main</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Evet</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Olabilir (M)</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Conflict çıkabilir</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4"/>
                  </a:ext>
                </a:extLst>
              </a:tr>
            </a:tbl>
          </a:graphicData>
        </a:graphic>
      </p:graphicFrame>
      <p:sp>
        <p:nvSpPr>
          <p:cNvPr id="7" name="Text 4"/>
          <p:cNvSpPr/>
          <p:nvPr/>
        </p:nvSpPr>
        <p:spPr>
          <a:xfrm>
            <a:off x="812800" y="4988818"/>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Formül: </a:t>
            </a:r>
            <a:r>
              <a:rPr lang="en-US" sz="1500" b="1" dirty="0">
                <a:solidFill>
                  <a:srgbClr val="4A5566"/>
                </a:solidFill>
                <a:latin typeface="IBM Plex Sans" pitchFamily="34" charset="0"/>
                <a:ea typeface="IBM Plex Sans" pitchFamily="34" charset="-122"/>
                <a:cs typeface="IBM Plex Sans" pitchFamily="34" charset="-120"/>
              </a:rPr>
              <a:t>pull = fetch + merge.</a:t>
            </a:r>
            <a:r>
              <a:rPr lang="en-US" sz="1500" dirty="0">
                <a:solidFill>
                  <a:srgbClr val="4A5566"/>
                </a:solidFill>
                <a:latin typeface="IBM Plex Sans" pitchFamily="34" charset="0"/>
                <a:ea typeface="IBM Plex Sans" pitchFamily="34" charset="-122"/>
                <a:cs typeface="IBM Plex Sans" pitchFamily="34" charset="-120"/>
              </a:rPr>
              <a:t> Kontrollü ilerlemek istiyorsan ikisini ayrı ayrı çalıştır.</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GÜNLÜK AKIŞ</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Bir iş gününün Git ritmi</a:t>
            </a:r>
            <a:endParaRPr lang="en-US" sz="3600" dirty="0"/>
          </a:p>
        </p:txBody>
      </p:sp>
      <p:sp>
        <p:nvSpPr>
          <p:cNvPr id="4" name="Shape 2"/>
          <p:cNvSpPr/>
          <p:nvPr/>
        </p:nvSpPr>
        <p:spPr>
          <a:xfrm>
            <a:off x="819150" y="1959471"/>
            <a:ext cx="1633141" cy="1551880"/>
          </a:xfrm>
          <a:prstGeom prst="roundRect">
            <a:avLst>
              <a:gd name="adj" fmla="val 7774"/>
            </a:avLst>
          </a:prstGeom>
          <a:solidFill>
            <a:srgbClr val="E3ECFB"/>
          </a:solidFill>
          <a:ln w="12700">
            <a:solidFill>
              <a:srgbClr val="2F6FDB"/>
            </a:solidFill>
            <a:prstDash val="solid"/>
          </a:ln>
        </p:spPr>
      </p:sp>
      <p:sp>
        <p:nvSpPr>
          <p:cNvPr id="5" name="Text 3"/>
          <p:cNvSpPr/>
          <p:nvPr/>
        </p:nvSpPr>
        <p:spPr>
          <a:xfrm>
            <a:off x="977900" y="2118221"/>
            <a:ext cx="1366441"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B"/>
                </a:solidFill>
                <a:latin typeface="JetBrains Mono" pitchFamily="34" charset="0"/>
                <a:ea typeface="JetBrains Mono" pitchFamily="34" charset="-122"/>
                <a:cs typeface="JetBrains Mono" pitchFamily="34" charset="-120"/>
              </a:rPr>
              <a:t>1</a:t>
            </a:r>
            <a:endParaRPr lang="en-US" sz="2000" dirty="0"/>
          </a:p>
        </p:txBody>
      </p:sp>
      <p:sp>
        <p:nvSpPr>
          <p:cNvPr id="6" name="Text 4"/>
          <p:cNvSpPr/>
          <p:nvPr/>
        </p:nvSpPr>
        <p:spPr>
          <a:xfrm>
            <a:off x="977900" y="2550021"/>
            <a:ext cx="136644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Durumu gör</a:t>
            </a:r>
            <a:endParaRPr lang="en-US" sz="1300" dirty="0"/>
          </a:p>
        </p:txBody>
      </p:sp>
      <p:sp>
        <p:nvSpPr>
          <p:cNvPr id="7" name="Text 5"/>
          <p:cNvSpPr/>
          <p:nvPr/>
        </p:nvSpPr>
        <p:spPr>
          <a:xfrm>
            <a:off x="977900" y="2857302"/>
            <a:ext cx="1366441"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fetch</a:t>
            </a:r>
            <a:endParaRPr lang="en-US" sz="1300" dirty="0"/>
          </a:p>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status</a:t>
            </a:r>
            <a:endParaRPr lang="en-US" sz="1300" dirty="0"/>
          </a:p>
        </p:txBody>
      </p:sp>
      <p:pic>
        <p:nvPicPr>
          <p:cNvPr id="8" name="Image 0" descr="arrow-right"/>
          <p:cNvPicPr>
            <a:picLocks noChangeAspect="1"/>
          </p:cNvPicPr>
          <p:nvPr/>
        </p:nvPicPr>
        <p:blipFill>
          <a:blip r:embed="rId3"/>
          <a:srcRect/>
          <a:stretch/>
        </p:blipFill>
        <p:spPr>
          <a:xfrm>
            <a:off x="2560241" y="2621062"/>
            <a:ext cx="381000" cy="228600"/>
          </a:xfrm>
          <a:prstGeom prst="rect">
            <a:avLst/>
          </a:prstGeom>
        </p:spPr>
      </p:pic>
      <p:sp>
        <p:nvSpPr>
          <p:cNvPr id="9" name="Shape 6"/>
          <p:cNvSpPr/>
          <p:nvPr/>
        </p:nvSpPr>
        <p:spPr>
          <a:xfrm>
            <a:off x="3049191" y="2083296"/>
            <a:ext cx="1633240" cy="1304230"/>
          </a:xfrm>
          <a:prstGeom prst="roundRect">
            <a:avLst>
              <a:gd name="adj" fmla="val 9251"/>
            </a:avLst>
          </a:prstGeom>
          <a:solidFill>
            <a:srgbClr val="FDFCF9"/>
          </a:solidFill>
          <a:ln w="12700">
            <a:solidFill>
              <a:srgbClr val="E2DDD0"/>
            </a:solidFill>
            <a:prstDash val="solid"/>
          </a:ln>
        </p:spPr>
      </p:sp>
      <p:sp>
        <p:nvSpPr>
          <p:cNvPr id="10" name="Text 7"/>
          <p:cNvSpPr/>
          <p:nvPr/>
        </p:nvSpPr>
        <p:spPr>
          <a:xfrm>
            <a:off x="3207941" y="2242046"/>
            <a:ext cx="136654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B"/>
                </a:solidFill>
                <a:latin typeface="JetBrains Mono" pitchFamily="34" charset="0"/>
                <a:ea typeface="JetBrains Mono" pitchFamily="34" charset="-122"/>
                <a:cs typeface="JetBrains Mono" pitchFamily="34" charset="-120"/>
              </a:rPr>
              <a:t>2</a:t>
            </a:r>
            <a:endParaRPr lang="en-US" sz="2000" dirty="0"/>
          </a:p>
        </p:txBody>
      </p:sp>
      <p:sp>
        <p:nvSpPr>
          <p:cNvPr id="11" name="Text 8"/>
          <p:cNvSpPr/>
          <p:nvPr/>
        </p:nvSpPr>
        <p:spPr>
          <a:xfrm>
            <a:off x="3207941" y="2673846"/>
            <a:ext cx="13665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Güncellen</a:t>
            </a:r>
            <a:endParaRPr lang="en-US" sz="1300" dirty="0"/>
          </a:p>
        </p:txBody>
      </p:sp>
      <p:sp>
        <p:nvSpPr>
          <p:cNvPr id="12" name="Text 9"/>
          <p:cNvSpPr/>
          <p:nvPr/>
        </p:nvSpPr>
        <p:spPr>
          <a:xfrm>
            <a:off x="3207941" y="2981127"/>
            <a:ext cx="1366540"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pull</a:t>
            </a:r>
            <a:endParaRPr lang="en-US" sz="1300" dirty="0"/>
          </a:p>
        </p:txBody>
      </p:sp>
      <p:pic>
        <p:nvPicPr>
          <p:cNvPr id="13" name="Image 1" descr="arrow-right"/>
          <p:cNvPicPr>
            <a:picLocks noChangeAspect="1"/>
          </p:cNvPicPr>
          <p:nvPr/>
        </p:nvPicPr>
        <p:blipFill>
          <a:blip r:embed="rId3"/>
          <a:srcRect/>
          <a:stretch/>
        </p:blipFill>
        <p:spPr>
          <a:xfrm>
            <a:off x="4790380" y="2621062"/>
            <a:ext cx="381000" cy="228600"/>
          </a:xfrm>
          <a:prstGeom prst="rect">
            <a:avLst/>
          </a:prstGeom>
        </p:spPr>
      </p:pic>
      <p:sp>
        <p:nvSpPr>
          <p:cNvPr id="14" name="Shape 10"/>
          <p:cNvSpPr/>
          <p:nvPr/>
        </p:nvSpPr>
        <p:spPr>
          <a:xfrm>
            <a:off x="5279330" y="1959471"/>
            <a:ext cx="1633240" cy="1551880"/>
          </a:xfrm>
          <a:prstGeom prst="roundRect">
            <a:avLst>
              <a:gd name="adj" fmla="val 7774"/>
            </a:avLst>
          </a:prstGeom>
          <a:solidFill>
            <a:srgbClr val="FDFCF9"/>
          </a:solidFill>
          <a:ln w="12700">
            <a:solidFill>
              <a:srgbClr val="E2DDD0"/>
            </a:solidFill>
            <a:prstDash val="solid"/>
          </a:ln>
        </p:spPr>
      </p:sp>
      <p:sp>
        <p:nvSpPr>
          <p:cNvPr id="15" name="Text 11"/>
          <p:cNvSpPr/>
          <p:nvPr/>
        </p:nvSpPr>
        <p:spPr>
          <a:xfrm>
            <a:off x="5438080" y="2118221"/>
            <a:ext cx="136654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3</a:t>
            </a:r>
            <a:endParaRPr lang="en-US" sz="2000" dirty="0"/>
          </a:p>
        </p:txBody>
      </p:sp>
      <p:sp>
        <p:nvSpPr>
          <p:cNvPr id="16" name="Text 12"/>
          <p:cNvSpPr/>
          <p:nvPr/>
        </p:nvSpPr>
        <p:spPr>
          <a:xfrm>
            <a:off x="5438080" y="2550021"/>
            <a:ext cx="13665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Çalış</a:t>
            </a:r>
            <a:endParaRPr lang="en-US" sz="1300" dirty="0"/>
          </a:p>
        </p:txBody>
      </p:sp>
      <p:sp>
        <p:nvSpPr>
          <p:cNvPr id="17" name="Text 13"/>
          <p:cNvSpPr/>
          <p:nvPr/>
        </p:nvSpPr>
        <p:spPr>
          <a:xfrm>
            <a:off x="5438080" y="2857302"/>
            <a:ext cx="136654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add</a:t>
            </a:r>
            <a:endParaRPr lang="en-US" sz="1300" dirty="0"/>
          </a:p>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commit</a:t>
            </a:r>
            <a:endParaRPr lang="en-US" sz="1300" dirty="0"/>
          </a:p>
        </p:txBody>
      </p:sp>
      <p:pic>
        <p:nvPicPr>
          <p:cNvPr id="18" name="Image 2" descr="arrow-right"/>
          <p:cNvPicPr>
            <a:picLocks noChangeAspect="1"/>
          </p:cNvPicPr>
          <p:nvPr/>
        </p:nvPicPr>
        <p:blipFill>
          <a:blip r:embed="rId3"/>
          <a:srcRect/>
          <a:stretch/>
        </p:blipFill>
        <p:spPr>
          <a:xfrm>
            <a:off x="7020520" y="2621062"/>
            <a:ext cx="381000" cy="228600"/>
          </a:xfrm>
          <a:prstGeom prst="rect">
            <a:avLst/>
          </a:prstGeom>
        </p:spPr>
      </p:pic>
      <p:sp>
        <p:nvSpPr>
          <p:cNvPr id="19" name="Shape 14"/>
          <p:cNvSpPr/>
          <p:nvPr/>
        </p:nvSpPr>
        <p:spPr>
          <a:xfrm>
            <a:off x="7509470" y="2083296"/>
            <a:ext cx="1633240" cy="1304230"/>
          </a:xfrm>
          <a:prstGeom prst="roundRect">
            <a:avLst>
              <a:gd name="adj" fmla="val 9251"/>
            </a:avLst>
          </a:prstGeom>
          <a:solidFill>
            <a:srgbClr val="FDFCF9"/>
          </a:solidFill>
          <a:ln w="12700">
            <a:solidFill>
              <a:srgbClr val="E2DDD0"/>
            </a:solidFill>
            <a:prstDash val="solid"/>
          </a:ln>
        </p:spPr>
      </p:sp>
      <p:sp>
        <p:nvSpPr>
          <p:cNvPr id="20" name="Text 15"/>
          <p:cNvSpPr/>
          <p:nvPr/>
        </p:nvSpPr>
        <p:spPr>
          <a:xfrm>
            <a:off x="7668220" y="2242046"/>
            <a:ext cx="136654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B"/>
                </a:solidFill>
                <a:latin typeface="JetBrains Mono" pitchFamily="34" charset="0"/>
                <a:ea typeface="JetBrains Mono" pitchFamily="34" charset="-122"/>
                <a:cs typeface="JetBrains Mono" pitchFamily="34" charset="-120"/>
              </a:rPr>
              <a:t>4</a:t>
            </a:r>
            <a:endParaRPr lang="en-US" sz="2000" dirty="0"/>
          </a:p>
        </p:txBody>
      </p:sp>
      <p:sp>
        <p:nvSpPr>
          <p:cNvPr id="21" name="Text 16"/>
          <p:cNvSpPr/>
          <p:nvPr/>
        </p:nvSpPr>
        <p:spPr>
          <a:xfrm>
            <a:off x="7668220" y="2673846"/>
            <a:ext cx="13665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Tekrar çek</a:t>
            </a:r>
            <a:endParaRPr lang="en-US" sz="1300" dirty="0"/>
          </a:p>
        </p:txBody>
      </p:sp>
      <p:sp>
        <p:nvSpPr>
          <p:cNvPr id="22" name="Text 17"/>
          <p:cNvSpPr/>
          <p:nvPr/>
        </p:nvSpPr>
        <p:spPr>
          <a:xfrm>
            <a:off x="7668220" y="2981127"/>
            <a:ext cx="1366540"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pull</a:t>
            </a:r>
            <a:endParaRPr lang="en-US" sz="1300" dirty="0"/>
          </a:p>
        </p:txBody>
      </p:sp>
      <p:pic>
        <p:nvPicPr>
          <p:cNvPr id="23" name="Image 3" descr="arrow-right"/>
          <p:cNvPicPr>
            <a:picLocks noChangeAspect="1"/>
          </p:cNvPicPr>
          <p:nvPr/>
        </p:nvPicPr>
        <p:blipFill>
          <a:blip r:embed="rId3"/>
          <a:srcRect/>
          <a:stretch/>
        </p:blipFill>
        <p:spPr>
          <a:xfrm>
            <a:off x="9250660" y="2621062"/>
            <a:ext cx="381000" cy="228600"/>
          </a:xfrm>
          <a:prstGeom prst="rect">
            <a:avLst/>
          </a:prstGeom>
        </p:spPr>
      </p:pic>
      <p:sp>
        <p:nvSpPr>
          <p:cNvPr id="24" name="Shape 18"/>
          <p:cNvSpPr/>
          <p:nvPr/>
        </p:nvSpPr>
        <p:spPr>
          <a:xfrm>
            <a:off x="9739610" y="2083296"/>
            <a:ext cx="1633240" cy="1304230"/>
          </a:xfrm>
          <a:prstGeom prst="roundRect">
            <a:avLst>
              <a:gd name="adj" fmla="val 9251"/>
            </a:avLst>
          </a:prstGeom>
          <a:solidFill>
            <a:srgbClr val="FBE9DC"/>
          </a:solidFill>
          <a:ln w="12700">
            <a:solidFill>
              <a:srgbClr val="F08C4B"/>
            </a:solidFill>
            <a:prstDash val="solid"/>
          </a:ln>
        </p:spPr>
      </p:sp>
      <p:sp>
        <p:nvSpPr>
          <p:cNvPr id="25" name="Text 19"/>
          <p:cNvSpPr/>
          <p:nvPr/>
        </p:nvSpPr>
        <p:spPr>
          <a:xfrm>
            <a:off x="9898360" y="2242046"/>
            <a:ext cx="136654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5</a:t>
            </a:r>
            <a:endParaRPr lang="en-US" sz="2000" dirty="0"/>
          </a:p>
        </p:txBody>
      </p:sp>
      <p:sp>
        <p:nvSpPr>
          <p:cNvPr id="26" name="Text 20"/>
          <p:cNvSpPr/>
          <p:nvPr/>
        </p:nvSpPr>
        <p:spPr>
          <a:xfrm>
            <a:off x="9898360" y="2673846"/>
            <a:ext cx="13665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IBM Plex Sans" pitchFamily="34" charset="0"/>
                <a:ea typeface="IBM Plex Sans" pitchFamily="34" charset="-122"/>
                <a:cs typeface="IBM Plex Sans" pitchFamily="34" charset="-120"/>
              </a:rPr>
              <a:t>Gönder</a:t>
            </a:r>
            <a:endParaRPr lang="en-US" sz="1300" dirty="0"/>
          </a:p>
        </p:txBody>
      </p:sp>
      <p:sp>
        <p:nvSpPr>
          <p:cNvPr id="27" name="Text 21"/>
          <p:cNvSpPr/>
          <p:nvPr/>
        </p:nvSpPr>
        <p:spPr>
          <a:xfrm>
            <a:off x="9898360" y="2981127"/>
            <a:ext cx="1366540"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push</a:t>
            </a:r>
            <a:endParaRPr lang="en-US" sz="1300" dirty="0"/>
          </a:p>
        </p:txBody>
      </p:sp>
      <p:sp>
        <p:nvSpPr>
          <p:cNvPr id="28" name="Shape 22"/>
          <p:cNvSpPr/>
          <p:nvPr/>
        </p:nvSpPr>
        <p:spPr>
          <a:xfrm>
            <a:off x="812800" y="3822502"/>
            <a:ext cx="10566400" cy="635000"/>
          </a:xfrm>
          <a:prstGeom prst="roundRect">
            <a:avLst>
              <a:gd name="adj" fmla="val 16000"/>
            </a:avLst>
          </a:prstGeom>
          <a:solidFill>
            <a:srgbClr val="16202C"/>
          </a:solidFill>
          <a:ln/>
        </p:spPr>
      </p:sp>
      <p:pic>
        <p:nvPicPr>
          <p:cNvPr id="29" name="Image 4" descr="Lightbulb"/>
          <p:cNvPicPr>
            <a:picLocks noChangeAspect="1"/>
          </p:cNvPicPr>
          <p:nvPr/>
        </p:nvPicPr>
        <p:blipFill>
          <a:blip r:embed="rId4"/>
          <a:srcRect/>
          <a:stretch/>
        </p:blipFill>
        <p:spPr>
          <a:xfrm>
            <a:off x="1041400" y="4000302"/>
            <a:ext cx="279400" cy="279400"/>
          </a:xfrm>
          <a:prstGeom prst="rect">
            <a:avLst/>
          </a:prstGeom>
        </p:spPr>
      </p:pic>
      <p:sp>
        <p:nvSpPr>
          <p:cNvPr id="30" name="Text 23"/>
          <p:cNvSpPr/>
          <p:nvPr/>
        </p:nvSpPr>
        <p:spPr>
          <a:xfrm>
            <a:off x="1422400" y="4006652"/>
            <a:ext cx="961657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Altın alışkanlık:</a:t>
            </a:r>
            <a:r>
              <a:rPr lang="en-US" sz="1500" dirty="0">
                <a:solidFill>
                  <a:srgbClr val="F6F4EE"/>
                </a:solidFill>
                <a:latin typeface="IBM Plex Sans" pitchFamily="34" charset="0"/>
                <a:ea typeface="IBM Plex Sans" pitchFamily="34" charset="-122"/>
                <a:cs typeface="IBM Plex Sans" pitchFamily="34" charset="-120"/>
              </a:rPr>
              <a:t> push'tan hemen önce pull. Reddedilen push'ların neredeyse hepsi bu adım atlandığı için olur.</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E9DC"/>
        </a:solidFill>
        <a:effectLst/>
      </p:bgPr>
    </p:bg>
    <p:spTree>
      <p:nvGrpSpPr>
        <p:cNvPr id="1" name=""/>
        <p:cNvGrpSpPr/>
        <p:nvPr/>
      </p:nvGrpSpPr>
      <p:grpSpPr>
        <a:xfrm>
          <a:off x="0" y="0"/>
          <a:ext cx="0" cy="0"/>
          <a:chOff x="0" y="0"/>
          <a:chExt cx="0" cy="0"/>
        </a:xfrm>
      </p:grpSpPr>
      <p:pic>
        <p:nvPicPr>
          <p:cNvPr id="2" name="Image 0" descr="Chat"/>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302256"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SINIFA SOR · MODÜL 3</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Push mu, fetch mi, pull mu?</a:t>
            </a:r>
            <a:endParaRPr lang="en-US" sz="3600" dirty="0"/>
          </a:p>
        </p:txBody>
      </p:sp>
      <p:sp>
        <p:nvSpPr>
          <p:cNvPr id="5" name="Shape 2"/>
          <p:cNvSpPr/>
          <p:nvPr/>
        </p:nvSpPr>
        <p:spPr>
          <a:xfrm>
            <a:off x="812800" y="1953121"/>
            <a:ext cx="5207000" cy="1272480"/>
          </a:xfrm>
          <a:prstGeom prst="roundRect">
            <a:avLst>
              <a:gd name="adj" fmla="val 9981"/>
            </a:avLst>
          </a:prstGeom>
          <a:solidFill>
            <a:srgbClr val="FDFCF9"/>
          </a:solidFill>
          <a:ln/>
        </p:spPr>
      </p:sp>
      <p:sp>
        <p:nvSpPr>
          <p:cNvPr id="6" name="Text 3"/>
          <p:cNvSpPr/>
          <p:nvPr/>
        </p:nvSpPr>
        <p:spPr>
          <a:xfrm>
            <a:off x="1016000" y="2156321"/>
            <a:ext cx="494461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1. Arkadaşım push etti. Ne değiştiğini görmek istiyorum ama kodum bozulmasın.</a:t>
            </a:r>
            <a:endParaRPr lang="en-US" sz="1500" dirty="0"/>
          </a:p>
        </p:txBody>
      </p:sp>
      <p:sp>
        <p:nvSpPr>
          <p:cNvPr id="7" name="Text 4"/>
          <p:cNvSpPr/>
          <p:nvPr/>
        </p:nvSpPr>
        <p:spPr>
          <a:xfrm>
            <a:off x="1016000" y="2791321"/>
            <a:ext cx="4944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fetch + git log main..origin/main</a:t>
            </a:r>
            <a:endParaRPr lang="en-US" sz="1300" dirty="0"/>
          </a:p>
        </p:txBody>
      </p:sp>
      <p:sp>
        <p:nvSpPr>
          <p:cNvPr id="8" name="Shape 5"/>
          <p:cNvSpPr/>
          <p:nvPr/>
        </p:nvSpPr>
        <p:spPr>
          <a:xfrm>
            <a:off x="6172200" y="1953121"/>
            <a:ext cx="5207000" cy="1272480"/>
          </a:xfrm>
          <a:prstGeom prst="roundRect">
            <a:avLst>
              <a:gd name="adj" fmla="val 9981"/>
            </a:avLst>
          </a:prstGeom>
          <a:solidFill>
            <a:srgbClr val="FDFCF9"/>
          </a:solidFill>
          <a:ln/>
        </p:spPr>
      </p:sp>
      <p:sp>
        <p:nvSpPr>
          <p:cNvPr id="9" name="Text 6"/>
          <p:cNvSpPr/>
          <p:nvPr/>
        </p:nvSpPr>
        <p:spPr>
          <a:xfrm>
            <a:off x="6375400" y="2156321"/>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2. Terminal "rejected (fetch first)" dedi.</a:t>
            </a:r>
            <a:endParaRPr lang="en-US" sz="1500" dirty="0"/>
          </a:p>
        </p:txBody>
      </p:sp>
      <p:sp>
        <p:nvSpPr>
          <p:cNvPr id="10" name="Text 7"/>
          <p:cNvSpPr/>
          <p:nvPr/>
        </p:nvSpPr>
        <p:spPr>
          <a:xfrm>
            <a:off x="6375400" y="2524621"/>
            <a:ext cx="4944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pull, sonra git push</a:t>
            </a:r>
            <a:endParaRPr lang="en-US" sz="1300" dirty="0"/>
          </a:p>
        </p:txBody>
      </p:sp>
      <p:sp>
        <p:nvSpPr>
          <p:cNvPr id="11" name="Shape 8"/>
          <p:cNvSpPr/>
          <p:nvPr/>
        </p:nvSpPr>
        <p:spPr>
          <a:xfrm>
            <a:off x="812800" y="3378002"/>
            <a:ext cx="5207000" cy="1272480"/>
          </a:xfrm>
          <a:prstGeom prst="roundRect">
            <a:avLst>
              <a:gd name="adj" fmla="val 9981"/>
            </a:avLst>
          </a:prstGeom>
          <a:solidFill>
            <a:srgbClr val="FDFCF9"/>
          </a:solidFill>
          <a:ln/>
        </p:spPr>
      </p:sp>
      <p:sp>
        <p:nvSpPr>
          <p:cNvPr id="12" name="Text 9"/>
          <p:cNvSpPr/>
          <p:nvPr/>
        </p:nvSpPr>
        <p:spPr>
          <a:xfrm>
            <a:off x="1016000" y="3581202"/>
            <a:ext cx="494461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3. Sabah bilgisayarı açtım; ekibin son halini üzerime almak istiyorum.</a:t>
            </a:r>
            <a:endParaRPr lang="en-US" sz="1500" dirty="0"/>
          </a:p>
        </p:txBody>
      </p:sp>
      <p:sp>
        <p:nvSpPr>
          <p:cNvPr id="13" name="Text 10"/>
          <p:cNvSpPr/>
          <p:nvPr/>
        </p:nvSpPr>
        <p:spPr>
          <a:xfrm>
            <a:off x="1016000" y="4216202"/>
            <a:ext cx="4944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pull</a:t>
            </a:r>
            <a:endParaRPr lang="en-US" sz="1300" dirty="0"/>
          </a:p>
        </p:txBody>
      </p:sp>
      <p:sp>
        <p:nvSpPr>
          <p:cNvPr id="14" name="Shape 11"/>
          <p:cNvSpPr/>
          <p:nvPr/>
        </p:nvSpPr>
        <p:spPr>
          <a:xfrm>
            <a:off x="6172200" y="3378002"/>
            <a:ext cx="5207000" cy="1272480"/>
          </a:xfrm>
          <a:prstGeom prst="roundRect">
            <a:avLst>
              <a:gd name="adj" fmla="val 9981"/>
            </a:avLst>
          </a:prstGeom>
          <a:solidFill>
            <a:srgbClr val="FDFCF9"/>
          </a:solidFill>
          <a:ln/>
        </p:spPr>
      </p:sp>
      <p:sp>
        <p:nvSpPr>
          <p:cNvPr id="15" name="Text 12"/>
          <p:cNvSpPr/>
          <p:nvPr/>
        </p:nvSpPr>
        <p:spPr>
          <a:xfrm>
            <a:off x="6375400" y="3581202"/>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4. İki commit attım, bunları ekiple paylaşmak istiyorum.</a:t>
            </a:r>
            <a:endParaRPr lang="en-US" sz="1500" dirty="0"/>
          </a:p>
        </p:txBody>
      </p:sp>
      <p:sp>
        <p:nvSpPr>
          <p:cNvPr id="16" name="Text 13"/>
          <p:cNvSpPr/>
          <p:nvPr/>
        </p:nvSpPr>
        <p:spPr>
          <a:xfrm>
            <a:off x="6375400" y="3949502"/>
            <a:ext cx="4944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430A"/>
                </a:solidFill>
                <a:latin typeface="JetBrains Mono" pitchFamily="34" charset="0"/>
                <a:ea typeface="JetBrains Mono" pitchFamily="34" charset="-122"/>
                <a:cs typeface="JetBrains Mono" pitchFamily="34" charset="-120"/>
              </a:rPr>
              <a:t>→ git pull, sonra git push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REMOTE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Remote bağlantısını yönetmek</a:t>
            </a:r>
            <a:endParaRPr lang="en-US" sz="3600" dirty="0"/>
          </a:p>
        </p:txBody>
      </p:sp>
      <p:sp>
        <p:nvSpPr>
          <p:cNvPr id="4" name="Shape 2"/>
          <p:cNvSpPr/>
          <p:nvPr/>
        </p:nvSpPr>
        <p:spPr>
          <a:xfrm>
            <a:off x="812800" y="1959471"/>
            <a:ext cx="10566400" cy="0"/>
          </a:xfrm>
          <a:prstGeom prst="line">
            <a:avLst/>
          </a:prstGeom>
          <a:noFill/>
          <a:ln w="12700">
            <a:solidFill>
              <a:srgbClr val="141413">
                <a:alpha val="22000"/>
              </a:srgbClr>
            </a:solidFill>
            <a:prstDash val="solid"/>
          </a:ln>
        </p:spPr>
      </p:sp>
      <p:sp>
        <p:nvSpPr>
          <p:cNvPr id="5" name="Shape 3"/>
          <p:cNvSpPr/>
          <p:nvPr/>
        </p:nvSpPr>
        <p:spPr>
          <a:xfrm>
            <a:off x="819150" y="1953121"/>
            <a:ext cx="0" cy="274320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3300" y="2092821"/>
          <a:ext cx="10198100" cy="2476500"/>
        </p:xfrm>
        <a:graphic>
          <a:graphicData uri="http://schemas.openxmlformats.org/drawingml/2006/table">
            <a:tbl>
              <a:tblPr/>
              <a:tblGrid>
                <a:gridCol w="4589145">
                  <a:extLst>
                    <a:ext uri="{9D8B030D-6E8A-4147-A177-3AD203B41FA5}">
                      <a16:colId xmlns:a16="http://schemas.microsoft.com/office/drawing/2014/main" val="20000"/>
                    </a:ext>
                  </a:extLst>
                </a:gridCol>
                <a:gridCol w="5608955">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Komut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Ne yapar?</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remote -v</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Tanımlı remote'ları ve URL'lerini listeler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remote show origin</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origin'in tüm detayları, izlenen dallar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remote add origin URL</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Yeni origin bağlantısı ekler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remote set-url origin URL</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Var olan URL'yi değiştirir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remote remove origin</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6202C"/>
                          </a:solidFill>
                          <a:latin typeface="IBM Plex Sans" pitchFamily="34" charset="0"/>
                          <a:ea typeface="IBM Plex Sans" pitchFamily="34" charset="-122"/>
                          <a:cs typeface="IBM Plex Sans" pitchFamily="34" charset="-120"/>
                        </a:rPr>
                        <a:t>origin bağlantısını siler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3 · REMOTE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Upstream: dalın uzaktaki eşi</a:t>
            </a:r>
            <a:endParaRPr lang="en-US" sz="3600" dirty="0"/>
          </a:p>
        </p:txBody>
      </p:sp>
      <p:sp>
        <p:nvSpPr>
          <p:cNvPr id="4" name="Shape 2"/>
          <p:cNvSpPr/>
          <p:nvPr/>
        </p:nvSpPr>
        <p:spPr>
          <a:xfrm>
            <a:off x="812800" y="1953121"/>
            <a:ext cx="10566400" cy="1285180"/>
          </a:xfrm>
          <a:prstGeom prst="roundRect">
            <a:avLst>
              <a:gd name="adj" fmla="val 9882"/>
            </a:avLst>
          </a:prstGeom>
          <a:solidFill>
            <a:srgbClr val="16202C"/>
          </a:solidFill>
          <a:ln/>
        </p:spPr>
      </p:sp>
      <p:sp>
        <p:nvSpPr>
          <p:cNvPr id="5" name="Text 3"/>
          <p:cNvSpPr/>
          <p:nvPr/>
        </p:nvSpPr>
        <p:spPr>
          <a:xfrm>
            <a:off x="3562350" y="2232521"/>
            <a:ext cx="914400" cy="419100"/>
          </a:xfrm>
          <a:prstGeom prst="roundRect">
            <a:avLst>
              <a:gd name="adj" fmla="val 48485"/>
            </a:avLst>
          </a:prstGeom>
          <a:solidFill>
            <a:srgbClr val="F08C4B"/>
          </a:solidFill>
          <a:ln/>
        </p:spPr>
        <p:txBody>
          <a:bodyPr wrap="none" lIns="0" tIns="0" rIns="0" bIns="0" rtlCol="0" anchor="ctr">
            <a:normAutofit/>
          </a:bodyPr>
          <a:lstStyle/>
          <a:p>
            <a:pPr marL="0" indent="0" algn="ctr">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test</a:t>
            </a:r>
            <a:endParaRPr lang="en-US" sz="1500" dirty="0"/>
          </a:p>
        </p:txBody>
      </p:sp>
      <p:sp>
        <p:nvSpPr>
          <p:cNvPr id="6" name="Text 4"/>
          <p:cNvSpPr/>
          <p:nvPr/>
        </p:nvSpPr>
        <p:spPr>
          <a:xfrm>
            <a:off x="3701852" y="2727821"/>
            <a:ext cx="68619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IBM Plex Sans" pitchFamily="34" charset="0"/>
                <a:ea typeface="IBM Plex Sans" pitchFamily="34" charset="-122"/>
                <a:cs typeface="IBM Plex Sans" pitchFamily="34" charset="-120"/>
              </a:rPr>
              <a:t>yerel dal</a:t>
            </a:r>
            <a:endParaRPr lang="en-US" sz="1300" dirty="0"/>
          </a:p>
        </p:txBody>
      </p:sp>
      <p:sp>
        <p:nvSpPr>
          <p:cNvPr id="7" name="Text 5"/>
          <p:cNvSpPr/>
          <p:nvPr/>
        </p:nvSpPr>
        <p:spPr>
          <a:xfrm>
            <a:off x="5299670" y="2391271"/>
            <a:ext cx="84335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upstream</a:t>
            </a:r>
            <a:endParaRPr lang="en-US" sz="1300" dirty="0"/>
          </a:p>
        </p:txBody>
      </p:sp>
      <p:pic>
        <p:nvPicPr>
          <p:cNvPr id="8" name="Image 0" descr="connector"/>
          <p:cNvPicPr>
            <a:picLocks noChangeAspect="1"/>
          </p:cNvPicPr>
          <p:nvPr/>
        </p:nvPicPr>
        <p:blipFill>
          <a:blip r:embed="rId3"/>
          <a:srcRect/>
          <a:stretch/>
        </p:blipFill>
        <p:spPr>
          <a:xfrm>
            <a:off x="4679950" y="2673152"/>
            <a:ext cx="2032000" cy="127000"/>
          </a:xfrm>
          <a:prstGeom prst="rect">
            <a:avLst/>
          </a:prstGeom>
        </p:spPr>
      </p:pic>
      <p:sp>
        <p:nvSpPr>
          <p:cNvPr id="9" name="Text 6"/>
          <p:cNvSpPr/>
          <p:nvPr/>
        </p:nvSpPr>
        <p:spPr>
          <a:xfrm>
            <a:off x="6915150" y="2232521"/>
            <a:ext cx="1714500" cy="419100"/>
          </a:xfrm>
          <a:prstGeom prst="roundRect">
            <a:avLst>
              <a:gd name="adj" fmla="val 48485"/>
            </a:avLst>
          </a:prstGeom>
          <a:solidFill>
            <a:srgbClr val="F6F4EE"/>
          </a:solidFill>
          <a:ln/>
        </p:spPr>
        <p:txBody>
          <a:bodyPr wrap="none" lIns="0" tIns="0" rIns="0" bIns="0" rtlCol="0" anchor="ctr">
            <a:normAutofit/>
          </a:bodyPr>
          <a:lstStyle/>
          <a:p>
            <a:pPr marL="0" indent="0" algn="ctr">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origin/test</a:t>
            </a:r>
            <a:endParaRPr lang="en-US" sz="1500" dirty="0"/>
          </a:p>
        </p:txBody>
      </p:sp>
      <p:sp>
        <p:nvSpPr>
          <p:cNvPr id="10" name="Text 7"/>
          <p:cNvSpPr/>
          <p:nvPr/>
        </p:nvSpPr>
        <p:spPr>
          <a:xfrm>
            <a:off x="7205563" y="2727821"/>
            <a:ext cx="118447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IBM Plex Sans" pitchFamily="34" charset="0"/>
                <a:ea typeface="IBM Plex Sans" pitchFamily="34" charset="-122"/>
                <a:cs typeface="IBM Plex Sans" pitchFamily="34" charset="-120"/>
              </a:rPr>
              <a:t>GitHub'daki dal</a:t>
            </a:r>
            <a:endParaRPr lang="en-US" sz="1300" dirty="0"/>
          </a:p>
        </p:txBody>
      </p:sp>
      <p:sp>
        <p:nvSpPr>
          <p:cNvPr id="11" name="Text 8"/>
          <p:cNvSpPr/>
          <p:nvPr/>
        </p:nvSpPr>
        <p:spPr>
          <a:xfrm>
            <a:off x="812800" y="3543102"/>
            <a:ext cx="6162080" cy="1991122"/>
          </a:xfrm>
          <a:prstGeom prst="roundRect">
            <a:avLst>
              <a:gd name="adj" fmla="val 5103"/>
            </a:avLst>
          </a:prstGeom>
          <a:solidFill>
            <a:srgbClr val="16202C"/>
          </a:solidFill>
          <a:ln/>
        </p:spPr>
        <p:txBody>
          <a:bodyPr wrap="square" lIns="224242" tIns="173442" rIns="54620" bIns="148042" rtlCol="0" anchor="t">
            <a:normAutofit/>
          </a:bodyPr>
          <a:lstStyle/>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İlk push: gönder ve bağla</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 </a:t>
            </a:r>
            <a:r>
              <a:rPr lang="en-US" sz="1300" dirty="0">
                <a:solidFill>
                  <a:srgbClr val="F7A46B"/>
                </a:solidFill>
                <a:latin typeface="JetBrains Mono" pitchFamily="34" charset="0"/>
                <a:ea typeface="JetBrains Mono" pitchFamily="34" charset="-122"/>
                <a:cs typeface="JetBrains Mono" pitchFamily="34" charset="-120"/>
              </a:rPr>
              <a:t>-u</a:t>
            </a:r>
            <a:r>
              <a:rPr lang="en-US" sz="1300" dirty="0">
                <a:solidFill>
                  <a:srgbClr val="F6F4EE"/>
                </a:solidFill>
                <a:latin typeface="JetBrains Mono" pitchFamily="34" charset="0"/>
                <a:ea typeface="JetBrains Mono" pitchFamily="34" charset="-122"/>
                <a:cs typeface="JetBrains Mono" pitchFamily="34" charset="-120"/>
              </a:rPr>
              <a:t> origin test</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Artık hedef yazmaya gerek yok</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 · git pull</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Bir kez ayarla, her yeni dalda otomatik</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config --global push.autoSetupRemote true</a:t>
            </a:r>
            <a:endParaRPr lang="en-US" sz="1300" dirty="0"/>
          </a:p>
        </p:txBody>
      </p:sp>
      <p:sp>
        <p:nvSpPr>
          <p:cNvPr id="12" name="Shape 9"/>
          <p:cNvSpPr/>
          <p:nvPr/>
        </p:nvSpPr>
        <p:spPr>
          <a:xfrm>
            <a:off x="7133630" y="3549452"/>
            <a:ext cx="4239220" cy="1978422"/>
          </a:xfrm>
          <a:prstGeom prst="roundRect">
            <a:avLst>
              <a:gd name="adj" fmla="val 6098"/>
            </a:avLst>
          </a:prstGeom>
          <a:solidFill>
            <a:srgbClr val="FDFCF9"/>
          </a:solidFill>
          <a:ln w="12700">
            <a:solidFill>
              <a:srgbClr val="E2DDD0"/>
            </a:solidFill>
            <a:prstDash val="solid"/>
          </a:ln>
        </p:spPr>
      </p:sp>
      <p:sp>
        <p:nvSpPr>
          <p:cNvPr id="13" name="Text 10"/>
          <p:cNvSpPr/>
          <p:nvPr/>
        </p:nvSpPr>
        <p:spPr>
          <a:xfrm>
            <a:off x="7368580" y="3784402"/>
            <a:ext cx="3882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-u ne demek?</a:t>
            </a:r>
            <a:endParaRPr lang="en-US" sz="2000" dirty="0"/>
          </a:p>
        </p:txBody>
      </p:sp>
      <p:sp>
        <p:nvSpPr>
          <p:cNvPr id="14" name="Text 11"/>
          <p:cNvSpPr/>
          <p:nvPr/>
        </p:nvSpPr>
        <p:spPr>
          <a:xfrm>
            <a:off x="7368580" y="4190802"/>
            <a:ext cx="388240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--set-upstream. Gönderir ve bağı kurar. -u olmadan push çalışır ama bağ kurulmaz.</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4 · FETCH &amp; PRUNE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fetch'in dört gerçek senaryosu</a:t>
            </a:r>
            <a:endParaRPr lang="en-US" sz="3600" dirty="0"/>
          </a:p>
        </p:txBody>
      </p:sp>
      <p:sp>
        <p:nvSpPr>
          <p:cNvPr id="4" name="Shape 2"/>
          <p:cNvSpPr/>
          <p:nvPr/>
        </p:nvSpPr>
        <p:spPr>
          <a:xfrm>
            <a:off x="819150" y="1959471"/>
            <a:ext cx="5194300" cy="1607741"/>
          </a:xfrm>
          <a:prstGeom prst="roundRect">
            <a:avLst>
              <a:gd name="adj" fmla="val 7504"/>
            </a:avLst>
          </a:prstGeom>
          <a:solidFill>
            <a:srgbClr val="FDFCF9"/>
          </a:solidFill>
          <a:ln w="12700">
            <a:solidFill>
              <a:srgbClr val="E2DDD0"/>
            </a:solidFill>
            <a:prstDash val="solid"/>
          </a:ln>
        </p:spPr>
      </p:sp>
      <p:sp>
        <p:nvSpPr>
          <p:cNvPr id="5" name="Text 3"/>
          <p:cNvSpPr/>
          <p:nvPr/>
        </p:nvSpPr>
        <p:spPr>
          <a:xfrm>
            <a:off x="1028700" y="2169021"/>
            <a:ext cx="491845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1 · Birleştirmeden önce incele</a:t>
            </a:r>
            <a:endParaRPr lang="en-US" sz="2000" dirty="0"/>
          </a:p>
        </p:txBody>
      </p:sp>
      <p:sp>
        <p:nvSpPr>
          <p:cNvPr id="6" name="Text 4"/>
          <p:cNvSpPr/>
          <p:nvPr/>
        </p:nvSpPr>
        <p:spPr>
          <a:xfrm>
            <a:off x="1028700" y="2575421"/>
            <a:ext cx="4775200" cy="782241"/>
          </a:xfrm>
          <a:prstGeom prst="roundRect">
            <a:avLst>
              <a:gd name="adj" fmla="val 9741"/>
            </a:avLst>
          </a:prstGeom>
          <a:solidFill>
            <a:srgbClr val="16202C"/>
          </a:solidFill>
          <a:ln/>
        </p:spPr>
        <p:txBody>
          <a:bodyPr wrap="square" lIns="155482" tIns="104682" rIns="22894"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fetch origin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log main..origin/main --oneline</a:t>
            </a:r>
            <a:endParaRPr lang="en-US" sz="1300" dirty="0"/>
          </a:p>
        </p:txBody>
      </p:sp>
      <p:sp>
        <p:nvSpPr>
          <p:cNvPr id="7" name="Shape 5"/>
          <p:cNvSpPr/>
          <p:nvPr/>
        </p:nvSpPr>
        <p:spPr>
          <a:xfrm>
            <a:off x="6178550" y="1959471"/>
            <a:ext cx="5194300" cy="1607741"/>
          </a:xfrm>
          <a:prstGeom prst="roundRect">
            <a:avLst>
              <a:gd name="adj" fmla="val 7504"/>
            </a:avLst>
          </a:prstGeom>
          <a:solidFill>
            <a:srgbClr val="FDFCF9"/>
          </a:solidFill>
          <a:ln w="12700">
            <a:solidFill>
              <a:srgbClr val="E2DDD0"/>
            </a:solidFill>
            <a:prstDash val="solid"/>
          </a:ln>
        </p:spPr>
      </p:sp>
      <p:sp>
        <p:nvSpPr>
          <p:cNvPr id="8" name="Text 6"/>
          <p:cNvSpPr/>
          <p:nvPr/>
        </p:nvSpPr>
        <p:spPr>
          <a:xfrm>
            <a:off x="6388100" y="2169021"/>
            <a:ext cx="491845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2 · Arkadaşının dalını test et</a:t>
            </a:r>
            <a:endParaRPr lang="en-US" sz="2000" dirty="0"/>
          </a:p>
        </p:txBody>
      </p:sp>
      <p:sp>
        <p:nvSpPr>
          <p:cNvPr id="9" name="Text 7"/>
          <p:cNvSpPr/>
          <p:nvPr/>
        </p:nvSpPr>
        <p:spPr>
          <a:xfrm>
            <a:off x="6388100" y="2575421"/>
            <a:ext cx="4775200" cy="782241"/>
          </a:xfrm>
          <a:prstGeom prst="roundRect">
            <a:avLst>
              <a:gd name="adj" fmla="val 9741"/>
            </a:avLst>
          </a:prstGeom>
          <a:solidFill>
            <a:srgbClr val="16202C"/>
          </a:solidFill>
          <a:ln/>
        </p:spPr>
        <p:txBody>
          <a:bodyPr wrap="square" lIns="155482" tIns="104682" rIns="22894"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fetch origin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feature/payment</a:t>
            </a:r>
            <a:endParaRPr lang="en-US" sz="1300" dirty="0"/>
          </a:p>
        </p:txBody>
      </p:sp>
      <p:sp>
        <p:nvSpPr>
          <p:cNvPr id="10" name="Shape 8"/>
          <p:cNvSpPr/>
          <p:nvPr/>
        </p:nvSpPr>
        <p:spPr>
          <a:xfrm>
            <a:off x="819150" y="3732312"/>
            <a:ext cx="5194300" cy="1607741"/>
          </a:xfrm>
          <a:prstGeom prst="roundRect">
            <a:avLst>
              <a:gd name="adj" fmla="val 7504"/>
            </a:avLst>
          </a:prstGeom>
          <a:solidFill>
            <a:srgbClr val="FDFCF9"/>
          </a:solidFill>
          <a:ln w="12700">
            <a:solidFill>
              <a:srgbClr val="E2DDD0"/>
            </a:solidFill>
            <a:prstDash val="solid"/>
          </a:ln>
        </p:spPr>
      </p:sp>
      <p:sp>
        <p:nvSpPr>
          <p:cNvPr id="11" name="Text 9"/>
          <p:cNvSpPr/>
          <p:nvPr/>
        </p:nvSpPr>
        <p:spPr>
          <a:xfrm>
            <a:off x="1028700" y="3941862"/>
            <a:ext cx="491845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3 · Silinen dalları temizle</a:t>
            </a:r>
            <a:endParaRPr lang="en-US" sz="2000" dirty="0"/>
          </a:p>
        </p:txBody>
      </p:sp>
      <p:sp>
        <p:nvSpPr>
          <p:cNvPr id="12" name="Text 10"/>
          <p:cNvSpPr/>
          <p:nvPr/>
        </p:nvSpPr>
        <p:spPr>
          <a:xfrm>
            <a:off x="1028700" y="4348262"/>
            <a:ext cx="4775200" cy="782241"/>
          </a:xfrm>
          <a:prstGeom prst="roundRect">
            <a:avLst>
              <a:gd name="adj" fmla="val 9741"/>
            </a:avLst>
          </a:prstGeom>
          <a:solidFill>
            <a:srgbClr val="16202C"/>
          </a:solidFill>
          <a:ln/>
        </p:spPr>
        <p:txBody>
          <a:bodyPr wrap="square" lIns="155482" tIns="104682" rIns="22894"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fetch --prune</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kısa hali: git fetch -p</a:t>
            </a:r>
            <a:endParaRPr lang="en-US" sz="1300" dirty="0"/>
          </a:p>
        </p:txBody>
      </p:sp>
      <p:sp>
        <p:nvSpPr>
          <p:cNvPr id="13" name="Shape 11"/>
          <p:cNvSpPr/>
          <p:nvPr/>
        </p:nvSpPr>
        <p:spPr>
          <a:xfrm>
            <a:off x="6178550" y="3732312"/>
            <a:ext cx="5194300" cy="1607741"/>
          </a:xfrm>
          <a:prstGeom prst="roundRect">
            <a:avLst>
              <a:gd name="adj" fmla="val 7504"/>
            </a:avLst>
          </a:prstGeom>
          <a:solidFill>
            <a:srgbClr val="FDFCF9"/>
          </a:solidFill>
          <a:ln w="12700">
            <a:solidFill>
              <a:srgbClr val="E2DDD0"/>
            </a:solidFill>
            <a:prstDash val="solid"/>
          </a:ln>
        </p:spPr>
      </p:sp>
      <p:sp>
        <p:nvSpPr>
          <p:cNvPr id="14" name="Text 12"/>
          <p:cNvSpPr/>
          <p:nvPr/>
        </p:nvSpPr>
        <p:spPr>
          <a:xfrm>
            <a:off x="6388100" y="3941862"/>
            <a:ext cx="491845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4 · pull öncesi durum raporu</a:t>
            </a:r>
            <a:endParaRPr lang="en-US" sz="2000" dirty="0"/>
          </a:p>
        </p:txBody>
      </p:sp>
      <p:sp>
        <p:nvSpPr>
          <p:cNvPr id="15" name="Text 13"/>
          <p:cNvSpPr/>
          <p:nvPr/>
        </p:nvSpPr>
        <p:spPr>
          <a:xfrm>
            <a:off x="6388100" y="4348262"/>
            <a:ext cx="4775200" cy="782241"/>
          </a:xfrm>
          <a:prstGeom prst="roundRect">
            <a:avLst>
              <a:gd name="adj" fmla="val 9741"/>
            </a:avLst>
          </a:prstGeom>
          <a:solidFill>
            <a:srgbClr val="16202C"/>
          </a:solidFill>
          <a:ln/>
        </p:spPr>
        <p:txBody>
          <a:bodyPr wrap="square" lIns="155482" tIns="104682" rIns="22894"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fetch origin &amp;&amp; git status</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behind 'origin/main' by 3 commits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4 · FETCH &amp; PRUNE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Uzakta açılan dalı yerele almak</a:t>
            </a:r>
            <a:endParaRPr lang="en-US" sz="3600" dirty="0"/>
          </a:p>
        </p:txBody>
      </p:sp>
      <p:sp>
        <p:nvSpPr>
          <p:cNvPr id="4" name="Shape 2"/>
          <p:cNvSpPr/>
          <p:nvPr/>
        </p:nvSpPr>
        <p:spPr>
          <a:xfrm>
            <a:off x="819150" y="2074962"/>
            <a:ext cx="3001367" cy="1475680"/>
          </a:xfrm>
          <a:prstGeom prst="roundRect">
            <a:avLst>
              <a:gd name="adj" fmla="val 8176"/>
            </a:avLst>
          </a:prstGeom>
          <a:solidFill>
            <a:srgbClr val="FDFCF9"/>
          </a:solidFill>
          <a:ln w="12700">
            <a:solidFill>
              <a:srgbClr val="E2DDD0"/>
            </a:solidFill>
            <a:prstDash val="solid"/>
          </a:ln>
        </p:spPr>
      </p:sp>
      <p:sp>
        <p:nvSpPr>
          <p:cNvPr id="5" name="Text 3"/>
          <p:cNvSpPr/>
          <p:nvPr/>
        </p:nvSpPr>
        <p:spPr>
          <a:xfrm>
            <a:off x="1028700" y="2284512"/>
            <a:ext cx="265973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B"/>
                </a:solidFill>
                <a:latin typeface="JetBrains Mono" pitchFamily="34" charset="0"/>
                <a:ea typeface="JetBrains Mono" pitchFamily="34" charset="-122"/>
                <a:cs typeface="JetBrains Mono" pitchFamily="34" charset="-120"/>
              </a:rPr>
              <a:t>1</a:t>
            </a:r>
            <a:endParaRPr lang="en-US" sz="2000" dirty="0"/>
          </a:p>
        </p:txBody>
      </p:sp>
      <p:sp>
        <p:nvSpPr>
          <p:cNvPr id="6" name="Text 4"/>
          <p:cNvSpPr/>
          <p:nvPr/>
        </p:nvSpPr>
        <p:spPr>
          <a:xfrm>
            <a:off x="1028700" y="2741712"/>
            <a:ext cx="265973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git fetch origin</a:t>
            </a:r>
            <a:endParaRPr lang="en-US" sz="1500" dirty="0"/>
          </a:p>
        </p:txBody>
      </p:sp>
      <p:sp>
        <p:nvSpPr>
          <p:cNvPr id="7" name="Text 5"/>
          <p:cNvSpPr/>
          <p:nvPr/>
        </p:nvSpPr>
        <p:spPr>
          <a:xfrm>
            <a:off x="1028700" y="3110012"/>
            <a:ext cx="26597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Uzaktaki dal listesini güncelle.</a:t>
            </a:r>
            <a:endParaRPr lang="en-US" sz="1300" dirty="0"/>
          </a:p>
        </p:txBody>
      </p:sp>
      <p:pic>
        <p:nvPicPr>
          <p:cNvPr id="8" name="Image 0" descr="arrow-right"/>
          <p:cNvPicPr>
            <a:picLocks noChangeAspect="1"/>
          </p:cNvPicPr>
          <p:nvPr/>
        </p:nvPicPr>
        <p:blipFill>
          <a:blip r:embed="rId3"/>
          <a:srcRect/>
          <a:stretch/>
        </p:blipFill>
        <p:spPr>
          <a:xfrm>
            <a:off x="3953867" y="2673152"/>
            <a:ext cx="508000" cy="279400"/>
          </a:xfrm>
          <a:prstGeom prst="rect">
            <a:avLst/>
          </a:prstGeom>
        </p:spPr>
      </p:pic>
      <p:sp>
        <p:nvSpPr>
          <p:cNvPr id="9" name="Shape 6"/>
          <p:cNvSpPr/>
          <p:nvPr/>
        </p:nvSpPr>
        <p:spPr>
          <a:xfrm>
            <a:off x="4595217" y="2074962"/>
            <a:ext cx="3001466" cy="1475680"/>
          </a:xfrm>
          <a:prstGeom prst="roundRect">
            <a:avLst>
              <a:gd name="adj" fmla="val 8176"/>
            </a:avLst>
          </a:prstGeom>
          <a:solidFill>
            <a:srgbClr val="FDFCF9"/>
          </a:solidFill>
          <a:ln w="12700">
            <a:solidFill>
              <a:srgbClr val="E2DDD0"/>
            </a:solidFill>
            <a:prstDash val="solid"/>
          </a:ln>
        </p:spPr>
      </p:sp>
      <p:sp>
        <p:nvSpPr>
          <p:cNvPr id="10" name="Text 7"/>
          <p:cNvSpPr/>
          <p:nvPr/>
        </p:nvSpPr>
        <p:spPr>
          <a:xfrm>
            <a:off x="4804767" y="2284512"/>
            <a:ext cx="265983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B"/>
                </a:solidFill>
                <a:latin typeface="JetBrains Mono" pitchFamily="34" charset="0"/>
                <a:ea typeface="JetBrains Mono" pitchFamily="34" charset="-122"/>
                <a:cs typeface="JetBrains Mono" pitchFamily="34" charset="-120"/>
              </a:rPr>
              <a:t>2</a:t>
            </a:r>
            <a:endParaRPr lang="en-US" sz="2000" dirty="0"/>
          </a:p>
        </p:txBody>
      </p:sp>
      <p:sp>
        <p:nvSpPr>
          <p:cNvPr id="11" name="Text 8"/>
          <p:cNvSpPr/>
          <p:nvPr/>
        </p:nvSpPr>
        <p:spPr>
          <a:xfrm>
            <a:off x="4804767" y="2741712"/>
            <a:ext cx="265983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git branch -a</a:t>
            </a:r>
            <a:endParaRPr lang="en-US" sz="1500" dirty="0"/>
          </a:p>
        </p:txBody>
      </p:sp>
      <p:sp>
        <p:nvSpPr>
          <p:cNvPr id="12" name="Text 9"/>
          <p:cNvSpPr/>
          <p:nvPr/>
        </p:nvSpPr>
        <p:spPr>
          <a:xfrm>
            <a:off x="4804767" y="3110012"/>
            <a:ext cx="265983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remotes/origin/dev artık görünür.</a:t>
            </a:r>
            <a:endParaRPr lang="en-US" sz="1300" dirty="0"/>
          </a:p>
        </p:txBody>
      </p:sp>
      <p:pic>
        <p:nvPicPr>
          <p:cNvPr id="13" name="Image 1" descr="arrow-right"/>
          <p:cNvPicPr>
            <a:picLocks noChangeAspect="1"/>
          </p:cNvPicPr>
          <p:nvPr/>
        </p:nvPicPr>
        <p:blipFill>
          <a:blip r:embed="rId3"/>
          <a:srcRect/>
          <a:stretch/>
        </p:blipFill>
        <p:spPr>
          <a:xfrm>
            <a:off x="7730034" y="2673152"/>
            <a:ext cx="508000" cy="279400"/>
          </a:xfrm>
          <a:prstGeom prst="rect">
            <a:avLst/>
          </a:prstGeom>
        </p:spPr>
      </p:pic>
      <p:sp>
        <p:nvSpPr>
          <p:cNvPr id="14" name="Shape 10"/>
          <p:cNvSpPr/>
          <p:nvPr/>
        </p:nvSpPr>
        <p:spPr>
          <a:xfrm>
            <a:off x="8371384" y="1959471"/>
            <a:ext cx="3001466" cy="1706761"/>
          </a:xfrm>
          <a:prstGeom prst="roundRect">
            <a:avLst>
              <a:gd name="adj" fmla="val 7069"/>
            </a:avLst>
          </a:prstGeom>
          <a:solidFill>
            <a:srgbClr val="FDFCF9"/>
          </a:solidFill>
          <a:ln w="12700">
            <a:solidFill>
              <a:srgbClr val="E2DDD0"/>
            </a:solidFill>
            <a:prstDash val="solid"/>
          </a:ln>
        </p:spPr>
      </p:sp>
      <p:sp>
        <p:nvSpPr>
          <p:cNvPr id="15" name="Text 11"/>
          <p:cNvSpPr/>
          <p:nvPr/>
        </p:nvSpPr>
        <p:spPr>
          <a:xfrm>
            <a:off x="8580934" y="2169021"/>
            <a:ext cx="265983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B"/>
                </a:solidFill>
                <a:latin typeface="JetBrains Mono" pitchFamily="34" charset="0"/>
                <a:ea typeface="JetBrains Mono" pitchFamily="34" charset="-122"/>
                <a:cs typeface="JetBrains Mono" pitchFamily="34" charset="-120"/>
              </a:rPr>
              <a:t>3</a:t>
            </a:r>
            <a:endParaRPr lang="en-US" sz="2000" dirty="0"/>
          </a:p>
        </p:txBody>
      </p:sp>
      <p:sp>
        <p:nvSpPr>
          <p:cNvPr id="16" name="Text 12"/>
          <p:cNvSpPr/>
          <p:nvPr/>
        </p:nvSpPr>
        <p:spPr>
          <a:xfrm>
            <a:off x="8580934" y="2626221"/>
            <a:ext cx="265983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JetBrains Mono" pitchFamily="34" charset="0"/>
                <a:ea typeface="JetBrains Mono" pitchFamily="34" charset="-122"/>
                <a:cs typeface="JetBrains Mono" pitchFamily="34" charset="-120"/>
              </a:rPr>
              <a:t>git switch dev</a:t>
            </a:r>
            <a:endParaRPr lang="en-US" sz="1500" dirty="0"/>
          </a:p>
        </p:txBody>
      </p:sp>
      <p:sp>
        <p:nvSpPr>
          <p:cNvPr id="17" name="Text 13"/>
          <p:cNvSpPr/>
          <p:nvPr/>
        </p:nvSpPr>
        <p:spPr>
          <a:xfrm>
            <a:off x="8580934" y="2994521"/>
            <a:ext cx="265983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Aynı isimle yerel dal açılır ve bağlanır.</a:t>
            </a:r>
            <a:endParaRPr lang="en-US" sz="1300" dirty="0"/>
          </a:p>
        </p:txBody>
      </p:sp>
      <p:sp>
        <p:nvSpPr>
          <p:cNvPr id="18" name="Text 14"/>
          <p:cNvSpPr/>
          <p:nvPr/>
        </p:nvSpPr>
        <p:spPr>
          <a:xfrm>
            <a:off x="812800" y="3977382"/>
            <a:ext cx="10566400" cy="1147961"/>
          </a:xfrm>
          <a:prstGeom prst="roundRect">
            <a:avLst>
              <a:gd name="adj" fmla="val 8850"/>
            </a:avLst>
          </a:prstGeom>
          <a:solidFill>
            <a:srgbClr val="16202C"/>
          </a:solidFill>
          <a:ln/>
        </p:spPr>
        <p:txBody>
          <a:bodyPr wrap="square" lIns="224242" tIns="148042" rIns="0" bIns="12264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 git switch dev</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branch 'dev' set up to track 'origin/dev'.</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Switched to a new branch 'dev'</a:t>
            </a:r>
            <a:endParaRPr lang="en-US" sz="1300" dirty="0"/>
          </a:p>
        </p:txBody>
      </p:sp>
      <p:sp>
        <p:nvSpPr>
          <p:cNvPr id="19" name="Text 15"/>
          <p:cNvSpPr/>
          <p:nvPr/>
        </p:nvSpPr>
        <p:spPr>
          <a:xfrm>
            <a:off x="812800" y="5430143"/>
            <a:ext cx="35230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git branch -r</a:t>
            </a:r>
            <a:r>
              <a:rPr lang="en-US" sz="1500" dirty="0">
                <a:solidFill>
                  <a:srgbClr val="16202C"/>
                </a:solidFill>
                <a:latin typeface="IBM Plex Sans" pitchFamily="34" charset="0"/>
                <a:ea typeface="IBM Plex Sans" pitchFamily="34" charset="-122"/>
                <a:cs typeface="IBM Plex Sans" pitchFamily="34" charset="-120"/>
              </a:rPr>
              <a:t> </a:t>
            </a:r>
            <a:r>
              <a:rPr lang="en-US" sz="1500" dirty="0">
                <a:solidFill>
                  <a:srgbClr val="4A5566"/>
                </a:solidFill>
                <a:latin typeface="IBM Plex Sans" pitchFamily="34" charset="0"/>
                <a:ea typeface="IBM Plex Sans" pitchFamily="34" charset="-122"/>
                <a:cs typeface="IBM Plex Sans" pitchFamily="34" charset="-120"/>
              </a:rPr>
              <a:t>sadece uzak dallar</a:t>
            </a:r>
            <a:endParaRPr lang="en-US" sz="1500" dirty="0"/>
          </a:p>
        </p:txBody>
      </p:sp>
      <p:sp>
        <p:nvSpPr>
          <p:cNvPr id="20" name="Text 16"/>
          <p:cNvSpPr/>
          <p:nvPr/>
        </p:nvSpPr>
        <p:spPr>
          <a:xfrm>
            <a:off x="4385667" y="5430143"/>
            <a:ext cx="352318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git branch -a</a:t>
            </a:r>
            <a:r>
              <a:rPr lang="en-US" sz="1500" dirty="0">
                <a:solidFill>
                  <a:srgbClr val="16202C"/>
                </a:solidFill>
                <a:latin typeface="IBM Plex Sans" pitchFamily="34" charset="0"/>
                <a:ea typeface="IBM Plex Sans" pitchFamily="34" charset="-122"/>
                <a:cs typeface="IBM Plex Sans" pitchFamily="34" charset="-120"/>
              </a:rPr>
              <a:t> </a:t>
            </a:r>
            <a:r>
              <a:rPr lang="en-US" sz="1500" dirty="0">
                <a:solidFill>
                  <a:srgbClr val="4A5566"/>
                </a:solidFill>
                <a:latin typeface="IBM Plex Sans" pitchFamily="34" charset="0"/>
                <a:ea typeface="IBM Plex Sans" pitchFamily="34" charset="-122"/>
                <a:cs typeface="IBM Plex Sans" pitchFamily="34" charset="-120"/>
              </a:rPr>
              <a:t>yerel + uzak hepsi</a:t>
            </a:r>
            <a:endParaRPr lang="en-US" sz="1500" dirty="0"/>
          </a:p>
        </p:txBody>
      </p:sp>
      <p:sp>
        <p:nvSpPr>
          <p:cNvPr id="21" name="Text 17"/>
          <p:cNvSpPr/>
          <p:nvPr/>
        </p:nvSpPr>
        <p:spPr>
          <a:xfrm>
            <a:off x="7958634" y="5430143"/>
            <a:ext cx="352318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checkout dev</a:t>
            </a:r>
            <a:r>
              <a:rPr lang="en-US" sz="1500" dirty="0">
                <a:solidFill>
                  <a:srgbClr val="16202C"/>
                </a:solidFill>
                <a:latin typeface="IBM Plex Sans" pitchFamily="34" charset="0"/>
                <a:ea typeface="IBM Plex Sans" pitchFamily="34" charset="-122"/>
                <a:cs typeface="IBM Plex Sans" pitchFamily="34" charset="-120"/>
              </a:rPr>
              <a:t> </a:t>
            </a:r>
            <a:r>
              <a:rPr lang="en-US" sz="1500" dirty="0">
                <a:solidFill>
                  <a:srgbClr val="4A5566"/>
                </a:solidFill>
                <a:latin typeface="IBM Plex Sans" pitchFamily="34" charset="0"/>
                <a:ea typeface="IBM Plex Sans" pitchFamily="34" charset="-122"/>
                <a:cs typeface="IBM Plex Sans" pitchFamily="34" charset="-120"/>
              </a:rPr>
              <a:t>eski ama aynı iş</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4 · FETCH &amp; PRUNE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Uzakta silinen dal, yerelde hayalet</a:t>
            </a:r>
            <a:endParaRPr lang="en-US" sz="3600" dirty="0"/>
          </a:p>
        </p:txBody>
      </p:sp>
      <p:sp>
        <p:nvSpPr>
          <p:cNvPr id="4" name="Shape 2"/>
          <p:cNvSpPr/>
          <p:nvPr/>
        </p:nvSpPr>
        <p:spPr>
          <a:xfrm>
            <a:off x="819150" y="1959471"/>
            <a:ext cx="3407767" cy="2388691"/>
          </a:xfrm>
          <a:prstGeom prst="roundRect">
            <a:avLst>
              <a:gd name="adj" fmla="val 5051"/>
            </a:avLst>
          </a:prstGeom>
          <a:solidFill>
            <a:srgbClr val="FDFCF9"/>
          </a:solidFill>
          <a:ln w="12700">
            <a:solidFill>
              <a:srgbClr val="E2DDD0"/>
            </a:solidFill>
            <a:prstDash val="solid"/>
          </a:ln>
        </p:spPr>
      </p:sp>
      <p:sp>
        <p:nvSpPr>
          <p:cNvPr id="5" name="Text 3"/>
          <p:cNvSpPr/>
          <p:nvPr/>
        </p:nvSpPr>
        <p:spPr>
          <a:xfrm>
            <a:off x="1054100" y="2194421"/>
            <a:ext cx="302600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ADIM 1 · GITHUB'DA SİLİNDİ</a:t>
            </a:r>
            <a:endParaRPr lang="en-US" sz="1300" dirty="0"/>
          </a:p>
        </p:txBody>
      </p:sp>
      <p:sp>
        <p:nvSpPr>
          <p:cNvPr id="6" name="Text 4"/>
          <p:cNvSpPr/>
          <p:nvPr/>
        </p:nvSpPr>
        <p:spPr>
          <a:xfrm>
            <a:off x="1054100" y="2552502"/>
            <a:ext cx="3026003" cy="996950"/>
          </a:xfrm>
          <a:prstGeom prst="rect">
            <a:avLst/>
          </a:prstGeom>
          <a:noFill/>
          <a:ln/>
        </p:spPr>
        <p:txBody>
          <a:bodyPr wrap="square" lIns="0" tIns="0" rIns="0" bIns="0" rtlCol="0" anchor="t">
            <a:normAutofit/>
          </a:bodyPr>
          <a:lstStyle/>
          <a:p>
            <a:pPr marL="0" indent="0" algn="l">
              <a:lnSpc>
                <a:spcPts val="2550"/>
              </a:lnSpc>
              <a:buNone/>
            </a:pPr>
            <a:r>
              <a:rPr lang="en-US" sz="1500" dirty="0">
                <a:solidFill>
                  <a:srgbClr val="16202C"/>
                </a:solidFill>
                <a:latin typeface="JetBrains Mono" pitchFamily="34" charset="0"/>
                <a:ea typeface="JetBrains Mono" pitchFamily="34" charset="-122"/>
                <a:cs typeface="JetBrains Mono" pitchFamily="34" charset="-120"/>
              </a:rPr>
              <a:t>dev </a:t>
            </a:r>
            <a:r>
              <a:rPr lang="en-US" sz="1500" dirty="0">
                <a:solidFill>
                  <a:srgbClr val="4A5566"/>
                </a:solidFill>
                <a:latin typeface="JetBrains Mono" pitchFamily="34" charset="0"/>
                <a:ea typeface="JetBrains Mono" pitchFamily="34" charset="-122"/>
                <a:cs typeface="JetBrains Mono" pitchFamily="34" charset="-120"/>
              </a:rPr>
              <a:t>yerel</a:t>
            </a:r>
            <a:endParaRPr lang="en-US" sz="1500" dirty="0"/>
          </a:p>
          <a:p>
            <a:pPr marL="0" indent="0" algn="l">
              <a:lnSpc>
                <a:spcPts val="2550"/>
              </a:lnSpc>
              <a:buNone/>
            </a:pPr>
            <a:r>
              <a:rPr lang="en-US" sz="1500" dirty="0">
                <a:solidFill>
                  <a:srgbClr val="16202C"/>
                </a:solidFill>
                <a:latin typeface="JetBrains Mono" pitchFamily="34" charset="0"/>
                <a:ea typeface="JetBrains Mono" pitchFamily="34" charset="-122"/>
                <a:cs typeface="JetBrains Mono" pitchFamily="34" charset="-120"/>
              </a:rPr>
              <a:t>origin/dev </a:t>
            </a:r>
            <a:r>
              <a:rPr lang="en-US" sz="1500" dirty="0">
                <a:solidFill>
                  <a:srgbClr val="B8430A"/>
                </a:solidFill>
                <a:latin typeface="JetBrains Mono" pitchFamily="34" charset="0"/>
                <a:ea typeface="JetBrains Mono" pitchFamily="34" charset="-122"/>
                <a:cs typeface="JetBrains Mono" pitchFamily="34" charset="-120"/>
              </a:rPr>
              <a:t>hayalet</a:t>
            </a:r>
            <a:endParaRPr lang="en-US" sz="1500" dirty="0"/>
          </a:p>
          <a:p>
            <a:pPr marL="0" indent="0" algn="l">
              <a:lnSpc>
                <a:spcPts val="2550"/>
              </a:lnSpc>
              <a:buNone/>
            </a:pPr>
            <a:r>
              <a:rPr lang="en-US" sz="1500" dirty="0">
                <a:solidFill>
                  <a:srgbClr val="16202C"/>
                </a:solidFill>
                <a:latin typeface="JetBrains Mono" pitchFamily="34" charset="0"/>
                <a:ea typeface="JetBrains Mono" pitchFamily="34" charset="-122"/>
                <a:cs typeface="JetBrains Mono" pitchFamily="34" charset="-120"/>
              </a:rPr>
              <a:t>GitHub: </a:t>
            </a:r>
            <a:r>
              <a:rPr lang="en-US" sz="1500" dirty="0">
                <a:solidFill>
                  <a:srgbClr val="4A5566"/>
                </a:solidFill>
                <a:latin typeface="JetBrains Mono" pitchFamily="34" charset="0"/>
                <a:ea typeface="JetBrains Mono" pitchFamily="34" charset="-122"/>
                <a:cs typeface="JetBrains Mono" pitchFamily="34" charset="-120"/>
              </a:rPr>
              <a:t>dev yok</a:t>
            </a:r>
            <a:endParaRPr lang="en-US" sz="1500" dirty="0"/>
          </a:p>
        </p:txBody>
      </p:sp>
      <p:sp>
        <p:nvSpPr>
          <p:cNvPr id="7" name="Text 5"/>
          <p:cNvSpPr/>
          <p:nvPr/>
        </p:nvSpPr>
        <p:spPr>
          <a:xfrm>
            <a:off x="1054100" y="3651052"/>
            <a:ext cx="302600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Düz fetch bunu fark etmez; iz yerelde kalır.</a:t>
            </a:r>
            <a:endParaRPr lang="en-US" sz="1300" dirty="0"/>
          </a:p>
        </p:txBody>
      </p:sp>
      <p:sp>
        <p:nvSpPr>
          <p:cNvPr id="8" name="Shape 6"/>
          <p:cNvSpPr/>
          <p:nvPr/>
        </p:nvSpPr>
        <p:spPr>
          <a:xfrm>
            <a:off x="4392017" y="1959471"/>
            <a:ext cx="3407866" cy="2388691"/>
          </a:xfrm>
          <a:prstGeom prst="roundRect">
            <a:avLst>
              <a:gd name="adj" fmla="val 5051"/>
            </a:avLst>
          </a:prstGeom>
          <a:solidFill>
            <a:srgbClr val="FDFCF9"/>
          </a:solidFill>
          <a:ln w="12700">
            <a:solidFill>
              <a:srgbClr val="E2DDD0"/>
            </a:solidFill>
            <a:prstDash val="solid"/>
          </a:ln>
        </p:spPr>
      </p:sp>
      <p:sp>
        <p:nvSpPr>
          <p:cNvPr id="9" name="Text 7"/>
          <p:cNvSpPr/>
          <p:nvPr/>
        </p:nvSpPr>
        <p:spPr>
          <a:xfrm>
            <a:off x="4626967" y="2194421"/>
            <a:ext cx="302610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ADIM 2 · git fetch --prune</a:t>
            </a:r>
            <a:endParaRPr lang="en-US" sz="1300" dirty="0"/>
          </a:p>
        </p:txBody>
      </p:sp>
      <p:sp>
        <p:nvSpPr>
          <p:cNvPr id="10" name="Text 8"/>
          <p:cNvSpPr/>
          <p:nvPr/>
        </p:nvSpPr>
        <p:spPr>
          <a:xfrm>
            <a:off x="4626967" y="2552502"/>
            <a:ext cx="3026105" cy="673100"/>
          </a:xfrm>
          <a:prstGeom prst="rect">
            <a:avLst/>
          </a:prstGeom>
          <a:noFill/>
          <a:ln/>
        </p:spPr>
        <p:txBody>
          <a:bodyPr wrap="square" lIns="0" tIns="0" rIns="0" bIns="0" rtlCol="0" anchor="t">
            <a:normAutofit/>
          </a:bodyPr>
          <a:lstStyle/>
          <a:p>
            <a:pPr marL="0" indent="0" algn="l">
              <a:lnSpc>
                <a:spcPts val="2550"/>
              </a:lnSpc>
              <a:buNone/>
            </a:pPr>
            <a:r>
              <a:rPr lang="en-US" sz="1500" dirty="0">
                <a:solidFill>
                  <a:srgbClr val="16202C"/>
                </a:solidFill>
                <a:latin typeface="JetBrains Mono" pitchFamily="34" charset="0"/>
                <a:ea typeface="JetBrains Mono" pitchFamily="34" charset="-122"/>
                <a:cs typeface="JetBrains Mono" pitchFamily="34" charset="-120"/>
              </a:rPr>
              <a:t>dev </a:t>
            </a:r>
            <a:r>
              <a:rPr lang="en-US" sz="1500" dirty="0">
                <a:solidFill>
                  <a:srgbClr val="4A5566"/>
                </a:solidFill>
                <a:latin typeface="JetBrains Mono" pitchFamily="34" charset="0"/>
                <a:ea typeface="JetBrains Mono" pitchFamily="34" charset="-122"/>
                <a:cs typeface="JetBrains Mono" pitchFamily="34" charset="-120"/>
              </a:rPr>
              <a:t>yerel, hâlâ var</a:t>
            </a:r>
            <a:endParaRPr lang="en-US" sz="1500" dirty="0"/>
          </a:p>
          <a:p>
            <a:pPr marL="0" indent="0" algn="l">
              <a:lnSpc>
                <a:spcPts val="2550"/>
              </a:lnSpc>
              <a:buNone/>
            </a:pPr>
            <a:r>
              <a:rPr lang="en-US" sz="1500" dirty="0">
                <a:solidFill>
                  <a:srgbClr val="9AA7B6"/>
                </a:solidFill>
                <a:latin typeface="JetBrains Mono" pitchFamily="34" charset="0"/>
                <a:ea typeface="JetBrains Mono" pitchFamily="34" charset="-122"/>
                <a:cs typeface="JetBrains Mono" pitchFamily="34" charset="-120"/>
              </a:rPr>
              <a:t>origin/dev</a:t>
            </a:r>
            <a:r>
              <a:rPr lang="en-US" sz="1500" dirty="0">
                <a:solidFill>
                  <a:srgbClr val="16202C"/>
                </a:solidFill>
                <a:latin typeface="JetBrains Mono" pitchFamily="34" charset="0"/>
                <a:ea typeface="JetBrains Mono" pitchFamily="34" charset="-122"/>
                <a:cs typeface="JetBrains Mono" pitchFamily="34" charset="-120"/>
              </a:rPr>
              <a:t> </a:t>
            </a:r>
            <a:r>
              <a:rPr lang="en-US" sz="1500" dirty="0">
                <a:solidFill>
                  <a:srgbClr val="4A5566"/>
                </a:solidFill>
                <a:latin typeface="JetBrains Mono" pitchFamily="34" charset="0"/>
                <a:ea typeface="JetBrains Mono" pitchFamily="34" charset="-122"/>
                <a:cs typeface="JetBrains Mono" pitchFamily="34" charset="-120"/>
              </a:rPr>
              <a:t>silindi</a:t>
            </a:r>
            <a:endParaRPr lang="en-US" sz="1500" dirty="0"/>
          </a:p>
        </p:txBody>
      </p:sp>
      <p:sp>
        <p:nvSpPr>
          <p:cNvPr id="11" name="Text 9"/>
          <p:cNvSpPr/>
          <p:nvPr/>
        </p:nvSpPr>
        <p:spPr>
          <a:xfrm>
            <a:off x="4626967" y="3327202"/>
            <a:ext cx="302610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Prune sadece uzak referansları siler, senin dalına dokunmaz.</a:t>
            </a:r>
            <a:endParaRPr lang="en-US" sz="1300" dirty="0"/>
          </a:p>
        </p:txBody>
      </p:sp>
      <p:sp>
        <p:nvSpPr>
          <p:cNvPr id="12" name="Shape 10"/>
          <p:cNvSpPr/>
          <p:nvPr/>
        </p:nvSpPr>
        <p:spPr>
          <a:xfrm>
            <a:off x="7964984" y="1959471"/>
            <a:ext cx="3407866" cy="2388691"/>
          </a:xfrm>
          <a:prstGeom prst="roundRect">
            <a:avLst>
              <a:gd name="adj" fmla="val 5051"/>
            </a:avLst>
          </a:prstGeom>
          <a:solidFill>
            <a:srgbClr val="16202C"/>
          </a:solidFill>
          <a:ln w="12700">
            <a:solidFill>
              <a:srgbClr val="16202C"/>
            </a:solidFill>
            <a:prstDash val="solid"/>
          </a:ln>
        </p:spPr>
      </p:sp>
      <p:sp>
        <p:nvSpPr>
          <p:cNvPr id="13" name="Text 11"/>
          <p:cNvSpPr/>
          <p:nvPr/>
        </p:nvSpPr>
        <p:spPr>
          <a:xfrm>
            <a:off x="8199934" y="2194421"/>
            <a:ext cx="302610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ADIM 3 · YEREL DALI SİL</a:t>
            </a:r>
            <a:endParaRPr lang="en-US" sz="1300" dirty="0"/>
          </a:p>
        </p:txBody>
      </p:sp>
      <p:sp>
        <p:nvSpPr>
          <p:cNvPr id="14" name="Text 12"/>
          <p:cNvSpPr/>
          <p:nvPr/>
        </p:nvSpPr>
        <p:spPr>
          <a:xfrm>
            <a:off x="8199934" y="2552502"/>
            <a:ext cx="3026105" cy="673100"/>
          </a:xfrm>
          <a:prstGeom prst="rect">
            <a:avLst/>
          </a:prstGeom>
          <a:noFill/>
          <a:ln/>
        </p:spPr>
        <p:txBody>
          <a:bodyPr wrap="square" lIns="0" tIns="0" rIns="0" bIns="0" rtlCol="0" anchor="t">
            <a:normAutofit/>
          </a:bodyPr>
          <a:lstStyle/>
          <a:p>
            <a:pPr marL="0" indent="0" algn="l">
              <a:lnSpc>
                <a:spcPts val="2550"/>
              </a:lnSpc>
              <a:buNone/>
            </a:pPr>
            <a:r>
              <a:rPr lang="en-US" sz="1500" dirty="0">
                <a:solidFill>
                  <a:srgbClr val="F6F4EE"/>
                </a:solidFill>
                <a:latin typeface="JetBrains Mono" pitchFamily="34" charset="0"/>
                <a:ea typeface="JetBrains Mono" pitchFamily="34" charset="-122"/>
                <a:cs typeface="JetBrains Mono" pitchFamily="34" charset="-120"/>
              </a:rPr>
              <a:t>git switch main</a:t>
            </a:r>
            <a:endParaRPr lang="en-US" sz="1500" dirty="0"/>
          </a:p>
          <a:p>
            <a:pPr marL="0" indent="0" algn="l">
              <a:lnSpc>
                <a:spcPts val="2550"/>
              </a:lnSpc>
              <a:buNone/>
            </a:pPr>
            <a:r>
              <a:rPr lang="en-US" sz="1500" dirty="0">
                <a:solidFill>
                  <a:srgbClr val="F6F4EE"/>
                </a:solidFill>
                <a:latin typeface="JetBrains Mono" pitchFamily="34" charset="0"/>
                <a:ea typeface="JetBrains Mono" pitchFamily="34" charset="-122"/>
                <a:cs typeface="JetBrains Mono" pitchFamily="34" charset="-120"/>
              </a:rPr>
              <a:t>git branch -d dev</a:t>
            </a:r>
            <a:endParaRPr lang="en-US" sz="1500" dirty="0"/>
          </a:p>
        </p:txBody>
      </p:sp>
      <p:sp>
        <p:nvSpPr>
          <p:cNvPr id="15" name="Text 13"/>
          <p:cNvSpPr/>
          <p:nvPr/>
        </p:nvSpPr>
        <p:spPr>
          <a:xfrm>
            <a:off x="8199934" y="3327202"/>
            <a:ext cx="302610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IBM Plex Sans" pitchFamily="34" charset="0"/>
                <a:ea typeface="IBM Plex Sans" pitchFamily="34" charset="-122"/>
                <a:cs typeface="IBM Plex Sans" pitchFamily="34" charset="-120"/>
              </a:rPr>
              <a:t>Üzerindeysen silemezsin; önce dal değiştir. Birleşmemişse -D gerekir.</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6202C"/>
        </a:solidFill>
        <a:effectLst/>
      </p:bgPr>
    </p:bg>
    <p:spTree>
      <p:nvGrpSpPr>
        <p:cNvPr id="1" name=""/>
        <p:cNvGrpSpPr/>
        <p:nvPr/>
      </p:nvGrpSpPr>
      <p:grpSpPr>
        <a:xfrm>
          <a:off x="0" y="0"/>
          <a:ext cx="0" cy="0"/>
          <a:chOff x="0" y="0"/>
          <a:chExt cx="0" cy="0"/>
        </a:xfrm>
      </p:grpSpPr>
      <p:pic>
        <p:nvPicPr>
          <p:cNvPr id="2" name="Image 0" descr="connector"/>
          <p:cNvPicPr>
            <a:picLocks noChangeAspect="1"/>
          </p:cNvPicPr>
          <p:nvPr/>
        </p:nvPicPr>
        <p:blipFill>
          <a:blip r:embed="rId3"/>
          <a:srcRect/>
          <a:stretch/>
        </p:blipFill>
        <p:spPr>
          <a:xfrm>
            <a:off x="7270750" y="4730750"/>
            <a:ext cx="1714500" cy="190500"/>
          </a:xfrm>
          <a:prstGeom prst="rect">
            <a:avLst/>
          </a:prstGeom>
        </p:spPr>
      </p:pic>
      <p:pic>
        <p:nvPicPr>
          <p:cNvPr id="3" name="Image 1" descr="connector"/>
          <p:cNvPicPr>
            <a:picLocks noChangeAspect="1"/>
          </p:cNvPicPr>
          <p:nvPr/>
        </p:nvPicPr>
        <p:blipFill>
          <a:blip r:embed="rId4"/>
          <a:srcRect/>
          <a:stretch/>
        </p:blipFill>
        <p:spPr>
          <a:xfrm>
            <a:off x="8794750" y="4095750"/>
            <a:ext cx="2222500" cy="825500"/>
          </a:xfrm>
          <a:prstGeom prst="rect">
            <a:avLst/>
          </a:prstGeom>
        </p:spPr>
      </p:pic>
      <p:pic>
        <p:nvPicPr>
          <p:cNvPr id="4" name="Image 2" descr="connector"/>
          <p:cNvPicPr>
            <a:picLocks noChangeAspect="1"/>
          </p:cNvPicPr>
          <p:nvPr/>
        </p:nvPicPr>
        <p:blipFill>
          <a:blip r:embed="rId5"/>
          <a:srcRect/>
          <a:stretch/>
        </p:blipFill>
        <p:spPr>
          <a:xfrm>
            <a:off x="7270750" y="3460750"/>
            <a:ext cx="1714500" cy="1460500"/>
          </a:xfrm>
          <a:prstGeom prst="rect">
            <a:avLst/>
          </a:prstGeom>
        </p:spPr>
      </p:pic>
      <p:pic>
        <p:nvPicPr>
          <p:cNvPr id="5" name="Image 3" descr="connector"/>
          <p:cNvPicPr>
            <a:picLocks noChangeAspect="1"/>
          </p:cNvPicPr>
          <p:nvPr/>
        </p:nvPicPr>
        <p:blipFill>
          <a:blip r:embed="rId6"/>
          <a:srcRect/>
          <a:stretch/>
        </p:blipFill>
        <p:spPr>
          <a:xfrm>
            <a:off x="8794750" y="3460750"/>
            <a:ext cx="2222500" cy="825500"/>
          </a:xfrm>
          <a:prstGeom prst="rect">
            <a:avLst/>
          </a:prstGeom>
        </p:spPr>
      </p:pic>
      <p:sp>
        <p:nvSpPr>
          <p:cNvPr id="6" name="Shape 0"/>
          <p:cNvSpPr/>
          <p:nvPr/>
        </p:nvSpPr>
        <p:spPr>
          <a:xfrm>
            <a:off x="7112000" y="4572000"/>
            <a:ext cx="508000" cy="508000"/>
          </a:xfrm>
          <a:prstGeom prst="roundRect">
            <a:avLst>
              <a:gd name="adj" fmla="val 50000"/>
            </a:avLst>
          </a:prstGeom>
          <a:solidFill>
            <a:srgbClr val="2F6FDB"/>
          </a:solidFill>
          <a:ln/>
        </p:spPr>
      </p:sp>
      <p:sp>
        <p:nvSpPr>
          <p:cNvPr id="7" name="Shape 1"/>
          <p:cNvSpPr/>
          <p:nvPr/>
        </p:nvSpPr>
        <p:spPr>
          <a:xfrm>
            <a:off x="8636000" y="4572000"/>
            <a:ext cx="508000" cy="508000"/>
          </a:xfrm>
          <a:prstGeom prst="roundRect">
            <a:avLst>
              <a:gd name="adj" fmla="val 50000"/>
            </a:avLst>
          </a:prstGeom>
          <a:solidFill>
            <a:srgbClr val="2F6FDB"/>
          </a:solidFill>
          <a:ln/>
        </p:spPr>
      </p:sp>
      <p:sp>
        <p:nvSpPr>
          <p:cNvPr id="8" name="Shape 2"/>
          <p:cNvSpPr/>
          <p:nvPr/>
        </p:nvSpPr>
        <p:spPr>
          <a:xfrm>
            <a:off x="8636000" y="3302000"/>
            <a:ext cx="508000" cy="508000"/>
          </a:xfrm>
          <a:prstGeom prst="roundRect">
            <a:avLst>
              <a:gd name="adj" fmla="val 50000"/>
            </a:avLst>
          </a:prstGeom>
          <a:solidFill>
            <a:srgbClr val="F08C4B"/>
          </a:solidFill>
          <a:ln/>
        </p:spPr>
      </p:sp>
      <p:sp>
        <p:nvSpPr>
          <p:cNvPr id="9" name="Shape 3"/>
          <p:cNvSpPr/>
          <p:nvPr/>
        </p:nvSpPr>
        <p:spPr>
          <a:xfrm>
            <a:off x="10687050" y="3956050"/>
            <a:ext cx="469900" cy="469900"/>
          </a:xfrm>
          <a:prstGeom prst="roundRect">
            <a:avLst>
              <a:gd name="adj" fmla="val 50000"/>
            </a:avLst>
          </a:prstGeom>
          <a:solidFill>
            <a:srgbClr val="F6F4EE"/>
          </a:solidFill>
          <a:ln w="38100">
            <a:solidFill>
              <a:srgbClr val="F08C4B"/>
            </a:solidFill>
            <a:prstDash val="solid"/>
          </a:ln>
        </p:spPr>
      </p:sp>
      <p:sp>
        <p:nvSpPr>
          <p:cNvPr id="10" name="Text 4"/>
          <p:cNvSpPr/>
          <p:nvPr/>
        </p:nvSpPr>
        <p:spPr>
          <a:xfrm>
            <a:off x="812800" y="187831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7A46B"/>
                </a:solidFill>
                <a:latin typeface="JetBrains Mono" pitchFamily="34" charset="0"/>
                <a:ea typeface="JetBrains Mono" pitchFamily="34" charset="-122"/>
                <a:cs typeface="JetBrains Mono" pitchFamily="34" charset="-120"/>
              </a:rPr>
              <a:t>MODÜL 5 · MERGE TİPLERİ</a:t>
            </a:r>
            <a:endParaRPr lang="en-US" sz="1300" dirty="0"/>
          </a:p>
        </p:txBody>
      </p:sp>
      <p:sp>
        <p:nvSpPr>
          <p:cNvPr id="11" name="Text 5"/>
          <p:cNvSpPr/>
          <p:nvPr/>
        </p:nvSpPr>
        <p:spPr>
          <a:xfrm>
            <a:off x="812800" y="2414191"/>
            <a:ext cx="7194550" cy="16256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E"/>
                </a:solidFill>
                <a:latin typeface="Space Grotesk" pitchFamily="34" charset="0"/>
                <a:ea typeface="Space Grotesk" pitchFamily="34" charset="-122"/>
                <a:cs typeface="Space Grotesk" pitchFamily="34" charset="-120"/>
              </a:rPr>
              <a:t>İki hikâye,</a:t>
            </a:r>
            <a:endParaRPr lang="en-US" sz="6000" dirty="0"/>
          </a:p>
          <a:p>
            <a:pPr marL="0" indent="0" algn="l">
              <a:lnSpc>
                <a:spcPts val="6300"/>
              </a:lnSpc>
              <a:buNone/>
            </a:pPr>
            <a:r>
              <a:rPr lang="en-US" sz="6000" b="1" dirty="0">
                <a:solidFill>
                  <a:srgbClr val="F6F4EE"/>
                </a:solidFill>
                <a:latin typeface="Space Grotesk" pitchFamily="34" charset="0"/>
                <a:ea typeface="Space Grotesk" pitchFamily="34" charset="-122"/>
                <a:cs typeface="Space Grotesk" pitchFamily="34" charset="-120"/>
              </a:rPr>
              <a:t>tek kitap.</a:t>
            </a:r>
            <a:endParaRPr lang="en-US" sz="6000" dirty="0"/>
          </a:p>
        </p:txBody>
      </p:sp>
      <p:sp>
        <p:nvSpPr>
          <p:cNvPr id="12" name="Text 6"/>
          <p:cNvSpPr/>
          <p:nvPr/>
        </p:nvSpPr>
        <p:spPr>
          <a:xfrm>
            <a:off x="812800" y="4319191"/>
            <a:ext cx="614807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8C4D1"/>
                </a:solidFill>
                <a:latin typeface="IBM Plex Sans" pitchFamily="34" charset="0"/>
                <a:ea typeface="IBM Plex Sans" pitchFamily="34" charset="-122"/>
                <a:cs typeface="IBM Plex Sans" pitchFamily="34" charset="-120"/>
              </a:rPr>
              <a:t>Git birleştirmeden önce tek bir soru sorar: </a:t>
            </a:r>
            <a:r>
              <a:rPr lang="en-US" sz="2000" dirty="0">
                <a:solidFill>
                  <a:srgbClr val="F7A46B"/>
                </a:solidFill>
                <a:latin typeface="IBM Plex Sans" pitchFamily="34" charset="0"/>
                <a:ea typeface="IBM Plex Sans" pitchFamily="34" charset="-122"/>
                <a:cs typeface="IBM Plex Sans" pitchFamily="34" charset="-120"/>
              </a:rPr>
              <a:t>Ben ayrıldıktan sonra hedef dal ilerledi mi?</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5 · MERGE TİPLERİ</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Dört birleştirme, dört geçmiş şekli</a:t>
            </a:r>
            <a:endParaRPr lang="en-US" sz="3600" dirty="0"/>
          </a:p>
        </p:txBody>
      </p:sp>
      <p:sp>
        <p:nvSpPr>
          <p:cNvPr id="4" name="Shape 2"/>
          <p:cNvSpPr/>
          <p:nvPr/>
        </p:nvSpPr>
        <p:spPr>
          <a:xfrm>
            <a:off x="819150" y="1959471"/>
            <a:ext cx="2514600" cy="2560141"/>
          </a:xfrm>
          <a:prstGeom prst="roundRect">
            <a:avLst>
              <a:gd name="adj" fmla="val 4798"/>
            </a:avLst>
          </a:prstGeom>
          <a:solidFill>
            <a:srgbClr val="FDFCF9"/>
          </a:solidFill>
          <a:ln w="12700">
            <a:solidFill>
              <a:srgbClr val="E2DDD0"/>
            </a:solidFill>
            <a:prstDash val="solid"/>
          </a:ln>
        </p:spPr>
      </p:sp>
      <p:sp>
        <p:nvSpPr>
          <p:cNvPr id="5" name="Text 3"/>
          <p:cNvSpPr/>
          <p:nvPr/>
        </p:nvSpPr>
        <p:spPr>
          <a:xfrm>
            <a:off x="1028700" y="2169021"/>
            <a:ext cx="215836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Fast-forward</a:t>
            </a:r>
            <a:endParaRPr lang="en-US" sz="2000" dirty="0"/>
          </a:p>
        </p:txBody>
      </p:sp>
      <p:pic>
        <p:nvPicPr>
          <p:cNvPr id="6" name="Image 0" descr="Üç commit tek düz çizgi üzerinde; dal commit'leri ana hatta eklenmiş"/>
          <p:cNvPicPr>
            <a:picLocks noChangeAspect="1"/>
          </p:cNvPicPr>
          <p:nvPr/>
        </p:nvPicPr>
        <p:blipFill>
          <a:blip r:embed="rId3"/>
          <a:srcRect/>
          <a:stretch/>
        </p:blipFill>
        <p:spPr>
          <a:xfrm>
            <a:off x="1028700" y="2600821"/>
            <a:ext cx="1905000" cy="889000"/>
          </a:xfrm>
          <a:prstGeom prst="rect">
            <a:avLst/>
          </a:prstGeom>
        </p:spPr>
      </p:pic>
      <p:sp>
        <p:nvSpPr>
          <p:cNvPr id="7" name="Text 4"/>
          <p:cNvSpPr/>
          <p:nvPr/>
        </p:nvSpPr>
        <p:spPr>
          <a:xfrm>
            <a:off x="1028700" y="3616821"/>
            <a:ext cx="2158365"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IBM Plex Sans" pitchFamily="34" charset="0"/>
                <a:ea typeface="IBM Plex Sans" pitchFamily="34" charset="-122"/>
                <a:cs typeface="IBM Plex Sans" pitchFamily="34" charset="-120"/>
              </a:rPr>
              <a:t>Yeni commit yok.</a:t>
            </a:r>
            <a:r>
              <a:rPr lang="en-US" sz="1300" dirty="0">
                <a:solidFill>
                  <a:srgbClr val="4A5566"/>
                </a:solidFill>
                <a:latin typeface="IBM Plex Sans" pitchFamily="34" charset="0"/>
                <a:ea typeface="IBM Plex Sans" pitchFamily="34" charset="-122"/>
                <a:cs typeface="IBM Plex Sans" pitchFamily="34" charset="-120"/>
              </a:rPr>
              <a:t> Hedef ilerlememişse etiket kayar.</a:t>
            </a:r>
            <a:endParaRPr lang="en-US" sz="1300" dirty="0"/>
          </a:p>
        </p:txBody>
      </p:sp>
      <p:sp>
        <p:nvSpPr>
          <p:cNvPr id="8" name="Shape 5"/>
          <p:cNvSpPr/>
          <p:nvPr/>
        </p:nvSpPr>
        <p:spPr>
          <a:xfrm>
            <a:off x="3498850" y="1959471"/>
            <a:ext cx="2514600" cy="2560141"/>
          </a:xfrm>
          <a:prstGeom prst="roundRect">
            <a:avLst>
              <a:gd name="adj" fmla="val 4798"/>
            </a:avLst>
          </a:prstGeom>
          <a:solidFill>
            <a:srgbClr val="FDFCF9"/>
          </a:solidFill>
          <a:ln w="12700">
            <a:solidFill>
              <a:srgbClr val="E2DDD0"/>
            </a:solidFill>
            <a:prstDash val="solid"/>
          </a:ln>
        </p:spPr>
      </p:sp>
      <p:sp>
        <p:nvSpPr>
          <p:cNvPr id="9" name="Text 6"/>
          <p:cNvSpPr/>
          <p:nvPr/>
        </p:nvSpPr>
        <p:spPr>
          <a:xfrm>
            <a:off x="3708400" y="2169021"/>
            <a:ext cx="215836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3-way</a:t>
            </a:r>
            <a:endParaRPr lang="en-US" sz="2000" dirty="0"/>
          </a:p>
        </p:txBody>
      </p:sp>
      <p:sp>
        <p:nvSpPr>
          <p:cNvPr id="10" name="Text 7"/>
          <p:cNvSpPr/>
          <p:nvPr/>
        </p:nvSpPr>
        <p:spPr>
          <a:xfrm>
            <a:off x="3708400" y="2600821"/>
            <a:ext cx="2158365"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IBM Plex Sans" pitchFamily="34" charset="0"/>
                <a:ea typeface="IBM Plex Sans" pitchFamily="34" charset="-122"/>
                <a:cs typeface="IBM Plex Sans" pitchFamily="34" charset="-120"/>
              </a:rPr>
              <a:t>Merge commit.</a:t>
            </a:r>
            <a:r>
              <a:rPr lang="en-US" sz="1300" dirty="0">
                <a:solidFill>
                  <a:srgbClr val="4A5566"/>
                </a:solidFill>
                <a:latin typeface="IBM Plex Sans" pitchFamily="34" charset="0"/>
                <a:ea typeface="IBM Plex Sans" pitchFamily="34" charset="-122"/>
                <a:cs typeface="IBM Plex Sans" pitchFamily="34" charset="-120"/>
              </a:rPr>
              <a:t> İki dal da ilerlemişse iki parent'lı yeni commit.</a:t>
            </a:r>
            <a:endParaRPr lang="en-US" sz="1300" dirty="0"/>
          </a:p>
        </p:txBody>
      </p:sp>
      <p:sp>
        <p:nvSpPr>
          <p:cNvPr id="11" name="Shape 8"/>
          <p:cNvSpPr/>
          <p:nvPr/>
        </p:nvSpPr>
        <p:spPr>
          <a:xfrm>
            <a:off x="6178550" y="1959471"/>
            <a:ext cx="2514600" cy="2560141"/>
          </a:xfrm>
          <a:prstGeom prst="roundRect">
            <a:avLst>
              <a:gd name="adj" fmla="val 4798"/>
            </a:avLst>
          </a:prstGeom>
          <a:solidFill>
            <a:srgbClr val="FDFCF9"/>
          </a:solidFill>
          <a:ln w="12700">
            <a:solidFill>
              <a:srgbClr val="E2DDD0"/>
            </a:solidFill>
            <a:prstDash val="solid"/>
          </a:ln>
        </p:spPr>
      </p:sp>
      <p:sp>
        <p:nvSpPr>
          <p:cNvPr id="12" name="Text 9"/>
          <p:cNvSpPr/>
          <p:nvPr/>
        </p:nvSpPr>
        <p:spPr>
          <a:xfrm>
            <a:off x="6388100" y="2169021"/>
            <a:ext cx="215836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--no-ff</a:t>
            </a:r>
            <a:endParaRPr lang="en-US" sz="2000" dirty="0"/>
          </a:p>
        </p:txBody>
      </p:sp>
      <p:pic>
        <p:nvPicPr>
          <p:cNvPr id="13" name="Image 1" descr="Ana hat düz kalıyor, dal commit'leri bir kabarcık oluşturup merge commit'e bağlanıyor"/>
          <p:cNvPicPr>
            <a:picLocks noChangeAspect="1"/>
          </p:cNvPicPr>
          <p:nvPr/>
        </p:nvPicPr>
        <p:blipFill>
          <a:blip r:embed="rId4"/>
          <a:srcRect/>
          <a:stretch/>
        </p:blipFill>
        <p:spPr>
          <a:xfrm>
            <a:off x="6388100" y="2600821"/>
            <a:ext cx="1905000" cy="889000"/>
          </a:xfrm>
          <a:prstGeom prst="rect">
            <a:avLst/>
          </a:prstGeom>
        </p:spPr>
      </p:pic>
      <p:sp>
        <p:nvSpPr>
          <p:cNvPr id="14" name="Text 10"/>
          <p:cNvSpPr/>
          <p:nvPr/>
        </p:nvSpPr>
        <p:spPr>
          <a:xfrm>
            <a:off x="6388100" y="3616821"/>
            <a:ext cx="2158365"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IBM Plex Sans" pitchFamily="34" charset="0"/>
                <a:ea typeface="IBM Plex Sans" pitchFamily="34" charset="-122"/>
                <a:cs typeface="IBM Plex Sans" pitchFamily="34" charset="-120"/>
              </a:rPr>
              <a:t>Zorla merge commit.</a:t>
            </a:r>
            <a:r>
              <a:rPr lang="en-US" sz="1300" dirty="0">
                <a:solidFill>
                  <a:srgbClr val="4A5566"/>
                </a:solidFill>
                <a:latin typeface="IBM Plex Sans" pitchFamily="34" charset="0"/>
                <a:ea typeface="IBM Plex Sans" pitchFamily="34" charset="-122"/>
                <a:cs typeface="IBM Plex Sans" pitchFamily="34" charset="-120"/>
              </a:rPr>
              <a:t> FF mümkün olsa bile dal görünür kalır.</a:t>
            </a:r>
            <a:endParaRPr lang="en-US" sz="1300" dirty="0"/>
          </a:p>
        </p:txBody>
      </p:sp>
      <p:sp>
        <p:nvSpPr>
          <p:cNvPr id="15" name="Shape 11"/>
          <p:cNvSpPr/>
          <p:nvPr/>
        </p:nvSpPr>
        <p:spPr>
          <a:xfrm>
            <a:off x="8858250" y="1959471"/>
            <a:ext cx="2514600" cy="2560141"/>
          </a:xfrm>
          <a:prstGeom prst="roundRect">
            <a:avLst>
              <a:gd name="adj" fmla="val 4798"/>
            </a:avLst>
          </a:prstGeom>
          <a:solidFill>
            <a:srgbClr val="FDFCF9"/>
          </a:solidFill>
          <a:ln w="12700">
            <a:solidFill>
              <a:srgbClr val="E2DDD0"/>
            </a:solidFill>
            <a:prstDash val="solid"/>
          </a:ln>
        </p:spPr>
      </p:sp>
      <p:sp>
        <p:nvSpPr>
          <p:cNvPr id="16" name="Text 12"/>
          <p:cNvSpPr/>
          <p:nvPr/>
        </p:nvSpPr>
        <p:spPr>
          <a:xfrm>
            <a:off x="9067800" y="2169021"/>
            <a:ext cx="215836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--squash</a:t>
            </a:r>
            <a:endParaRPr lang="en-US" sz="2000" dirty="0"/>
          </a:p>
        </p:txBody>
      </p:sp>
      <p:pic>
        <p:nvPicPr>
          <p:cNvPr id="17" name="Image 2" descr="Dalın üç commit'i soluk kalıyor; ana hatta tek bir sıkıştırılmış commit ekleniyor"/>
          <p:cNvPicPr>
            <a:picLocks noChangeAspect="1"/>
          </p:cNvPicPr>
          <p:nvPr/>
        </p:nvPicPr>
        <p:blipFill>
          <a:blip r:embed="rId5"/>
          <a:srcRect/>
          <a:stretch/>
        </p:blipFill>
        <p:spPr>
          <a:xfrm>
            <a:off x="9067800" y="2600821"/>
            <a:ext cx="1905000" cy="889000"/>
          </a:xfrm>
          <a:prstGeom prst="rect">
            <a:avLst/>
          </a:prstGeom>
        </p:spPr>
      </p:pic>
      <p:sp>
        <p:nvSpPr>
          <p:cNvPr id="18" name="Text 13"/>
          <p:cNvSpPr/>
          <p:nvPr/>
        </p:nvSpPr>
        <p:spPr>
          <a:xfrm>
            <a:off x="9067800" y="3616821"/>
            <a:ext cx="2158365"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IBM Plex Sans" pitchFamily="34" charset="0"/>
                <a:ea typeface="IBM Plex Sans" pitchFamily="34" charset="-122"/>
                <a:cs typeface="IBM Plex Sans" pitchFamily="34" charset="-120"/>
              </a:rPr>
              <a:t>Tek normal commit.</a:t>
            </a:r>
            <a:r>
              <a:rPr lang="en-US" sz="1300" dirty="0">
                <a:solidFill>
                  <a:srgbClr val="4A5566"/>
                </a:solidFill>
                <a:latin typeface="IBM Plex Sans" pitchFamily="34" charset="0"/>
                <a:ea typeface="IBM Plex Sans" pitchFamily="34" charset="-122"/>
                <a:cs typeface="IBM Plex Sans" pitchFamily="34" charset="-120"/>
              </a:rPr>
              <a:t> Dalın tüm işi tek pakete sıkışır.</a:t>
            </a:r>
            <a:endParaRPr lang="en-US" sz="1300" dirty="0"/>
          </a:p>
        </p:txBody>
      </p:sp>
      <p:sp>
        <p:nvSpPr>
          <p:cNvPr id="19" name="Text 14"/>
          <p:cNvSpPr/>
          <p:nvPr/>
        </p:nvSpPr>
        <p:spPr>
          <a:xfrm>
            <a:off x="812800" y="483076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6"/>
                </a:solidFill>
                <a:latin typeface="IBM Plex Sans" pitchFamily="34" charset="0"/>
                <a:ea typeface="IBM Plex Sans" pitchFamily="34" charset="-122"/>
                <a:cs typeface="IBM Plex Sans" pitchFamily="34" charset="-120"/>
              </a:rPr>
              <a:t>Beşinci yol, </a:t>
            </a:r>
            <a:r>
              <a:rPr lang="en-US" sz="1500" b="1" dirty="0">
                <a:solidFill>
                  <a:srgbClr val="4A5566"/>
                </a:solidFill>
                <a:latin typeface="IBM Plex Sans" pitchFamily="34" charset="0"/>
                <a:ea typeface="IBM Plex Sans" pitchFamily="34" charset="-122"/>
                <a:cs typeface="IBM Plex Sans" pitchFamily="34" charset="-120"/>
              </a:rPr>
              <a:t>rebase + fast-forward</a:t>
            </a:r>
            <a:r>
              <a:rPr lang="en-US" sz="1500" dirty="0">
                <a:solidFill>
                  <a:srgbClr val="4A5566"/>
                </a:solidFill>
                <a:latin typeface="IBM Plex Sans" pitchFamily="34" charset="0"/>
                <a:ea typeface="IBM Plex Sans" pitchFamily="34" charset="-122"/>
                <a:cs typeface="IBM Plex Sans" pitchFamily="34" charset="-120"/>
              </a:rPr>
              <a:t>, Modül 7'de. Şimdi her birini düğüm düğüm açalım.</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MERGE TİPİ 1 · FAST-FORWARD</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Önce: test ileride, master yerinde</a:t>
            </a:r>
            <a:endParaRPr lang="en-US" sz="3600" dirty="0"/>
          </a:p>
        </p:txBody>
      </p:sp>
      <p:pic>
        <p:nvPicPr>
          <p:cNvPr id="4" name="Image 0" descr="connector"/>
          <p:cNvPicPr>
            <a:picLocks noChangeAspect="1"/>
          </p:cNvPicPr>
          <p:nvPr/>
        </p:nvPicPr>
        <p:blipFill>
          <a:blip r:embed="rId3"/>
          <a:srcRect/>
          <a:stretch/>
        </p:blipFill>
        <p:spPr>
          <a:xfrm>
            <a:off x="1555750" y="3079750"/>
            <a:ext cx="1968500" cy="190500"/>
          </a:xfrm>
          <a:prstGeom prst="rect">
            <a:avLst/>
          </a:prstGeom>
        </p:spPr>
      </p:pic>
      <p:pic>
        <p:nvPicPr>
          <p:cNvPr id="5" name="Image 1" descr="connector"/>
          <p:cNvPicPr>
            <a:picLocks noChangeAspect="1"/>
          </p:cNvPicPr>
          <p:nvPr/>
        </p:nvPicPr>
        <p:blipFill>
          <a:blip r:embed="rId4"/>
          <a:srcRect/>
          <a:stretch/>
        </p:blipFill>
        <p:spPr>
          <a:xfrm>
            <a:off x="3333750" y="3079750"/>
            <a:ext cx="1968500" cy="1333500"/>
          </a:xfrm>
          <a:prstGeom prst="rect">
            <a:avLst/>
          </a:prstGeom>
        </p:spPr>
      </p:pic>
      <p:pic>
        <p:nvPicPr>
          <p:cNvPr id="6" name="Image 2" descr="connector"/>
          <p:cNvPicPr>
            <a:picLocks noChangeAspect="1"/>
          </p:cNvPicPr>
          <p:nvPr/>
        </p:nvPicPr>
        <p:blipFill>
          <a:blip r:embed="rId5"/>
          <a:srcRect/>
          <a:stretch/>
        </p:blipFill>
        <p:spPr>
          <a:xfrm>
            <a:off x="3365500" y="2235200"/>
            <a:ext cx="127000" cy="584200"/>
          </a:xfrm>
          <a:prstGeom prst="rect">
            <a:avLst/>
          </a:prstGeom>
        </p:spPr>
      </p:pic>
      <p:pic>
        <p:nvPicPr>
          <p:cNvPr id="7" name="Image 3" descr="connector"/>
          <p:cNvPicPr>
            <a:picLocks noChangeAspect="1"/>
          </p:cNvPicPr>
          <p:nvPr/>
        </p:nvPicPr>
        <p:blipFill>
          <a:blip r:embed="rId6"/>
          <a:srcRect/>
          <a:stretch/>
        </p:blipFill>
        <p:spPr>
          <a:xfrm>
            <a:off x="2476500" y="2070100"/>
            <a:ext cx="482600" cy="127000"/>
          </a:xfrm>
          <a:prstGeom prst="rect">
            <a:avLst/>
          </a:prstGeom>
        </p:spPr>
      </p:pic>
      <p:pic>
        <p:nvPicPr>
          <p:cNvPr id="8" name="Image 4" descr="connector"/>
          <p:cNvPicPr>
            <a:picLocks noChangeAspect="1"/>
          </p:cNvPicPr>
          <p:nvPr/>
        </p:nvPicPr>
        <p:blipFill>
          <a:blip r:embed="rId7"/>
          <a:srcRect/>
          <a:stretch/>
        </p:blipFill>
        <p:spPr>
          <a:xfrm>
            <a:off x="5562600" y="4254500"/>
            <a:ext cx="723900" cy="127000"/>
          </a:xfrm>
          <a:prstGeom prst="rect">
            <a:avLst/>
          </a:prstGeom>
        </p:spPr>
      </p:pic>
      <p:sp>
        <p:nvSpPr>
          <p:cNvPr id="9" name="Text 2"/>
          <p:cNvSpPr/>
          <p:nvPr/>
        </p:nvSpPr>
        <p:spPr>
          <a:xfrm>
            <a:off x="1270000" y="2794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C0</a:t>
            </a:r>
            <a:endParaRPr lang="en-US" sz="1500" dirty="0"/>
          </a:p>
        </p:txBody>
      </p:sp>
      <p:sp>
        <p:nvSpPr>
          <p:cNvPr id="10" name="Text 3"/>
          <p:cNvSpPr/>
          <p:nvPr/>
        </p:nvSpPr>
        <p:spPr>
          <a:xfrm>
            <a:off x="3048000" y="2794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11" name="Text 4"/>
          <p:cNvSpPr/>
          <p:nvPr/>
        </p:nvSpPr>
        <p:spPr>
          <a:xfrm>
            <a:off x="4826000" y="3937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C2</a:t>
            </a:r>
            <a:endParaRPr lang="en-US" sz="1500" dirty="0"/>
          </a:p>
        </p:txBody>
      </p:sp>
      <p:sp>
        <p:nvSpPr>
          <p:cNvPr id="12" name="Text 5"/>
          <p:cNvSpPr/>
          <p:nvPr/>
        </p:nvSpPr>
        <p:spPr>
          <a:xfrm>
            <a:off x="2921000" y="19685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3" name="Text 6"/>
          <p:cNvSpPr/>
          <p:nvPr/>
        </p:nvSpPr>
        <p:spPr>
          <a:xfrm>
            <a:off x="1714500" y="19685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7A46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HEAD</a:t>
            </a:r>
            <a:endParaRPr lang="en-US" sz="1300" dirty="0"/>
          </a:p>
        </p:txBody>
      </p:sp>
      <p:sp>
        <p:nvSpPr>
          <p:cNvPr id="14" name="Text 7"/>
          <p:cNvSpPr/>
          <p:nvPr/>
        </p:nvSpPr>
        <p:spPr>
          <a:xfrm>
            <a:off x="6223000" y="41529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test</a:t>
            </a:r>
            <a:endParaRPr lang="en-US" sz="1300" dirty="0"/>
          </a:p>
        </p:txBody>
      </p:sp>
      <p:sp>
        <p:nvSpPr>
          <p:cNvPr id="15" name="Text 8"/>
          <p:cNvSpPr/>
          <p:nvPr/>
        </p:nvSpPr>
        <p:spPr>
          <a:xfrm>
            <a:off x="2768600" y="36576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70c500a</a:t>
            </a:r>
            <a:endParaRPr lang="en-US" sz="1300" dirty="0"/>
          </a:p>
        </p:txBody>
      </p:sp>
      <p:sp>
        <p:nvSpPr>
          <p:cNvPr id="16" name="Text 9"/>
          <p:cNvSpPr/>
          <p:nvPr/>
        </p:nvSpPr>
        <p:spPr>
          <a:xfrm>
            <a:off x="4546600" y="48006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a1b2c3d</a:t>
            </a:r>
            <a:endParaRPr lang="en-US" sz="1300" dirty="0"/>
          </a:p>
        </p:txBody>
      </p:sp>
      <p:sp>
        <p:nvSpPr>
          <p:cNvPr id="17" name="Shape 10"/>
          <p:cNvSpPr/>
          <p:nvPr/>
        </p:nvSpPr>
        <p:spPr>
          <a:xfrm>
            <a:off x="7626350" y="1974850"/>
            <a:ext cx="3746500" cy="3066355"/>
          </a:xfrm>
          <a:prstGeom prst="roundRect">
            <a:avLst>
              <a:gd name="adj" fmla="val 3935"/>
            </a:avLst>
          </a:prstGeom>
          <a:solidFill>
            <a:srgbClr val="FDFCF9"/>
          </a:solidFill>
          <a:ln w="12700">
            <a:solidFill>
              <a:srgbClr val="E2DDD0"/>
            </a:solidFill>
            <a:prstDash val="solid"/>
          </a:ln>
        </p:spPr>
      </p:sp>
      <p:sp>
        <p:nvSpPr>
          <p:cNvPr id="18" name="Text 11"/>
          <p:cNvSpPr/>
          <p:nvPr/>
        </p:nvSpPr>
        <p:spPr>
          <a:xfrm>
            <a:off x="7886700" y="2235200"/>
            <a:ext cx="332257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SORU: MASTER İLERLEDİ Mİ?</a:t>
            </a:r>
            <a:endParaRPr lang="en-US" sz="1300" dirty="0"/>
          </a:p>
        </p:txBody>
      </p:sp>
      <p:sp>
        <p:nvSpPr>
          <p:cNvPr id="19" name="Text 12"/>
          <p:cNvSpPr/>
          <p:nvPr/>
        </p:nvSpPr>
        <p:spPr>
          <a:xfrm>
            <a:off x="7886700" y="2567880"/>
            <a:ext cx="33225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Hayır. Yol ayrımı yok.</a:t>
            </a:r>
            <a:endParaRPr lang="en-US" sz="2000" dirty="0"/>
          </a:p>
        </p:txBody>
      </p:sp>
      <p:sp>
        <p:nvSpPr>
          <p:cNvPr id="20" name="Text 13"/>
          <p:cNvSpPr/>
          <p:nvPr/>
        </p:nvSpPr>
        <p:spPr>
          <a:xfrm>
            <a:off x="7886700" y="2974280"/>
            <a:ext cx="332257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test açıldıktan sonra master hiç commit almadı. C2 zaten C1'in devamı.</a:t>
            </a:r>
            <a:endParaRPr lang="en-US" sz="1500" dirty="0"/>
          </a:p>
        </p:txBody>
      </p:sp>
      <p:sp>
        <p:nvSpPr>
          <p:cNvPr id="21" name="Text 14"/>
          <p:cNvSpPr/>
          <p:nvPr/>
        </p:nvSpPr>
        <p:spPr>
          <a:xfrm>
            <a:off x="7886700" y="3904555"/>
            <a:ext cx="3225800" cy="876300"/>
          </a:xfrm>
          <a:prstGeom prst="roundRect">
            <a:avLst>
              <a:gd name="adj" fmla="val 8696"/>
            </a:avLst>
          </a:prstGeom>
          <a:solidFill>
            <a:srgbClr val="16202C"/>
          </a:solidFill>
          <a:ln/>
        </p:spPr>
        <p:txBody>
          <a:bodyPr wrap="square" lIns="180882" tIns="130082" rIns="96300" bIns="104682" rtlCol="0" anchor="t">
            <a:normAutofit/>
          </a:bodyPr>
          <a:lstStyle/>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switch master</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merge test</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MERGE TİPİ 1 · FAST-FORWARD</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Sonra: etiket ileri sarıldı</a:t>
            </a:r>
            <a:endParaRPr lang="en-US" sz="3600" dirty="0"/>
          </a:p>
        </p:txBody>
      </p:sp>
      <p:pic>
        <p:nvPicPr>
          <p:cNvPr id="4" name="Image 0" descr="connector"/>
          <p:cNvPicPr>
            <a:picLocks noChangeAspect="1"/>
          </p:cNvPicPr>
          <p:nvPr/>
        </p:nvPicPr>
        <p:blipFill>
          <a:blip r:embed="rId3"/>
          <a:srcRect/>
          <a:stretch/>
        </p:blipFill>
        <p:spPr>
          <a:xfrm>
            <a:off x="1555750" y="3079750"/>
            <a:ext cx="1968500" cy="190500"/>
          </a:xfrm>
          <a:prstGeom prst="rect">
            <a:avLst/>
          </a:prstGeom>
        </p:spPr>
      </p:pic>
      <p:pic>
        <p:nvPicPr>
          <p:cNvPr id="5" name="Image 1" descr="connector"/>
          <p:cNvPicPr>
            <a:picLocks noChangeAspect="1"/>
          </p:cNvPicPr>
          <p:nvPr/>
        </p:nvPicPr>
        <p:blipFill>
          <a:blip r:embed="rId3"/>
          <a:srcRect/>
          <a:stretch/>
        </p:blipFill>
        <p:spPr>
          <a:xfrm>
            <a:off x="3333750" y="3079750"/>
            <a:ext cx="1968500" cy="190500"/>
          </a:xfrm>
          <a:prstGeom prst="rect">
            <a:avLst/>
          </a:prstGeom>
        </p:spPr>
      </p:pic>
      <p:pic>
        <p:nvPicPr>
          <p:cNvPr id="6" name="Image 2" descr="connector"/>
          <p:cNvPicPr>
            <a:picLocks noChangeAspect="1"/>
          </p:cNvPicPr>
          <p:nvPr/>
        </p:nvPicPr>
        <p:blipFill>
          <a:blip r:embed="rId4"/>
          <a:srcRect/>
          <a:stretch/>
        </p:blipFill>
        <p:spPr>
          <a:xfrm>
            <a:off x="5143500" y="2235200"/>
            <a:ext cx="127000" cy="584200"/>
          </a:xfrm>
          <a:prstGeom prst="rect">
            <a:avLst/>
          </a:prstGeom>
        </p:spPr>
      </p:pic>
      <p:pic>
        <p:nvPicPr>
          <p:cNvPr id="7" name="Image 3" descr="connector"/>
          <p:cNvPicPr>
            <a:picLocks noChangeAspect="1"/>
          </p:cNvPicPr>
          <p:nvPr/>
        </p:nvPicPr>
        <p:blipFill>
          <a:blip r:embed="rId5"/>
          <a:srcRect/>
          <a:stretch/>
        </p:blipFill>
        <p:spPr>
          <a:xfrm>
            <a:off x="4254500" y="2070100"/>
            <a:ext cx="482600" cy="127000"/>
          </a:xfrm>
          <a:prstGeom prst="rect">
            <a:avLst/>
          </a:prstGeom>
        </p:spPr>
      </p:pic>
      <p:pic>
        <p:nvPicPr>
          <p:cNvPr id="8" name="Image 4" descr="connector"/>
          <p:cNvPicPr>
            <a:picLocks noChangeAspect="1"/>
          </p:cNvPicPr>
          <p:nvPr/>
        </p:nvPicPr>
        <p:blipFill>
          <a:blip r:embed="rId6"/>
          <a:srcRect/>
          <a:stretch/>
        </p:blipFill>
        <p:spPr>
          <a:xfrm>
            <a:off x="5562600" y="3111500"/>
            <a:ext cx="723900" cy="127000"/>
          </a:xfrm>
          <a:prstGeom prst="rect">
            <a:avLst/>
          </a:prstGeom>
        </p:spPr>
      </p:pic>
      <p:sp>
        <p:nvSpPr>
          <p:cNvPr id="9" name="Text 2"/>
          <p:cNvSpPr/>
          <p:nvPr/>
        </p:nvSpPr>
        <p:spPr>
          <a:xfrm>
            <a:off x="1270000" y="2794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C0</a:t>
            </a:r>
            <a:endParaRPr lang="en-US" sz="1500" dirty="0"/>
          </a:p>
        </p:txBody>
      </p:sp>
      <p:sp>
        <p:nvSpPr>
          <p:cNvPr id="10" name="Text 3"/>
          <p:cNvSpPr/>
          <p:nvPr/>
        </p:nvSpPr>
        <p:spPr>
          <a:xfrm>
            <a:off x="3048000" y="2794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11" name="Text 4"/>
          <p:cNvSpPr/>
          <p:nvPr/>
        </p:nvSpPr>
        <p:spPr>
          <a:xfrm>
            <a:off x="4826000" y="2794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C2</a:t>
            </a:r>
            <a:endParaRPr lang="en-US" sz="1500" dirty="0"/>
          </a:p>
        </p:txBody>
      </p:sp>
      <p:sp>
        <p:nvSpPr>
          <p:cNvPr id="12" name="Text 5"/>
          <p:cNvSpPr/>
          <p:nvPr/>
        </p:nvSpPr>
        <p:spPr>
          <a:xfrm>
            <a:off x="4699000" y="19685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3" name="Text 6"/>
          <p:cNvSpPr/>
          <p:nvPr/>
        </p:nvSpPr>
        <p:spPr>
          <a:xfrm>
            <a:off x="3492500" y="19685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7A46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HEAD</a:t>
            </a:r>
            <a:endParaRPr lang="en-US" sz="1300" dirty="0"/>
          </a:p>
        </p:txBody>
      </p:sp>
      <p:sp>
        <p:nvSpPr>
          <p:cNvPr id="14" name="Text 7"/>
          <p:cNvSpPr/>
          <p:nvPr/>
        </p:nvSpPr>
        <p:spPr>
          <a:xfrm>
            <a:off x="6223000" y="30099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test</a:t>
            </a:r>
            <a:endParaRPr lang="en-US" sz="1300" dirty="0"/>
          </a:p>
        </p:txBody>
      </p:sp>
      <p:sp>
        <p:nvSpPr>
          <p:cNvPr id="15" name="Text 8"/>
          <p:cNvSpPr/>
          <p:nvPr/>
        </p:nvSpPr>
        <p:spPr>
          <a:xfrm>
            <a:off x="2768600" y="36576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70c500a</a:t>
            </a:r>
            <a:endParaRPr lang="en-US" sz="1300" dirty="0"/>
          </a:p>
        </p:txBody>
      </p:sp>
      <p:sp>
        <p:nvSpPr>
          <p:cNvPr id="16" name="Text 9"/>
          <p:cNvSpPr/>
          <p:nvPr/>
        </p:nvSpPr>
        <p:spPr>
          <a:xfrm>
            <a:off x="4546600" y="36576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a1b2c3d</a:t>
            </a:r>
            <a:endParaRPr lang="en-US" sz="1300" dirty="0"/>
          </a:p>
        </p:txBody>
      </p:sp>
      <p:sp>
        <p:nvSpPr>
          <p:cNvPr id="17" name="Text 10"/>
          <p:cNvSpPr/>
          <p:nvPr/>
        </p:nvSpPr>
        <p:spPr>
          <a:xfrm>
            <a:off x="1016000" y="4318000"/>
            <a:ext cx="6278880"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02C"/>
                </a:solidFill>
                <a:latin typeface="IBM Plex Sans" pitchFamily="34" charset="0"/>
                <a:ea typeface="IBM Plex Sans" pitchFamily="34" charset="-122"/>
                <a:cs typeface="IBM Plex Sans" pitchFamily="34" charset="-120"/>
              </a:rPr>
              <a:t>Yeni commit yok, hash değişmedi.</a:t>
            </a:r>
            <a:r>
              <a:rPr lang="en-US" sz="1500" dirty="0">
                <a:solidFill>
                  <a:srgbClr val="16202C"/>
                </a:solidFill>
                <a:latin typeface="IBM Plex Sans" pitchFamily="34" charset="0"/>
                <a:ea typeface="IBM Plex Sans" pitchFamily="34" charset="-122"/>
                <a:cs typeface="IBM Plex Sans" pitchFamily="34" charset="-120"/>
              </a:rPr>
              <a:t> master ve test artık aynı commit'i gösteriyor.</a:t>
            </a:r>
            <a:endParaRPr lang="en-US" sz="1500" dirty="0"/>
          </a:p>
        </p:txBody>
      </p:sp>
      <p:sp>
        <p:nvSpPr>
          <p:cNvPr id="18" name="Shape 11"/>
          <p:cNvSpPr/>
          <p:nvPr/>
        </p:nvSpPr>
        <p:spPr>
          <a:xfrm>
            <a:off x="7620000" y="1968500"/>
            <a:ext cx="3759200" cy="2261691"/>
          </a:xfrm>
          <a:prstGeom prst="roundRect">
            <a:avLst>
              <a:gd name="adj" fmla="val 5615"/>
            </a:avLst>
          </a:prstGeom>
          <a:solidFill>
            <a:srgbClr val="16202C"/>
          </a:solidFill>
          <a:ln/>
        </p:spPr>
      </p:sp>
      <p:sp>
        <p:nvSpPr>
          <p:cNvPr id="19" name="Text 12"/>
          <p:cNvSpPr/>
          <p:nvPr/>
        </p:nvSpPr>
        <p:spPr>
          <a:xfrm>
            <a:off x="7874000" y="2222500"/>
            <a:ext cx="334873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TERMİNAL ÇIKTISI</a:t>
            </a:r>
            <a:endParaRPr lang="en-US" sz="1300" dirty="0"/>
          </a:p>
        </p:txBody>
      </p:sp>
      <p:sp>
        <p:nvSpPr>
          <p:cNvPr id="20" name="Text 13"/>
          <p:cNvSpPr/>
          <p:nvPr/>
        </p:nvSpPr>
        <p:spPr>
          <a:xfrm>
            <a:off x="7874000" y="2555180"/>
            <a:ext cx="3348736"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Updating 70c500a..a1b2c3d</a:t>
            </a:r>
            <a:endParaRPr lang="en-US" sz="1500" dirty="0"/>
          </a:p>
          <a:p>
            <a:pPr marL="0" indent="0" algn="l">
              <a:lnSpc>
                <a:spcPts val="2250"/>
              </a:lnSpc>
              <a:buNone/>
            </a:pPr>
            <a:r>
              <a:rPr lang="en-US" sz="1500" dirty="0">
                <a:solidFill>
                  <a:srgbClr val="F7A46B"/>
                </a:solidFill>
                <a:latin typeface="JetBrains Mono" pitchFamily="34" charset="0"/>
                <a:ea typeface="JetBrains Mono" pitchFamily="34" charset="-122"/>
                <a:cs typeface="JetBrains Mono" pitchFamily="34" charset="-120"/>
              </a:rPr>
              <a:t>Fast-forward</a:t>
            </a:r>
            <a:endParaRPr lang="en-US" sz="1500" dirty="0"/>
          </a:p>
          <a:p>
            <a:pPr marL="0" indent="0" algn="l">
              <a:lnSpc>
                <a:spcPts val="2250"/>
              </a:lnSpc>
              <a:buNone/>
            </a:pPr>
            <a:r>
              <a:rPr lang="en-US" sz="1500" dirty="0">
                <a:solidFill>
                  <a:srgbClr val="9AA7B6"/>
                </a:solidFill>
                <a:latin typeface="JetBrains Mono" pitchFamily="34" charset="0"/>
                <a:ea typeface="JetBrains Mono" pitchFamily="34" charset="-122"/>
                <a:cs typeface="JetBrains Mono" pitchFamily="34" charset="-120"/>
              </a:rPr>
              <a:t>ff-dosya.txt | 1 +</a:t>
            </a:r>
            <a:endParaRPr lang="en-US" sz="1500" dirty="0"/>
          </a:p>
        </p:txBody>
      </p:sp>
      <p:sp>
        <p:nvSpPr>
          <p:cNvPr id="21" name="Text 14"/>
          <p:cNvSpPr/>
          <p:nvPr/>
        </p:nvSpPr>
        <p:spPr>
          <a:xfrm>
            <a:off x="7874000" y="3514030"/>
            <a:ext cx="334873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4D1"/>
                </a:solidFill>
                <a:latin typeface="IBM Plex Sans" pitchFamily="34" charset="0"/>
                <a:ea typeface="IBM Plex Sans" pitchFamily="34" charset="-122"/>
                <a:cs typeface="IBM Plex Sans" pitchFamily="34" charset="-120"/>
              </a:rPr>
              <a:t>Çıktıdaki "Fast-forward" kelimesi, hangi tip merge yaşandığının imzasıdır.</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4EE"/>
        </a:solidFill>
        <a:effectLst/>
      </p:bgPr>
    </p:bg>
    <p:spTree>
      <p:nvGrpSpPr>
        <p:cNvPr id="1" name=""/>
        <p:cNvGrpSpPr/>
        <p:nvPr/>
      </p:nvGrpSpPr>
      <p:grpSpPr>
        <a:xfrm>
          <a:off x="0" y="0"/>
          <a:ext cx="0" cy="0"/>
          <a:chOff x="0" y="0"/>
          <a:chExt cx="0" cy="0"/>
        </a:xfrm>
      </p:grpSpPr>
      <p:pic>
        <p:nvPicPr>
          <p:cNvPr id="2" name="Image 0" descr="Play"/>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877820"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CANLI DEMO · FAST-FORWARD</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Terminalde birlikte yapalım</a:t>
            </a:r>
            <a:endParaRPr lang="en-US" sz="3600" dirty="0"/>
          </a:p>
        </p:txBody>
      </p:sp>
      <p:sp>
        <p:nvSpPr>
          <p:cNvPr id="5" name="Text 2"/>
          <p:cNvSpPr/>
          <p:nvPr/>
        </p:nvSpPr>
        <p:spPr>
          <a:xfrm>
            <a:off x="812800" y="1953121"/>
            <a:ext cx="6421140" cy="2978150"/>
          </a:xfrm>
          <a:prstGeom prst="roundRect">
            <a:avLst>
              <a:gd name="adj" fmla="val 3412"/>
            </a:avLst>
          </a:prstGeom>
          <a:solidFill>
            <a:srgbClr val="16202C"/>
          </a:solidFill>
          <a:ln/>
        </p:spPr>
        <p:txBody>
          <a:bodyPr wrap="square" lIns="224242" tIns="173442" rIns="46848" bIns="148042" rtlCol="0" anchor="t">
            <a:normAutofit/>
          </a:bodyPr>
          <a:lstStyle/>
          <a:p>
            <a:pPr marL="0" indent="0" algn="l">
              <a:lnSpc>
                <a:spcPts val="2250"/>
              </a:lnSpc>
              <a:buNone/>
            </a:pPr>
            <a:r>
              <a:rPr lang="en-US" sz="1500" dirty="0">
                <a:solidFill>
                  <a:srgbClr val="9AA7B6"/>
                </a:solidFill>
                <a:latin typeface="JetBrains Mono" pitchFamily="34" charset="0"/>
                <a:ea typeface="JetBrains Mono" pitchFamily="34" charset="-122"/>
                <a:cs typeface="JetBrains Mono" pitchFamily="34" charset="-120"/>
              </a:rPr>
              <a:t># 1. test dalında dosya ekle</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switch -c test</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echo "FF için dosya" &gt; ff-dosya.txt</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add ff-dosya.txt</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commit -m </a:t>
            </a:r>
            <a:r>
              <a:rPr lang="en-US" sz="1500" dirty="0">
                <a:solidFill>
                  <a:srgbClr val="F7A46B"/>
                </a:solidFill>
                <a:latin typeface="JetBrains Mono" pitchFamily="34" charset="0"/>
                <a:ea typeface="JetBrains Mono" pitchFamily="34" charset="-122"/>
                <a:cs typeface="JetBrains Mono" pitchFamily="34" charset="-120"/>
              </a:rPr>
              <a:t>"feat: ff-dosya eklendi"</a:t>
            </a:r>
            <a:endParaRPr lang="en-US" sz="1500" dirty="0"/>
          </a:p>
          <a:p>
            <a:pPr marL="0" indent="0" algn="l">
              <a:lnSpc>
                <a:spcPts val="2250"/>
              </a:lnSpc>
              <a:buNone/>
            </a:pPr>
            <a:r>
              <a:rPr lang="en-US" sz="1500" dirty="0">
                <a:solidFill>
                  <a:srgbClr val="9AA7B6"/>
                </a:solidFill>
                <a:latin typeface="JetBrains Mono" pitchFamily="34" charset="0"/>
                <a:ea typeface="JetBrains Mono" pitchFamily="34" charset="-122"/>
                <a:cs typeface="JetBrains Mono" pitchFamily="34" charset="-120"/>
              </a:rPr>
              <a:t># 2. master'a dön, ona dokunma!</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switch master</a:t>
            </a:r>
            <a:endParaRPr lang="en-US" sz="1500" dirty="0"/>
          </a:p>
          <a:p>
            <a:pPr marL="0" indent="0" algn="l">
              <a:lnSpc>
                <a:spcPts val="2250"/>
              </a:lnSpc>
              <a:buNone/>
            </a:pPr>
            <a:r>
              <a:rPr lang="en-US" sz="1500" dirty="0">
                <a:solidFill>
                  <a:srgbClr val="9AA7B6"/>
                </a:solidFill>
                <a:latin typeface="JetBrains Mono" pitchFamily="34" charset="0"/>
                <a:ea typeface="JetBrains Mono" pitchFamily="34" charset="-122"/>
                <a:cs typeface="JetBrains Mono" pitchFamily="34" charset="-120"/>
              </a:rPr>
              <a:t># 3. birleştir</a:t>
            </a:r>
            <a:endParaRPr lang="en-US" sz="1500" dirty="0"/>
          </a:p>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merge test</a:t>
            </a:r>
            <a:endParaRPr lang="en-US" sz="1500" dirty="0"/>
          </a:p>
        </p:txBody>
      </p:sp>
      <p:sp>
        <p:nvSpPr>
          <p:cNvPr id="6" name="Shape 3"/>
          <p:cNvSpPr/>
          <p:nvPr/>
        </p:nvSpPr>
        <p:spPr>
          <a:xfrm>
            <a:off x="7437140" y="1953121"/>
            <a:ext cx="3942060" cy="1266130"/>
          </a:xfrm>
          <a:prstGeom prst="roundRect">
            <a:avLst>
              <a:gd name="adj" fmla="val 10031"/>
            </a:avLst>
          </a:prstGeom>
          <a:solidFill>
            <a:srgbClr val="FBE9DC"/>
          </a:solidFill>
          <a:ln/>
        </p:spPr>
      </p:sp>
      <p:pic>
        <p:nvPicPr>
          <p:cNvPr id="7" name="Image 1" descr="Warning"/>
          <p:cNvPicPr>
            <a:picLocks noChangeAspect="1"/>
          </p:cNvPicPr>
          <p:nvPr/>
        </p:nvPicPr>
        <p:blipFill>
          <a:blip r:embed="rId4"/>
          <a:srcRect/>
          <a:stretch/>
        </p:blipFill>
        <p:spPr>
          <a:xfrm>
            <a:off x="7640340" y="2157512"/>
            <a:ext cx="228600" cy="228600"/>
          </a:xfrm>
          <a:prstGeom prst="rect">
            <a:avLst/>
          </a:prstGeom>
        </p:spPr>
      </p:pic>
      <p:sp>
        <p:nvSpPr>
          <p:cNvPr id="8" name="Text 4"/>
          <p:cNvSpPr/>
          <p:nvPr/>
        </p:nvSpPr>
        <p:spPr>
          <a:xfrm>
            <a:off x="7945140" y="2156321"/>
            <a:ext cx="5461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TUZAK</a:t>
            </a:r>
            <a:endParaRPr lang="en-US" sz="1300" dirty="0"/>
          </a:p>
        </p:txBody>
      </p:sp>
      <p:sp>
        <p:nvSpPr>
          <p:cNvPr id="9" name="Text 5"/>
          <p:cNvSpPr/>
          <p:nvPr/>
        </p:nvSpPr>
        <p:spPr>
          <a:xfrm>
            <a:off x="7640340" y="2463602"/>
            <a:ext cx="364173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02C"/>
                </a:solidFill>
                <a:latin typeface="IBM Plex Sans" pitchFamily="34" charset="0"/>
                <a:ea typeface="IBM Plex Sans" pitchFamily="34" charset="-122"/>
                <a:cs typeface="IBM Plex Sans" pitchFamily="34" charset="-120"/>
              </a:rPr>
              <a:t>2. adımda master'a tek bir commit bile atılırsa FF olmaz, 3-way merge olur.</a:t>
            </a:r>
            <a:endParaRPr lang="en-US" sz="1500" dirty="0"/>
          </a:p>
        </p:txBody>
      </p:sp>
      <p:sp>
        <p:nvSpPr>
          <p:cNvPr id="10" name="Shape 6"/>
          <p:cNvSpPr/>
          <p:nvPr/>
        </p:nvSpPr>
        <p:spPr>
          <a:xfrm>
            <a:off x="7443490" y="3378002"/>
            <a:ext cx="3929360" cy="1281311"/>
          </a:xfrm>
          <a:prstGeom prst="roundRect">
            <a:avLst>
              <a:gd name="adj" fmla="val 9416"/>
            </a:avLst>
          </a:prstGeom>
          <a:solidFill>
            <a:srgbClr val="FDFCF9"/>
          </a:solidFill>
          <a:ln w="12700">
            <a:solidFill>
              <a:srgbClr val="E2DDD0"/>
            </a:solidFill>
            <a:prstDash val="solid"/>
          </a:ln>
        </p:spPr>
      </p:sp>
      <p:sp>
        <p:nvSpPr>
          <p:cNvPr id="11" name="Text 7"/>
          <p:cNvSpPr/>
          <p:nvPr/>
        </p:nvSpPr>
        <p:spPr>
          <a:xfrm>
            <a:off x="7653040" y="3587552"/>
            <a:ext cx="361556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KONTROL</a:t>
            </a:r>
            <a:endParaRPr lang="en-US" sz="1300" dirty="0"/>
          </a:p>
        </p:txBody>
      </p:sp>
      <p:sp>
        <p:nvSpPr>
          <p:cNvPr id="12" name="Text 8"/>
          <p:cNvSpPr/>
          <p:nvPr/>
        </p:nvSpPr>
        <p:spPr>
          <a:xfrm>
            <a:off x="7653040" y="3894832"/>
            <a:ext cx="361556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log --oneline --graph</a:t>
            </a:r>
            <a:endParaRPr lang="en-US" sz="1300" dirty="0"/>
          </a:p>
        </p:txBody>
      </p:sp>
      <p:sp>
        <p:nvSpPr>
          <p:cNvPr id="13" name="Text 9"/>
          <p:cNvSpPr/>
          <p:nvPr/>
        </p:nvSpPr>
        <p:spPr>
          <a:xfrm>
            <a:off x="7653040" y="4218682"/>
            <a:ext cx="361556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Çatal yok, düz çizgi.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MERGE TİPİ 2 · 3-WAY MERGE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Önce: iki yol ayrıldı</a:t>
            </a:r>
            <a:endParaRPr lang="en-US" sz="3600" dirty="0"/>
          </a:p>
        </p:txBody>
      </p:sp>
      <p:pic>
        <p:nvPicPr>
          <p:cNvPr id="4" name="Image 0" descr="connector"/>
          <p:cNvPicPr>
            <a:picLocks noChangeAspect="1"/>
          </p:cNvPicPr>
          <p:nvPr/>
        </p:nvPicPr>
        <p:blipFill>
          <a:blip r:embed="rId3"/>
          <a:srcRect/>
          <a:stretch/>
        </p:blipFill>
        <p:spPr>
          <a:xfrm>
            <a:off x="1809750" y="2762250"/>
            <a:ext cx="2222500" cy="1079500"/>
          </a:xfrm>
          <a:prstGeom prst="rect">
            <a:avLst/>
          </a:prstGeom>
        </p:spPr>
      </p:pic>
      <p:pic>
        <p:nvPicPr>
          <p:cNvPr id="5" name="Image 1" descr="connector"/>
          <p:cNvPicPr>
            <a:picLocks noChangeAspect="1"/>
          </p:cNvPicPr>
          <p:nvPr/>
        </p:nvPicPr>
        <p:blipFill>
          <a:blip r:embed="rId4"/>
          <a:srcRect/>
          <a:stretch/>
        </p:blipFill>
        <p:spPr>
          <a:xfrm>
            <a:off x="1809750" y="3651250"/>
            <a:ext cx="2222500" cy="1079500"/>
          </a:xfrm>
          <a:prstGeom prst="rect">
            <a:avLst/>
          </a:prstGeom>
        </p:spPr>
      </p:pic>
      <p:pic>
        <p:nvPicPr>
          <p:cNvPr id="6" name="Image 2" descr="connector"/>
          <p:cNvPicPr>
            <a:picLocks noChangeAspect="1"/>
          </p:cNvPicPr>
          <p:nvPr/>
        </p:nvPicPr>
        <p:blipFill>
          <a:blip r:embed="rId5"/>
          <a:srcRect/>
          <a:stretch/>
        </p:blipFill>
        <p:spPr>
          <a:xfrm>
            <a:off x="3873500" y="2108200"/>
            <a:ext cx="127000" cy="406400"/>
          </a:xfrm>
          <a:prstGeom prst="rect">
            <a:avLst/>
          </a:prstGeom>
        </p:spPr>
      </p:pic>
      <p:pic>
        <p:nvPicPr>
          <p:cNvPr id="7" name="Image 3" descr="connector"/>
          <p:cNvPicPr>
            <a:picLocks noChangeAspect="1"/>
          </p:cNvPicPr>
          <p:nvPr/>
        </p:nvPicPr>
        <p:blipFill>
          <a:blip r:embed="rId6"/>
          <a:srcRect/>
          <a:stretch/>
        </p:blipFill>
        <p:spPr>
          <a:xfrm>
            <a:off x="3873500" y="4978400"/>
            <a:ext cx="127000" cy="355600"/>
          </a:xfrm>
          <a:prstGeom prst="rect">
            <a:avLst/>
          </a:prstGeom>
        </p:spPr>
      </p:pic>
      <p:sp>
        <p:nvSpPr>
          <p:cNvPr id="8" name="Text 2"/>
          <p:cNvSpPr/>
          <p:nvPr/>
        </p:nvSpPr>
        <p:spPr>
          <a:xfrm>
            <a:off x="1524000" y="33655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A</a:t>
            </a:r>
            <a:endParaRPr lang="en-US" sz="1500" dirty="0"/>
          </a:p>
        </p:txBody>
      </p:sp>
      <p:sp>
        <p:nvSpPr>
          <p:cNvPr id="9" name="Text 3"/>
          <p:cNvSpPr/>
          <p:nvPr/>
        </p:nvSpPr>
        <p:spPr>
          <a:xfrm>
            <a:off x="3556000" y="24765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B</a:t>
            </a:r>
            <a:endParaRPr lang="en-US" sz="1500" dirty="0"/>
          </a:p>
        </p:txBody>
      </p:sp>
      <p:sp>
        <p:nvSpPr>
          <p:cNvPr id="10" name="Text 4"/>
          <p:cNvSpPr/>
          <p:nvPr/>
        </p:nvSpPr>
        <p:spPr>
          <a:xfrm>
            <a:off x="3556000" y="42545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T</a:t>
            </a:r>
            <a:endParaRPr lang="en-US" sz="1500" dirty="0"/>
          </a:p>
        </p:txBody>
      </p:sp>
      <p:sp>
        <p:nvSpPr>
          <p:cNvPr id="11" name="Text 5"/>
          <p:cNvSpPr/>
          <p:nvPr/>
        </p:nvSpPr>
        <p:spPr>
          <a:xfrm>
            <a:off x="3429000" y="18415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2" name="Text 6"/>
          <p:cNvSpPr/>
          <p:nvPr/>
        </p:nvSpPr>
        <p:spPr>
          <a:xfrm>
            <a:off x="3524250" y="52705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test</a:t>
            </a:r>
            <a:endParaRPr lang="en-US" sz="1300" dirty="0"/>
          </a:p>
        </p:txBody>
      </p:sp>
      <p:sp>
        <p:nvSpPr>
          <p:cNvPr id="13" name="Text 7"/>
          <p:cNvSpPr/>
          <p:nvPr/>
        </p:nvSpPr>
        <p:spPr>
          <a:xfrm>
            <a:off x="989330" y="4254500"/>
            <a:ext cx="183134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1 · ortak ata</a:t>
            </a:r>
            <a:endParaRPr lang="en-US" sz="1300" dirty="0"/>
          </a:p>
        </p:txBody>
      </p:sp>
      <p:sp>
        <p:nvSpPr>
          <p:cNvPr id="14" name="Text 8"/>
          <p:cNvSpPr/>
          <p:nvPr/>
        </p:nvSpPr>
        <p:spPr>
          <a:xfrm>
            <a:off x="4508500" y="2743200"/>
            <a:ext cx="215836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2 · master'ın ucu</a:t>
            </a:r>
            <a:endParaRPr lang="en-US" sz="1300" dirty="0"/>
          </a:p>
        </p:txBody>
      </p:sp>
      <p:sp>
        <p:nvSpPr>
          <p:cNvPr id="15" name="Text 9"/>
          <p:cNvSpPr/>
          <p:nvPr/>
        </p:nvSpPr>
        <p:spPr>
          <a:xfrm>
            <a:off x="4508500" y="4521200"/>
            <a:ext cx="215836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3 · test'in ucu</a:t>
            </a:r>
            <a:endParaRPr lang="en-US" sz="1300" dirty="0"/>
          </a:p>
        </p:txBody>
      </p:sp>
      <p:sp>
        <p:nvSpPr>
          <p:cNvPr id="16" name="Shape 10"/>
          <p:cNvSpPr/>
          <p:nvPr/>
        </p:nvSpPr>
        <p:spPr>
          <a:xfrm>
            <a:off x="6991350" y="1847850"/>
            <a:ext cx="4381500" cy="2466280"/>
          </a:xfrm>
          <a:prstGeom prst="roundRect">
            <a:avLst>
              <a:gd name="adj" fmla="val 4892"/>
            </a:avLst>
          </a:prstGeom>
          <a:solidFill>
            <a:srgbClr val="FDFCF9"/>
          </a:solidFill>
          <a:ln w="12700">
            <a:solidFill>
              <a:srgbClr val="E2DDD0"/>
            </a:solidFill>
            <a:prstDash val="solid"/>
          </a:ln>
        </p:spPr>
      </p:sp>
      <p:sp>
        <p:nvSpPr>
          <p:cNvPr id="17" name="Text 11"/>
          <p:cNvSpPr/>
          <p:nvPr/>
        </p:nvSpPr>
        <p:spPr>
          <a:xfrm>
            <a:off x="7251700" y="2108200"/>
            <a:ext cx="39766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SORU: MASTER İLERLEDİ Mİ?</a:t>
            </a:r>
            <a:endParaRPr lang="en-US" sz="1300" dirty="0"/>
          </a:p>
        </p:txBody>
      </p:sp>
      <p:sp>
        <p:nvSpPr>
          <p:cNvPr id="18" name="Text 12"/>
          <p:cNvSpPr/>
          <p:nvPr/>
        </p:nvSpPr>
        <p:spPr>
          <a:xfrm>
            <a:off x="7251700" y="2440880"/>
            <a:ext cx="397662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Evet. Dallar ayrıştı (diverged).</a:t>
            </a:r>
            <a:endParaRPr lang="en-US" sz="2000" dirty="0"/>
          </a:p>
        </p:txBody>
      </p:sp>
      <p:sp>
        <p:nvSpPr>
          <p:cNvPr id="19" name="Text 13"/>
          <p:cNvSpPr/>
          <p:nvPr/>
        </p:nvSpPr>
        <p:spPr>
          <a:xfrm>
            <a:off x="7251700" y="2847280"/>
            <a:ext cx="3976624"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Etiketi kaydırmak B'yi kaybettirir. Git bu yüzden üç noktayı karşılaştırır:</a:t>
            </a:r>
            <a:endParaRPr lang="en-US" sz="1500" dirty="0"/>
          </a:p>
        </p:txBody>
      </p:sp>
      <p:sp>
        <p:nvSpPr>
          <p:cNvPr id="20" name="Text 14"/>
          <p:cNvSpPr/>
          <p:nvPr/>
        </p:nvSpPr>
        <p:spPr>
          <a:xfrm>
            <a:off x="7251700" y="3501330"/>
            <a:ext cx="3976624"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02C"/>
                </a:solidFill>
                <a:latin typeface="IBM Plex Sans" pitchFamily="34" charset="0"/>
                <a:ea typeface="IBM Plex Sans" pitchFamily="34" charset="-122"/>
                <a:cs typeface="IBM Plex Sans" pitchFamily="34" charset="-120"/>
              </a:rPr>
              <a:t>1</a:t>
            </a:r>
            <a:r>
              <a:rPr lang="en-US" sz="1500" dirty="0">
                <a:solidFill>
                  <a:srgbClr val="16202C"/>
                </a:solidFill>
                <a:latin typeface="IBM Plex Sans" pitchFamily="34" charset="0"/>
                <a:ea typeface="IBM Plex Sans" pitchFamily="34" charset="-122"/>
                <a:cs typeface="IBM Plex Sans" pitchFamily="34" charset="-120"/>
              </a:rPr>
              <a:t> ortak ata · </a:t>
            </a:r>
            <a:r>
              <a:rPr lang="en-US" sz="1500" b="1" dirty="0">
                <a:solidFill>
                  <a:srgbClr val="16202C"/>
                </a:solidFill>
                <a:latin typeface="IBM Plex Sans" pitchFamily="34" charset="0"/>
                <a:ea typeface="IBM Plex Sans" pitchFamily="34" charset="-122"/>
                <a:cs typeface="IBM Plex Sans" pitchFamily="34" charset="-120"/>
              </a:rPr>
              <a:t>2</a:t>
            </a:r>
            <a:r>
              <a:rPr lang="en-US" sz="1500" dirty="0">
                <a:solidFill>
                  <a:srgbClr val="16202C"/>
                </a:solidFill>
                <a:latin typeface="IBM Plex Sans" pitchFamily="34" charset="0"/>
                <a:ea typeface="IBM Plex Sans" pitchFamily="34" charset="-122"/>
                <a:cs typeface="IBM Plex Sans" pitchFamily="34" charset="-120"/>
              </a:rPr>
              <a:t> master'ın son hali · </a:t>
            </a:r>
            <a:r>
              <a:rPr lang="en-US" sz="1500" b="1" dirty="0">
                <a:solidFill>
                  <a:srgbClr val="16202C"/>
                </a:solidFill>
                <a:latin typeface="IBM Plex Sans" pitchFamily="34" charset="0"/>
                <a:ea typeface="IBM Plex Sans" pitchFamily="34" charset="-122"/>
                <a:cs typeface="IBM Plex Sans" pitchFamily="34" charset="-120"/>
              </a:rPr>
              <a:t>3</a:t>
            </a:r>
            <a:r>
              <a:rPr lang="en-US" sz="1500" dirty="0">
                <a:solidFill>
                  <a:srgbClr val="16202C"/>
                </a:solidFill>
                <a:latin typeface="IBM Plex Sans" pitchFamily="34" charset="0"/>
                <a:ea typeface="IBM Plex Sans" pitchFamily="34" charset="-122"/>
                <a:cs typeface="IBM Plex Sans" pitchFamily="34" charset="-120"/>
              </a:rPr>
              <a:t> test'in son hali</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MERGE TİPİ 2 · 3-WAY MERGE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Sonra: iki parent'lı merge commit</a:t>
            </a:r>
            <a:endParaRPr lang="en-US" sz="3600" dirty="0"/>
          </a:p>
        </p:txBody>
      </p:sp>
      <p:pic>
        <p:nvPicPr>
          <p:cNvPr id="4" name="Image 0" descr="connector"/>
          <p:cNvPicPr>
            <a:picLocks noChangeAspect="1"/>
          </p:cNvPicPr>
          <p:nvPr/>
        </p:nvPicPr>
        <p:blipFill>
          <a:blip r:embed="rId3"/>
          <a:srcRect/>
          <a:stretch/>
        </p:blipFill>
        <p:spPr>
          <a:xfrm>
            <a:off x="1809750" y="2762250"/>
            <a:ext cx="2222500" cy="1079500"/>
          </a:xfrm>
          <a:prstGeom prst="rect">
            <a:avLst/>
          </a:prstGeom>
        </p:spPr>
      </p:pic>
      <p:pic>
        <p:nvPicPr>
          <p:cNvPr id="5" name="Image 1" descr="connector"/>
          <p:cNvPicPr>
            <a:picLocks noChangeAspect="1"/>
          </p:cNvPicPr>
          <p:nvPr/>
        </p:nvPicPr>
        <p:blipFill>
          <a:blip r:embed="rId4"/>
          <a:srcRect/>
          <a:stretch/>
        </p:blipFill>
        <p:spPr>
          <a:xfrm>
            <a:off x="1809750" y="3651250"/>
            <a:ext cx="2222500" cy="1079500"/>
          </a:xfrm>
          <a:prstGeom prst="rect">
            <a:avLst/>
          </a:prstGeom>
        </p:spPr>
      </p:pic>
      <p:pic>
        <p:nvPicPr>
          <p:cNvPr id="6" name="Image 2" descr="connector"/>
          <p:cNvPicPr>
            <a:picLocks noChangeAspect="1"/>
          </p:cNvPicPr>
          <p:nvPr/>
        </p:nvPicPr>
        <p:blipFill>
          <a:blip r:embed="rId5"/>
          <a:srcRect/>
          <a:stretch/>
        </p:blipFill>
        <p:spPr>
          <a:xfrm>
            <a:off x="3841750" y="2762250"/>
            <a:ext cx="2222500" cy="1079500"/>
          </a:xfrm>
          <a:prstGeom prst="rect">
            <a:avLst/>
          </a:prstGeom>
        </p:spPr>
      </p:pic>
      <p:pic>
        <p:nvPicPr>
          <p:cNvPr id="7" name="Image 3" descr="connector"/>
          <p:cNvPicPr>
            <a:picLocks noChangeAspect="1"/>
          </p:cNvPicPr>
          <p:nvPr/>
        </p:nvPicPr>
        <p:blipFill>
          <a:blip r:embed="rId6"/>
          <a:srcRect/>
          <a:stretch/>
        </p:blipFill>
        <p:spPr>
          <a:xfrm>
            <a:off x="3841750" y="3651250"/>
            <a:ext cx="2222500" cy="1079500"/>
          </a:xfrm>
          <a:prstGeom prst="rect">
            <a:avLst/>
          </a:prstGeom>
        </p:spPr>
      </p:pic>
      <p:pic>
        <p:nvPicPr>
          <p:cNvPr id="8" name="Image 4" descr="connector"/>
          <p:cNvPicPr>
            <a:picLocks noChangeAspect="1"/>
          </p:cNvPicPr>
          <p:nvPr/>
        </p:nvPicPr>
        <p:blipFill>
          <a:blip r:embed="rId7"/>
          <a:srcRect/>
          <a:stretch/>
        </p:blipFill>
        <p:spPr>
          <a:xfrm>
            <a:off x="5905500" y="2997200"/>
            <a:ext cx="127000" cy="406400"/>
          </a:xfrm>
          <a:prstGeom prst="rect">
            <a:avLst/>
          </a:prstGeom>
        </p:spPr>
      </p:pic>
      <p:pic>
        <p:nvPicPr>
          <p:cNvPr id="9" name="Image 5" descr="connector"/>
          <p:cNvPicPr>
            <a:picLocks noChangeAspect="1"/>
          </p:cNvPicPr>
          <p:nvPr/>
        </p:nvPicPr>
        <p:blipFill>
          <a:blip r:embed="rId8"/>
          <a:srcRect/>
          <a:stretch/>
        </p:blipFill>
        <p:spPr>
          <a:xfrm>
            <a:off x="3873500" y="4978400"/>
            <a:ext cx="127000" cy="355600"/>
          </a:xfrm>
          <a:prstGeom prst="rect">
            <a:avLst/>
          </a:prstGeom>
        </p:spPr>
      </p:pic>
      <p:sp>
        <p:nvSpPr>
          <p:cNvPr id="10" name="Text 2"/>
          <p:cNvSpPr/>
          <p:nvPr/>
        </p:nvSpPr>
        <p:spPr>
          <a:xfrm>
            <a:off x="1524000" y="33655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A</a:t>
            </a:r>
            <a:endParaRPr lang="en-US" sz="1500" dirty="0"/>
          </a:p>
        </p:txBody>
      </p:sp>
      <p:sp>
        <p:nvSpPr>
          <p:cNvPr id="11" name="Text 3"/>
          <p:cNvSpPr/>
          <p:nvPr/>
        </p:nvSpPr>
        <p:spPr>
          <a:xfrm>
            <a:off x="3556000" y="24765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B</a:t>
            </a:r>
            <a:endParaRPr lang="en-US" sz="1500" dirty="0"/>
          </a:p>
        </p:txBody>
      </p:sp>
      <p:sp>
        <p:nvSpPr>
          <p:cNvPr id="12" name="Text 4"/>
          <p:cNvSpPr/>
          <p:nvPr/>
        </p:nvSpPr>
        <p:spPr>
          <a:xfrm>
            <a:off x="3556000" y="42545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T</a:t>
            </a:r>
            <a:endParaRPr lang="en-US" sz="1500" dirty="0"/>
          </a:p>
        </p:txBody>
      </p:sp>
      <p:sp>
        <p:nvSpPr>
          <p:cNvPr id="13" name="Text 5"/>
          <p:cNvSpPr/>
          <p:nvPr/>
        </p:nvSpPr>
        <p:spPr>
          <a:xfrm>
            <a:off x="5613400" y="3390900"/>
            <a:ext cx="711200" cy="711200"/>
          </a:xfrm>
          <a:custGeom>
            <a:avLst/>
            <a:gdLst/>
            <a:ahLst/>
            <a:cxnLst/>
            <a:rect l="l" t="t" r="r" b="b"/>
            <a:pathLst>
              <a:path w="711200" h="711200">
                <a:moveTo>
                  <a:pt x="355600" y="0"/>
                </a:moveTo>
                <a:lnTo>
                  <a:pt x="355600" y="0"/>
                </a:lnTo>
                <a:arcTo wR="355600" hR="355600" stAng="16200000" swAng="5400000"/>
                <a:lnTo>
                  <a:pt x="711200" y="355600"/>
                </a:lnTo>
                <a:arcTo wR="355600" hR="355600" stAng="0" swAng="5400000"/>
                <a:lnTo>
                  <a:pt x="355600" y="711200"/>
                </a:lnTo>
                <a:arcTo wR="355600" hR="355600" stAng="5400000" swAng="5400000"/>
                <a:lnTo>
                  <a:pt x="0" y="355600"/>
                </a:lnTo>
                <a:arcTo wR="355600" hR="355600" stAng="10800000" swAng="5400000"/>
                <a:close/>
              </a:path>
            </a:pathLst>
          </a:custGeom>
          <a:solidFill>
            <a:srgbClr val="F6F4EE"/>
          </a:solidFill>
          <a:ln w="50800">
            <a:solidFill>
              <a:srgbClr val="F08C4B"/>
            </a:solidFill>
            <a:prstDash val="solid"/>
          </a:ln>
        </p:spPr>
        <p:txBody>
          <a:bodyPr wrap="square" lIns="0" tIns="25400" rIns="0" bIns="0" rtlCol="0" anchor="t">
            <a:normAutofit/>
          </a:bodyPr>
          <a:lstStyle/>
          <a:p>
            <a:pPr marL="0" indent="0" algn="ctr">
              <a:lnSpc>
                <a:spcPts val="5205"/>
              </a:lnSpc>
              <a:buNone/>
            </a:pPr>
            <a:r>
              <a:rPr lang="en-US" sz="1500" b="1" dirty="0">
                <a:solidFill>
                  <a:srgbClr val="16202C"/>
                </a:solidFill>
                <a:latin typeface="JetBrains Mono" pitchFamily="34" charset="0"/>
                <a:ea typeface="JetBrains Mono" pitchFamily="34" charset="-122"/>
                <a:cs typeface="JetBrains Mono" pitchFamily="34" charset="-120"/>
              </a:rPr>
              <a:t>M</a:t>
            </a:r>
            <a:endParaRPr lang="en-US" sz="1500" dirty="0"/>
          </a:p>
        </p:txBody>
      </p:sp>
      <p:sp>
        <p:nvSpPr>
          <p:cNvPr id="14" name="Text 6"/>
          <p:cNvSpPr/>
          <p:nvPr/>
        </p:nvSpPr>
        <p:spPr>
          <a:xfrm>
            <a:off x="5461000" y="27305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5" name="Text 7"/>
          <p:cNvSpPr/>
          <p:nvPr/>
        </p:nvSpPr>
        <p:spPr>
          <a:xfrm>
            <a:off x="3524250" y="52705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test</a:t>
            </a:r>
            <a:endParaRPr lang="en-US" sz="1300" dirty="0"/>
          </a:p>
        </p:txBody>
      </p:sp>
      <p:sp>
        <p:nvSpPr>
          <p:cNvPr id="16" name="Text 8"/>
          <p:cNvSpPr/>
          <p:nvPr/>
        </p:nvSpPr>
        <p:spPr>
          <a:xfrm>
            <a:off x="989330" y="4254500"/>
            <a:ext cx="183134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1 · ortak ata</a:t>
            </a:r>
            <a:endParaRPr lang="en-US" sz="1300" dirty="0"/>
          </a:p>
        </p:txBody>
      </p:sp>
      <p:sp>
        <p:nvSpPr>
          <p:cNvPr id="17" name="Text 9"/>
          <p:cNvSpPr/>
          <p:nvPr/>
        </p:nvSpPr>
        <p:spPr>
          <a:xfrm>
            <a:off x="5054600" y="4254500"/>
            <a:ext cx="1701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M · 2 parent</a:t>
            </a:r>
            <a:endParaRPr lang="en-US" sz="1300" dirty="0"/>
          </a:p>
        </p:txBody>
      </p:sp>
      <p:sp>
        <p:nvSpPr>
          <p:cNvPr id="18" name="Shape 10"/>
          <p:cNvSpPr/>
          <p:nvPr/>
        </p:nvSpPr>
        <p:spPr>
          <a:xfrm>
            <a:off x="6985000" y="1841500"/>
            <a:ext cx="4394200" cy="2342455"/>
          </a:xfrm>
          <a:prstGeom prst="roundRect">
            <a:avLst>
              <a:gd name="adj" fmla="val 5422"/>
            </a:avLst>
          </a:prstGeom>
          <a:solidFill>
            <a:srgbClr val="16202C"/>
          </a:solidFill>
          <a:ln/>
        </p:spPr>
      </p:sp>
      <p:sp>
        <p:nvSpPr>
          <p:cNvPr id="19" name="Text 11"/>
          <p:cNvSpPr/>
          <p:nvPr/>
        </p:nvSpPr>
        <p:spPr>
          <a:xfrm>
            <a:off x="7239000" y="2095500"/>
            <a:ext cx="400278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TERMİNAL ÇIKTISI</a:t>
            </a:r>
            <a:endParaRPr lang="en-US" sz="1300" dirty="0"/>
          </a:p>
        </p:txBody>
      </p:sp>
      <p:sp>
        <p:nvSpPr>
          <p:cNvPr id="20" name="Text 12"/>
          <p:cNvSpPr/>
          <p:nvPr/>
        </p:nvSpPr>
        <p:spPr>
          <a:xfrm>
            <a:off x="7239000" y="2428180"/>
            <a:ext cx="4002786"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Merge made by the</a:t>
            </a:r>
            <a:endParaRPr lang="en-US" sz="1500" dirty="0"/>
          </a:p>
          <a:p>
            <a:pPr marL="0" indent="0" algn="l">
              <a:lnSpc>
                <a:spcPts val="2250"/>
              </a:lnSpc>
              <a:buNone/>
            </a:pPr>
            <a:r>
              <a:rPr lang="en-US" sz="1500" dirty="0">
                <a:solidFill>
                  <a:srgbClr val="F7A46B"/>
                </a:solidFill>
                <a:latin typeface="JetBrains Mono" pitchFamily="34" charset="0"/>
                <a:ea typeface="JetBrains Mono" pitchFamily="34" charset="-122"/>
                <a:cs typeface="JetBrains Mono" pitchFamily="34" charset="-120"/>
              </a:rPr>
              <a:t>'ort' strategy.</a:t>
            </a:r>
            <a:endParaRPr lang="en-US" sz="1500" dirty="0"/>
          </a:p>
        </p:txBody>
      </p:sp>
      <p:sp>
        <p:nvSpPr>
          <p:cNvPr id="21" name="Text 13"/>
          <p:cNvSpPr/>
          <p:nvPr/>
        </p:nvSpPr>
        <p:spPr>
          <a:xfrm>
            <a:off x="7239000" y="3101280"/>
            <a:ext cx="4002786"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Git, B ve T'nin değişikliklerini sentezleyip M'yi otomatik oluşturdu. Editör açılırsa varsayılan mesajı kaydet ve kapat.</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4EE"/>
        </a:solidFill>
        <a:effectLst/>
      </p:bgPr>
    </p:bg>
    <p:spTree>
      <p:nvGrpSpPr>
        <p:cNvPr id="1" name=""/>
        <p:cNvGrpSpPr/>
        <p:nvPr/>
      </p:nvGrpSpPr>
      <p:grpSpPr>
        <a:xfrm>
          <a:off x="0" y="0"/>
          <a:ext cx="0" cy="0"/>
          <a:chOff x="0" y="0"/>
          <a:chExt cx="0" cy="0"/>
        </a:xfrm>
      </p:grpSpPr>
      <p:pic>
        <p:nvPicPr>
          <p:cNvPr id="2" name="Image 0" descr="Play"/>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762748"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CANLI DEMO · 3-WAY MERGE</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Dallanmayı bilerek yaratalım</a:t>
            </a:r>
            <a:endParaRPr lang="en-US" sz="3600" dirty="0"/>
          </a:p>
        </p:txBody>
      </p:sp>
      <p:sp>
        <p:nvSpPr>
          <p:cNvPr id="5" name="Text 2"/>
          <p:cNvSpPr/>
          <p:nvPr/>
        </p:nvSpPr>
        <p:spPr>
          <a:xfrm>
            <a:off x="812800" y="1953121"/>
            <a:ext cx="352308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1 · TEST DALINDA</a:t>
            </a:r>
            <a:endParaRPr lang="en-US" sz="1300" dirty="0"/>
          </a:p>
        </p:txBody>
      </p:sp>
      <p:sp>
        <p:nvSpPr>
          <p:cNvPr id="6" name="Text 3"/>
          <p:cNvSpPr/>
          <p:nvPr/>
        </p:nvSpPr>
        <p:spPr>
          <a:xfrm>
            <a:off x="812800" y="2285802"/>
            <a:ext cx="3420467" cy="1412081"/>
          </a:xfrm>
          <a:prstGeom prst="roundRect">
            <a:avLst>
              <a:gd name="adj" fmla="val 7195"/>
            </a:avLst>
          </a:prstGeom>
          <a:solidFill>
            <a:srgbClr val="16202C"/>
          </a:solidFill>
          <a:ln/>
        </p:spPr>
        <p:txBody>
          <a:bodyPr wrap="square" lIns="173442" tIns="148042" rIns="83020" bIns="12264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test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echo "Test" &gt; test-dosya.txt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add test-dosya.txt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-m "feat: test"</a:t>
            </a:r>
            <a:endParaRPr lang="en-US" sz="1300" dirty="0"/>
          </a:p>
        </p:txBody>
      </p:sp>
      <p:sp>
        <p:nvSpPr>
          <p:cNvPr id="7" name="Text 4"/>
          <p:cNvSpPr/>
          <p:nvPr/>
        </p:nvSpPr>
        <p:spPr>
          <a:xfrm>
            <a:off x="4385667" y="1953121"/>
            <a:ext cx="352318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2 · MASTER DA İLERLESİN</a:t>
            </a:r>
            <a:endParaRPr lang="en-US" sz="1300" dirty="0"/>
          </a:p>
        </p:txBody>
      </p:sp>
      <p:sp>
        <p:nvSpPr>
          <p:cNvPr id="8" name="Text 5"/>
          <p:cNvSpPr/>
          <p:nvPr/>
        </p:nvSpPr>
        <p:spPr>
          <a:xfrm>
            <a:off x="4385667" y="2285802"/>
            <a:ext cx="3420566" cy="1412081"/>
          </a:xfrm>
          <a:prstGeom prst="roundRect">
            <a:avLst>
              <a:gd name="adj" fmla="val 7195"/>
            </a:avLst>
          </a:prstGeom>
          <a:solidFill>
            <a:srgbClr val="16202C"/>
          </a:solidFill>
          <a:ln/>
        </p:spPr>
        <p:txBody>
          <a:bodyPr wrap="square" lIns="173442" tIns="148042" rIns="83017" bIns="12264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master</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echo "Master" &gt; master.txt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add master.txt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-m "feat: master"</a:t>
            </a:r>
            <a:endParaRPr lang="en-US" sz="1300" dirty="0"/>
          </a:p>
        </p:txBody>
      </p:sp>
      <p:sp>
        <p:nvSpPr>
          <p:cNvPr id="9" name="Text 6"/>
          <p:cNvSpPr/>
          <p:nvPr/>
        </p:nvSpPr>
        <p:spPr>
          <a:xfrm>
            <a:off x="7958634" y="1953121"/>
            <a:ext cx="352318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3 · BİRLEŞTİR</a:t>
            </a:r>
            <a:endParaRPr lang="en-US" sz="1300" dirty="0"/>
          </a:p>
        </p:txBody>
      </p:sp>
      <p:sp>
        <p:nvSpPr>
          <p:cNvPr id="10" name="Text 7"/>
          <p:cNvSpPr/>
          <p:nvPr/>
        </p:nvSpPr>
        <p:spPr>
          <a:xfrm>
            <a:off x="7958634" y="2285802"/>
            <a:ext cx="3420566" cy="1147961"/>
          </a:xfrm>
          <a:prstGeom prst="roundRect">
            <a:avLst>
              <a:gd name="adj" fmla="val 8850"/>
            </a:avLst>
          </a:prstGeom>
          <a:solidFill>
            <a:srgbClr val="16202C"/>
          </a:solidFill>
          <a:ln/>
        </p:spPr>
        <p:txBody>
          <a:bodyPr wrap="square" lIns="173442" tIns="148042" rIns="83017" bIns="12264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merge test</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Merge made by</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the 'ort' strategy.</a:t>
            </a:r>
            <a:endParaRPr lang="en-US" sz="1300" dirty="0"/>
          </a:p>
        </p:txBody>
      </p:sp>
      <p:sp>
        <p:nvSpPr>
          <p:cNvPr id="11" name="Shape 8"/>
          <p:cNvSpPr/>
          <p:nvPr/>
        </p:nvSpPr>
        <p:spPr>
          <a:xfrm>
            <a:off x="812800" y="4002683"/>
            <a:ext cx="10566400" cy="584200"/>
          </a:xfrm>
          <a:prstGeom prst="roundRect">
            <a:avLst>
              <a:gd name="adj" fmla="val 17391"/>
            </a:avLst>
          </a:prstGeom>
          <a:solidFill>
            <a:srgbClr val="FBE9DC"/>
          </a:solidFill>
          <a:ln/>
        </p:spPr>
      </p:sp>
      <p:pic>
        <p:nvPicPr>
          <p:cNvPr id="12" name="Image 1" descr="Lightbulb"/>
          <p:cNvPicPr>
            <a:picLocks noChangeAspect="1"/>
          </p:cNvPicPr>
          <p:nvPr/>
        </p:nvPicPr>
        <p:blipFill>
          <a:blip r:embed="rId4"/>
          <a:srcRect/>
          <a:stretch/>
        </p:blipFill>
        <p:spPr>
          <a:xfrm>
            <a:off x="1016000" y="4155083"/>
            <a:ext cx="279400" cy="279400"/>
          </a:xfrm>
          <a:prstGeom prst="rect">
            <a:avLst/>
          </a:prstGeom>
        </p:spPr>
      </p:pic>
      <p:sp>
        <p:nvSpPr>
          <p:cNvPr id="13" name="Text 9"/>
          <p:cNvSpPr/>
          <p:nvPr/>
        </p:nvSpPr>
        <p:spPr>
          <a:xfrm>
            <a:off x="1397000" y="4161433"/>
            <a:ext cx="808773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Farklı dosyalar değiştiği için Git kimseye sormadan birleştirir. Aynı satır değişseydi? </a:t>
            </a:r>
            <a:r>
              <a:rPr lang="en-US" sz="1500" b="1" dirty="0">
                <a:solidFill>
                  <a:srgbClr val="16202C"/>
                </a:solidFill>
                <a:latin typeface="IBM Plex Sans" pitchFamily="34" charset="0"/>
                <a:ea typeface="IBM Plex Sans" pitchFamily="34" charset="-122"/>
                <a:cs typeface="IBM Plex Sans" pitchFamily="34" charset="-120"/>
              </a:rPr>
              <a:t>Modül 6.</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MERGE TİPİ 3 · --NO-FF</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FF mümkünken bile merge commit</a:t>
            </a:r>
            <a:endParaRPr lang="en-US" sz="3600" dirty="0"/>
          </a:p>
        </p:txBody>
      </p:sp>
      <p:pic>
        <p:nvPicPr>
          <p:cNvPr id="4" name="Image 0" descr="connector"/>
          <p:cNvPicPr>
            <a:picLocks noChangeAspect="1"/>
          </p:cNvPicPr>
          <p:nvPr/>
        </p:nvPicPr>
        <p:blipFill>
          <a:blip r:embed="rId3"/>
          <a:srcRect/>
          <a:stretch/>
        </p:blipFill>
        <p:spPr>
          <a:xfrm>
            <a:off x="1809750" y="3079750"/>
            <a:ext cx="5143500" cy="190500"/>
          </a:xfrm>
          <a:prstGeom prst="rect">
            <a:avLst/>
          </a:prstGeom>
        </p:spPr>
      </p:pic>
      <p:pic>
        <p:nvPicPr>
          <p:cNvPr id="5" name="Image 1" descr="connector"/>
          <p:cNvPicPr>
            <a:picLocks noChangeAspect="1"/>
          </p:cNvPicPr>
          <p:nvPr/>
        </p:nvPicPr>
        <p:blipFill>
          <a:blip r:embed="rId4"/>
          <a:srcRect/>
          <a:stretch/>
        </p:blipFill>
        <p:spPr>
          <a:xfrm>
            <a:off x="1809750" y="3079750"/>
            <a:ext cx="1841500" cy="1333500"/>
          </a:xfrm>
          <a:prstGeom prst="rect">
            <a:avLst/>
          </a:prstGeom>
        </p:spPr>
      </p:pic>
      <p:pic>
        <p:nvPicPr>
          <p:cNvPr id="6" name="Image 2" descr="connector"/>
          <p:cNvPicPr>
            <a:picLocks noChangeAspect="1"/>
          </p:cNvPicPr>
          <p:nvPr/>
        </p:nvPicPr>
        <p:blipFill>
          <a:blip r:embed="rId5"/>
          <a:srcRect/>
          <a:stretch/>
        </p:blipFill>
        <p:spPr>
          <a:xfrm>
            <a:off x="3460750" y="4222750"/>
            <a:ext cx="1841500" cy="190500"/>
          </a:xfrm>
          <a:prstGeom prst="rect">
            <a:avLst/>
          </a:prstGeom>
        </p:spPr>
      </p:pic>
      <p:pic>
        <p:nvPicPr>
          <p:cNvPr id="7" name="Image 3" descr="connector"/>
          <p:cNvPicPr>
            <a:picLocks noChangeAspect="1"/>
          </p:cNvPicPr>
          <p:nvPr/>
        </p:nvPicPr>
        <p:blipFill>
          <a:blip r:embed="rId6"/>
          <a:srcRect/>
          <a:stretch/>
        </p:blipFill>
        <p:spPr>
          <a:xfrm>
            <a:off x="5111750" y="3079750"/>
            <a:ext cx="1841500" cy="1333500"/>
          </a:xfrm>
          <a:prstGeom prst="rect">
            <a:avLst/>
          </a:prstGeom>
        </p:spPr>
      </p:pic>
      <p:pic>
        <p:nvPicPr>
          <p:cNvPr id="8" name="Image 4" descr="connector"/>
          <p:cNvPicPr>
            <a:picLocks noChangeAspect="1"/>
          </p:cNvPicPr>
          <p:nvPr/>
        </p:nvPicPr>
        <p:blipFill>
          <a:blip r:embed="rId7"/>
          <a:srcRect/>
          <a:stretch/>
        </p:blipFill>
        <p:spPr>
          <a:xfrm>
            <a:off x="6794500" y="2362200"/>
            <a:ext cx="127000" cy="469900"/>
          </a:xfrm>
          <a:prstGeom prst="rect">
            <a:avLst/>
          </a:prstGeom>
        </p:spPr>
      </p:pic>
      <p:pic>
        <p:nvPicPr>
          <p:cNvPr id="9" name="Image 5" descr="connector"/>
          <p:cNvPicPr>
            <a:picLocks noChangeAspect="1"/>
          </p:cNvPicPr>
          <p:nvPr/>
        </p:nvPicPr>
        <p:blipFill>
          <a:blip r:embed="rId8"/>
          <a:srcRect/>
          <a:stretch/>
        </p:blipFill>
        <p:spPr>
          <a:xfrm>
            <a:off x="5143500" y="4660900"/>
            <a:ext cx="127000" cy="355600"/>
          </a:xfrm>
          <a:prstGeom prst="rect">
            <a:avLst/>
          </a:prstGeom>
        </p:spPr>
      </p:pic>
      <p:sp>
        <p:nvSpPr>
          <p:cNvPr id="10" name="Text 2"/>
          <p:cNvSpPr/>
          <p:nvPr/>
        </p:nvSpPr>
        <p:spPr>
          <a:xfrm>
            <a:off x="1524000" y="2794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11" name="Text 3"/>
          <p:cNvSpPr/>
          <p:nvPr/>
        </p:nvSpPr>
        <p:spPr>
          <a:xfrm>
            <a:off x="3175000" y="3937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F1</a:t>
            </a:r>
            <a:endParaRPr lang="en-US" sz="1500" dirty="0"/>
          </a:p>
        </p:txBody>
      </p:sp>
      <p:sp>
        <p:nvSpPr>
          <p:cNvPr id="12" name="Text 4"/>
          <p:cNvSpPr/>
          <p:nvPr/>
        </p:nvSpPr>
        <p:spPr>
          <a:xfrm>
            <a:off x="4826000" y="3937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F2</a:t>
            </a:r>
            <a:endParaRPr lang="en-US" sz="1500" dirty="0"/>
          </a:p>
        </p:txBody>
      </p:sp>
      <p:sp>
        <p:nvSpPr>
          <p:cNvPr id="13" name="Text 5"/>
          <p:cNvSpPr/>
          <p:nvPr/>
        </p:nvSpPr>
        <p:spPr>
          <a:xfrm>
            <a:off x="6502400" y="2819400"/>
            <a:ext cx="711200" cy="711200"/>
          </a:xfrm>
          <a:custGeom>
            <a:avLst/>
            <a:gdLst/>
            <a:ahLst/>
            <a:cxnLst/>
            <a:rect l="l" t="t" r="r" b="b"/>
            <a:pathLst>
              <a:path w="711200" h="711200">
                <a:moveTo>
                  <a:pt x="355600" y="0"/>
                </a:moveTo>
                <a:lnTo>
                  <a:pt x="355600" y="0"/>
                </a:lnTo>
                <a:arcTo wR="355600" hR="355600" stAng="16200000" swAng="5400000"/>
                <a:lnTo>
                  <a:pt x="711200" y="355600"/>
                </a:lnTo>
                <a:arcTo wR="355600" hR="355600" stAng="0" swAng="5400000"/>
                <a:lnTo>
                  <a:pt x="355600" y="711200"/>
                </a:lnTo>
                <a:arcTo wR="355600" hR="355600" stAng="5400000" swAng="5400000"/>
                <a:lnTo>
                  <a:pt x="0" y="355600"/>
                </a:lnTo>
                <a:arcTo wR="355600" hR="355600" stAng="10800000" swAng="5400000"/>
                <a:close/>
              </a:path>
            </a:pathLst>
          </a:custGeom>
          <a:solidFill>
            <a:srgbClr val="F6F4EE"/>
          </a:solidFill>
          <a:ln w="50800">
            <a:solidFill>
              <a:srgbClr val="F08C4B"/>
            </a:solidFill>
            <a:prstDash val="solid"/>
          </a:ln>
        </p:spPr>
        <p:txBody>
          <a:bodyPr wrap="square" lIns="0" tIns="25400" rIns="0" bIns="0" rtlCol="0" anchor="t">
            <a:normAutofit/>
          </a:bodyPr>
          <a:lstStyle/>
          <a:p>
            <a:pPr marL="0" indent="0" algn="ctr">
              <a:lnSpc>
                <a:spcPts val="5205"/>
              </a:lnSpc>
              <a:buNone/>
            </a:pPr>
            <a:r>
              <a:rPr lang="en-US" sz="1500" b="1" dirty="0">
                <a:solidFill>
                  <a:srgbClr val="16202C"/>
                </a:solidFill>
                <a:latin typeface="JetBrains Mono" pitchFamily="34" charset="0"/>
                <a:ea typeface="JetBrains Mono" pitchFamily="34" charset="-122"/>
                <a:cs typeface="JetBrains Mono" pitchFamily="34" charset="-120"/>
              </a:rPr>
              <a:t>M</a:t>
            </a:r>
            <a:endParaRPr lang="en-US" sz="1500" dirty="0"/>
          </a:p>
        </p:txBody>
      </p:sp>
      <p:sp>
        <p:nvSpPr>
          <p:cNvPr id="14" name="Text 6"/>
          <p:cNvSpPr/>
          <p:nvPr/>
        </p:nvSpPr>
        <p:spPr>
          <a:xfrm>
            <a:off x="6350000" y="20955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5" name="Text 7"/>
          <p:cNvSpPr/>
          <p:nvPr/>
        </p:nvSpPr>
        <p:spPr>
          <a:xfrm>
            <a:off x="4794250" y="4953000"/>
            <a:ext cx="825500" cy="330200"/>
          </a:xfrm>
          <a:custGeom>
            <a:avLst/>
            <a:gdLst/>
            <a:ahLst/>
            <a:cxnLst/>
            <a:rect l="l" t="t" r="r" b="b"/>
            <a:pathLst>
              <a:path w="825500" h="330200">
                <a:moveTo>
                  <a:pt x="165100" y="0"/>
                </a:moveTo>
                <a:lnTo>
                  <a:pt x="660400" y="0"/>
                </a:lnTo>
                <a:arcTo wR="165100" hR="165100" stAng="16200000" swAng="5400000"/>
                <a:lnTo>
                  <a:pt x="825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test</a:t>
            </a:r>
            <a:endParaRPr lang="en-US" sz="1300" dirty="0"/>
          </a:p>
        </p:txBody>
      </p:sp>
      <p:sp>
        <p:nvSpPr>
          <p:cNvPr id="16" name="Text 8"/>
          <p:cNvSpPr/>
          <p:nvPr/>
        </p:nvSpPr>
        <p:spPr>
          <a:xfrm>
            <a:off x="1016000" y="2159000"/>
            <a:ext cx="457835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master C1'de bekliyordu: FF mümkündü, ama Git yine de M'yi üretti.</a:t>
            </a:r>
            <a:endParaRPr lang="en-US" sz="1300" dirty="0"/>
          </a:p>
        </p:txBody>
      </p:sp>
      <p:sp>
        <p:nvSpPr>
          <p:cNvPr id="17" name="Shape 9"/>
          <p:cNvSpPr/>
          <p:nvPr/>
        </p:nvSpPr>
        <p:spPr>
          <a:xfrm>
            <a:off x="7880350" y="2101850"/>
            <a:ext cx="3492500" cy="3300909"/>
          </a:xfrm>
          <a:prstGeom prst="roundRect">
            <a:avLst>
              <a:gd name="adj" fmla="val 3655"/>
            </a:avLst>
          </a:prstGeom>
          <a:solidFill>
            <a:srgbClr val="FDFCF9"/>
          </a:solidFill>
          <a:ln w="12700">
            <a:solidFill>
              <a:srgbClr val="E2DDD0"/>
            </a:solidFill>
            <a:prstDash val="solid"/>
          </a:ln>
        </p:spPr>
      </p:sp>
      <p:sp>
        <p:nvSpPr>
          <p:cNvPr id="18" name="Text 10"/>
          <p:cNvSpPr/>
          <p:nvPr/>
        </p:nvSpPr>
        <p:spPr>
          <a:xfrm>
            <a:off x="8140700" y="2362200"/>
            <a:ext cx="2971800" cy="539750"/>
          </a:xfrm>
          <a:prstGeom prst="roundRect">
            <a:avLst>
              <a:gd name="adj" fmla="val 14118"/>
            </a:avLst>
          </a:prstGeom>
          <a:solidFill>
            <a:srgbClr val="16202C"/>
          </a:solidFill>
          <a:ln/>
        </p:spPr>
        <p:txBody>
          <a:bodyPr wrap="square" lIns="155482" tIns="104682" rIns="76996" bIns="79282" rtlCol="0" anchor="t">
            <a:normAutofit/>
          </a:bodyPr>
          <a:lstStyle/>
          <a:p>
            <a:pPr marL="0" indent="0" algn="l">
              <a:lnSpc>
                <a:spcPts val="2250"/>
              </a:lnSpc>
              <a:buNone/>
            </a:pPr>
            <a:r>
              <a:rPr lang="en-US" sz="1500" dirty="0">
                <a:solidFill>
                  <a:srgbClr val="F6F4EE"/>
                </a:solidFill>
                <a:latin typeface="JetBrains Mono" pitchFamily="34" charset="0"/>
                <a:ea typeface="JetBrains Mono" pitchFamily="34" charset="-122"/>
                <a:cs typeface="JetBrains Mono" pitchFamily="34" charset="-120"/>
              </a:rPr>
              <a:t>git merge </a:t>
            </a:r>
            <a:r>
              <a:rPr lang="en-US" sz="1500" dirty="0">
                <a:solidFill>
                  <a:srgbClr val="F7A46B"/>
                </a:solidFill>
                <a:latin typeface="JetBrains Mono" pitchFamily="34" charset="0"/>
                <a:ea typeface="JetBrains Mono" pitchFamily="34" charset="-122"/>
                <a:cs typeface="JetBrains Mono" pitchFamily="34" charset="-120"/>
              </a:rPr>
              <a:t>--no-ff</a:t>
            </a:r>
            <a:r>
              <a:rPr lang="en-US" sz="1500" dirty="0">
                <a:solidFill>
                  <a:srgbClr val="F6F4EE"/>
                </a:solidFill>
                <a:latin typeface="JetBrains Mono" pitchFamily="34" charset="0"/>
                <a:ea typeface="JetBrains Mono" pitchFamily="34" charset="-122"/>
                <a:cs typeface="JetBrains Mono" pitchFamily="34" charset="-120"/>
              </a:rPr>
              <a:t> test</a:t>
            </a:r>
            <a:endParaRPr lang="en-US" sz="1500" dirty="0"/>
          </a:p>
        </p:txBody>
      </p:sp>
      <p:sp>
        <p:nvSpPr>
          <p:cNvPr id="19" name="Text 11"/>
          <p:cNvSpPr/>
          <p:nvPr/>
        </p:nvSpPr>
        <p:spPr>
          <a:xfrm>
            <a:off x="8140700" y="3028950"/>
            <a:ext cx="306095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Neden?</a:t>
            </a:r>
            <a:endParaRPr lang="en-US" sz="2000" dirty="0"/>
          </a:p>
        </p:txBody>
      </p:sp>
      <p:sp>
        <p:nvSpPr>
          <p:cNvPr id="20" name="Text 12"/>
          <p:cNvSpPr/>
          <p:nvPr/>
        </p:nvSpPr>
        <p:spPr>
          <a:xfrm>
            <a:off x="8140700" y="3460750"/>
            <a:ext cx="3060954"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6"/>
                </a:solidFill>
                <a:latin typeface="IBM Plex Sans" pitchFamily="34" charset="0"/>
                <a:ea typeface="IBM Plex Sans" pitchFamily="34" charset="-122"/>
                <a:cs typeface="IBM Plex Sans" pitchFamily="34" charset="-120"/>
              </a:rPr>
              <a:t>Özelliğin commit'leri geçmişte bir "kabarcık" olarak görünür. Tüm özellik tek komutla geri alınabilir:</a:t>
            </a:r>
            <a:endParaRPr lang="en-US" sz="1300" dirty="0"/>
          </a:p>
        </p:txBody>
      </p:sp>
      <p:sp>
        <p:nvSpPr>
          <p:cNvPr id="21" name="Text 13"/>
          <p:cNvSpPr/>
          <p:nvPr/>
        </p:nvSpPr>
        <p:spPr>
          <a:xfrm>
            <a:off x="8140700" y="4305697"/>
            <a:ext cx="306095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JetBrains Mono" pitchFamily="34" charset="0"/>
                <a:ea typeface="JetBrains Mono" pitchFamily="34" charset="-122"/>
                <a:cs typeface="JetBrains Mono" pitchFamily="34" charset="-120"/>
              </a:rPr>
              <a:t>git revert -m 1 M</a:t>
            </a:r>
            <a:endParaRPr lang="en-US" sz="1300" dirty="0"/>
          </a:p>
        </p:txBody>
      </p:sp>
      <p:sp>
        <p:nvSpPr>
          <p:cNvPr id="22" name="Text 14"/>
          <p:cNvSpPr/>
          <p:nvPr/>
        </p:nvSpPr>
        <p:spPr>
          <a:xfrm>
            <a:off x="8140700" y="4663777"/>
            <a:ext cx="306095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6"/>
                </a:solidFill>
                <a:latin typeface="IBM Plex Sans" pitchFamily="34" charset="0"/>
                <a:ea typeface="IBM Plex Sans" pitchFamily="34" charset="-122"/>
                <a:cs typeface="IBM Plex Sans" pitchFamily="34" charset="-120"/>
              </a:rPr>
              <a:t>Tersi: </a:t>
            </a:r>
            <a:r>
              <a:rPr lang="en-US" sz="1300" b="1" dirty="0">
                <a:solidFill>
                  <a:srgbClr val="4A5566"/>
                </a:solidFill>
                <a:latin typeface="IBM Plex Sans" pitchFamily="34" charset="0"/>
                <a:ea typeface="IBM Plex Sans" pitchFamily="34" charset="-122"/>
                <a:cs typeface="IBM Plex Sans" pitchFamily="34" charset="-120"/>
              </a:rPr>
              <a:t>--ff-only</a:t>
            </a:r>
            <a:r>
              <a:rPr lang="en-US" sz="1300" dirty="0">
                <a:solidFill>
                  <a:srgbClr val="4A5566"/>
                </a:solidFill>
                <a:latin typeface="IBM Plex Sans" pitchFamily="34" charset="0"/>
                <a:ea typeface="IBM Plex Sans" pitchFamily="34" charset="-122"/>
                <a:cs typeface="IBM Plex Sans" pitchFamily="34" charset="-120"/>
              </a:rPr>
              <a:t> FF değilse birleştirmeyi reddeder.</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MERGE TİPİ 4 · --SQUASH</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Üç commit, tek pakete</a:t>
            </a:r>
            <a:endParaRPr lang="en-US" sz="3600" dirty="0"/>
          </a:p>
        </p:txBody>
      </p:sp>
      <p:pic>
        <p:nvPicPr>
          <p:cNvPr id="4" name="Image 0" descr="connector"/>
          <p:cNvPicPr>
            <a:picLocks noChangeAspect="1"/>
          </p:cNvPicPr>
          <p:nvPr/>
        </p:nvPicPr>
        <p:blipFill>
          <a:blip r:embed="rId3"/>
          <a:srcRect/>
          <a:stretch/>
        </p:blipFill>
        <p:spPr>
          <a:xfrm>
            <a:off x="1809750" y="2825750"/>
            <a:ext cx="1587500" cy="1841500"/>
          </a:xfrm>
          <a:prstGeom prst="rect">
            <a:avLst/>
          </a:prstGeom>
        </p:spPr>
      </p:pic>
      <p:pic>
        <p:nvPicPr>
          <p:cNvPr id="5" name="Image 1" descr="connector"/>
          <p:cNvPicPr>
            <a:picLocks noChangeAspect="1"/>
          </p:cNvPicPr>
          <p:nvPr/>
        </p:nvPicPr>
        <p:blipFill>
          <a:blip r:embed="rId4"/>
          <a:srcRect/>
          <a:stretch/>
        </p:blipFill>
        <p:spPr>
          <a:xfrm>
            <a:off x="3206750" y="2825750"/>
            <a:ext cx="1587500" cy="190500"/>
          </a:xfrm>
          <a:prstGeom prst="rect">
            <a:avLst/>
          </a:prstGeom>
        </p:spPr>
      </p:pic>
      <p:pic>
        <p:nvPicPr>
          <p:cNvPr id="6" name="Image 2" descr="connector"/>
          <p:cNvPicPr>
            <a:picLocks noChangeAspect="1"/>
          </p:cNvPicPr>
          <p:nvPr/>
        </p:nvPicPr>
        <p:blipFill>
          <a:blip r:embed="rId4"/>
          <a:srcRect/>
          <a:stretch/>
        </p:blipFill>
        <p:spPr>
          <a:xfrm>
            <a:off x="4603750" y="2825750"/>
            <a:ext cx="1587500" cy="190500"/>
          </a:xfrm>
          <a:prstGeom prst="rect">
            <a:avLst/>
          </a:prstGeom>
        </p:spPr>
      </p:pic>
      <p:pic>
        <p:nvPicPr>
          <p:cNvPr id="7" name="Image 3" descr="connector"/>
          <p:cNvPicPr>
            <a:picLocks noChangeAspect="1"/>
          </p:cNvPicPr>
          <p:nvPr/>
        </p:nvPicPr>
        <p:blipFill>
          <a:blip r:embed="rId5"/>
          <a:srcRect/>
          <a:stretch/>
        </p:blipFill>
        <p:spPr>
          <a:xfrm>
            <a:off x="1809750" y="4476750"/>
            <a:ext cx="5143500" cy="190500"/>
          </a:xfrm>
          <a:prstGeom prst="rect">
            <a:avLst/>
          </a:prstGeom>
        </p:spPr>
      </p:pic>
      <p:pic>
        <p:nvPicPr>
          <p:cNvPr id="8" name="Image 4" descr="connector"/>
          <p:cNvPicPr>
            <a:picLocks noChangeAspect="1"/>
          </p:cNvPicPr>
          <p:nvPr/>
        </p:nvPicPr>
        <p:blipFill>
          <a:blip r:embed="rId6"/>
          <a:srcRect/>
          <a:stretch/>
        </p:blipFill>
        <p:spPr>
          <a:xfrm>
            <a:off x="6223000" y="3251200"/>
            <a:ext cx="558800" cy="952500"/>
          </a:xfrm>
          <a:prstGeom prst="rect">
            <a:avLst/>
          </a:prstGeom>
        </p:spPr>
      </p:pic>
      <p:pic>
        <p:nvPicPr>
          <p:cNvPr id="9" name="Image 5" descr="connector"/>
          <p:cNvPicPr>
            <a:picLocks noChangeAspect="1"/>
          </p:cNvPicPr>
          <p:nvPr/>
        </p:nvPicPr>
        <p:blipFill>
          <a:blip r:embed="rId7"/>
          <a:srcRect/>
          <a:stretch/>
        </p:blipFill>
        <p:spPr>
          <a:xfrm>
            <a:off x="6032500" y="2235200"/>
            <a:ext cx="127000" cy="342900"/>
          </a:xfrm>
          <a:prstGeom prst="rect">
            <a:avLst/>
          </a:prstGeom>
        </p:spPr>
      </p:pic>
      <p:pic>
        <p:nvPicPr>
          <p:cNvPr id="10" name="Image 6" descr="connector"/>
          <p:cNvPicPr>
            <a:picLocks noChangeAspect="1"/>
          </p:cNvPicPr>
          <p:nvPr/>
        </p:nvPicPr>
        <p:blipFill>
          <a:blip r:embed="rId8"/>
          <a:srcRect/>
          <a:stretch/>
        </p:blipFill>
        <p:spPr>
          <a:xfrm>
            <a:off x="6794500" y="4914900"/>
            <a:ext cx="127000" cy="228600"/>
          </a:xfrm>
          <a:prstGeom prst="rect">
            <a:avLst/>
          </a:prstGeom>
        </p:spPr>
      </p:pic>
      <p:sp>
        <p:nvSpPr>
          <p:cNvPr id="11" name="Text 2"/>
          <p:cNvSpPr/>
          <p:nvPr/>
        </p:nvSpPr>
        <p:spPr>
          <a:xfrm>
            <a:off x="1524000" y="4191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2F6FDB"/>
          </a:solidFill>
          <a:ln/>
        </p:spPr>
        <p:txBody>
          <a:bodyPr wrap="square" lIns="0" tIns="0" rIns="0" bIns="0" rtlCol="0" anchor="t">
            <a:normAutofit/>
          </a:bodyPr>
          <a:lstStyle/>
          <a:p>
            <a:pPr marL="0" indent="0" algn="ctr">
              <a:lnSpc>
                <a:spcPts val="6000"/>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12" name="Text 3"/>
          <p:cNvSpPr/>
          <p:nvPr/>
        </p:nvSpPr>
        <p:spPr>
          <a:xfrm>
            <a:off x="2921000" y="2540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F1</a:t>
            </a:r>
            <a:endParaRPr lang="en-US" sz="1500" dirty="0"/>
          </a:p>
        </p:txBody>
      </p:sp>
      <p:sp>
        <p:nvSpPr>
          <p:cNvPr id="13" name="Text 4"/>
          <p:cNvSpPr/>
          <p:nvPr/>
        </p:nvSpPr>
        <p:spPr>
          <a:xfrm>
            <a:off x="4318000" y="2540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F2</a:t>
            </a:r>
            <a:endParaRPr lang="en-US" sz="1500" dirty="0"/>
          </a:p>
        </p:txBody>
      </p:sp>
      <p:sp>
        <p:nvSpPr>
          <p:cNvPr id="14" name="Text 5"/>
          <p:cNvSpPr/>
          <p:nvPr/>
        </p:nvSpPr>
        <p:spPr>
          <a:xfrm>
            <a:off x="5715000" y="2540000"/>
            <a:ext cx="762000" cy="762000"/>
          </a:xfrm>
          <a:custGeom>
            <a:avLst/>
            <a:gdLst/>
            <a:ahLst/>
            <a:cxnLst/>
            <a:rect l="l" t="t" r="r" b="b"/>
            <a:pathLst>
              <a:path w="762000" h="762000">
                <a:moveTo>
                  <a:pt x="381000" y="0"/>
                </a:moveTo>
                <a:lnTo>
                  <a:pt x="381000" y="0"/>
                </a:lnTo>
                <a:arcTo wR="381000" hR="381000" stAng="16200000" swAng="5400000"/>
                <a:lnTo>
                  <a:pt x="762000" y="381000"/>
                </a:lnTo>
                <a:arcTo wR="381000" hR="381000" stAng="0" swAng="5400000"/>
                <a:lnTo>
                  <a:pt x="381000" y="762000"/>
                </a:lnTo>
                <a:arcTo wR="381000" hR="381000" stAng="5400000" swAng="5400000"/>
                <a:lnTo>
                  <a:pt x="0" y="381000"/>
                </a:lnTo>
                <a:arcTo wR="381000" hR="381000" stAng="10800000" swAng="5400000"/>
                <a:close/>
              </a:path>
            </a:pathLst>
          </a:custGeom>
          <a:solidFill>
            <a:srgbClr val="F08C4B"/>
          </a:solidFill>
          <a:ln/>
        </p:spPr>
        <p:txBody>
          <a:bodyPr wrap="square" lIns="0" tIns="0" rIns="0" bIns="0" rtlCol="0" anchor="t">
            <a:normAutofit/>
          </a:bodyPr>
          <a:lstStyle/>
          <a:p>
            <a:pPr marL="0" indent="0" algn="ctr">
              <a:lnSpc>
                <a:spcPts val="6000"/>
              </a:lnSpc>
              <a:buNone/>
            </a:pPr>
            <a:r>
              <a:rPr lang="en-US" sz="1500" b="1" dirty="0">
                <a:solidFill>
                  <a:srgbClr val="16202C"/>
                </a:solidFill>
                <a:latin typeface="JetBrains Mono" pitchFamily="34" charset="0"/>
                <a:ea typeface="JetBrains Mono" pitchFamily="34" charset="-122"/>
                <a:cs typeface="JetBrains Mono" pitchFamily="34" charset="-120"/>
              </a:rPr>
              <a:t>F3</a:t>
            </a:r>
            <a:endParaRPr lang="en-US" sz="1500" dirty="0"/>
          </a:p>
        </p:txBody>
      </p:sp>
      <p:sp>
        <p:nvSpPr>
          <p:cNvPr id="15" name="Text 6"/>
          <p:cNvSpPr/>
          <p:nvPr/>
        </p:nvSpPr>
        <p:spPr>
          <a:xfrm>
            <a:off x="6496050" y="4210050"/>
            <a:ext cx="723900" cy="723900"/>
          </a:xfrm>
          <a:custGeom>
            <a:avLst/>
            <a:gdLst/>
            <a:ahLst/>
            <a:cxnLst/>
            <a:rect l="l" t="t" r="r" b="b"/>
            <a:pathLst>
              <a:path w="723900" h="723900">
                <a:moveTo>
                  <a:pt x="361950" y="0"/>
                </a:moveTo>
                <a:lnTo>
                  <a:pt x="361950" y="0"/>
                </a:lnTo>
                <a:arcTo wR="361950" hR="361950" stAng="16200000" swAng="5400000"/>
                <a:lnTo>
                  <a:pt x="723900" y="361950"/>
                </a:lnTo>
                <a:arcTo wR="361950" hR="361950" stAng="0" swAng="5400000"/>
                <a:lnTo>
                  <a:pt x="361950" y="723900"/>
                </a:lnTo>
                <a:arcTo wR="361950" hR="361950" stAng="5400000" swAng="5400000"/>
                <a:lnTo>
                  <a:pt x="0" y="361950"/>
                </a:lnTo>
                <a:arcTo wR="361950" hR="361950" stAng="10800000" swAng="5400000"/>
                <a:close/>
              </a:path>
            </a:pathLst>
          </a:custGeom>
          <a:solidFill>
            <a:srgbClr val="F08C4B"/>
          </a:solidFill>
          <a:ln w="38100">
            <a:solidFill>
              <a:srgbClr val="16202C"/>
            </a:solidFill>
            <a:prstDash val="solid"/>
          </a:ln>
        </p:spPr>
        <p:txBody>
          <a:bodyPr wrap="square" lIns="0" tIns="19050" rIns="0" bIns="0" rtlCol="0" anchor="t">
            <a:normAutofit/>
          </a:bodyPr>
          <a:lstStyle/>
          <a:p>
            <a:pPr marL="0" indent="0" algn="ctr">
              <a:lnSpc>
                <a:spcPts val="5400"/>
              </a:lnSpc>
              <a:buNone/>
            </a:pPr>
            <a:r>
              <a:rPr lang="en-US" sz="1500" b="1" dirty="0">
                <a:solidFill>
                  <a:srgbClr val="16202C"/>
                </a:solidFill>
                <a:latin typeface="JetBrains Mono" pitchFamily="34" charset="0"/>
                <a:ea typeface="JetBrains Mono" pitchFamily="34" charset="-122"/>
                <a:cs typeface="JetBrains Mono" pitchFamily="34" charset="-120"/>
              </a:rPr>
              <a:t>S</a:t>
            </a:r>
            <a:endParaRPr lang="en-US" sz="1500" dirty="0"/>
          </a:p>
        </p:txBody>
      </p:sp>
      <p:sp>
        <p:nvSpPr>
          <p:cNvPr id="16" name="Text 7"/>
          <p:cNvSpPr/>
          <p:nvPr/>
        </p:nvSpPr>
        <p:spPr>
          <a:xfrm>
            <a:off x="5619750" y="1968500"/>
            <a:ext cx="952500" cy="330200"/>
          </a:xfrm>
          <a:custGeom>
            <a:avLst/>
            <a:gdLst/>
            <a:ahLst/>
            <a:cxnLst/>
            <a:rect l="l" t="t" r="r" b="b"/>
            <a:pathLst>
              <a:path w="952500" h="330200">
                <a:moveTo>
                  <a:pt x="165100" y="0"/>
                </a:moveTo>
                <a:lnTo>
                  <a:pt x="787400" y="0"/>
                </a:lnTo>
                <a:arcTo wR="165100" hR="165100" stAng="16200000" swAng="5400000"/>
                <a:lnTo>
                  <a:pt x="9525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feature</a:t>
            </a:r>
            <a:endParaRPr lang="en-US" sz="1300" dirty="0"/>
          </a:p>
        </p:txBody>
      </p:sp>
      <p:sp>
        <p:nvSpPr>
          <p:cNvPr id="17" name="Text 8"/>
          <p:cNvSpPr/>
          <p:nvPr/>
        </p:nvSpPr>
        <p:spPr>
          <a:xfrm>
            <a:off x="6350000" y="50800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8" name="Text 9"/>
          <p:cNvSpPr/>
          <p:nvPr/>
        </p:nvSpPr>
        <p:spPr>
          <a:xfrm>
            <a:off x="6667500" y="3556000"/>
            <a:ext cx="1003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sıkıştır</a:t>
            </a:r>
            <a:endParaRPr lang="en-US" sz="1300" dirty="0"/>
          </a:p>
        </p:txBody>
      </p:sp>
      <p:sp>
        <p:nvSpPr>
          <p:cNvPr id="19" name="Text 10"/>
          <p:cNvSpPr/>
          <p:nvPr/>
        </p:nvSpPr>
        <p:spPr>
          <a:xfrm>
            <a:off x="1016000" y="5207000"/>
            <a:ext cx="510159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S sıradan bir commit: tek parent'ı var (C1). F1-F3 master geçmişinde görünmez.</a:t>
            </a:r>
            <a:endParaRPr lang="en-US" sz="1300" dirty="0"/>
          </a:p>
        </p:txBody>
      </p:sp>
      <p:sp>
        <p:nvSpPr>
          <p:cNvPr id="20" name="Shape 11"/>
          <p:cNvSpPr/>
          <p:nvPr/>
        </p:nvSpPr>
        <p:spPr>
          <a:xfrm>
            <a:off x="7880350" y="1974850"/>
            <a:ext cx="3492500" cy="3136404"/>
          </a:xfrm>
          <a:prstGeom prst="roundRect">
            <a:avLst>
              <a:gd name="adj" fmla="val 3847"/>
            </a:avLst>
          </a:prstGeom>
          <a:solidFill>
            <a:srgbClr val="FDFCF9"/>
          </a:solidFill>
          <a:ln w="12700">
            <a:solidFill>
              <a:srgbClr val="E2DDD0"/>
            </a:solidFill>
            <a:prstDash val="solid"/>
          </a:ln>
        </p:spPr>
      </p:sp>
      <p:sp>
        <p:nvSpPr>
          <p:cNvPr id="21" name="Text 12"/>
          <p:cNvSpPr/>
          <p:nvPr/>
        </p:nvSpPr>
        <p:spPr>
          <a:xfrm>
            <a:off x="8140700" y="2235200"/>
            <a:ext cx="2971800" cy="1046361"/>
          </a:xfrm>
          <a:prstGeom prst="roundRect">
            <a:avLst>
              <a:gd name="adj" fmla="val 7282"/>
            </a:avLst>
          </a:prstGeom>
          <a:solidFill>
            <a:srgbClr val="16202C"/>
          </a:solidFill>
          <a:ln/>
        </p:spPr>
        <p:txBody>
          <a:bodyPr wrap="square" lIns="155482" tIns="104682" rIns="76996"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merge </a:t>
            </a:r>
            <a:r>
              <a:rPr lang="en-US" sz="1300" dirty="0">
                <a:solidFill>
                  <a:srgbClr val="F7A46B"/>
                </a:solidFill>
                <a:latin typeface="JetBrains Mono" pitchFamily="34" charset="0"/>
                <a:ea typeface="JetBrains Mono" pitchFamily="34" charset="-122"/>
                <a:cs typeface="JetBrains Mono" pitchFamily="34" charset="-120"/>
              </a:rPr>
              <a:t>--squash</a:t>
            </a:r>
            <a:r>
              <a:rPr lang="en-US" sz="1300" dirty="0">
                <a:solidFill>
                  <a:srgbClr val="F6F4EE"/>
                </a:solidFill>
                <a:latin typeface="JetBrains Mono" pitchFamily="34" charset="0"/>
                <a:ea typeface="JetBrains Mono" pitchFamily="34" charset="-122"/>
                <a:cs typeface="JetBrains Mono" pitchFamily="34" charset="-120"/>
              </a:rPr>
              <a:t> feature</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-m "feat: login"</a:t>
            </a:r>
            <a:endParaRPr lang="en-US" sz="1300" dirty="0"/>
          </a:p>
        </p:txBody>
      </p:sp>
      <p:pic>
        <p:nvPicPr>
          <p:cNvPr id="22" name="Image 7" descr="Warning"/>
          <p:cNvPicPr>
            <a:picLocks noChangeAspect="1"/>
          </p:cNvPicPr>
          <p:nvPr/>
        </p:nvPicPr>
        <p:blipFill>
          <a:blip r:embed="rId9"/>
          <a:srcRect/>
          <a:stretch/>
        </p:blipFill>
        <p:spPr>
          <a:xfrm>
            <a:off x="8140700" y="3409752"/>
            <a:ext cx="228600" cy="228600"/>
          </a:xfrm>
          <a:prstGeom prst="rect">
            <a:avLst/>
          </a:prstGeom>
        </p:spPr>
      </p:pic>
      <p:sp>
        <p:nvSpPr>
          <p:cNvPr id="23" name="Text 13"/>
          <p:cNvSpPr/>
          <p:nvPr/>
        </p:nvSpPr>
        <p:spPr>
          <a:xfrm>
            <a:off x="8445500" y="3408561"/>
            <a:ext cx="9423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İKİ TUZAK</a:t>
            </a:r>
            <a:endParaRPr lang="en-US" sz="1300" dirty="0"/>
          </a:p>
        </p:txBody>
      </p:sp>
      <p:sp>
        <p:nvSpPr>
          <p:cNvPr id="24" name="Text 14"/>
          <p:cNvSpPr/>
          <p:nvPr/>
        </p:nvSpPr>
        <p:spPr>
          <a:xfrm>
            <a:off x="8140700" y="3766641"/>
            <a:ext cx="306095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6202C"/>
                </a:solidFill>
                <a:latin typeface="IBM Plex Sans" pitchFamily="34" charset="0"/>
                <a:ea typeface="IBM Plex Sans" pitchFamily="34" charset="-122"/>
                <a:cs typeface="IBM Plex Sans" pitchFamily="34" charset="-120"/>
              </a:rPr>
              <a:t>1. --squash commit atmaz; değişiklikleri stage'e koyar, commit'i sen atarsın.</a:t>
            </a:r>
            <a:endParaRPr lang="en-US" sz="1300" dirty="0"/>
          </a:p>
        </p:txBody>
      </p:sp>
      <p:sp>
        <p:nvSpPr>
          <p:cNvPr id="25" name="Text 15"/>
          <p:cNvSpPr/>
          <p:nvPr/>
        </p:nvSpPr>
        <p:spPr>
          <a:xfrm>
            <a:off x="8140700" y="4372273"/>
            <a:ext cx="306095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6202C"/>
                </a:solidFill>
                <a:latin typeface="IBM Plex Sans" pitchFamily="34" charset="0"/>
                <a:ea typeface="IBM Plex Sans" pitchFamily="34" charset="-122"/>
                <a:cs typeface="IBM Plex Sans" pitchFamily="34" charset="-120"/>
              </a:rPr>
              <a:t>2. feature "birleşmiş" sayılmaz; silmek için </a:t>
            </a:r>
            <a:r>
              <a:rPr lang="en-US" sz="1300" b="1" dirty="0">
                <a:solidFill>
                  <a:srgbClr val="16202C"/>
                </a:solidFill>
                <a:latin typeface="IBM Plex Sans" pitchFamily="34" charset="0"/>
                <a:ea typeface="IBM Plex Sans" pitchFamily="34" charset="-122"/>
                <a:cs typeface="IBM Plex Sans" pitchFamily="34" charset="-120"/>
              </a:rPr>
              <a:t>git branch -D</a:t>
            </a:r>
            <a:r>
              <a:rPr lang="en-US" sz="1300" dirty="0">
                <a:solidFill>
                  <a:srgbClr val="16202C"/>
                </a:solidFill>
                <a:latin typeface="IBM Plex Sans" pitchFamily="34" charset="0"/>
                <a:ea typeface="IBM Plex Sans" pitchFamily="34" charset="-122"/>
                <a:cs typeface="IBM Plex Sans" pitchFamily="34" charset="-120"/>
              </a:rPr>
              <a:t> gerekir.</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5 · ARKA PLAN</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"ort" stratejisi nedir?</a:t>
            </a:r>
            <a:endParaRPr lang="en-US" sz="3600" dirty="0"/>
          </a:p>
        </p:txBody>
      </p:sp>
      <p:sp>
        <p:nvSpPr>
          <p:cNvPr id="4" name="Shape 2"/>
          <p:cNvSpPr/>
          <p:nvPr/>
        </p:nvSpPr>
        <p:spPr>
          <a:xfrm>
            <a:off x="812800" y="1953121"/>
            <a:ext cx="5207000" cy="2126555"/>
          </a:xfrm>
          <a:prstGeom prst="roundRect">
            <a:avLst>
              <a:gd name="adj" fmla="val 5972"/>
            </a:avLst>
          </a:prstGeom>
          <a:solidFill>
            <a:srgbClr val="EFECE3"/>
          </a:solidFill>
          <a:ln/>
        </p:spPr>
      </p:sp>
      <p:sp>
        <p:nvSpPr>
          <p:cNvPr id="5" name="Text 3"/>
          <p:cNvSpPr/>
          <p:nvPr/>
        </p:nvSpPr>
        <p:spPr>
          <a:xfrm>
            <a:off x="1066800" y="2207121"/>
            <a:ext cx="483997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ESKİ</a:t>
            </a:r>
            <a:endParaRPr lang="en-US" sz="1300" dirty="0"/>
          </a:p>
        </p:txBody>
      </p:sp>
      <p:sp>
        <p:nvSpPr>
          <p:cNvPr id="6" name="Text 4"/>
          <p:cNvSpPr/>
          <p:nvPr/>
        </p:nvSpPr>
        <p:spPr>
          <a:xfrm>
            <a:off x="1066800" y="2565202"/>
            <a:ext cx="483997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recursive</a:t>
            </a:r>
            <a:endParaRPr lang="en-US" sz="2000" dirty="0"/>
          </a:p>
        </p:txBody>
      </p:sp>
      <p:sp>
        <p:nvSpPr>
          <p:cNvPr id="7" name="Text 5"/>
          <p:cNvSpPr/>
          <p:nvPr/>
        </p:nvSpPr>
        <p:spPr>
          <a:xfrm>
            <a:off x="1066800" y="2997002"/>
            <a:ext cx="483997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Yıllarca varsayılan 3-way algoritmasıydı. Büyük ve rename yoğun repolarda yavaştı.</a:t>
            </a:r>
            <a:endParaRPr lang="en-US" sz="1500" dirty="0"/>
          </a:p>
        </p:txBody>
      </p:sp>
      <p:sp>
        <p:nvSpPr>
          <p:cNvPr id="8" name="Shape 6"/>
          <p:cNvSpPr/>
          <p:nvPr/>
        </p:nvSpPr>
        <p:spPr>
          <a:xfrm>
            <a:off x="6172200" y="1953121"/>
            <a:ext cx="5207000" cy="2126555"/>
          </a:xfrm>
          <a:prstGeom prst="roundRect">
            <a:avLst>
              <a:gd name="adj" fmla="val 5972"/>
            </a:avLst>
          </a:prstGeom>
          <a:solidFill>
            <a:srgbClr val="16202C"/>
          </a:solidFill>
          <a:ln/>
        </p:spPr>
      </p:sp>
      <p:sp>
        <p:nvSpPr>
          <p:cNvPr id="9" name="Text 7"/>
          <p:cNvSpPr/>
          <p:nvPr/>
        </p:nvSpPr>
        <p:spPr>
          <a:xfrm>
            <a:off x="6426200" y="2207121"/>
            <a:ext cx="483997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GÜNCEL VARSAYILAN (GIT 2.34+)</a:t>
            </a:r>
            <a:endParaRPr lang="en-US" sz="1300" dirty="0"/>
          </a:p>
        </p:txBody>
      </p:sp>
      <p:sp>
        <p:nvSpPr>
          <p:cNvPr id="10" name="Text 8"/>
          <p:cNvSpPr/>
          <p:nvPr/>
        </p:nvSpPr>
        <p:spPr>
          <a:xfrm>
            <a:off x="6426200" y="2565202"/>
            <a:ext cx="483997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ort</a:t>
            </a:r>
            <a:endParaRPr lang="en-US" sz="2000" dirty="0"/>
          </a:p>
        </p:txBody>
      </p:sp>
      <p:sp>
        <p:nvSpPr>
          <p:cNvPr id="11" name="Text 9"/>
          <p:cNvSpPr/>
          <p:nvPr/>
        </p:nvSpPr>
        <p:spPr>
          <a:xfrm>
            <a:off x="6426200" y="2997002"/>
            <a:ext cx="483997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Ostensibly Recursive's Twin: "görünüşte recursive'in ikizi". Aynı işi yeniden yazılmış, çok daha hızlı bir motorla yapar.</a:t>
            </a:r>
            <a:endParaRPr lang="en-US" sz="1500" dirty="0"/>
          </a:p>
        </p:txBody>
      </p:sp>
      <p:sp>
        <p:nvSpPr>
          <p:cNvPr id="12" name="Shape 10"/>
          <p:cNvSpPr/>
          <p:nvPr/>
        </p:nvSpPr>
        <p:spPr>
          <a:xfrm>
            <a:off x="819150" y="4390827"/>
            <a:ext cx="3407767" cy="830461"/>
          </a:xfrm>
          <a:prstGeom prst="roundRect">
            <a:avLst>
              <a:gd name="adj" fmla="val 11470"/>
            </a:avLst>
          </a:prstGeom>
          <a:solidFill>
            <a:srgbClr val="FDFCF9"/>
          </a:solidFill>
          <a:ln w="12700">
            <a:solidFill>
              <a:srgbClr val="E2DDD0"/>
            </a:solidFill>
            <a:prstDash val="solid"/>
          </a:ln>
        </p:spPr>
      </p:sp>
      <p:pic>
        <p:nvPicPr>
          <p:cNvPr id="13" name="Image 0" descr="Lightning"/>
          <p:cNvPicPr>
            <a:picLocks noChangeAspect="1"/>
          </p:cNvPicPr>
          <p:nvPr/>
        </p:nvPicPr>
        <p:blipFill>
          <a:blip r:embed="rId3"/>
          <a:srcRect/>
          <a:stretch/>
        </p:blipFill>
        <p:spPr>
          <a:xfrm>
            <a:off x="1003300" y="4666357"/>
            <a:ext cx="279400" cy="279400"/>
          </a:xfrm>
          <a:prstGeom prst="rect">
            <a:avLst/>
          </a:prstGeom>
        </p:spPr>
      </p:pic>
      <p:sp>
        <p:nvSpPr>
          <p:cNvPr id="14" name="Text 11"/>
          <p:cNvSpPr/>
          <p:nvPr/>
        </p:nvSpPr>
        <p:spPr>
          <a:xfrm>
            <a:off x="1384300" y="4690467"/>
            <a:ext cx="230440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Büyük projelerde katlarca hızlı</a:t>
            </a:r>
            <a:endParaRPr lang="en-US" sz="1300" dirty="0"/>
          </a:p>
        </p:txBody>
      </p:sp>
      <p:sp>
        <p:nvSpPr>
          <p:cNvPr id="15" name="Shape 12"/>
          <p:cNvSpPr/>
          <p:nvPr/>
        </p:nvSpPr>
        <p:spPr>
          <a:xfrm>
            <a:off x="4392017" y="4390827"/>
            <a:ext cx="3407866" cy="830461"/>
          </a:xfrm>
          <a:prstGeom prst="roundRect">
            <a:avLst>
              <a:gd name="adj" fmla="val 11470"/>
            </a:avLst>
          </a:prstGeom>
          <a:solidFill>
            <a:srgbClr val="FDFCF9"/>
          </a:solidFill>
          <a:ln w="12700">
            <a:solidFill>
              <a:srgbClr val="E2DDD0"/>
            </a:solidFill>
            <a:prstDash val="solid"/>
          </a:ln>
        </p:spPr>
      </p:sp>
      <p:pic>
        <p:nvPicPr>
          <p:cNvPr id="16" name="Image 1" descr="Search"/>
          <p:cNvPicPr>
            <a:picLocks noChangeAspect="1"/>
          </p:cNvPicPr>
          <p:nvPr/>
        </p:nvPicPr>
        <p:blipFill>
          <a:blip r:embed="rId4"/>
          <a:srcRect t="-380" b="-380"/>
          <a:stretch/>
        </p:blipFill>
        <p:spPr>
          <a:xfrm>
            <a:off x="4576167" y="4666357"/>
            <a:ext cx="182761" cy="279400"/>
          </a:xfrm>
          <a:prstGeom prst="rect">
            <a:avLst/>
          </a:prstGeom>
        </p:spPr>
      </p:pic>
      <p:sp>
        <p:nvSpPr>
          <p:cNvPr id="17" name="Text 13"/>
          <p:cNvSpPr/>
          <p:nvPr/>
        </p:nvSpPr>
        <p:spPr>
          <a:xfrm>
            <a:off x="4860528" y="4574977"/>
            <a:ext cx="283786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Taşınan ve yeniden adlandırılan dosyaları daha iyi yakalar</a:t>
            </a:r>
            <a:endParaRPr lang="en-US" sz="1300" dirty="0"/>
          </a:p>
        </p:txBody>
      </p:sp>
      <p:sp>
        <p:nvSpPr>
          <p:cNvPr id="18" name="Shape 14"/>
          <p:cNvSpPr/>
          <p:nvPr/>
        </p:nvSpPr>
        <p:spPr>
          <a:xfrm>
            <a:off x="7964984" y="4390827"/>
            <a:ext cx="3407866" cy="830461"/>
          </a:xfrm>
          <a:prstGeom prst="roundRect">
            <a:avLst>
              <a:gd name="adj" fmla="val 11470"/>
            </a:avLst>
          </a:prstGeom>
          <a:solidFill>
            <a:srgbClr val="FDFCF9"/>
          </a:solidFill>
          <a:ln w="12700">
            <a:solidFill>
              <a:srgbClr val="E2DDD0"/>
            </a:solidFill>
            <a:prstDash val="solid"/>
          </a:ln>
        </p:spPr>
      </p:sp>
      <p:pic>
        <p:nvPicPr>
          <p:cNvPr id="19" name="Image 2" descr="CheckCircle"/>
          <p:cNvPicPr>
            <a:picLocks noChangeAspect="1"/>
          </p:cNvPicPr>
          <p:nvPr/>
        </p:nvPicPr>
        <p:blipFill>
          <a:blip r:embed="rId5"/>
          <a:srcRect t="-608" b="-608"/>
          <a:stretch/>
        </p:blipFill>
        <p:spPr>
          <a:xfrm>
            <a:off x="8149134" y="4666357"/>
            <a:ext cx="244673" cy="279400"/>
          </a:xfrm>
          <a:prstGeom prst="rect">
            <a:avLst/>
          </a:prstGeom>
        </p:spPr>
      </p:pic>
      <p:sp>
        <p:nvSpPr>
          <p:cNvPr id="20" name="Text 15"/>
          <p:cNvSpPr/>
          <p:nvPr/>
        </p:nvSpPr>
        <p:spPr>
          <a:xfrm>
            <a:off x="8495407" y="4574977"/>
            <a:ext cx="277409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Conflict yönetiminde daha az hatalı sonuç</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5 · ÖZET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Hangi birleştirme ne bırakır?</a:t>
            </a:r>
            <a:endParaRPr lang="en-US" sz="3600" dirty="0"/>
          </a:p>
        </p:txBody>
      </p:sp>
      <p:sp>
        <p:nvSpPr>
          <p:cNvPr id="4" name="Shape 2"/>
          <p:cNvSpPr/>
          <p:nvPr/>
        </p:nvSpPr>
        <p:spPr>
          <a:xfrm>
            <a:off x="812800" y="1959471"/>
            <a:ext cx="10566400" cy="0"/>
          </a:xfrm>
          <a:prstGeom prst="line">
            <a:avLst/>
          </a:prstGeom>
          <a:noFill/>
          <a:ln w="12700">
            <a:solidFill>
              <a:srgbClr val="141413">
                <a:alpha val="22000"/>
              </a:srgbClr>
            </a:solidFill>
            <a:prstDash val="solid"/>
          </a:ln>
        </p:spPr>
      </p:sp>
      <p:sp>
        <p:nvSpPr>
          <p:cNvPr id="5" name="Shape 3"/>
          <p:cNvSpPr/>
          <p:nvPr/>
        </p:nvSpPr>
        <p:spPr>
          <a:xfrm>
            <a:off x="819150" y="1953121"/>
            <a:ext cx="0" cy="2833688"/>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2067421"/>
          <a:ext cx="10299700" cy="2617788"/>
        </p:xfrm>
        <a:graphic>
          <a:graphicData uri="http://schemas.openxmlformats.org/drawingml/2006/table">
            <a:tbl>
              <a:tblPr/>
              <a:tblGrid>
                <a:gridCol w="1544955">
                  <a:extLst>
                    <a:ext uri="{9D8B030D-6E8A-4147-A177-3AD203B41FA5}">
                      <a16:colId xmlns:a16="http://schemas.microsoft.com/office/drawing/2014/main" val="20000"/>
                    </a:ext>
                  </a:extLst>
                </a:gridCol>
                <a:gridCol w="2265934">
                  <a:extLst>
                    <a:ext uri="{9D8B030D-6E8A-4147-A177-3AD203B41FA5}">
                      <a16:colId xmlns:a16="http://schemas.microsoft.com/office/drawing/2014/main" val="20001"/>
                    </a:ext>
                  </a:extLst>
                </a:gridCol>
                <a:gridCol w="2162937">
                  <a:extLst>
                    <a:ext uri="{9D8B030D-6E8A-4147-A177-3AD203B41FA5}">
                      <a16:colId xmlns:a16="http://schemas.microsoft.com/office/drawing/2014/main" val="20002"/>
                    </a:ext>
                  </a:extLst>
                </a:gridCol>
                <a:gridCol w="1750949">
                  <a:extLst>
                    <a:ext uri="{9D8B030D-6E8A-4147-A177-3AD203B41FA5}">
                      <a16:colId xmlns:a16="http://schemas.microsoft.com/office/drawing/2014/main" val="20003"/>
                    </a:ext>
                  </a:extLst>
                </a:gridCol>
                <a:gridCol w="2574925">
                  <a:extLst>
                    <a:ext uri="{9D8B030D-6E8A-4147-A177-3AD203B41FA5}">
                      <a16:colId xmlns:a16="http://schemas.microsoft.com/office/drawing/2014/main" val="20004"/>
                    </a:ext>
                  </a:extLst>
                </a:gridCol>
              </a:tblGrid>
              <a:tr h="359271">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Tip</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Komut</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Yeni commit</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Geçmiş şekli</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Ne zaman?</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Fast-forward</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Yok</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Düz çizgi</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Hedef dal ilerlememişse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3-way</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Merge commit, 2 parent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Elmas</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İki dal da ilerlemişse</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--no-ff</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 --no-ff</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Her zaman merge commit</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Kabarcık</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Özelliği grup olarak saklamak</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590352">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--squash</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 --squash + commit</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Tek normal commit</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Düz, detay kaybolur</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Dağınık commit'leri temizlemek</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4"/>
                  </a:ext>
                </a:extLst>
              </a:tr>
              <a:tr h="590352">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Rebase + FF</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rebase + git merge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Yok, ama commit'ler yeniden yazılır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Düz çizgi</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Sadece paylaşılmamış dallarda</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6 · CONFLICT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Conflict neden çıkar?</a:t>
            </a:r>
            <a:endParaRPr lang="en-US" sz="3600" dirty="0"/>
          </a:p>
        </p:txBody>
      </p:sp>
      <p:sp>
        <p:nvSpPr>
          <p:cNvPr id="4" name="Shape 2"/>
          <p:cNvSpPr/>
          <p:nvPr/>
        </p:nvSpPr>
        <p:spPr>
          <a:xfrm>
            <a:off x="4070350" y="1959471"/>
            <a:ext cx="4051300" cy="942280"/>
          </a:xfrm>
          <a:prstGeom prst="roundRect">
            <a:avLst>
              <a:gd name="adj" fmla="val 10108"/>
            </a:avLst>
          </a:prstGeom>
          <a:solidFill>
            <a:srgbClr val="FDFCF9"/>
          </a:solidFill>
          <a:ln w="12700">
            <a:solidFill>
              <a:srgbClr val="E2DDD0"/>
            </a:solidFill>
            <a:prstDash val="solid"/>
          </a:ln>
        </p:spPr>
      </p:sp>
      <p:sp>
        <p:nvSpPr>
          <p:cNvPr id="5" name="Text 3"/>
          <p:cNvSpPr/>
          <p:nvPr/>
        </p:nvSpPr>
        <p:spPr>
          <a:xfrm>
            <a:off x="4279900" y="2143621"/>
            <a:ext cx="374116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ORTAK ATA · ortak-kod.txt</a:t>
            </a:r>
            <a:endParaRPr lang="en-US" sz="1300" dirty="0"/>
          </a:p>
        </p:txBody>
      </p:sp>
      <p:sp>
        <p:nvSpPr>
          <p:cNvPr id="6" name="Text 4"/>
          <p:cNvSpPr/>
          <p:nvPr/>
        </p:nvSpPr>
        <p:spPr>
          <a:xfrm>
            <a:off x="4279900" y="2450902"/>
            <a:ext cx="374116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JetBrains Mono" pitchFamily="34" charset="0"/>
                <a:ea typeface="JetBrains Mono" pitchFamily="34" charset="-122"/>
                <a:cs typeface="JetBrains Mono" pitchFamily="34" charset="-120"/>
              </a:rPr>
              <a:t>Satir 1: Orijinal Baslik</a:t>
            </a:r>
            <a:endParaRPr lang="en-US" sz="1500" dirty="0"/>
          </a:p>
        </p:txBody>
      </p:sp>
      <p:sp>
        <p:nvSpPr>
          <p:cNvPr id="7" name="Shape 5"/>
          <p:cNvSpPr/>
          <p:nvPr/>
        </p:nvSpPr>
        <p:spPr>
          <a:xfrm>
            <a:off x="819150" y="3219252"/>
            <a:ext cx="4941788" cy="942280"/>
          </a:xfrm>
          <a:prstGeom prst="roundRect">
            <a:avLst>
              <a:gd name="adj" fmla="val 10108"/>
            </a:avLst>
          </a:prstGeom>
          <a:solidFill>
            <a:srgbClr val="E3ECFB"/>
          </a:solidFill>
          <a:ln w="12700">
            <a:solidFill>
              <a:srgbClr val="2F6FDB"/>
            </a:solidFill>
            <a:prstDash val="solid"/>
          </a:ln>
        </p:spPr>
      </p:sp>
      <p:sp>
        <p:nvSpPr>
          <p:cNvPr id="8" name="Text 6"/>
          <p:cNvSpPr/>
          <p:nvPr/>
        </p:nvSpPr>
        <p:spPr>
          <a:xfrm>
            <a:off x="1028700" y="3403402"/>
            <a:ext cx="465836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MASTER DEĞİŞTİRDİ</a:t>
            </a:r>
            <a:endParaRPr lang="en-US" sz="1300" dirty="0"/>
          </a:p>
        </p:txBody>
      </p:sp>
      <p:sp>
        <p:nvSpPr>
          <p:cNvPr id="9" name="Text 7"/>
          <p:cNvSpPr/>
          <p:nvPr/>
        </p:nvSpPr>
        <p:spPr>
          <a:xfrm>
            <a:off x="1028700" y="3710682"/>
            <a:ext cx="465836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JetBrains Mono" pitchFamily="34" charset="0"/>
                <a:ea typeface="JetBrains Mono" pitchFamily="34" charset="-122"/>
                <a:cs typeface="JetBrains Mono" pitchFamily="34" charset="-120"/>
              </a:rPr>
              <a:t>Satir 1: Master Basligi</a:t>
            </a:r>
            <a:endParaRPr lang="en-US" sz="1500" dirty="0"/>
          </a:p>
        </p:txBody>
      </p:sp>
      <p:sp>
        <p:nvSpPr>
          <p:cNvPr id="10" name="Text 8"/>
          <p:cNvSpPr/>
          <p:nvPr/>
        </p:nvSpPr>
        <p:spPr>
          <a:xfrm>
            <a:off x="5970488" y="3370362"/>
            <a:ext cx="301724"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B8430A"/>
                </a:solidFill>
                <a:latin typeface="Space Grotesk" pitchFamily="34" charset="0"/>
                <a:ea typeface="Space Grotesk" pitchFamily="34" charset="-122"/>
                <a:cs typeface="Space Grotesk" pitchFamily="34" charset="-120"/>
              </a:rPr>
              <a:t>≠</a:t>
            </a:r>
            <a:endParaRPr lang="en-US" sz="3600" dirty="0"/>
          </a:p>
        </p:txBody>
      </p:sp>
      <p:sp>
        <p:nvSpPr>
          <p:cNvPr id="11" name="Shape 9"/>
          <p:cNvSpPr/>
          <p:nvPr/>
        </p:nvSpPr>
        <p:spPr>
          <a:xfrm>
            <a:off x="6430963" y="3219252"/>
            <a:ext cx="4941888" cy="942280"/>
          </a:xfrm>
          <a:prstGeom prst="roundRect">
            <a:avLst>
              <a:gd name="adj" fmla="val 10108"/>
            </a:avLst>
          </a:prstGeom>
          <a:solidFill>
            <a:srgbClr val="FBE9DC"/>
          </a:solidFill>
          <a:ln w="12700">
            <a:solidFill>
              <a:srgbClr val="F08C4B"/>
            </a:solidFill>
            <a:prstDash val="solid"/>
          </a:ln>
        </p:spPr>
      </p:sp>
      <p:sp>
        <p:nvSpPr>
          <p:cNvPr id="12" name="Text 10"/>
          <p:cNvSpPr/>
          <p:nvPr/>
        </p:nvSpPr>
        <p:spPr>
          <a:xfrm>
            <a:off x="6640513" y="3403402"/>
            <a:ext cx="465847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FEATURE DEĞİŞTİRDİ</a:t>
            </a:r>
            <a:endParaRPr lang="en-US" sz="1300" dirty="0"/>
          </a:p>
        </p:txBody>
      </p:sp>
      <p:sp>
        <p:nvSpPr>
          <p:cNvPr id="13" name="Text 11"/>
          <p:cNvSpPr/>
          <p:nvPr/>
        </p:nvSpPr>
        <p:spPr>
          <a:xfrm>
            <a:off x="6640513" y="3710682"/>
            <a:ext cx="465847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JetBrains Mono" pitchFamily="34" charset="0"/>
                <a:ea typeface="JetBrains Mono" pitchFamily="34" charset="-122"/>
                <a:cs typeface="JetBrains Mono" pitchFamily="34" charset="-120"/>
              </a:rPr>
              <a:t>Satir 1: Feature Basligi</a:t>
            </a:r>
            <a:endParaRPr lang="en-US" sz="1500" dirty="0"/>
          </a:p>
        </p:txBody>
      </p:sp>
      <p:sp>
        <p:nvSpPr>
          <p:cNvPr id="14" name="Shape 12"/>
          <p:cNvSpPr/>
          <p:nvPr/>
        </p:nvSpPr>
        <p:spPr>
          <a:xfrm>
            <a:off x="812800" y="4472682"/>
            <a:ext cx="10566400" cy="660400"/>
          </a:xfrm>
          <a:prstGeom prst="roundRect">
            <a:avLst>
              <a:gd name="adj" fmla="val 15385"/>
            </a:avLst>
          </a:prstGeom>
          <a:solidFill>
            <a:srgbClr val="16202C"/>
          </a:solidFill>
          <a:ln/>
        </p:spPr>
      </p:sp>
      <p:pic>
        <p:nvPicPr>
          <p:cNvPr id="15" name="Image 0" descr="Warning"/>
          <p:cNvPicPr>
            <a:picLocks noChangeAspect="1"/>
          </p:cNvPicPr>
          <p:nvPr/>
        </p:nvPicPr>
        <p:blipFill>
          <a:blip r:embed="rId3"/>
          <a:srcRect/>
          <a:stretch/>
        </p:blipFill>
        <p:spPr>
          <a:xfrm>
            <a:off x="1066800" y="4650482"/>
            <a:ext cx="304800" cy="304800"/>
          </a:xfrm>
          <a:prstGeom prst="rect">
            <a:avLst/>
          </a:prstGeom>
        </p:spPr>
      </p:pic>
      <p:sp>
        <p:nvSpPr>
          <p:cNvPr id="16" name="Text 13"/>
          <p:cNvSpPr/>
          <p:nvPr/>
        </p:nvSpPr>
        <p:spPr>
          <a:xfrm>
            <a:off x="1498600" y="4669532"/>
            <a:ext cx="83257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Aynı satır, iki farklı değişiklik.</a:t>
            </a:r>
            <a:r>
              <a:rPr lang="en-US" sz="1500" dirty="0">
                <a:solidFill>
                  <a:srgbClr val="F6F4EE"/>
                </a:solidFill>
                <a:latin typeface="IBM Plex Sans" pitchFamily="34" charset="0"/>
                <a:ea typeface="IBM Plex Sans" pitchFamily="34" charset="-122"/>
                <a:cs typeface="IBM Plex Sans" pitchFamily="34" charset="-120"/>
              </a:rPr>
              <a:t> Ortak ata "kim haklı?" sorusunu cevaplayamaz; karar sana kalır.</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4EE"/>
        </a:solidFill>
        <a:effectLst/>
      </p:bgPr>
    </p:bg>
    <p:spTree>
      <p:nvGrpSpPr>
        <p:cNvPr id="1" name=""/>
        <p:cNvGrpSpPr/>
        <p:nvPr/>
      </p:nvGrpSpPr>
      <p:grpSpPr>
        <a:xfrm>
          <a:off x="0" y="0"/>
          <a:ext cx="0" cy="0"/>
          <a:chOff x="0" y="0"/>
          <a:chExt cx="0" cy="0"/>
        </a:xfrm>
      </p:grpSpPr>
      <p:pic>
        <p:nvPicPr>
          <p:cNvPr id="2" name="Image 0" descr="Play"/>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417430"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CANLI DEMO · CONFLICT</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Çakışmayı bilerek oluşturalım</a:t>
            </a:r>
            <a:endParaRPr lang="en-US" sz="3600" dirty="0"/>
          </a:p>
        </p:txBody>
      </p:sp>
      <p:sp>
        <p:nvSpPr>
          <p:cNvPr id="5" name="Text 2"/>
          <p:cNvSpPr/>
          <p:nvPr/>
        </p:nvSpPr>
        <p:spPr>
          <a:xfrm>
            <a:off x="812800" y="1953121"/>
            <a:ext cx="5207000" cy="2732683"/>
          </a:xfrm>
          <a:prstGeom prst="roundRect">
            <a:avLst>
              <a:gd name="adj" fmla="val 3718"/>
            </a:avLst>
          </a:prstGeom>
          <a:solidFill>
            <a:srgbClr val="16202C"/>
          </a:solidFill>
          <a:ln/>
        </p:spPr>
        <p:txBody>
          <a:bodyPr wrap="square" lIns="198842" tIns="148042" rIns="56348" bIns="122642" rtlCol="0" anchor="t">
            <a:normAutofit/>
          </a:bodyPr>
          <a:lstStyle/>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1) master: ortak dosya</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master</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echo "Satir 1: Orijinal Baslik" &gt; ortak-kod.txt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add ortak-kod.txt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-m "chore: orijinal"</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2) feature: aynı satırı değiştir</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-c feature</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echo "Satir 1: Feature Basligi" &gt; ortak-kod.txt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-am "feat: feature basligi"</a:t>
            </a:r>
            <a:endParaRPr lang="en-US" sz="1300" dirty="0"/>
          </a:p>
        </p:txBody>
      </p:sp>
      <p:sp>
        <p:nvSpPr>
          <p:cNvPr id="6" name="Text 3"/>
          <p:cNvSpPr/>
          <p:nvPr/>
        </p:nvSpPr>
        <p:spPr>
          <a:xfrm>
            <a:off x="6172200" y="1953121"/>
            <a:ext cx="5207000" cy="2732683"/>
          </a:xfrm>
          <a:prstGeom prst="roundRect">
            <a:avLst>
              <a:gd name="adj" fmla="val 3718"/>
            </a:avLst>
          </a:prstGeom>
          <a:solidFill>
            <a:srgbClr val="16202C"/>
          </a:solidFill>
          <a:ln/>
        </p:spPr>
        <p:txBody>
          <a:bodyPr wrap="square" lIns="198842" tIns="148042" rIns="56348" bIns="122642" rtlCol="0" anchor="t">
            <a:normAutofit/>
          </a:bodyPr>
          <a:lstStyle/>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3) master: aynı satırı farklı değiştir</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master</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echo "Satir 1: Master Basligi" &gt; ortak-kod.txt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-am "feat: master basligi"</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4) master üzerindeyken birleştir</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merge feature</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CONFLICT (content): Merge conflict</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in ortak-kod.txt</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6 · CONFLICT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İşaretleri okumayı öğrenmek</a:t>
            </a:r>
            <a:endParaRPr lang="en-US" sz="3600" dirty="0"/>
          </a:p>
        </p:txBody>
      </p:sp>
      <p:sp>
        <p:nvSpPr>
          <p:cNvPr id="4" name="Text 2"/>
          <p:cNvSpPr/>
          <p:nvPr/>
        </p:nvSpPr>
        <p:spPr>
          <a:xfrm>
            <a:off x="812800" y="1953121"/>
            <a:ext cx="4826000" cy="469900"/>
          </a:xfrm>
          <a:prstGeom prst="roundRect">
            <a:avLst>
              <a:gd name="adj" fmla="val 10811"/>
            </a:avLst>
          </a:prstGeom>
          <a:solidFill>
            <a:srgbClr val="1F3A66"/>
          </a:solidFill>
          <a:ln/>
        </p:spPr>
        <p:txBody>
          <a:bodyPr wrap="square" lIns="162921" tIns="86721" rIns="28809" bIns="61321" rtlCol="0" anchor="t">
            <a:normAutofit/>
          </a:bodyPr>
          <a:lstStyle/>
          <a:p>
            <a:pPr marL="0" indent="0" algn="l">
              <a:lnSpc>
                <a:spcPts val="2100"/>
              </a:lnSpc>
              <a:buNone/>
            </a:pPr>
            <a:r>
              <a:rPr lang="en-US" sz="1500" dirty="0">
                <a:solidFill>
                  <a:srgbClr val="F6F4EE"/>
                </a:solidFill>
                <a:latin typeface="JetBrains Mono" pitchFamily="34" charset="0"/>
                <a:ea typeface="JetBrains Mono" pitchFamily="34" charset="-122"/>
                <a:cs typeface="JetBrains Mono" pitchFamily="34" charset="-120"/>
              </a:rPr>
              <a:t>&lt;&lt;&lt;&lt;&lt;&lt;&lt; HEAD</a:t>
            </a:r>
            <a:endParaRPr lang="en-US" sz="1500" dirty="0"/>
          </a:p>
        </p:txBody>
      </p:sp>
      <p:sp>
        <p:nvSpPr>
          <p:cNvPr id="5" name="Text 3"/>
          <p:cNvSpPr/>
          <p:nvPr/>
        </p:nvSpPr>
        <p:spPr>
          <a:xfrm>
            <a:off x="5842000" y="2054721"/>
            <a:ext cx="570331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6FDB"/>
                </a:solidFill>
                <a:latin typeface="IBM Plex Sans" pitchFamily="34" charset="0"/>
                <a:ea typeface="IBM Plex Sans" pitchFamily="34" charset="-122"/>
                <a:cs typeface="IBM Plex Sans" pitchFamily="34" charset="-120"/>
              </a:rPr>
              <a:t>Başlangıç:</a:t>
            </a:r>
            <a:r>
              <a:rPr lang="en-US" sz="1500" dirty="0">
                <a:solidFill>
                  <a:srgbClr val="2F6FDB"/>
                </a:solidFill>
                <a:latin typeface="IBM Plex Sans" pitchFamily="34" charset="0"/>
                <a:ea typeface="IBM Plex Sans" pitchFamily="34" charset="-122"/>
                <a:cs typeface="IBM Plex Sans" pitchFamily="34" charset="-120"/>
              </a:rPr>
              <a:t> bulunduğun dal (master)</a:t>
            </a:r>
            <a:endParaRPr lang="en-US" sz="1500" dirty="0"/>
          </a:p>
        </p:txBody>
      </p:sp>
      <p:sp>
        <p:nvSpPr>
          <p:cNvPr id="6" name="Text 4"/>
          <p:cNvSpPr/>
          <p:nvPr/>
        </p:nvSpPr>
        <p:spPr>
          <a:xfrm>
            <a:off x="812800" y="2473821"/>
            <a:ext cx="4826000" cy="469900"/>
          </a:xfrm>
          <a:prstGeom prst="roundRect">
            <a:avLst>
              <a:gd name="adj" fmla="val 10811"/>
            </a:avLst>
          </a:prstGeom>
          <a:solidFill>
            <a:srgbClr val="1F3A66"/>
          </a:solidFill>
          <a:ln/>
        </p:spPr>
        <p:txBody>
          <a:bodyPr wrap="square" lIns="162921" tIns="86721" rIns="28809" bIns="61321" rtlCol="0" anchor="t">
            <a:normAutofit/>
          </a:bodyPr>
          <a:lstStyle/>
          <a:p>
            <a:pPr marL="0" indent="0" algn="l">
              <a:lnSpc>
                <a:spcPts val="2100"/>
              </a:lnSpc>
              <a:buNone/>
            </a:pPr>
            <a:r>
              <a:rPr lang="en-US" sz="1500" dirty="0">
                <a:solidFill>
                  <a:srgbClr val="F6F4EE"/>
                </a:solidFill>
                <a:latin typeface="JetBrains Mono" pitchFamily="34" charset="0"/>
                <a:ea typeface="JetBrains Mono" pitchFamily="34" charset="-122"/>
                <a:cs typeface="JetBrains Mono" pitchFamily="34" charset="-120"/>
              </a:rPr>
              <a:t>Satir 1: Master Basligi</a:t>
            </a:r>
            <a:endParaRPr lang="en-US" sz="1500" dirty="0"/>
          </a:p>
        </p:txBody>
      </p:sp>
      <p:sp>
        <p:nvSpPr>
          <p:cNvPr id="7" name="Text 5"/>
          <p:cNvSpPr/>
          <p:nvPr/>
        </p:nvSpPr>
        <p:spPr>
          <a:xfrm>
            <a:off x="5842000" y="2575421"/>
            <a:ext cx="570331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6"/>
                </a:solidFill>
                <a:latin typeface="IBM Plex Sans" pitchFamily="34" charset="0"/>
                <a:ea typeface="IBM Plex Sans" pitchFamily="34" charset="-122"/>
                <a:cs typeface="IBM Plex Sans" pitchFamily="34" charset="-120"/>
              </a:rPr>
              <a:t>senin versiyonun</a:t>
            </a:r>
            <a:endParaRPr lang="en-US" sz="1500" dirty="0"/>
          </a:p>
        </p:txBody>
      </p:sp>
      <p:sp>
        <p:nvSpPr>
          <p:cNvPr id="8" name="Text 6"/>
          <p:cNvSpPr/>
          <p:nvPr/>
        </p:nvSpPr>
        <p:spPr>
          <a:xfrm>
            <a:off x="812800" y="2994521"/>
            <a:ext cx="4826000" cy="469900"/>
          </a:xfrm>
          <a:prstGeom prst="roundRect">
            <a:avLst>
              <a:gd name="adj" fmla="val 10811"/>
            </a:avLst>
          </a:prstGeom>
          <a:solidFill>
            <a:srgbClr val="16202C"/>
          </a:solidFill>
          <a:ln/>
        </p:spPr>
        <p:txBody>
          <a:bodyPr wrap="square" lIns="162921" tIns="86721" rIns="28809" bIns="61321" rtlCol="0" anchor="t">
            <a:normAutofit/>
          </a:bodyPr>
          <a:lstStyle/>
          <a:p>
            <a:pPr marL="0" indent="0" algn="l">
              <a:lnSpc>
                <a:spcPts val="2100"/>
              </a:lnSpc>
              <a:buNone/>
            </a:pPr>
            <a:r>
              <a:rPr lang="en-US" sz="1500" dirty="0">
                <a:solidFill>
                  <a:srgbClr val="F6F4EE"/>
                </a:solidFill>
                <a:latin typeface="JetBrains Mono" pitchFamily="34" charset="0"/>
                <a:ea typeface="JetBrains Mono" pitchFamily="34" charset="-122"/>
                <a:cs typeface="JetBrains Mono" pitchFamily="34" charset="-120"/>
              </a:rPr>
              <a:t>=======</a:t>
            </a:r>
            <a:endParaRPr lang="en-US" sz="1500" dirty="0"/>
          </a:p>
        </p:txBody>
      </p:sp>
      <p:sp>
        <p:nvSpPr>
          <p:cNvPr id="9" name="Text 7"/>
          <p:cNvSpPr/>
          <p:nvPr/>
        </p:nvSpPr>
        <p:spPr>
          <a:xfrm>
            <a:off x="5842000" y="3096121"/>
            <a:ext cx="570331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Ayraç</a:t>
            </a:r>
            <a:endParaRPr lang="en-US" sz="1500" dirty="0"/>
          </a:p>
        </p:txBody>
      </p:sp>
      <p:sp>
        <p:nvSpPr>
          <p:cNvPr id="10" name="Text 8"/>
          <p:cNvSpPr/>
          <p:nvPr/>
        </p:nvSpPr>
        <p:spPr>
          <a:xfrm>
            <a:off x="812800" y="3515221"/>
            <a:ext cx="4826000" cy="469900"/>
          </a:xfrm>
          <a:prstGeom prst="roundRect">
            <a:avLst>
              <a:gd name="adj" fmla="val 10811"/>
            </a:avLst>
          </a:prstGeom>
          <a:solidFill>
            <a:srgbClr val="5A2E14"/>
          </a:solidFill>
          <a:ln/>
        </p:spPr>
        <p:txBody>
          <a:bodyPr wrap="square" lIns="162921" tIns="86721" rIns="28809" bIns="61321" rtlCol="0" anchor="t">
            <a:normAutofit/>
          </a:bodyPr>
          <a:lstStyle/>
          <a:p>
            <a:pPr marL="0" indent="0" algn="l">
              <a:lnSpc>
                <a:spcPts val="2100"/>
              </a:lnSpc>
              <a:buNone/>
            </a:pPr>
            <a:r>
              <a:rPr lang="en-US" sz="1500" dirty="0">
                <a:solidFill>
                  <a:srgbClr val="F6F4EE"/>
                </a:solidFill>
                <a:latin typeface="JetBrains Mono" pitchFamily="34" charset="0"/>
                <a:ea typeface="JetBrains Mono" pitchFamily="34" charset="-122"/>
                <a:cs typeface="JetBrains Mono" pitchFamily="34" charset="-120"/>
              </a:rPr>
              <a:t>Satir 1: Feature Basligi</a:t>
            </a:r>
            <a:endParaRPr lang="en-US" sz="1500" dirty="0"/>
          </a:p>
        </p:txBody>
      </p:sp>
      <p:sp>
        <p:nvSpPr>
          <p:cNvPr id="11" name="Text 9"/>
          <p:cNvSpPr/>
          <p:nvPr/>
        </p:nvSpPr>
        <p:spPr>
          <a:xfrm>
            <a:off x="5842000" y="3616821"/>
            <a:ext cx="570331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6"/>
                </a:solidFill>
                <a:latin typeface="IBM Plex Sans" pitchFamily="34" charset="0"/>
                <a:ea typeface="IBM Plex Sans" pitchFamily="34" charset="-122"/>
                <a:cs typeface="IBM Plex Sans" pitchFamily="34" charset="-120"/>
              </a:rPr>
              <a:t>gelen versiyon</a:t>
            </a:r>
            <a:endParaRPr lang="en-US" sz="1500" dirty="0"/>
          </a:p>
        </p:txBody>
      </p:sp>
      <p:sp>
        <p:nvSpPr>
          <p:cNvPr id="12" name="Text 10"/>
          <p:cNvSpPr/>
          <p:nvPr/>
        </p:nvSpPr>
        <p:spPr>
          <a:xfrm>
            <a:off x="812800" y="4035921"/>
            <a:ext cx="4826000" cy="469900"/>
          </a:xfrm>
          <a:prstGeom prst="roundRect">
            <a:avLst>
              <a:gd name="adj" fmla="val 10811"/>
            </a:avLst>
          </a:prstGeom>
          <a:solidFill>
            <a:srgbClr val="5A2E14"/>
          </a:solidFill>
          <a:ln/>
        </p:spPr>
        <p:txBody>
          <a:bodyPr wrap="square" lIns="162921" tIns="86721" rIns="28809" bIns="61321" rtlCol="0" anchor="t">
            <a:normAutofit/>
          </a:bodyPr>
          <a:lstStyle/>
          <a:p>
            <a:pPr marL="0" indent="0" algn="l">
              <a:lnSpc>
                <a:spcPts val="2100"/>
              </a:lnSpc>
              <a:buNone/>
            </a:pPr>
            <a:r>
              <a:rPr lang="en-US" sz="1500" dirty="0">
                <a:solidFill>
                  <a:srgbClr val="F6F4EE"/>
                </a:solidFill>
                <a:latin typeface="JetBrains Mono" pitchFamily="34" charset="0"/>
                <a:ea typeface="JetBrains Mono" pitchFamily="34" charset="-122"/>
                <a:cs typeface="JetBrains Mono" pitchFamily="34" charset="-120"/>
              </a:rPr>
              <a:t>&gt;&gt;&gt;&gt;&gt;&gt;&gt; feature</a:t>
            </a:r>
            <a:endParaRPr lang="en-US" sz="1500" dirty="0"/>
          </a:p>
        </p:txBody>
      </p:sp>
      <p:sp>
        <p:nvSpPr>
          <p:cNvPr id="13" name="Text 11"/>
          <p:cNvSpPr/>
          <p:nvPr/>
        </p:nvSpPr>
        <p:spPr>
          <a:xfrm>
            <a:off x="5842000" y="4137521"/>
            <a:ext cx="570331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8430A"/>
                </a:solidFill>
                <a:latin typeface="IBM Plex Sans" pitchFamily="34" charset="0"/>
                <a:ea typeface="IBM Plex Sans" pitchFamily="34" charset="-122"/>
                <a:cs typeface="IBM Plex Sans" pitchFamily="34" charset="-120"/>
              </a:rPr>
              <a:t>Bitiş:</a:t>
            </a:r>
            <a:r>
              <a:rPr lang="en-US" sz="1500" dirty="0">
                <a:solidFill>
                  <a:srgbClr val="B8430A"/>
                </a:solidFill>
                <a:latin typeface="IBM Plex Sans" pitchFamily="34" charset="0"/>
                <a:ea typeface="IBM Plex Sans" pitchFamily="34" charset="-122"/>
                <a:cs typeface="IBM Plex Sans" pitchFamily="34" charset="-120"/>
              </a:rPr>
              <a:t> birleştirilen dal (feature)</a:t>
            </a:r>
            <a:endParaRPr lang="en-US" sz="1500" dirty="0"/>
          </a:p>
        </p:txBody>
      </p:sp>
      <p:sp>
        <p:nvSpPr>
          <p:cNvPr id="14" name="Shape 12"/>
          <p:cNvSpPr/>
          <p:nvPr/>
        </p:nvSpPr>
        <p:spPr>
          <a:xfrm>
            <a:off x="812800" y="4810621"/>
            <a:ext cx="10566400" cy="584200"/>
          </a:xfrm>
          <a:prstGeom prst="roundRect">
            <a:avLst>
              <a:gd name="adj" fmla="val 17391"/>
            </a:avLst>
          </a:prstGeom>
          <a:solidFill>
            <a:srgbClr val="FBE9DC"/>
          </a:solidFill>
          <a:ln/>
        </p:spPr>
      </p:sp>
      <p:pic>
        <p:nvPicPr>
          <p:cNvPr id="15" name="Image 0" descr="Wrench"/>
          <p:cNvPicPr>
            <a:picLocks noChangeAspect="1"/>
          </p:cNvPicPr>
          <p:nvPr/>
        </p:nvPicPr>
        <p:blipFill>
          <a:blip r:embed="rId3"/>
          <a:srcRect/>
          <a:stretch/>
        </p:blipFill>
        <p:spPr>
          <a:xfrm>
            <a:off x="1016000" y="4963021"/>
            <a:ext cx="279400" cy="279400"/>
          </a:xfrm>
          <a:prstGeom prst="rect">
            <a:avLst/>
          </a:prstGeom>
        </p:spPr>
      </p:pic>
      <p:sp>
        <p:nvSpPr>
          <p:cNvPr id="16" name="Text 13"/>
          <p:cNvSpPr/>
          <p:nvPr/>
        </p:nvSpPr>
        <p:spPr>
          <a:xfrm>
            <a:off x="1397000" y="4969371"/>
            <a:ext cx="672148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Görevin:</a:t>
            </a:r>
            <a:r>
              <a:rPr lang="en-US" sz="1500" dirty="0">
                <a:solidFill>
                  <a:srgbClr val="16202C"/>
                </a:solidFill>
                <a:latin typeface="IBM Plex Sans" pitchFamily="34" charset="0"/>
                <a:ea typeface="IBM Plex Sans" pitchFamily="34" charset="-122"/>
                <a:cs typeface="IBM Plex Sans" pitchFamily="34" charset="-120"/>
              </a:rPr>
              <a:t> üç işaret satırını sil, dosyanın olması gereken son halini yaz, kaydet.</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6 · CONFLICT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Üç çözüm yolu</a:t>
            </a:r>
            <a:endParaRPr lang="en-US" sz="3600" dirty="0"/>
          </a:p>
        </p:txBody>
      </p:sp>
      <p:sp>
        <p:nvSpPr>
          <p:cNvPr id="4" name="Text 2"/>
          <p:cNvSpPr/>
          <p:nvPr/>
        </p:nvSpPr>
        <p:spPr>
          <a:xfrm>
            <a:off x="812800" y="2132112"/>
            <a:ext cx="32702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1 · Elle birleştir</a:t>
            </a:r>
            <a:endParaRPr lang="en-US" sz="2000" dirty="0"/>
          </a:p>
        </p:txBody>
      </p:sp>
      <p:sp>
        <p:nvSpPr>
          <p:cNvPr id="5" name="Text 3"/>
          <p:cNvSpPr/>
          <p:nvPr/>
        </p:nvSpPr>
        <p:spPr>
          <a:xfrm>
            <a:off x="812800" y="2487712"/>
            <a:ext cx="32702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İki satırı harmanla, işaretleri sil.</a:t>
            </a:r>
            <a:endParaRPr lang="en-US" sz="1300" dirty="0"/>
          </a:p>
        </p:txBody>
      </p:sp>
      <p:sp>
        <p:nvSpPr>
          <p:cNvPr id="6" name="Text 4"/>
          <p:cNvSpPr/>
          <p:nvPr/>
        </p:nvSpPr>
        <p:spPr>
          <a:xfrm>
            <a:off x="4140200" y="1902321"/>
            <a:ext cx="7239000" cy="1046361"/>
          </a:xfrm>
          <a:prstGeom prst="roundRect">
            <a:avLst>
              <a:gd name="adj" fmla="val 7282"/>
            </a:avLst>
          </a:prstGeom>
          <a:solidFill>
            <a:srgbClr val="16202C"/>
          </a:solidFill>
          <a:ln/>
        </p:spPr>
        <p:txBody>
          <a:bodyPr wrap="square" lIns="180882" tIns="104682" rIns="0" bIns="79282" rtlCol="0" anchor="t">
            <a:normAutofit/>
          </a:bodyPr>
          <a:lstStyle/>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dosya: Satir 1: Master ve Feature Birlesik Basligi</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add ortak-kod.txt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-m "fix: merge conflict cozuldu"</a:t>
            </a:r>
            <a:endParaRPr lang="en-US" sz="1300" dirty="0"/>
          </a:p>
        </p:txBody>
      </p:sp>
      <p:sp>
        <p:nvSpPr>
          <p:cNvPr id="7" name="Text 5"/>
          <p:cNvSpPr/>
          <p:nvPr/>
        </p:nvSpPr>
        <p:spPr>
          <a:xfrm>
            <a:off x="812800" y="3432473"/>
            <a:ext cx="32702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2 · Bir taraf seç</a:t>
            </a:r>
            <a:endParaRPr lang="en-US" sz="2000" dirty="0"/>
          </a:p>
        </p:txBody>
      </p:sp>
      <p:sp>
        <p:nvSpPr>
          <p:cNvPr id="8" name="Text 6"/>
          <p:cNvSpPr/>
          <p:nvPr/>
        </p:nvSpPr>
        <p:spPr>
          <a:xfrm>
            <a:off x="812800" y="3788073"/>
            <a:ext cx="32702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Tek komutla bizimki ya da onlarınki.</a:t>
            </a:r>
            <a:endParaRPr lang="en-US" sz="1300" dirty="0"/>
          </a:p>
        </p:txBody>
      </p:sp>
      <p:sp>
        <p:nvSpPr>
          <p:cNvPr id="9" name="Text 7"/>
          <p:cNvSpPr/>
          <p:nvPr/>
        </p:nvSpPr>
        <p:spPr>
          <a:xfrm>
            <a:off x="4140200" y="3202682"/>
            <a:ext cx="7239000" cy="1046361"/>
          </a:xfrm>
          <a:prstGeom prst="roundRect">
            <a:avLst>
              <a:gd name="adj" fmla="val 7282"/>
            </a:avLst>
          </a:prstGeom>
          <a:solidFill>
            <a:srgbClr val="16202C"/>
          </a:solidFill>
          <a:ln/>
        </p:spPr>
        <p:txBody>
          <a:bodyPr wrap="square" lIns="180882" tIns="104682" rIns="0"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checkout </a:t>
            </a:r>
            <a:r>
              <a:rPr lang="en-US" sz="1300" dirty="0">
                <a:solidFill>
                  <a:srgbClr val="F7A46B"/>
                </a:solidFill>
                <a:latin typeface="JetBrains Mono" pitchFamily="34" charset="0"/>
                <a:ea typeface="JetBrains Mono" pitchFamily="34" charset="-122"/>
                <a:cs typeface="JetBrains Mono" pitchFamily="34" charset="-120"/>
              </a:rPr>
              <a:t>--ours</a:t>
            </a:r>
            <a:r>
              <a:rPr lang="en-US" sz="1300" dirty="0">
                <a:solidFill>
                  <a:srgbClr val="F6F4EE"/>
                </a:solidFill>
                <a:latin typeface="JetBrains Mono" pitchFamily="34" charset="0"/>
                <a:ea typeface="JetBrains Mono" pitchFamily="34" charset="-122"/>
                <a:cs typeface="JetBrains Mono" pitchFamily="34" charset="-120"/>
              </a:rPr>
              <a:t> ortak-kod.txt </a:t>
            </a:r>
            <a:r>
              <a:rPr lang="en-US" sz="1300" dirty="0">
                <a:solidFill>
                  <a:srgbClr val="9AA7B6"/>
                </a:solidFill>
                <a:latin typeface="JetBrains Mono" pitchFamily="34" charset="0"/>
                <a:ea typeface="JetBrains Mono" pitchFamily="34" charset="-122"/>
                <a:cs typeface="JetBrains Mono" pitchFamily="34" charset="-120"/>
              </a:rPr>
              <a:t># master kalsın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checkout </a:t>
            </a:r>
            <a:r>
              <a:rPr lang="en-US" sz="1300" dirty="0">
                <a:solidFill>
                  <a:srgbClr val="F7A46B"/>
                </a:solidFill>
                <a:latin typeface="JetBrains Mono" pitchFamily="34" charset="0"/>
                <a:ea typeface="JetBrains Mono" pitchFamily="34" charset="-122"/>
                <a:cs typeface="JetBrains Mono" pitchFamily="34" charset="-120"/>
              </a:rPr>
              <a:t>--theirs</a:t>
            </a:r>
            <a:r>
              <a:rPr lang="en-US" sz="1300" dirty="0">
                <a:solidFill>
                  <a:srgbClr val="F6F4EE"/>
                </a:solidFill>
                <a:latin typeface="JetBrains Mono" pitchFamily="34" charset="0"/>
                <a:ea typeface="JetBrains Mono" pitchFamily="34" charset="-122"/>
                <a:cs typeface="JetBrains Mono" pitchFamily="34" charset="-120"/>
              </a:rPr>
              <a:t> ortak-kod.txt </a:t>
            </a:r>
            <a:r>
              <a:rPr lang="en-US" sz="1300" dirty="0">
                <a:solidFill>
                  <a:srgbClr val="9AA7B6"/>
                </a:solidFill>
                <a:latin typeface="JetBrains Mono" pitchFamily="34" charset="0"/>
                <a:ea typeface="JetBrains Mono" pitchFamily="34" charset="-122"/>
                <a:cs typeface="JetBrains Mono" pitchFamily="34" charset="-120"/>
              </a:rPr>
              <a:t># feature kalsın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add ortak-kod.txt &amp;&amp; git commit</a:t>
            </a:r>
            <a:endParaRPr lang="en-US" sz="1300" dirty="0"/>
          </a:p>
        </p:txBody>
      </p:sp>
      <p:sp>
        <p:nvSpPr>
          <p:cNvPr id="10" name="Text 8"/>
          <p:cNvSpPr/>
          <p:nvPr/>
        </p:nvSpPr>
        <p:spPr>
          <a:xfrm>
            <a:off x="812800" y="4503043"/>
            <a:ext cx="32702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3 · Vazgeç</a:t>
            </a:r>
            <a:endParaRPr lang="en-US" sz="2000" dirty="0"/>
          </a:p>
        </p:txBody>
      </p:sp>
      <p:sp>
        <p:nvSpPr>
          <p:cNvPr id="11" name="Text 9"/>
          <p:cNvSpPr/>
          <p:nvPr/>
        </p:nvSpPr>
        <p:spPr>
          <a:xfrm>
            <a:off x="812800" y="4858643"/>
            <a:ext cx="32702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Her şey merge öncesine döner.</a:t>
            </a:r>
            <a:endParaRPr lang="en-US" sz="1300" dirty="0"/>
          </a:p>
        </p:txBody>
      </p:sp>
      <p:sp>
        <p:nvSpPr>
          <p:cNvPr id="12" name="Text 10"/>
          <p:cNvSpPr/>
          <p:nvPr/>
        </p:nvSpPr>
        <p:spPr>
          <a:xfrm>
            <a:off x="4140200" y="4537273"/>
            <a:ext cx="7239000" cy="518120"/>
          </a:xfrm>
          <a:prstGeom prst="roundRect">
            <a:avLst>
              <a:gd name="adj" fmla="val 14707"/>
            </a:avLst>
          </a:prstGeom>
          <a:solidFill>
            <a:srgbClr val="16202C"/>
          </a:solidFill>
          <a:ln/>
        </p:spPr>
        <p:txBody>
          <a:bodyPr wrap="square" lIns="180882" tIns="104682" rIns="0"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merge --abort</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6202C"/>
        </a:solidFill>
        <a:effectLst/>
      </p:bgPr>
    </p:bg>
    <p:spTree>
      <p:nvGrpSpPr>
        <p:cNvPr id="1" name=""/>
        <p:cNvGrpSpPr/>
        <p:nvPr/>
      </p:nvGrpSpPr>
      <p:grpSpPr>
        <a:xfrm>
          <a:off x="0" y="0"/>
          <a:ext cx="0" cy="0"/>
          <a:chOff x="0" y="0"/>
          <a:chExt cx="0" cy="0"/>
        </a:xfrm>
      </p:grpSpPr>
      <p:pic>
        <p:nvPicPr>
          <p:cNvPr id="2" name="Image 0" descr="Warning"/>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53250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7A46B"/>
                </a:solidFill>
                <a:latin typeface="JetBrains Mono" pitchFamily="34" charset="0"/>
                <a:ea typeface="JetBrains Mono" pitchFamily="34" charset="-122"/>
                <a:cs typeface="JetBrains Mono" pitchFamily="34" charset="-120"/>
              </a:rPr>
              <a:t>DÜĞÜM · EN SİNSİ TUZAK</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4EE"/>
                </a:solidFill>
                <a:latin typeface="Space Grotesk" pitchFamily="34" charset="0"/>
                <a:ea typeface="Space Grotesk" pitchFamily="34" charset="-122"/>
                <a:cs typeface="Space Grotesk" pitchFamily="34" charset="-120"/>
              </a:rPr>
              <a:t>--ours, rebase'de ters döner</a:t>
            </a:r>
            <a:endParaRPr lang="en-US" sz="3600" dirty="0"/>
          </a:p>
        </p:txBody>
      </p:sp>
      <p:sp>
        <p:nvSpPr>
          <p:cNvPr id="5" name="Shape 2"/>
          <p:cNvSpPr/>
          <p:nvPr/>
        </p:nvSpPr>
        <p:spPr>
          <a:xfrm>
            <a:off x="812800" y="1959471"/>
            <a:ext cx="10566400" cy="0"/>
          </a:xfrm>
          <a:prstGeom prst="line">
            <a:avLst/>
          </a:prstGeom>
          <a:noFill/>
          <a:ln w="12700">
            <a:solidFill>
              <a:srgbClr val="FAF9F5">
                <a:alpha val="22000"/>
              </a:srgbClr>
            </a:solidFill>
            <a:prstDash val="solid"/>
          </a:ln>
        </p:spPr>
      </p:sp>
      <p:sp>
        <p:nvSpPr>
          <p:cNvPr id="6" name="Shape 3"/>
          <p:cNvSpPr/>
          <p:nvPr/>
        </p:nvSpPr>
        <p:spPr>
          <a:xfrm>
            <a:off x="819150" y="1953121"/>
            <a:ext cx="0" cy="1555750"/>
          </a:xfrm>
          <a:prstGeom prst="line">
            <a:avLst/>
          </a:prstGeom>
          <a:noFill/>
          <a:ln w="12700">
            <a:solidFill>
              <a:srgbClr val="FAF9F5">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03300" y="2118221"/>
          <a:ext cx="10198100" cy="1238250"/>
        </p:xfrm>
        <a:graphic>
          <a:graphicData uri="http://schemas.openxmlformats.org/drawingml/2006/table">
            <a:tbl>
              <a:tblPr/>
              <a:tblGrid>
                <a:gridCol w="2243582">
                  <a:extLst>
                    <a:ext uri="{9D8B030D-6E8A-4147-A177-3AD203B41FA5}">
                      <a16:colId xmlns:a16="http://schemas.microsoft.com/office/drawing/2014/main" val="20000"/>
                    </a:ext>
                  </a:extLst>
                </a:gridCol>
                <a:gridCol w="3977259">
                  <a:extLst>
                    <a:ext uri="{9D8B030D-6E8A-4147-A177-3AD203B41FA5}">
                      <a16:colId xmlns:a16="http://schemas.microsoft.com/office/drawing/2014/main" val="20001"/>
                    </a:ext>
                  </a:extLst>
                </a:gridCol>
                <a:gridCol w="3977259">
                  <a:extLst>
                    <a:ext uri="{9D8B030D-6E8A-4147-A177-3AD203B41FA5}">
                      <a16:colId xmlns:a16="http://schemas.microsoft.com/office/drawing/2014/main" val="20002"/>
                    </a:ext>
                  </a:extLst>
                </a:gridCol>
              </a:tblGrid>
              <a:tr h="412750">
                <a:tc>
                  <a:txBody>
                    <a:bodyPr/>
                    <a:lstStyle/>
                    <a:p>
                      <a:pPr marL="0" indent="0">
                        <a:lnSpc>
                          <a:spcPts val="2100"/>
                        </a:lnSpc>
                        <a:buNone/>
                      </a:pP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58616C"/>
                      </a:solidFill>
                      <a:prstDash val="solid"/>
                      <a:round/>
                      <a:headEnd type="none" w="med" len="med"/>
                      <a:tailEnd type="none" w="med" len="med"/>
                    </a:lnR>
                    <a:lnT w="0" cap="flat" cmpd="sng" algn="ctr">
                      <a:noFill/>
                    </a:lnT>
                    <a:lnB w="12700" cap="flat" cmpd="sng" algn="ctr">
                      <a:solidFill>
                        <a:srgbClr val="58616C"/>
                      </a:solidFill>
                      <a:prstDash val="solid"/>
                      <a:round/>
                      <a:headEnd type="none" w="med" len="med"/>
                      <a:tailEnd type="none" w="med" len="med"/>
                    </a:lnB>
                    <a:solidFill>
                      <a:srgbClr val="2A3645"/>
                    </a:solidFill>
                  </a:tcPr>
                </a:tc>
                <a:tc>
                  <a:txBody>
                    <a:bodyPr/>
                    <a:lstStyle/>
                    <a:p>
                      <a:pPr marL="0" indent="0">
                        <a:lnSpc>
                          <a:spcPts val="2100"/>
                        </a:lnSpc>
                        <a:buNone/>
                      </a:pPr>
                      <a:r>
                        <a:rPr lang="en-US" sz="1500" b="1" dirty="0">
                          <a:solidFill>
                            <a:srgbClr val="F7A46B"/>
                          </a:solidFill>
                          <a:latin typeface="IBM Plex Sans" pitchFamily="34" charset="0"/>
                          <a:ea typeface="IBM Plex Sans" pitchFamily="34" charset="-122"/>
                          <a:cs typeface="IBM Plex Sans" pitchFamily="34" charset="-120"/>
                        </a:rPr>
                        <a:t>merge sırasında</a:t>
                      </a:r>
                      <a:endParaRPr lang="en-US" sz="1500" dirty="0">
                        <a:latin typeface="IBM Plex Sans" charset="0"/>
                        <a:ea typeface="IBM Plex Sans" charset="0"/>
                        <a:cs typeface="IBM Plex Sans" charset="0"/>
                      </a:endParaRPr>
                    </a:p>
                  </a:txBody>
                  <a:tcPr marL="66675" marR="66675" marT="66675" marB="66675">
                    <a:lnL w="12700" cap="flat" cmpd="sng" algn="ctr">
                      <a:solidFill>
                        <a:srgbClr val="58616C"/>
                      </a:solidFill>
                      <a:prstDash val="solid"/>
                      <a:round/>
                      <a:headEnd type="none" w="med" len="med"/>
                      <a:tailEnd type="none" w="med" len="med"/>
                    </a:lnL>
                    <a:lnR w="12700" cap="flat" cmpd="sng" algn="ctr">
                      <a:solidFill>
                        <a:srgbClr val="58616C"/>
                      </a:solidFill>
                      <a:prstDash val="solid"/>
                      <a:round/>
                      <a:headEnd type="none" w="med" len="med"/>
                      <a:tailEnd type="none" w="med" len="med"/>
                    </a:lnR>
                    <a:lnT w="0" cap="flat" cmpd="sng" algn="ctr">
                      <a:noFill/>
                    </a:lnT>
                    <a:lnB w="12700" cap="flat" cmpd="sng" algn="ctr">
                      <a:solidFill>
                        <a:srgbClr val="58616C"/>
                      </a:solidFill>
                      <a:prstDash val="solid"/>
                      <a:round/>
                      <a:headEnd type="none" w="med" len="med"/>
                      <a:tailEnd type="none" w="med" len="med"/>
                    </a:lnB>
                    <a:solidFill>
                      <a:srgbClr val="2A3645"/>
                    </a:solidFill>
                  </a:tcPr>
                </a:tc>
                <a:tc>
                  <a:txBody>
                    <a:bodyPr/>
                    <a:lstStyle/>
                    <a:p>
                      <a:pPr marL="0" indent="0">
                        <a:lnSpc>
                          <a:spcPts val="2100"/>
                        </a:lnSpc>
                        <a:buNone/>
                      </a:pPr>
                      <a:r>
                        <a:rPr lang="en-US" sz="1500" b="1" dirty="0">
                          <a:solidFill>
                            <a:srgbClr val="F7A46B"/>
                          </a:solidFill>
                          <a:latin typeface="IBM Plex Sans" pitchFamily="34" charset="0"/>
                          <a:ea typeface="IBM Plex Sans" pitchFamily="34" charset="-122"/>
                          <a:cs typeface="IBM Plex Sans" pitchFamily="34" charset="-120"/>
                        </a:rPr>
                        <a:t>rebase sırasında</a:t>
                      </a:r>
                      <a:endParaRPr lang="en-US" sz="1500" dirty="0">
                        <a:latin typeface="IBM Plex Sans" charset="0"/>
                        <a:ea typeface="IBM Plex Sans" charset="0"/>
                        <a:cs typeface="IBM Plex Sans" charset="0"/>
                      </a:endParaRPr>
                    </a:p>
                  </a:txBody>
                  <a:tcPr marL="66675" marR="66675" marT="66675" marB="66675">
                    <a:lnL w="12700" cap="flat" cmpd="sng" algn="ctr">
                      <a:solidFill>
                        <a:srgbClr val="58616C"/>
                      </a:solidFill>
                      <a:prstDash val="solid"/>
                      <a:round/>
                      <a:headEnd type="none" w="med" len="med"/>
                      <a:tailEnd type="none" w="med" len="med"/>
                    </a:lnL>
                    <a:lnR w="12700" cap="flat" cmpd="sng" algn="ctr">
                      <a:solidFill>
                        <a:srgbClr val="58616C"/>
                      </a:solidFill>
                      <a:prstDash val="solid"/>
                      <a:round/>
                      <a:headEnd type="none" w="med" len="med"/>
                      <a:tailEnd type="none" w="med" len="med"/>
                    </a:lnR>
                    <a:lnT w="0" cap="flat" cmpd="sng" algn="ctr">
                      <a:noFill/>
                    </a:lnT>
                    <a:lnB w="12700" cap="flat" cmpd="sng" algn="ctr">
                      <a:solidFill>
                        <a:srgbClr val="58616C"/>
                      </a:solidFill>
                      <a:prstDash val="solid"/>
                      <a:round/>
                      <a:headEnd type="none" w="med" len="med"/>
                      <a:tailEnd type="none" w="med" len="med"/>
                    </a:lnB>
                    <a:solidFill>
                      <a:srgbClr val="2A3645"/>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F6F4EE"/>
                          </a:solidFill>
                          <a:latin typeface="IBM Plex Sans" pitchFamily="34" charset="0"/>
                          <a:ea typeface="IBM Plex Sans" pitchFamily="34" charset="-122"/>
                          <a:cs typeface="IBM Plex Sans" pitchFamily="34" charset="-120"/>
                        </a:rPr>
                        <a:t>--ours</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4D5661"/>
                      </a:solidFill>
                      <a:prstDash val="solid"/>
                      <a:round/>
                      <a:headEnd type="none" w="med" len="med"/>
                      <a:tailEnd type="none" w="med" len="med"/>
                    </a:lnR>
                    <a:lnT w="12700" cap="flat" cmpd="sng" algn="ctr">
                      <a:solidFill>
                        <a:srgbClr val="58616C"/>
                      </a:solidFill>
                      <a:prstDash val="solid"/>
                      <a:round/>
                      <a:headEnd type="none" w="med" len="med"/>
                      <a:tailEnd type="none" w="med" len="med"/>
                    </a:lnT>
                    <a:lnB w="12700" cap="flat" cmpd="sng" algn="ctr">
                      <a:solidFill>
                        <a:srgbClr val="4D5661"/>
                      </a:solidFill>
                      <a:prstDash val="solid"/>
                      <a:round/>
                      <a:headEnd type="none" w="med" len="med"/>
                      <a:tailEnd type="none" w="med" len="med"/>
                    </a:lnB>
                    <a:solidFill>
                      <a:srgbClr val="1C2837"/>
                    </a:solidFill>
                  </a:tcPr>
                </a:tc>
                <a:tc>
                  <a:txBody>
                    <a:bodyPr/>
                    <a:lstStyle/>
                    <a:p>
                      <a:pPr marL="0" indent="0">
                        <a:lnSpc>
                          <a:spcPts val="2100"/>
                        </a:lnSpc>
                        <a:buNone/>
                      </a:pPr>
                      <a:r>
                        <a:rPr lang="en-US" sz="1500" dirty="0">
                          <a:solidFill>
                            <a:srgbClr val="F6F4EE"/>
                          </a:solidFill>
                          <a:latin typeface="IBM Plex Sans" pitchFamily="34" charset="0"/>
                          <a:ea typeface="IBM Plex Sans" pitchFamily="34" charset="-122"/>
                          <a:cs typeface="IBM Plex Sans" pitchFamily="34" charset="-120"/>
                        </a:rPr>
                        <a:t>Bulunduğun dal (master)</a:t>
                      </a:r>
                      <a:endParaRPr lang="en-US" sz="1500" dirty="0">
                        <a:latin typeface="IBM Plex Sans" charset="0"/>
                        <a:ea typeface="IBM Plex Sans" charset="0"/>
                        <a:cs typeface="IBM Plex Sans" charset="0"/>
                      </a:endParaRPr>
                    </a:p>
                  </a:txBody>
                  <a:tcPr marL="66675" marR="66675" marT="66675" marB="66675">
                    <a:lnL w="12700" cap="flat" cmpd="sng" algn="ctr">
                      <a:solidFill>
                        <a:srgbClr val="4D5661"/>
                      </a:solidFill>
                      <a:prstDash val="solid"/>
                      <a:round/>
                      <a:headEnd type="none" w="med" len="med"/>
                      <a:tailEnd type="none" w="med" len="med"/>
                    </a:lnL>
                    <a:lnR w="12700" cap="flat" cmpd="sng" algn="ctr">
                      <a:solidFill>
                        <a:srgbClr val="4D5661"/>
                      </a:solidFill>
                      <a:prstDash val="solid"/>
                      <a:round/>
                      <a:headEnd type="none" w="med" len="med"/>
                      <a:tailEnd type="none" w="med" len="med"/>
                    </a:lnR>
                    <a:lnT w="12700" cap="flat" cmpd="sng" algn="ctr">
                      <a:solidFill>
                        <a:srgbClr val="58616C"/>
                      </a:solidFill>
                      <a:prstDash val="solid"/>
                      <a:round/>
                      <a:headEnd type="none" w="med" len="med"/>
                      <a:tailEnd type="none" w="med" len="med"/>
                    </a:lnT>
                    <a:lnB w="12700" cap="flat" cmpd="sng" algn="ctr">
                      <a:solidFill>
                        <a:srgbClr val="4D5661"/>
                      </a:solidFill>
                      <a:prstDash val="solid"/>
                      <a:round/>
                      <a:headEnd type="none" w="med" len="med"/>
                      <a:tailEnd type="none" w="med" len="med"/>
                    </a:lnB>
                    <a:solidFill>
                      <a:srgbClr val="1C2837"/>
                    </a:solidFill>
                  </a:tcPr>
                </a:tc>
                <a:tc>
                  <a:txBody>
                    <a:bodyPr/>
                    <a:lstStyle/>
                    <a:p>
                      <a:pPr marL="0" indent="0">
                        <a:lnSpc>
                          <a:spcPts val="2100"/>
                        </a:lnSpc>
                        <a:buNone/>
                      </a:pPr>
                      <a:r>
                        <a:rPr lang="en-US" sz="1500" dirty="0">
                          <a:solidFill>
                            <a:srgbClr val="F6F4EE"/>
                          </a:solidFill>
                          <a:latin typeface="IBM Plex Sans" pitchFamily="34" charset="0"/>
                          <a:ea typeface="IBM Plex Sans" pitchFamily="34" charset="-122"/>
                          <a:cs typeface="IBM Plex Sans" pitchFamily="34" charset="-120"/>
                        </a:rPr>
                        <a:t>Üzerine oturduğun dal (master)</a:t>
                      </a:r>
                      <a:endParaRPr lang="en-US" sz="1500" dirty="0">
                        <a:latin typeface="IBM Plex Sans" charset="0"/>
                        <a:ea typeface="IBM Plex Sans" charset="0"/>
                        <a:cs typeface="IBM Plex Sans" charset="0"/>
                      </a:endParaRPr>
                    </a:p>
                  </a:txBody>
                  <a:tcPr marL="66675" marR="66675" marT="66675" marB="66675">
                    <a:lnL w="12700" cap="flat" cmpd="sng" algn="ctr">
                      <a:solidFill>
                        <a:srgbClr val="4D5661"/>
                      </a:solidFill>
                      <a:prstDash val="solid"/>
                      <a:round/>
                      <a:headEnd type="none" w="med" len="med"/>
                      <a:tailEnd type="none" w="med" len="med"/>
                    </a:lnL>
                    <a:lnR w="12700" cap="flat" cmpd="sng" algn="ctr">
                      <a:solidFill>
                        <a:srgbClr val="4D5661"/>
                      </a:solidFill>
                      <a:prstDash val="solid"/>
                      <a:round/>
                      <a:headEnd type="none" w="med" len="med"/>
                      <a:tailEnd type="none" w="med" len="med"/>
                    </a:lnR>
                    <a:lnT w="12700" cap="flat" cmpd="sng" algn="ctr">
                      <a:solidFill>
                        <a:srgbClr val="58616C"/>
                      </a:solidFill>
                      <a:prstDash val="solid"/>
                      <a:round/>
                      <a:headEnd type="none" w="med" len="med"/>
                      <a:tailEnd type="none" w="med" len="med"/>
                    </a:lnT>
                    <a:lnB w="12700" cap="flat" cmpd="sng" algn="ctr">
                      <a:solidFill>
                        <a:srgbClr val="4D5661"/>
                      </a:solidFill>
                      <a:prstDash val="solid"/>
                      <a:round/>
                      <a:headEnd type="none" w="med" len="med"/>
                      <a:tailEnd type="none" w="med" len="med"/>
                    </a:lnB>
                    <a:solidFill>
                      <a:srgbClr val="1C2837"/>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F6F4EE"/>
                          </a:solidFill>
                          <a:latin typeface="IBM Plex Sans" pitchFamily="34" charset="0"/>
                          <a:ea typeface="IBM Plex Sans" pitchFamily="34" charset="-122"/>
                          <a:cs typeface="IBM Plex Sans" pitchFamily="34" charset="-120"/>
                        </a:rPr>
                        <a:t>--theirs</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58616C"/>
                      </a:solidFill>
                      <a:prstDash val="solid"/>
                      <a:round/>
                      <a:headEnd type="none" w="med" len="med"/>
                      <a:tailEnd type="none" w="med" len="med"/>
                    </a:lnR>
                    <a:lnT w="12700" cap="flat" cmpd="sng" algn="ctr">
                      <a:solidFill>
                        <a:srgbClr val="4D5661"/>
                      </a:solidFill>
                      <a:prstDash val="solid"/>
                      <a:round/>
                      <a:headEnd type="none" w="med" len="med"/>
                      <a:tailEnd type="none" w="med" len="med"/>
                    </a:lnT>
                    <a:lnB w="12700" cap="flat" cmpd="sng" algn="ctr">
                      <a:solidFill>
                        <a:srgbClr val="58616C"/>
                      </a:solidFill>
                      <a:prstDash val="solid"/>
                      <a:round/>
                      <a:headEnd type="none" w="med" len="med"/>
                      <a:tailEnd type="none" w="med" len="med"/>
                    </a:lnB>
                    <a:solidFill>
                      <a:srgbClr val="2A3645"/>
                    </a:solidFill>
                  </a:tcPr>
                </a:tc>
                <a:tc>
                  <a:txBody>
                    <a:bodyPr/>
                    <a:lstStyle/>
                    <a:p>
                      <a:pPr marL="0" indent="0">
                        <a:lnSpc>
                          <a:spcPts val="2100"/>
                        </a:lnSpc>
                        <a:buNone/>
                      </a:pPr>
                      <a:r>
                        <a:rPr lang="en-US" sz="1500" dirty="0">
                          <a:solidFill>
                            <a:srgbClr val="F6F4EE"/>
                          </a:solidFill>
                          <a:latin typeface="IBM Plex Sans" pitchFamily="34" charset="0"/>
                          <a:ea typeface="IBM Plex Sans" pitchFamily="34" charset="-122"/>
                          <a:cs typeface="IBM Plex Sans" pitchFamily="34" charset="-120"/>
                        </a:rPr>
                        <a:t>Gelen dal (feature)</a:t>
                      </a:r>
                      <a:endParaRPr lang="en-US" sz="1500" dirty="0">
                        <a:latin typeface="IBM Plex Sans" charset="0"/>
                        <a:ea typeface="IBM Plex Sans" charset="0"/>
                        <a:cs typeface="IBM Plex Sans" charset="0"/>
                      </a:endParaRPr>
                    </a:p>
                  </a:txBody>
                  <a:tcPr marL="66675" marR="66675" marT="66675" marB="66675">
                    <a:lnL w="12700" cap="flat" cmpd="sng" algn="ctr">
                      <a:solidFill>
                        <a:srgbClr val="58616C"/>
                      </a:solidFill>
                      <a:prstDash val="solid"/>
                      <a:round/>
                      <a:headEnd type="none" w="med" len="med"/>
                      <a:tailEnd type="none" w="med" len="med"/>
                    </a:lnL>
                    <a:lnR w="12700" cap="flat" cmpd="sng" algn="ctr">
                      <a:solidFill>
                        <a:srgbClr val="58616C"/>
                      </a:solidFill>
                      <a:prstDash val="solid"/>
                      <a:round/>
                      <a:headEnd type="none" w="med" len="med"/>
                      <a:tailEnd type="none" w="med" len="med"/>
                    </a:lnR>
                    <a:lnT w="12700" cap="flat" cmpd="sng" algn="ctr">
                      <a:solidFill>
                        <a:srgbClr val="4D5661"/>
                      </a:solidFill>
                      <a:prstDash val="solid"/>
                      <a:round/>
                      <a:headEnd type="none" w="med" len="med"/>
                      <a:tailEnd type="none" w="med" len="med"/>
                    </a:lnT>
                    <a:lnB w="12700" cap="flat" cmpd="sng" algn="ctr">
                      <a:solidFill>
                        <a:srgbClr val="58616C"/>
                      </a:solidFill>
                      <a:prstDash val="solid"/>
                      <a:round/>
                      <a:headEnd type="none" w="med" len="med"/>
                      <a:tailEnd type="none" w="med" len="med"/>
                    </a:lnB>
                    <a:solidFill>
                      <a:srgbClr val="2A3645"/>
                    </a:solidFill>
                  </a:tcPr>
                </a:tc>
                <a:tc>
                  <a:txBody>
                    <a:bodyPr/>
                    <a:lstStyle/>
                    <a:p>
                      <a:pPr marL="0" indent="0">
                        <a:lnSpc>
                          <a:spcPts val="2100"/>
                        </a:lnSpc>
                        <a:buNone/>
                      </a:pPr>
                      <a:r>
                        <a:rPr lang="en-US" sz="1500" dirty="0">
                          <a:solidFill>
                            <a:srgbClr val="F6F4EE"/>
                          </a:solidFill>
                          <a:latin typeface="IBM Plex Sans" pitchFamily="34" charset="0"/>
                          <a:ea typeface="IBM Plex Sans" pitchFamily="34" charset="-122"/>
                          <a:cs typeface="IBM Plex Sans" pitchFamily="34" charset="-120"/>
                        </a:rPr>
                        <a:t>Senin commit'lerin (feature/login)</a:t>
                      </a:r>
                      <a:endParaRPr lang="en-US" sz="1500" dirty="0">
                        <a:latin typeface="IBM Plex Sans" charset="0"/>
                        <a:ea typeface="IBM Plex Sans" charset="0"/>
                        <a:cs typeface="IBM Plex Sans" charset="0"/>
                      </a:endParaRPr>
                    </a:p>
                  </a:txBody>
                  <a:tcPr marL="66675" marR="66675" marT="66675" marB="66675">
                    <a:lnL w="12700" cap="flat" cmpd="sng" algn="ctr">
                      <a:solidFill>
                        <a:srgbClr val="58616C"/>
                      </a:solidFill>
                      <a:prstDash val="solid"/>
                      <a:round/>
                      <a:headEnd type="none" w="med" len="med"/>
                      <a:tailEnd type="none" w="med" len="med"/>
                    </a:lnL>
                    <a:lnR w="12700" cap="flat" cmpd="sng" algn="ctr">
                      <a:solidFill>
                        <a:srgbClr val="58616C"/>
                      </a:solidFill>
                      <a:prstDash val="solid"/>
                      <a:round/>
                      <a:headEnd type="none" w="med" len="med"/>
                      <a:tailEnd type="none" w="med" len="med"/>
                    </a:lnR>
                    <a:lnT w="12700" cap="flat" cmpd="sng" algn="ctr">
                      <a:solidFill>
                        <a:srgbClr val="4D5661"/>
                      </a:solidFill>
                      <a:prstDash val="solid"/>
                      <a:round/>
                      <a:headEnd type="none" w="med" len="med"/>
                      <a:tailEnd type="none" w="med" len="med"/>
                    </a:lnT>
                    <a:lnB w="12700" cap="flat" cmpd="sng" algn="ctr">
                      <a:solidFill>
                        <a:srgbClr val="58616C"/>
                      </a:solidFill>
                      <a:prstDash val="solid"/>
                      <a:round/>
                      <a:headEnd type="none" w="med" len="med"/>
                      <a:tailEnd type="none" w="med" len="med"/>
                    </a:lnB>
                    <a:solidFill>
                      <a:srgbClr val="2A3645"/>
                    </a:solidFill>
                  </a:tcPr>
                </a:tc>
                <a:extLst>
                  <a:ext uri="{0D108BD9-81ED-4DB2-BD59-A6C34878D82A}">
                    <a16:rowId xmlns:a16="http://schemas.microsoft.com/office/drawing/2014/main" val="10002"/>
                  </a:ext>
                </a:extLst>
              </a:tr>
            </a:tbl>
          </a:graphicData>
        </a:graphic>
      </p:graphicFrame>
      <p:sp>
        <p:nvSpPr>
          <p:cNvPr id="8" name="Text 4"/>
          <p:cNvSpPr/>
          <p:nvPr/>
        </p:nvSpPr>
        <p:spPr>
          <a:xfrm>
            <a:off x="812800" y="3813671"/>
            <a:ext cx="98107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Neden? Rebase önce master'a geçer, sonra senin commit'lerini tek tek "dışarıdan gelen" olarak üzerine uygular. O anda "biz" master'dır.</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7 · REBASE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Rebase: yeni zemine yeniden oturtmak</a:t>
            </a:r>
            <a:endParaRPr lang="en-US" sz="3600" dirty="0"/>
          </a:p>
        </p:txBody>
      </p:sp>
      <p:sp>
        <p:nvSpPr>
          <p:cNvPr id="4" name="Shape 2"/>
          <p:cNvSpPr/>
          <p:nvPr/>
        </p:nvSpPr>
        <p:spPr>
          <a:xfrm>
            <a:off x="5715000" y="1905000"/>
            <a:ext cx="19050" cy="3302000"/>
          </a:xfrm>
          <a:prstGeom prst="rect">
            <a:avLst/>
          </a:prstGeom>
          <a:solidFill>
            <a:srgbClr val="E2DDD0"/>
          </a:solidFill>
          <a:ln/>
        </p:spPr>
      </p:sp>
      <p:pic>
        <p:nvPicPr>
          <p:cNvPr id="5" name="Image 0" descr="connector"/>
          <p:cNvPicPr>
            <a:picLocks noChangeAspect="1"/>
          </p:cNvPicPr>
          <p:nvPr/>
        </p:nvPicPr>
        <p:blipFill>
          <a:blip r:embed="rId3"/>
          <a:srcRect/>
          <a:stretch/>
        </p:blipFill>
        <p:spPr>
          <a:xfrm>
            <a:off x="1301750" y="2698750"/>
            <a:ext cx="1587500" cy="952500"/>
          </a:xfrm>
          <a:prstGeom prst="rect">
            <a:avLst/>
          </a:prstGeom>
        </p:spPr>
      </p:pic>
      <p:pic>
        <p:nvPicPr>
          <p:cNvPr id="6" name="Image 1" descr="connector"/>
          <p:cNvPicPr>
            <a:picLocks noChangeAspect="1"/>
          </p:cNvPicPr>
          <p:nvPr/>
        </p:nvPicPr>
        <p:blipFill>
          <a:blip r:embed="rId4"/>
          <a:srcRect/>
          <a:stretch/>
        </p:blipFill>
        <p:spPr>
          <a:xfrm>
            <a:off x="1301750" y="3460750"/>
            <a:ext cx="1587500" cy="1079500"/>
          </a:xfrm>
          <a:prstGeom prst="rect">
            <a:avLst/>
          </a:prstGeom>
        </p:spPr>
      </p:pic>
      <p:pic>
        <p:nvPicPr>
          <p:cNvPr id="7" name="Image 2" descr="connector"/>
          <p:cNvPicPr>
            <a:picLocks noChangeAspect="1"/>
          </p:cNvPicPr>
          <p:nvPr/>
        </p:nvPicPr>
        <p:blipFill>
          <a:blip r:embed="rId5"/>
          <a:srcRect/>
          <a:stretch/>
        </p:blipFill>
        <p:spPr>
          <a:xfrm>
            <a:off x="2730500" y="2171700"/>
            <a:ext cx="127000" cy="311150"/>
          </a:xfrm>
          <a:prstGeom prst="rect">
            <a:avLst/>
          </a:prstGeom>
        </p:spPr>
      </p:pic>
      <p:pic>
        <p:nvPicPr>
          <p:cNvPr id="8" name="Image 3" descr="connector"/>
          <p:cNvPicPr>
            <a:picLocks noChangeAspect="1"/>
          </p:cNvPicPr>
          <p:nvPr/>
        </p:nvPicPr>
        <p:blipFill>
          <a:blip r:embed="rId6"/>
          <a:srcRect/>
          <a:stretch/>
        </p:blipFill>
        <p:spPr>
          <a:xfrm>
            <a:off x="2730500" y="4756150"/>
            <a:ext cx="127000" cy="323850"/>
          </a:xfrm>
          <a:prstGeom prst="rect">
            <a:avLst/>
          </a:prstGeom>
        </p:spPr>
      </p:pic>
      <p:pic>
        <p:nvPicPr>
          <p:cNvPr id="9" name="Image 4" descr="connector"/>
          <p:cNvPicPr>
            <a:picLocks noChangeAspect="1"/>
          </p:cNvPicPr>
          <p:nvPr/>
        </p:nvPicPr>
        <p:blipFill>
          <a:blip r:embed="rId7"/>
          <a:srcRect/>
          <a:stretch/>
        </p:blipFill>
        <p:spPr>
          <a:xfrm>
            <a:off x="6508750" y="3460750"/>
            <a:ext cx="1587500" cy="190500"/>
          </a:xfrm>
          <a:prstGeom prst="rect">
            <a:avLst/>
          </a:prstGeom>
        </p:spPr>
      </p:pic>
      <p:pic>
        <p:nvPicPr>
          <p:cNvPr id="10" name="Image 5" descr="connector"/>
          <p:cNvPicPr>
            <a:picLocks noChangeAspect="1"/>
          </p:cNvPicPr>
          <p:nvPr/>
        </p:nvPicPr>
        <p:blipFill>
          <a:blip r:embed="rId8"/>
          <a:srcRect/>
          <a:stretch/>
        </p:blipFill>
        <p:spPr>
          <a:xfrm>
            <a:off x="7905750" y="3460750"/>
            <a:ext cx="1587500" cy="190500"/>
          </a:xfrm>
          <a:prstGeom prst="rect">
            <a:avLst/>
          </a:prstGeom>
        </p:spPr>
      </p:pic>
      <p:pic>
        <p:nvPicPr>
          <p:cNvPr id="11" name="Image 6" descr="connector"/>
          <p:cNvPicPr>
            <a:picLocks noChangeAspect="1"/>
          </p:cNvPicPr>
          <p:nvPr/>
        </p:nvPicPr>
        <p:blipFill>
          <a:blip r:embed="rId9"/>
          <a:srcRect/>
          <a:stretch/>
        </p:blipFill>
        <p:spPr>
          <a:xfrm>
            <a:off x="6540500" y="3492500"/>
            <a:ext cx="1524000" cy="1397000"/>
          </a:xfrm>
          <a:prstGeom prst="rect">
            <a:avLst/>
          </a:prstGeom>
        </p:spPr>
      </p:pic>
      <p:pic>
        <p:nvPicPr>
          <p:cNvPr id="12" name="Image 7" descr="connector"/>
          <p:cNvPicPr>
            <a:picLocks noChangeAspect="1"/>
          </p:cNvPicPr>
          <p:nvPr/>
        </p:nvPicPr>
        <p:blipFill>
          <a:blip r:embed="rId10"/>
          <a:srcRect/>
          <a:stretch/>
        </p:blipFill>
        <p:spPr>
          <a:xfrm>
            <a:off x="7937500" y="2806700"/>
            <a:ext cx="127000" cy="438150"/>
          </a:xfrm>
          <a:prstGeom prst="rect">
            <a:avLst/>
          </a:prstGeom>
        </p:spPr>
      </p:pic>
      <p:pic>
        <p:nvPicPr>
          <p:cNvPr id="13" name="Image 8" descr="connector"/>
          <p:cNvPicPr>
            <a:picLocks noChangeAspect="1"/>
          </p:cNvPicPr>
          <p:nvPr/>
        </p:nvPicPr>
        <p:blipFill>
          <a:blip r:embed="rId10"/>
          <a:srcRect/>
          <a:stretch/>
        </p:blipFill>
        <p:spPr>
          <a:xfrm>
            <a:off x="9334500" y="2806700"/>
            <a:ext cx="127000" cy="438150"/>
          </a:xfrm>
          <a:prstGeom prst="rect">
            <a:avLst/>
          </a:prstGeom>
        </p:spPr>
      </p:pic>
      <p:sp>
        <p:nvSpPr>
          <p:cNvPr id="14" name="Text 3"/>
          <p:cNvSpPr/>
          <p:nvPr/>
        </p:nvSpPr>
        <p:spPr>
          <a:xfrm>
            <a:off x="812800" y="1905000"/>
            <a:ext cx="1320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ÖNCE</a:t>
            </a:r>
            <a:endParaRPr lang="en-US" sz="1300" dirty="0"/>
          </a:p>
        </p:txBody>
      </p:sp>
      <p:sp>
        <p:nvSpPr>
          <p:cNvPr id="15" name="Text 4"/>
          <p:cNvSpPr/>
          <p:nvPr/>
        </p:nvSpPr>
        <p:spPr>
          <a:xfrm>
            <a:off x="6096000" y="1905000"/>
            <a:ext cx="45783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SONRA · git rebase master</a:t>
            </a:r>
            <a:endParaRPr lang="en-US" sz="1300" dirty="0"/>
          </a:p>
        </p:txBody>
      </p:sp>
      <p:sp>
        <p:nvSpPr>
          <p:cNvPr id="16" name="Text 5"/>
          <p:cNvSpPr/>
          <p:nvPr/>
        </p:nvSpPr>
        <p:spPr>
          <a:xfrm>
            <a:off x="1047750" y="3206750"/>
            <a:ext cx="698500" cy="698500"/>
          </a:xfrm>
          <a:custGeom>
            <a:avLst/>
            <a:gdLst/>
            <a:ahLst/>
            <a:cxnLst/>
            <a:rect l="l" t="t" r="r" b="b"/>
            <a:pathLst>
              <a:path w="698500" h="698500">
                <a:moveTo>
                  <a:pt x="349250" y="0"/>
                </a:moveTo>
                <a:lnTo>
                  <a:pt x="349250" y="0"/>
                </a:lnTo>
                <a:arcTo wR="349250" hR="349250" stAng="16200000" swAng="5400000"/>
                <a:lnTo>
                  <a:pt x="698500" y="349250"/>
                </a:lnTo>
                <a:arcTo wR="349250" hR="349250" stAng="0" swAng="5400000"/>
                <a:lnTo>
                  <a:pt x="349250" y="698500"/>
                </a:lnTo>
                <a:arcTo wR="349250" hR="349250" stAng="5400000" swAng="5400000"/>
                <a:lnTo>
                  <a:pt x="0" y="349250"/>
                </a:lnTo>
                <a:arcTo wR="349250" hR="349250" stAng="10800000" swAng="5400000"/>
                <a:close/>
              </a:path>
            </a:pathLst>
          </a:custGeom>
          <a:solidFill>
            <a:srgbClr val="2F6FDB"/>
          </a:solidFill>
          <a:ln/>
        </p:spPr>
        <p:txBody>
          <a:bodyPr wrap="square" lIns="0" tIns="0" rIns="0" bIns="0" rtlCol="0" anchor="t">
            <a:normAutofit/>
          </a:bodyPr>
          <a:lstStyle/>
          <a:p>
            <a:pPr marL="0" indent="0" algn="ctr">
              <a:lnSpc>
                <a:spcPts val="5505"/>
              </a:lnSpc>
              <a:buNone/>
            </a:pPr>
            <a:r>
              <a:rPr lang="en-US" sz="1500" b="1" dirty="0">
                <a:solidFill>
                  <a:srgbClr val="F6F4EE"/>
                </a:solidFill>
                <a:latin typeface="JetBrains Mono" pitchFamily="34" charset="0"/>
                <a:ea typeface="JetBrains Mono" pitchFamily="34" charset="-122"/>
                <a:cs typeface="JetBrains Mono" pitchFamily="34" charset="-120"/>
              </a:rPr>
              <a:t>A</a:t>
            </a:r>
            <a:endParaRPr lang="en-US" sz="1500" dirty="0"/>
          </a:p>
        </p:txBody>
      </p:sp>
      <p:sp>
        <p:nvSpPr>
          <p:cNvPr id="17" name="Text 6"/>
          <p:cNvSpPr/>
          <p:nvPr/>
        </p:nvSpPr>
        <p:spPr>
          <a:xfrm>
            <a:off x="2444750" y="2444750"/>
            <a:ext cx="698500" cy="698500"/>
          </a:xfrm>
          <a:custGeom>
            <a:avLst/>
            <a:gdLst/>
            <a:ahLst/>
            <a:cxnLst/>
            <a:rect l="l" t="t" r="r" b="b"/>
            <a:pathLst>
              <a:path w="698500" h="698500">
                <a:moveTo>
                  <a:pt x="349250" y="0"/>
                </a:moveTo>
                <a:lnTo>
                  <a:pt x="349250" y="0"/>
                </a:lnTo>
                <a:arcTo wR="349250" hR="349250" stAng="16200000" swAng="5400000"/>
                <a:lnTo>
                  <a:pt x="698500" y="349250"/>
                </a:lnTo>
                <a:arcTo wR="349250" hR="349250" stAng="0" swAng="5400000"/>
                <a:lnTo>
                  <a:pt x="349250" y="698500"/>
                </a:lnTo>
                <a:arcTo wR="349250" hR="349250" stAng="5400000" swAng="5400000"/>
                <a:lnTo>
                  <a:pt x="0" y="349250"/>
                </a:lnTo>
                <a:arcTo wR="349250" hR="349250" stAng="10800000" swAng="5400000"/>
                <a:close/>
              </a:path>
            </a:pathLst>
          </a:custGeom>
          <a:solidFill>
            <a:srgbClr val="2F6FDB"/>
          </a:solidFill>
          <a:ln/>
        </p:spPr>
        <p:txBody>
          <a:bodyPr wrap="square" lIns="0" tIns="0" rIns="0" bIns="0" rtlCol="0" anchor="t">
            <a:normAutofit/>
          </a:bodyPr>
          <a:lstStyle/>
          <a:p>
            <a:pPr marL="0" indent="0" algn="ctr">
              <a:lnSpc>
                <a:spcPts val="5505"/>
              </a:lnSpc>
              <a:buNone/>
            </a:pPr>
            <a:r>
              <a:rPr lang="en-US" sz="1500" b="1" dirty="0">
                <a:solidFill>
                  <a:srgbClr val="F6F4EE"/>
                </a:solidFill>
                <a:latin typeface="JetBrains Mono" pitchFamily="34" charset="0"/>
                <a:ea typeface="JetBrains Mono" pitchFamily="34" charset="-122"/>
                <a:cs typeface="JetBrains Mono" pitchFamily="34" charset="-120"/>
              </a:rPr>
              <a:t>B</a:t>
            </a:r>
            <a:endParaRPr lang="en-US" sz="1500" dirty="0"/>
          </a:p>
        </p:txBody>
      </p:sp>
      <p:sp>
        <p:nvSpPr>
          <p:cNvPr id="18" name="Text 7"/>
          <p:cNvSpPr/>
          <p:nvPr/>
        </p:nvSpPr>
        <p:spPr>
          <a:xfrm>
            <a:off x="2444750" y="4095750"/>
            <a:ext cx="698500" cy="698500"/>
          </a:xfrm>
          <a:custGeom>
            <a:avLst/>
            <a:gdLst/>
            <a:ahLst/>
            <a:cxnLst/>
            <a:rect l="l" t="t" r="r" b="b"/>
            <a:pathLst>
              <a:path w="698500" h="698500">
                <a:moveTo>
                  <a:pt x="349250" y="0"/>
                </a:moveTo>
                <a:lnTo>
                  <a:pt x="349250" y="0"/>
                </a:lnTo>
                <a:arcTo wR="349250" hR="349250" stAng="16200000" swAng="5400000"/>
                <a:lnTo>
                  <a:pt x="698500" y="349250"/>
                </a:lnTo>
                <a:arcTo wR="349250" hR="349250" stAng="0" swAng="5400000"/>
                <a:lnTo>
                  <a:pt x="349250" y="698500"/>
                </a:lnTo>
                <a:arcTo wR="349250" hR="349250" stAng="5400000" swAng="5400000"/>
                <a:lnTo>
                  <a:pt x="0" y="349250"/>
                </a:lnTo>
                <a:arcTo wR="349250" hR="349250" stAng="10800000" swAng="5400000"/>
                <a:close/>
              </a:path>
            </a:pathLst>
          </a:custGeom>
          <a:solidFill>
            <a:srgbClr val="F08C4B"/>
          </a:solidFill>
          <a:ln/>
        </p:spPr>
        <p:txBody>
          <a:bodyPr wrap="square" lIns="0" tIns="0" rIns="0" bIns="0" rtlCol="0" anchor="t">
            <a:normAutofit/>
          </a:bodyPr>
          <a:lstStyle/>
          <a:p>
            <a:pPr marL="0" indent="0" algn="ctr">
              <a:lnSpc>
                <a:spcPts val="5505"/>
              </a:lnSpc>
              <a:buNone/>
            </a:pPr>
            <a:r>
              <a:rPr lang="en-US" sz="1500" b="1" dirty="0">
                <a:solidFill>
                  <a:srgbClr val="16202C"/>
                </a:solidFill>
                <a:latin typeface="JetBrains Mono" pitchFamily="34" charset="0"/>
                <a:ea typeface="JetBrains Mono" pitchFamily="34" charset="-122"/>
                <a:cs typeface="JetBrains Mono" pitchFamily="34" charset="-120"/>
              </a:rPr>
              <a:t>F</a:t>
            </a:r>
            <a:endParaRPr lang="en-US" sz="1500" dirty="0"/>
          </a:p>
        </p:txBody>
      </p:sp>
      <p:sp>
        <p:nvSpPr>
          <p:cNvPr id="19" name="Text 8"/>
          <p:cNvSpPr/>
          <p:nvPr/>
        </p:nvSpPr>
        <p:spPr>
          <a:xfrm>
            <a:off x="2286000" y="19050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20" name="Text 9"/>
          <p:cNvSpPr/>
          <p:nvPr/>
        </p:nvSpPr>
        <p:spPr>
          <a:xfrm>
            <a:off x="2032000" y="5016500"/>
            <a:ext cx="1524000" cy="330200"/>
          </a:xfrm>
          <a:custGeom>
            <a:avLst/>
            <a:gdLst/>
            <a:ahLst/>
            <a:cxnLst/>
            <a:rect l="l" t="t" r="r" b="b"/>
            <a:pathLst>
              <a:path w="1524000" h="330200">
                <a:moveTo>
                  <a:pt x="165100" y="0"/>
                </a:moveTo>
                <a:lnTo>
                  <a:pt x="1358900" y="0"/>
                </a:lnTo>
                <a:arcTo wR="165100" hR="165100" stAng="16200000" swAng="5400000"/>
                <a:lnTo>
                  <a:pt x="1524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feature/login</a:t>
            </a:r>
            <a:endParaRPr lang="en-US" sz="1300" dirty="0"/>
          </a:p>
        </p:txBody>
      </p:sp>
      <p:sp>
        <p:nvSpPr>
          <p:cNvPr id="21" name="Text 10"/>
          <p:cNvSpPr/>
          <p:nvPr/>
        </p:nvSpPr>
        <p:spPr>
          <a:xfrm>
            <a:off x="3270250" y="4330700"/>
            <a:ext cx="1193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a1b2c3d</a:t>
            </a:r>
            <a:endParaRPr lang="en-US" sz="1300" dirty="0"/>
          </a:p>
        </p:txBody>
      </p:sp>
      <p:sp>
        <p:nvSpPr>
          <p:cNvPr id="22" name="Text 11"/>
          <p:cNvSpPr/>
          <p:nvPr/>
        </p:nvSpPr>
        <p:spPr>
          <a:xfrm>
            <a:off x="6254750" y="3206750"/>
            <a:ext cx="698500" cy="698500"/>
          </a:xfrm>
          <a:custGeom>
            <a:avLst/>
            <a:gdLst/>
            <a:ahLst/>
            <a:cxnLst/>
            <a:rect l="l" t="t" r="r" b="b"/>
            <a:pathLst>
              <a:path w="698500" h="698500">
                <a:moveTo>
                  <a:pt x="349250" y="0"/>
                </a:moveTo>
                <a:lnTo>
                  <a:pt x="349250" y="0"/>
                </a:lnTo>
                <a:arcTo wR="349250" hR="349250" stAng="16200000" swAng="5400000"/>
                <a:lnTo>
                  <a:pt x="698500" y="349250"/>
                </a:lnTo>
                <a:arcTo wR="349250" hR="349250" stAng="0" swAng="5400000"/>
                <a:lnTo>
                  <a:pt x="349250" y="698500"/>
                </a:lnTo>
                <a:arcTo wR="349250" hR="349250" stAng="5400000" swAng="5400000"/>
                <a:lnTo>
                  <a:pt x="0" y="349250"/>
                </a:lnTo>
                <a:arcTo wR="349250" hR="349250" stAng="10800000" swAng="5400000"/>
                <a:close/>
              </a:path>
            </a:pathLst>
          </a:custGeom>
          <a:solidFill>
            <a:srgbClr val="2F6FDB"/>
          </a:solidFill>
          <a:ln/>
        </p:spPr>
        <p:txBody>
          <a:bodyPr wrap="square" lIns="0" tIns="0" rIns="0" bIns="0" rtlCol="0" anchor="t">
            <a:normAutofit/>
          </a:bodyPr>
          <a:lstStyle/>
          <a:p>
            <a:pPr marL="0" indent="0" algn="ctr">
              <a:lnSpc>
                <a:spcPts val="5505"/>
              </a:lnSpc>
              <a:buNone/>
            </a:pPr>
            <a:r>
              <a:rPr lang="en-US" sz="1500" b="1" dirty="0">
                <a:solidFill>
                  <a:srgbClr val="F6F4EE"/>
                </a:solidFill>
                <a:latin typeface="JetBrains Mono" pitchFamily="34" charset="0"/>
                <a:ea typeface="JetBrains Mono" pitchFamily="34" charset="-122"/>
                <a:cs typeface="JetBrains Mono" pitchFamily="34" charset="-120"/>
              </a:rPr>
              <a:t>A</a:t>
            </a:r>
            <a:endParaRPr lang="en-US" sz="1500" dirty="0"/>
          </a:p>
        </p:txBody>
      </p:sp>
      <p:sp>
        <p:nvSpPr>
          <p:cNvPr id="23" name="Text 12"/>
          <p:cNvSpPr/>
          <p:nvPr/>
        </p:nvSpPr>
        <p:spPr>
          <a:xfrm>
            <a:off x="7651750" y="3206750"/>
            <a:ext cx="698500" cy="698500"/>
          </a:xfrm>
          <a:custGeom>
            <a:avLst/>
            <a:gdLst/>
            <a:ahLst/>
            <a:cxnLst/>
            <a:rect l="l" t="t" r="r" b="b"/>
            <a:pathLst>
              <a:path w="698500" h="698500">
                <a:moveTo>
                  <a:pt x="349250" y="0"/>
                </a:moveTo>
                <a:lnTo>
                  <a:pt x="349250" y="0"/>
                </a:lnTo>
                <a:arcTo wR="349250" hR="349250" stAng="16200000" swAng="5400000"/>
                <a:lnTo>
                  <a:pt x="698500" y="349250"/>
                </a:lnTo>
                <a:arcTo wR="349250" hR="349250" stAng="0" swAng="5400000"/>
                <a:lnTo>
                  <a:pt x="349250" y="698500"/>
                </a:lnTo>
                <a:arcTo wR="349250" hR="349250" stAng="5400000" swAng="5400000"/>
                <a:lnTo>
                  <a:pt x="0" y="349250"/>
                </a:lnTo>
                <a:arcTo wR="349250" hR="349250" stAng="10800000" swAng="5400000"/>
                <a:close/>
              </a:path>
            </a:pathLst>
          </a:custGeom>
          <a:solidFill>
            <a:srgbClr val="2F6FDB"/>
          </a:solidFill>
          <a:ln/>
        </p:spPr>
        <p:txBody>
          <a:bodyPr wrap="square" lIns="0" tIns="0" rIns="0" bIns="0" rtlCol="0" anchor="t">
            <a:normAutofit/>
          </a:bodyPr>
          <a:lstStyle/>
          <a:p>
            <a:pPr marL="0" indent="0" algn="ctr">
              <a:lnSpc>
                <a:spcPts val="5505"/>
              </a:lnSpc>
              <a:buNone/>
            </a:pPr>
            <a:r>
              <a:rPr lang="en-US" sz="1500" b="1" dirty="0">
                <a:solidFill>
                  <a:srgbClr val="F6F4EE"/>
                </a:solidFill>
                <a:latin typeface="JetBrains Mono" pitchFamily="34" charset="0"/>
                <a:ea typeface="JetBrains Mono" pitchFamily="34" charset="-122"/>
                <a:cs typeface="JetBrains Mono" pitchFamily="34" charset="-120"/>
              </a:rPr>
              <a:t>B</a:t>
            </a:r>
            <a:endParaRPr lang="en-US" sz="1500" dirty="0"/>
          </a:p>
        </p:txBody>
      </p:sp>
      <p:sp>
        <p:nvSpPr>
          <p:cNvPr id="24" name="Text 13"/>
          <p:cNvSpPr/>
          <p:nvPr/>
        </p:nvSpPr>
        <p:spPr>
          <a:xfrm>
            <a:off x="9064625" y="3222625"/>
            <a:ext cx="666750" cy="666055"/>
          </a:xfrm>
          <a:custGeom>
            <a:avLst/>
            <a:gdLst/>
            <a:ahLst/>
            <a:cxnLst/>
            <a:rect l="l" t="t" r="r" b="b"/>
            <a:pathLst>
              <a:path w="666750" h="666055">
                <a:moveTo>
                  <a:pt x="333028" y="0"/>
                </a:moveTo>
                <a:lnTo>
                  <a:pt x="333722" y="0"/>
                </a:lnTo>
                <a:arcTo wR="333028" hR="333028" stAng="16200000" swAng="5400000"/>
                <a:lnTo>
                  <a:pt x="666750" y="333028"/>
                </a:lnTo>
                <a:arcTo wR="333028" hR="333028" stAng="0" swAng="5400000"/>
                <a:lnTo>
                  <a:pt x="333028" y="666055"/>
                </a:lnTo>
                <a:arcTo wR="333028" hR="333028" stAng="5400000" swAng="5400000"/>
                <a:lnTo>
                  <a:pt x="0" y="333028"/>
                </a:lnTo>
                <a:arcTo wR="333028" hR="333028" stAng="10800000" swAng="5400000"/>
                <a:close/>
              </a:path>
            </a:pathLst>
          </a:custGeom>
          <a:solidFill>
            <a:srgbClr val="F08C4B"/>
          </a:solidFill>
          <a:ln w="31750">
            <a:solidFill>
              <a:srgbClr val="16202C"/>
            </a:solidFill>
            <a:prstDash val="solid"/>
          </a:ln>
        </p:spPr>
        <p:txBody>
          <a:bodyPr wrap="square" lIns="0" tIns="15875" rIns="0" bIns="0" rtlCol="0" anchor="t">
            <a:normAutofit/>
          </a:bodyPr>
          <a:lstStyle/>
          <a:p>
            <a:pPr marL="0" indent="0" algn="ctr">
              <a:lnSpc>
                <a:spcPts val="4995"/>
              </a:lnSpc>
              <a:buNone/>
            </a:pPr>
            <a:r>
              <a:rPr lang="en-US" sz="1500" b="1" dirty="0">
                <a:solidFill>
                  <a:srgbClr val="16202C"/>
                </a:solidFill>
                <a:latin typeface="JetBrains Mono" pitchFamily="34" charset="0"/>
                <a:ea typeface="JetBrains Mono" pitchFamily="34" charset="-122"/>
                <a:cs typeface="JetBrains Mono" pitchFamily="34" charset="-120"/>
              </a:rPr>
              <a:t>F'</a:t>
            </a:r>
            <a:endParaRPr lang="en-US" sz="1500" dirty="0"/>
          </a:p>
        </p:txBody>
      </p:sp>
      <p:sp>
        <p:nvSpPr>
          <p:cNvPr id="25" name="Text 14"/>
          <p:cNvSpPr/>
          <p:nvPr/>
        </p:nvSpPr>
        <p:spPr>
          <a:xfrm>
            <a:off x="7664450" y="4489450"/>
            <a:ext cx="673100" cy="673100"/>
          </a:xfrm>
          <a:custGeom>
            <a:avLst/>
            <a:gdLst/>
            <a:ahLst/>
            <a:cxnLst/>
            <a:rect l="l" t="t" r="r" b="b"/>
            <a:pathLst>
              <a:path w="673100" h="673100">
                <a:moveTo>
                  <a:pt x="336550" y="0"/>
                </a:moveTo>
                <a:lnTo>
                  <a:pt x="336550" y="0"/>
                </a:lnTo>
                <a:arcTo wR="336550" hR="336550" stAng="16200000" swAng="5400000"/>
                <a:lnTo>
                  <a:pt x="673100" y="336550"/>
                </a:lnTo>
                <a:arcTo wR="336550" hR="336550" stAng="0" swAng="5400000"/>
                <a:lnTo>
                  <a:pt x="336550" y="673100"/>
                </a:lnTo>
                <a:arcTo wR="336550" hR="336550" stAng="5400000" swAng="5400000"/>
                <a:lnTo>
                  <a:pt x="0" y="336550"/>
                </a:lnTo>
                <a:arcTo wR="336550" hR="336550" stAng="10800000" swAng="5400000"/>
                <a:close/>
              </a:path>
            </a:pathLst>
          </a:custGeom>
          <a:solidFill>
            <a:srgbClr val="E9E5DA"/>
          </a:solidFill>
          <a:ln w="25400">
            <a:solidFill>
              <a:srgbClr val="9AA7B6"/>
            </a:solidFill>
            <a:prstDash val="dash"/>
          </a:ln>
        </p:spPr>
        <p:txBody>
          <a:bodyPr wrap="square" lIns="0" tIns="12700" rIns="0" bIns="0" rtlCol="0" anchor="t">
            <a:normAutofit/>
          </a:bodyPr>
          <a:lstStyle/>
          <a:p>
            <a:pPr marL="0" indent="0" algn="ctr">
              <a:lnSpc>
                <a:spcPts val="5100"/>
              </a:lnSpc>
              <a:buNone/>
            </a:pPr>
            <a:r>
              <a:rPr lang="en-US" sz="1500" b="1" dirty="0">
                <a:solidFill>
                  <a:srgbClr val="4A5566"/>
                </a:solidFill>
                <a:latin typeface="JetBrains Mono" pitchFamily="34" charset="0"/>
                <a:ea typeface="JetBrains Mono" pitchFamily="34" charset="-122"/>
                <a:cs typeface="JetBrains Mono" pitchFamily="34" charset="-120"/>
              </a:rPr>
              <a:t>F</a:t>
            </a:r>
            <a:endParaRPr lang="en-US" sz="1500" dirty="0"/>
          </a:p>
        </p:txBody>
      </p:sp>
      <p:sp>
        <p:nvSpPr>
          <p:cNvPr id="26" name="Text 15"/>
          <p:cNvSpPr/>
          <p:nvPr/>
        </p:nvSpPr>
        <p:spPr>
          <a:xfrm>
            <a:off x="7493000" y="2540000"/>
            <a:ext cx="1016000" cy="330200"/>
          </a:xfrm>
          <a:custGeom>
            <a:avLst/>
            <a:gdLst/>
            <a:ahLst/>
            <a:cxnLst/>
            <a:rect l="l" t="t" r="r" b="b"/>
            <a:pathLst>
              <a:path w="1016000" h="330200">
                <a:moveTo>
                  <a:pt x="165100" y="0"/>
                </a:moveTo>
                <a:lnTo>
                  <a:pt x="850900" y="0"/>
                </a:lnTo>
                <a:arcTo wR="165100" hR="165100" stAng="16200000" swAng="5400000"/>
                <a:lnTo>
                  <a:pt x="1016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27" name="Text 16"/>
          <p:cNvSpPr/>
          <p:nvPr/>
        </p:nvSpPr>
        <p:spPr>
          <a:xfrm>
            <a:off x="8636000" y="2540000"/>
            <a:ext cx="1524000" cy="330200"/>
          </a:xfrm>
          <a:custGeom>
            <a:avLst/>
            <a:gdLst/>
            <a:ahLst/>
            <a:cxnLst/>
            <a:rect l="l" t="t" r="r" b="b"/>
            <a:pathLst>
              <a:path w="1524000" h="330200">
                <a:moveTo>
                  <a:pt x="165100" y="0"/>
                </a:moveTo>
                <a:lnTo>
                  <a:pt x="1358900" y="0"/>
                </a:lnTo>
                <a:arcTo wR="165100" hR="165100" stAng="16200000" swAng="5400000"/>
                <a:lnTo>
                  <a:pt x="1524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F08C4B"/>
          </a:solidFill>
          <a:ln/>
        </p:spPr>
        <p:txBody>
          <a:bodyPr wrap="square" lIns="0" tIns="0" rIns="0" bIns="0" rtlCol="0" anchor="t">
            <a:normAutofit/>
          </a:bodyPr>
          <a:lstStyle/>
          <a:p>
            <a:pPr marL="0" indent="0" algn="ctr">
              <a:lnSpc>
                <a:spcPts val="2600"/>
              </a:lnSpc>
              <a:buNone/>
            </a:pPr>
            <a:r>
              <a:rPr lang="en-US" sz="1300" b="1" dirty="0">
                <a:solidFill>
                  <a:srgbClr val="16202C"/>
                </a:solidFill>
                <a:latin typeface="JetBrains Mono" pitchFamily="34" charset="0"/>
                <a:ea typeface="JetBrains Mono" pitchFamily="34" charset="-122"/>
                <a:cs typeface="JetBrains Mono" pitchFamily="34" charset="-120"/>
              </a:rPr>
              <a:t>feature/login</a:t>
            </a:r>
            <a:endParaRPr lang="en-US" sz="1300" dirty="0"/>
          </a:p>
        </p:txBody>
      </p:sp>
      <p:sp>
        <p:nvSpPr>
          <p:cNvPr id="28" name="Text 17"/>
          <p:cNvSpPr/>
          <p:nvPr/>
        </p:nvSpPr>
        <p:spPr>
          <a:xfrm>
            <a:off x="8864600" y="4013200"/>
            <a:ext cx="1066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x9y8z7w</a:t>
            </a:r>
            <a:endParaRPr lang="en-US" sz="1300" dirty="0"/>
          </a:p>
        </p:txBody>
      </p:sp>
      <p:sp>
        <p:nvSpPr>
          <p:cNvPr id="29" name="Text 18"/>
          <p:cNvSpPr/>
          <p:nvPr/>
        </p:nvSpPr>
        <p:spPr>
          <a:xfrm>
            <a:off x="8509000" y="4711700"/>
            <a:ext cx="27470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JetBrains Mono" pitchFamily="34" charset="0"/>
                <a:ea typeface="JetBrains Mono" pitchFamily="34" charset="-122"/>
                <a:cs typeface="JetBrains Mono" pitchFamily="34" charset="-120"/>
              </a:rPr>
              <a:t>a1b2c3d · terk edildi</a:t>
            </a:r>
            <a:endParaRPr lang="en-US" sz="1300" dirty="0"/>
          </a:p>
        </p:txBody>
      </p:sp>
      <p:sp>
        <p:nvSpPr>
          <p:cNvPr id="30" name="Text 19"/>
          <p:cNvSpPr/>
          <p:nvPr/>
        </p:nvSpPr>
        <p:spPr>
          <a:xfrm>
            <a:off x="812800" y="54610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Aynı içerik, yeni parent, yeni hash.</a:t>
            </a:r>
            <a:r>
              <a:rPr lang="en-US" sz="1500" dirty="0">
                <a:solidFill>
                  <a:srgbClr val="16202C"/>
                </a:solidFill>
                <a:latin typeface="IBM Plex Sans" pitchFamily="34" charset="0"/>
                <a:ea typeface="IBM Plex Sans" pitchFamily="34" charset="-122"/>
                <a:cs typeface="IBM Plex Sans" pitchFamily="34" charset="-120"/>
              </a:rPr>
              <a:t> Rebase commit'i taşımaz; kopyasını yeni zeminde yeniden basar.</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7 · REBASE</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Rebase'de conflict çözmek</a:t>
            </a:r>
            <a:endParaRPr lang="en-US" sz="3600" dirty="0"/>
          </a:p>
        </p:txBody>
      </p:sp>
      <p:sp>
        <p:nvSpPr>
          <p:cNvPr id="4" name="Text 2"/>
          <p:cNvSpPr/>
          <p:nvPr/>
        </p:nvSpPr>
        <p:spPr>
          <a:xfrm>
            <a:off x="812800" y="1851521"/>
            <a:ext cx="10566400" cy="800100"/>
          </a:xfrm>
          <a:prstGeom prst="roundRect">
            <a:avLst>
              <a:gd name="adj" fmla="val 12698"/>
            </a:avLst>
          </a:prstGeom>
          <a:solidFill>
            <a:srgbClr val="16202C"/>
          </a:solidFill>
          <a:ln/>
        </p:spPr>
        <p:txBody>
          <a:bodyPr wrap="square" lIns="224242" tIns="122642" rIns="0" bIns="97242" rtlCol="0" anchor="t">
            <a:normAutofit/>
          </a:bodyPr>
          <a:lstStyle/>
          <a:p>
            <a:pPr marL="0" indent="0" algn="l">
              <a:lnSpc>
                <a:spcPts val="1950"/>
              </a:lnSpc>
              <a:buNone/>
            </a:pPr>
            <a:r>
              <a:rPr lang="en-US" sz="1300" dirty="0">
                <a:solidFill>
                  <a:srgbClr val="F7A46B"/>
                </a:solidFill>
                <a:latin typeface="JetBrains Mono" pitchFamily="34" charset="0"/>
                <a:ea typeface="JetBrains Mono" pitchFamily="34" charset="-122"/>
                <a:cs typeface="JetBrains Mono" pitchFamily="34" charset="-120"/>
              </a:rPr>
              <a:t>CONFLICT (content): Merge conflict in app.txt</a:t>
            </a:r>
            <a:endParaRPr lang="en-US" sz="1300" dirty="0"/>
          </a:p>
          <a:p>
            <a:pPr marL="0" indent="0" algn="l">
              <a:lnSpc>
                <a:spcPts val="1950"/>
              </a:lnSpc>
              <a:buNone/>
            </a:pPr>
            <a:r>
              <a:rPr lang="en-US" sz="1300" dirty="0">
                <a:solidFill>
                  <a:srgbClr val="F6F4EE"/>
                </a:solidFill>
                <a:latin typeface="JetBrains Mono" pitchFamily="34" charset="0"/>
                <a:ea typeface="JetBrains Mono" pitchFamily="34" charset="-122"/>
                <a:cs typeface="JetBrains Mono" pitchFamily="34" charset="-120"/>
              </a:rPr>
              <a:t>error: could not apply 3f2a1b9... feat: login ekrani eklendi</a:t>
            </a:r>
            <a:endParaRPr lang="en-US" sz="1300" dirty="0"/>
          </a:p>
        </p:txBody>
      </p:sp>
      <p:sp>
        <p:nvSpPr>
          <p:cNvPr id="5" name="Shape 3"/>
          <p:cNvSpPr/>
          <p:nvPr/>
        </p:nvSpPr>
        <p:spPr>
          <a:xfrm>
            <a:off x="819150" y="2861171"/>
            <a:ext cx="5194300" cy="1518741"/>
          </a:xfrm>
          <a:prstGeom prst="roundRect">
            <a:avLst>
              <a:gd name="adj" fmla="val 7944"/>
            </a:avLst>
          </a:prstGeom>
          <a:solidFill>
            <a:srgbClr val="FDFCF9"/>
          </a:solidFill>
          <a:ln w="12700">
            <a:solidFill>
              <a:srgbClr val="E2DDD0"/>
            </a:solidFill>
            <a:prstDash val="solid"/>
          </a:ln>
        </p:spPr>
      </p:sp>
      <p:sp>
        <p:nvSpPr>
          <p:cNvPr id="6" name="Text 4"/>
          <p:cNvSpPr/>
          <p:nvPr/>
        </p:nvSpPr>
        <p:spPr>
          <a:xfrm>
            <a:off x="1028700" y="3070721"/>
            <a:ext cx="491845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1 · DOSYAYI DÜZENLE: app.txt</a:t>
            </a:r>
            <a:endParaRPr lang="en-US" sz="1300" dirty="0"/>
          </a:p>
        </p:txBody>
      </p:sp>
      <p:sp>
        <p:nvSpPr>
          <p:cNvPr id="7" name="Text 5"/>
          <p:cNvSpPr/>
          <p:nvPr/>
        </p:nvSpPr>
        <p:spPr>
          <a:xfrm>
            <a:off x="1028700" y="3378002"/>
            <a:ext cx="4918456"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16202C"/>
                </a:solidFill>
                <a:latin typeface="JetBrains Mono" pitchFamily="34" charset="0"/>
                <a:ea typeface="JetBrains Mono" pitchFamily="34" charset="-122"/>
                <a:cs typeface="JetBrains Mono" pitchFamily="34" charset="-120"/>
              </a:rPr>
              <a:t>Satir 1: Uygulama Baslatildi</a:t>
            </a:r>
            <a:endParaRPr lang="en-US" sz="1300" dirty="0"/>
          </a:p>
          <a:p>
            <a:pPr marL="0" indent="0" algn="l">
              <a:lnSpc>
                <a:spcPts val="2080"/>
              </a:lnSpc>
              <a:buNone/>
            </a:pPr>
            <a:r>
              <a:rPr lang="en-US" sz="1300" dirty="0">
                <a:solidFill>
                  <a:srgbClr val="16202C"/>
                </a:solidFill>
                <a:latin typeface="JetBrains Mono" pitchFamily="34" charset="0"/>
                <a:ea typeface="JetBrains Mono" pitchFamily="34" charset="-122"/>
                <a:cs typeface="JetBrains Mono" pitchFamily="34" charset="-120"/>
              </a:rPr>
              <a:t>Satir 2: Master Alt Yapi Guncellendi</a:t>
            </a:r>
            <a:endParaRPr lang="en-US" sz="1300" dirty="0"/>
          </a:p>
          <a:p>
            <a:pPr marL="0" indent="0" algn="l">
              <a:lnSpc>
                <a:spcPts val="2080"/>
              </a:lnSpc>
              <a:buNone/>
            </a:pPr>
            <a:r>
              <a:rPr lang="en-US" sz="1300" dirty="0">
                <a:solidFill>
                  <a:srgbClr val="16202C"/>
                </a:solidFill>
                <a:latin typeface="JetBrains Mono" pitchFamily="34" charset="0"/>
                <a:ea typeface="JetBrains Mono" pitchFamily="34" charset="-122"/>
                <a:cs typeface="JetBrains Mono" pitchFamily="34" charset="-120"/>
              </a:rPr>
              <a:t>Satir 3: Login Ekranı Kodlandi</a:t>
            </a:r>
            <a:endParaRPr lang="en-US" sz="1300" dirty="0"/>
          </a:p>
        </p:txBody>
      </p:sp>
      <p:sp>
        <p:nvSpPr>
          <p:cNvPr id="8" name="Shape 6"/>
          <p:cNvSpPr/>
          <p:nvPr/>
        </p:nvSpPr>
        <p:spPr>
          <a:xfrm>
            <a:off x="6178550" y="2861171"/>
            <a:ext cx="5194300" cy="1518741"/>
          </a:xfrm>
          <a:prstGeom prst="roundRect">
            <a:avLst>
              <a:gd name="adj" fmla="val 7944"/>
            </a:avLst>
          </a:prstGeom>
          <a:solidFill>
            <a:srgbClr val="FDFCF9"/>
          </a:solidFill>
          <a:ln w="12700">
            <a:solidFill>
              <a:srgbClr val="E2DDD0"/>
            </a:solidFill>
            <a:prstDash val="solid"/>
          </a:ln>
        </p:spPr>
      </p:sp>
      <p:sp>
        <p:nvSpPr>
          <p:cNvPr id="9" name="Text 7"/>
          <p:cNvSpPr/>
          <p:nvPr/>
        </p:nvSpPr>
        <p:spPr>
          <a:xfrm>
            <a:off x="6388100" y="3070721"/>
            <a:ext cx="491845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2 · ONAYLA VE DEVAM ET</a:t>
            </a:r>
            <a:endParaRPr lang="en-US" sz="1300" dirty="0"/>
          </a:p>
        </p:txBody>
      </p:sp>
      <p:sp>
        <p:nvSpPr>
          <p:cNvPr id="10" name="Text 8"/>
          <p:cNvSpPr/>
          <p:nvPr/>
        </p:nvSpPr>
        <p:spPr>
          <a:xfrm>
            <a:off x="6388100" y="3378002"/>
            <a:ext cx="4918456"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16202C"/>
                </a:solidFill>
                <a:latin typeface="JetBrains Mono" pitchFamily="34" charset="0"/>
                <a:ea typeface="JetBrains Mono" pitchFamily="34" charset="-122"/>
                <a:cs typeface="JetBrains Mono" pitchFamily="34" charset="-120"/>
              </a:rPr>
              <a:t>git add app.txt</a:t>
            </a:r>
            <a:endParaRPr lang="en-US" sz="1300" dirty="0"/>
          </a:p>
          <a:p>
            <a:pPr marL="0" indent="0" algn="l">
              <a:lnSpc>
                <a:spcPts val="2080"/>
              </a:lnSpc>
              <a:buNone/>
            </a:pPr>
            <a:r>
              <a:rPr lang="en-US" sz="1300" dirty="0">
                <a:solidFill>
                  <a:srgbClr val="16202C"/>
                </a:solidFill>
                <a:latin typeface="JetBrains Mono" pitchFamily="34" charset="0"/>
                <a:ea typeface="JetBrains Mono" pitchFamily="34" charset="-122"/>
                <a:cs typeface="JetBrains Mono" pitchFamily="34" charset="-120"/>
              </a:rPr>
              <a:t>git rebase </a:t>
            </a:r>
            <a:r>
              <a:rPr lang="en-US" sz="1300" dirty="0">
                <a:solidFill>
                  <a:srgbClr val="B8430A"/>
                </a:solidFill>
                <a:latin typeface="JetBrains Mono" pitchFamily="34" charset="0"/>
                <a:ea typeface="JetBrains Mono" pitchFamily="34" charset="-122"/>
                <a:cs typeface="JetBrains Mono" pitchFamily="34" charset="-120"/>
              </a:rPr>
              <a:t>--continue</a:t>
            </a:r>
            <a:endParaRPr lang="en-US" sz="1300" dirty="0"/>
          </a:p>
          <a:p>
            <a:pPr marL="0" indent="0" algn="l">
              <a:lnSpc>
                <a:spcPts val="2080"/>
              </a:lnSpc>
              <a:buNone/>
            </a:pPr>
            <a:r>
              <a:rPr lang="en-US" sz="1300" dirty="0">
                <a:solidFill>
                  <a:srgbClr val="16202C"/>
                </a:solidFill>
                <a:latin typeface="JetBrains Mono" pitchFamily="34" charset="0"/>
                <a:ea typeface="JetBrains Mono" pitchFamily="34" charset="-122"/>
                <a:cs typeface="JetBrains Mono" pitchFamily="34" charset="-120"/>
              </a:rPr>
              <a:t>git log --oneline --graph</a:t>
            </a:r>
            <a:endParaRPr lang="en-US" sz="1300" dirty="0"/>
          </a:p>
        </p:txBody>
      </p:sp>
      <p:sp>
        <p:nvSpPr>
          <p:cNvPr id="11" name="Shape 9"/>
          <p:cNvSpPr/>
          <p:nvPr/>
        </p:nvSpPr>
        <p:spPr>
          <a:xfrm>
            <a:off x="812800" y="4589463"/>
            <a:ext cx="10566400" cy="660400"/>
          </a:xfrm>
          <a:prstGeom prst="roundRect">
            <a:avLst>
              <a:gd name="adj" fmla="val 15385"/>
            </a:avLst>
          </a:prstGeom>
          <a:solidFill>
            <a:srgbClr val="B8430A"/>
          </a:solidFill>
          <a:ln/>
        </p:spPr>
      </p:sp>
      <p:pic>
        <p:nvPicPr>
          <p:cNvPr id="12" name="Image 0" descr="Warning"/>
          <p:cNvPicPr>
            <a:picLocks noChangeAspect="1"/>
          </p:cNvPicPr>
          <p:nvPr/>
        </p:nvPicPr>
        <p:blipFill>
          <a:blip r:embed="rId3"/>
          <a:srcRect/>
          <a:stretch/>
        </p:blipFill>
        <p:spPr>
          <a:xfrm>
            <a:off x="1066800" y="4767263"/>
            <a:ext cx="304800" cy="304800"/>
          </a:xfrm>
          <a:prstGeom prst="rect">
            <a:avLst/>
          </a:prstGeom>
        </p:spPr>
      </p:pic>
      <p:sp>
        <p:nvSpPr>
          <p:cNvPr id="13" name="Text 10"/>
          <p:cNvSpPr/>
          <p:nvPr/>
        </p:nvSpPr>
        <p:spPr>
          <a:xfrm>
            <a:off x="1498600" y="4786313"/>
            <a:ext cx="930559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Sakın git commit atma!</a:t>
            </a:r>
            <a:r>
              <a:rPr lang="en-US" sz="1500" dirty="0">
                <a:solidFill>
                  <a:srgbClr val="F6F4EE"/>
                </a:solidFill>
                <a:latin typeface="IBM Plex Sans" pitchFamily="34" charset="0"/>
                <a:ea typeface="IBM Plex Sans" pitchFamily="34" charset="-122"/>
                <a:cs typeface="IBM Plex Sans" pitchFamily="34" charset="-120"/>
              </a:rPr>
              <a:t> Rebase ortasında commit'i Git kendisi yeniden basar. Kaçış yolları: --abort, --skip.</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4EE"/>
        </a:solidFill>
        <a:effectLst/>
      </p:bgPr>
    </p:bg>
    <p:spTree>
      <p:nvGrpSpPr>
        <p:cNvPr id="1" name=""/>
        <p:cNvGrpSpPr/>
        <p:nvPr/>
      </p:nvGrpSpPr>
      <p:grpSpPr>
        <a:xfrm>
          <a:off x="0" y="0"/>
          <a:ext cx="0" cy="0"/>
          <a:chOff x="0" y="0"/>
          <a:chExt cx="0" cy="0"/>
        </a:xfrm>
      </p:grpSpPr>
      <p:pic>
        <p:nvPicPr>
          <p:cNvPr id="2" name="Image 0" descr="Play"/>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187184"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CANLI DEMO · REBASE</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Dört adımda rebase senaryosu</a:t>
            </a:r>
            <a:endParaRPr lang="en-US" sz="3600" dirty="0"/>
          </a:p>
        </p:txBody>
      </p:sp>
      <p:pic>
        <p:nvPicPr>
          <p:cNvPr id="5" name="Image 1" descr="İki monitörde rebase senaryosunun dört adımı: master'da başlangıç, feature dalında geliştirme, master'ın ilerlemesi, feature'a geçip rebase başlatma"/>
          <p:cNvPicPr>
            <a:picLocks noChangeAspect="1"/>
          </p:cNvPicPr>
          <p:nvPr/>
        </p:nvPicPr>
        <p:blipFill>
          <a:blip r:embed="rId4"/>
          <a:srcRect t="-36" b="-36"/>
          <a:stretch/>
        </p:blipFill>
        <p:spPr>
          <a:xfrm>
            <a:off x="812800" y="1902321"/>
            <a:ext cx="6350000" cy="3549650"/>
          </a:xfrm>
          <a:prstGeom prst="roundRect">
            <a:avLst>
              <a:gd name="adj" fmla="val 2147"/>
            </a:avLst>
          </a:prstGeom>
          <a:effectLst>
            <a:outerShdw blurRad="254000" dist="76200" dir="5400000" algn="bl" rotWithShape="0">
              <a:srgbClr val="16202C">
                <a:alpha val="18000"/>
              </a:srgbClr>
            </a:outerShdw>
          </a:effectLst>
        </p:spPr>
      </p:pic>
      <p:sp>
        <p:nvSpPr>
          <p:cNvPr id="6" name="Text 2"/>
          <p:cNvSpPr/>
          <p:nvPr/>
        </p:nvSpPr>
        <p:spPr>
          <a:xfrm>
            <a:off x="7416800" y="2164655"/>
            <a:ext cx="4081272" cy="15113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IBM Plex Sans" pitchFamily="34" charset="0"/>
                <a:ea typeface="IBM Plex Sans" pitchFamily="34" charset="-122"/>
                <a:cs typeface="IBM Plex Sans" pitchFamily="34" charset="-120"/>
              </a:rPr>
              <a:t>Login özelliğimizi tamamladık, ancak master ilerledi. Geçmişi (history) düz bir çizgi halinde tutmak ve master'daki yeni altyapı kodlarını kendi dalımızın altına </a:t>
            </a:r>
            <a:r>
              <a:rPr lang="en-US" sz="1300" b="1" dirty="0">
                <a:solidFill>
                  <a:srgbClr val="16202C"/>
                </a:solidFill>
                <a:latin typeface="IBM Plex Sans" pitchFamily="34" charset="0"/>
                <a:ea typeface="IBM Plex Sans" pitchFamily="34" charset="-122"/>
                <a:cs typeface="IBM Plex Sans" pitchFamily="34" charset="-120"/>
              </a:rPr>
              <a:t>temel (base)</a:t>
            </a:r>
            <a:r>
              <a:rPr lang="en-US" sz="1300" dirty="0">
                <a:solidFill>
                  <a:srgbClr val="16202C"/>
                </a:solidFill>
                <a:latin typeface="IBM Plex Sans" pitchFamily="34" charset="0"/>
                <a:ea typeface="IBM Plex Sans" pitchFamily="34" charset="-122"/>
                <a:cs typeface="IBM Plex Sans" pitchFamily="34" charset="-120"/>
              </a:rPr>
              <a:t> olarak almak istiyoruz. Rebase, bizim commit'lerimizi söküp master'ın en son commit'inin üzerine yeniden yazar.</a:t>
            </a:r>
            <a:endParaRPr lang="en-US" sz="1300" dirty="0"/>
          </a:p>
        </p:txBody>
      </p:sp>
      <p:sp>
        <p:nvSpPr>
          <p:cNvPr id="7" name="Text 3"/>
          <p:cNvSpPr/>
          <p:nvPr/>
        </p:nvSpPr>
        <p:spPr>
          <a:xfrm>
            <a:off x="7416800" y="3828355"/>
            <a:ext cx="3962400" cy="1361281"/>
          </a:xfrm>
          <a:prstGeom prst="roundRect">
            <a:avLst>
              <a:gd name="adj" fmla="val 5598"/>
            </a:avLst>
          </a:prstGeom>
          <a:solidFill>
            <a:srgbClr val="16202C"/>
          </a:solidFill>
          <a:ln/>
        </p:spPr>
        <p:txBody>
          <a:bodyPr wrap="square" lIns="155482" tIns="130082" rIns="47278" bIns="104682" rtlCol="0" anchor="t">
            <a:normAutofit/>
          </a:bodyPr>
          <a:lstStyle/>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conflict çözülünce</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rebase --continue</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sonucu gör</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log --graph --oneline --all</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7 · KARŞILAŞTIRMA</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Aynı iş, iki farklı geçmiş</a:t>
            </a:r>
            <a:endParaRPr lang="en-US" sz="3600" dirty="0"/>
          </a:p>
        </p:txBody>
      </p:sp>
      <p:sp>
        <p:nvSpPr>
          <p:cNvPr id="4" name="Shape 2"/>
          <p:cNvSpPr/>
          <p:nvPr/>
        </p:nvSpPr>
        <p:spPr>
          <a:xfrm>
            <a:off x="5842000" y="1905000"/>
            <a:ext cx="19050" cy="3683000"/>
          </a:xfrm>
          <a:prstGeom prst="rect">
            <a:avLst/>
          </a:prstGeom>
          <a:solidFill>
            <a:srgbClr val="E2DDD0"/>
          </a:solidFill>
          <a:ln/>
        </p:spPr>
      </p:sp>
      <p:pic>
        <p:nvPicPr>
          <p:cNvPr id="5" name="Image 0" descr="connector"/>
          <p:cNvPicPr>
            <a:picLocks noChangeAspect="1"/>
          </p:cNvPicPr>
          <p:nvPr/>
        </p:nvPicPr>
        <p:blipFill>
          <a:blip r:embed="rId3"/>
          <a:srcRect/>
          <a:stretch/>
        </p:blipFill>
        <p:spPr>
          <a:xfrm>
            <a:off x="1301750" y="2571750"/>
            <a:ext cx="2349500" cy="952500"/>
          </a:xfrm>
          <a:prstGeom prst="rect">
            <a:avLst/>
          </a:prstGeom>
        </p:spPr>
      </p:pic>
      <p:pic>
        <p:nvPicPr>
          <p:cNvPr id="6" name="Image 1" descr="connector"/>
          <p:cNvPicPr>
            <a:picLocks noChangeAspect="1"/>
          </p:cNvPicPr>
          <p:nvPr/>
        </p:nvPicPr>
        <p:blipFill>
          <a:blip r:embed="rId4"/>
          <a:srcRect/>
          <a:stretch/>
        </p:blipFill>
        <p:spPr>
          <a:xfrm>
            <a:off x="3460750" y="2571750"/>
            <a:ext cx="1714500" cy="952500"/>
          </a:xfrm>
          <a:prstGeom prst="rect">
            <a:avLst/>
          </a:prstGeom>
        </p:spPr>
      </p:pic>
      <p:pic>
        <p:nvPicPr>
          <p:cNvPr id="7" name="Image 2" descr="connector"/>
          <p:cNvPicPr>
            <a:picLocks noChangeAspect="1"/>
          </p:cNvPicPr>
          <p:nvPr/>
        </p:nvPicPr>
        <p:blipFill>
          <a:blip r:embed="rId5"/>
          <a:srcRect/>
          <a:stretch/>
        </p:blipFill>
        <p:spPr>
          <a:xfrm>
            <a:off x="1301750" y="3333750"/>
            <a:ext cx="1460500" cy="1079500"/>
          </a:xfrm>
          <a:prstGeom prst="rect">
            <a:avLst/>
          </a:prstGeom>
        </p:spPr>
      </p:pic>
      <p:pic>
        <p:nvPicPr>
          <p:cNvPr id="8" name="Image 3" descr="connector"/>
          <p:cNvPicPr>
            <a:picLocks noChangeAspect="1"/>
          </p:cNvPicPr>
          <p:nvPr/>
        </p:nvPicPr>
        <p:blipFill>
          <a:blip r:embed="rId6"/>
          <a:srcRect/>
          <a:stretch/>
        </p:blipFill>
        <p:spPr>
          <a:xfrm>
            <a:off x="2571750" y="4222750"/>
            <a:ext cx="1460500" cy="190500"/>
          </a:xfrm>
          <a:prstGeom prst="rect">
            <a:avLst/>
          </a:prstGeom>
        </p:spPr>
      </p:pic>
      <p:pic>
        <p:nvPicPr>
          <p:cNvPr id="9" name="Image 4" descr="connector"/>
          <p:cNvPicPr>
            <a:picLocks noChangeAspect="1"/>
          </p:cNvPicPr>
          <p:nvPr/>
        </p:nvPicPr>
        <p:blipFill>
          <a:blip r:embed="rId7"/>
          <a:srcRect/>
          <a:stretch/>
        </p:blipFill>
        <p:spPr>
          <a:xfrm>
            <a:off x="3841750" y="3333750"/>
            <a:ext cx="1333500" cy="1079500"/>
          </a:xfrm>
          <a:prstGeom prst="rect">
            <a:avLst/>
          </a:prstGeom>
        </p:spPr>
      </p:pic>
      <p:pic>
        <p:nvPicPr>
          <p:cNvPr id="10" name="Image 5" descr="connector"/>
          <p:cNvPicPr>
            <a:picLocks noChangeAspect="1"/>
          </p:cNvPicPr>
          <p:nvPr/>
        </p:nvPicPr>
        <p:blipFill>
          <a:blip r:embed="rId8"/>
          <a:srcRect/>
          <a:stretch/>
        </p:blipFill>
        <p:spPr>
          <a:xfrm>
            <a:off x="6635750" y="3460750"/>
            <a:ext cx="1333500" cy="190500"/>
          </a:xfrm>
          <a:prstGeom prst="rect">
            <a:avLst/>
          </a:prstGeom>
        </p:spPr>
      </p:pic>
      <p:pic>
        <p:nvPicPr>
          <p:cNvPr id="11" name="Image 6" descr="connector"/>
          <p:cNvPicPr>
            <a:picLocks noChangeAspect="1"/>
          </p:cNvPicPr>
          <p:nvPr/>
        </p:nvPicPr>
        <p:blipFill>
          <a:blip r:embed="rId9"/>
          <a:srcRect/>
          <a:stretch/>
        </p:blipFill>
        <p:spPr>
          <a:xfrm>
            <a:off x="7778750" y="3460750"/>
            <a:ext cx="2476500" cy="190500"/>
          </a:xfrm>
          <a:prstGeom prst="rect">
            <a:avLst/>
          </a:prstGeom>
        </p:spPr>
      </p:pic>
      <p:sp>
        <p:nvSpPr>
          <p:cNvPr id="12" name="Text 3"/>
          <p:cNvSpPr/>
          <p:nvPr/>
        </p:nvSpPr>
        <p:spPr>
          <a:xfrm>
            <a:off x="812800" y="1905000"/>
            <a:ext cx="26162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MERGE</a:t>
            </a:r>
            <a:endParaRPr lang="en-US" sz="1300" dirty="0"/>
          </a:p>
        </p:txBody>
      </p:sp>
      <p:sp>
        <p:nvSpPr>
          <p:cNvPr id="13" name="Text 4"/>
          <p:cNvSpPr/>
          <p:nvPr/>
        </p:nvSpPr>
        <p:spPr>
          <a:xfrm>
            <a:off x="6350000" y="190500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REBASE + FAST-FORWARD</a:t>
            </a:r>
            <a:endParaRPr lang="en-US" sz="1300" dirty="0"/>
          </a:p>
        </p:txBody>
      </p:sp>
      <p:sp>
        <p:nvSpPr>
          <p:cNvPr id="14" name="Text 5"/>
          <p:cNvSpPr/>
          <p:nvPr/>
        </p:nvSpPr>
        <p:spPr>
          <a:xfrm>
            <a:off x="1079500" y="3111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A</a:t>
            </a:r>
            <a:endParaRPr lang="en-US" sz="1500" dirty="0"/>
          </a:p>
        </p:txBody>
      </p:sp>
      <p:sp>
        <p:nvSpPr>
          <p:cNvPr id="15" name="Text 6"/>
          <p:cNvSpPr/>
          <p:nvPr/>
        </p:nvSpPr>
        <p:spPr>
          <a:xfrm>
            <a:off x="3238500" y="2349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B</a:t>
            </a:r>
            <a:endParaRPr lang="en-US" sz="1500" dirty="0"/>
          </a:p>
        </p:txBody>
      </p:sp>
      <p:sp>
        <p:nvSpPr>
          <p:cNvPr id="16" name="Text 7"/>
          <p:cNvSpPr/>
          <p:nvPr/>
        </p:nvSpPr>
        <p:spPr>
          <a:xfrm>
            <a:off x="2349500" y="4000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F08C4B"/>
          </a:solidFill>
          <a:ln/>
        </p:spPr>
        <p:txBody>
          <a:bodyPr wrap="square" lIns="0" tIns="0" rIns="0" bIns="0" rtlCol="0" anchor="t">
            <a:normAutofit/>
          </a:bodyPr>
          <a:lstStyle/>
          <a:p>
            <a:pPr marL="0" indent="0" algn="ctr">
              <a:lnSpc>
                <a:spcPts val="4995"/>
              </a:lnSpc>
              <a:buNone/>
            </a:pPr>
            <a:r>
              <a:rPr lang="en-US" sz="1500" b="1" dirty="0">
                <a:solidFill>
                  <a:srgbClr val="16202C"/>
                </a:solidFill>
                <a:latin typeface="JetBrains Mono" pitchFamily="34" charset="0"/>
                <a:ea typeface="JetBrains Mono" pitchFamily="34" charset="-122"/>
                <a:cs typeface="JetBrains Mono" pitchFamily="34" charset="-120"/>
              </a:rPr>
              <a:t>F1</a:t>
            </a:r>
            <a:endParaRPr lang="en-US" sz="1500" dirty="0"/>
          </a:p>
        </p:txBody>
      </p:sp>
      <p:sp>
        <p:nvSpPr>
          <p:cNvPr id="17" name="Text 8"/>
          <p:cNvSpPr/>
          <p:nvPr/>
        </p:nvSpPr>
        <p:spPr>
          <a:xfrm>
            <a:off x="3619500" y="4000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F08C4B"/>
          </a:solidFill>
          <a:ln/>
        </p:spPr>
        <p:txBody>
          <a:bodyPr wrap="square" lIns="0" tIns="0" rIns="0" bIns="0" rtlCol="0" anchor="t">
            <a:normAutofit/>
          </a:bodyPr>
          <a:lstStyle/>
          <a:p>
            <a:pPr marL="0" indent="0" algn="ctr">
              <a:lnSpc>
                <a:spcPts val="4995"/>
              </a:lnSpc>
              <a:buNone/>
            </a:pPr>
            <a:r>
              <a:rPr lang="en-US" sz="1500" b="1" dirty="0">
                <a:solidFill>
                  <a:srgbClr val="16202C"/>
                </a:solidFill>
                <a:latin typeface="JetBrains Mono" pitchFamily="34" charset="0"/>
                <a:ea typeface="JetBrains Mono" pitchFamily="34" charset="-122"/>
                <a:cs typeface="JetBrains Mono" pitchFamily="34" charset="-120"/>
              </a:rPr>
              <a:t>F2</a:t>
            </a:r>
            <a:endParaRPr lang="en-US" sz="1500" dirty="0"/>
          </a:p>
        </p:txBody>
      </p:sp>
      <p:sp>
        <p:nvSpPr>
          <p:cNvPr id="18" name="Text 9"/>
          <p:cNvSpPr/>
          <p:nvPr/>
        </p:nvSpPr>
        <p:spPr>
          <a:xfrm>
            <a:off x="4784725" y="3133725"/>
            <a:ext cx="590550" cy="590550"/>
          </a:xfrm>
          <a:custGeom>
            <a:avLst/>
            <a:gdLst/>
            <a:ahLst/>
            <a:cxnLst/>
            <a:rect l="l" t="t" r="r" b="b"/>
            <a:pathLst>
              <a:path w="590550" h="590550">
                <a:moveTo>
                  <a:pt x="295275" y="0"/>
                </a:moveTo>
                <a:lnTo>
                  <a:pt x="295275" y="0"/>
                </a:lnTo>
                <a:arcTo wR="295275" hR="295275" stAng="16200000" swAng="5400000"/>
                <a:lnTo>
                  <a:pt x="590550" y="295275"/>
                </a:lnTo>
                <a:arcTo wR="295275" hR="295275" stAng="0" swAng="5400000"/>
                <a:lnTo>
                  <a:pt x="295275" y="590550"/>
                </a:lnTo>
                <a:arcTo wR="295275" hR="295275" stAng="5400000" swAng="5400000"/>
                <a:lnTo>
                  <a:pt x="0" y="295275"/>
                </a:lnTo>
                <a:arcTo wR="295275" hR="295275" stAng="10800000" swAng="5400000"/>
                <a:close/>
              </a:path>
            </a:pathLst>
          </a:custGeom>
          <a:solidFill>
            <a:srgbClr val="F6F4EE"/>
          </a:solidFill>
          <a:ln w="44450">
            <a:solidFill>
              <a:srgbClr val="F08C4B"/>
            </a:solidFill>
            <a:prstDash val="solid"/>
          </a:ln>
        </p:spPr>
        <p:txBody>
          <a:bodyPr wrap="square" lIns="0" tIns="22225" rIns="0" bIns="0" rtlCol="0" anchor="t">
            <a:normAutofit/>
          </a:bodyPr>
          <a:lstStyle/>
          <a:p>
            <a:pPr marL="0" indent="0" algn="ctr">
              <a:lnSpc>
                <a:spcPts val="4305"/>
              </a:lnSpc>
              <a:buNone/>
            </a:pPr>
            <a:r>
              <a:rPr lang="en-US" sz="1500" b="1" dirty="0">
                <a:solidFill>
                  <a:srgbClr val="16202C"/>
                </a:solidFill>
                <a:latin typeface="JetBrains Mono" pitchFamily="34" charset="0"/>
                <a:ea typeface="JetBrains Mono" pitchFamily="34" charset="-122"/>
                <a:cs typeface="JetBrains Mono" pitchFamily="34" charset="-120"/>
              </a:rPr>
              <a:t>M</a:t>
            </a:r>
            <a:endParaRPr lang="en-US" sz="1500" dirty="0"/>
          </a:p>
        </p:txBody>
      </p:sp>
      <p:sp>
        <p:nvSpPr>
          <p:cNvPr id="19" name="Text 10"/>
          <p:cNvSpPr/>
          <p:nvPr/>
        </p:nvSpPr>
        <p:spPr>
          <a:xfrm>
            <a:off x="6413500" y="3238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A</a:t>
            </a:r>
            <a:endParaRPr lang="en-US" sz="1500" dirty="0"/>
          </a:p>
        </p:txBody>
      </p:sp>
      <p:sp>
        <p:nvSpPr>
          <p:cNvPr id="20" name="Text 11"/>
          <p:cNvSpPr/>
          <p:nvPr/>
        </p:nvSpPr>
        <p:spPr>
          <a:xfrm>
            <a:off x="7556500" y="3238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B</a:t>
            </a:r>
            <a:endParaRPr lang="en-US" sz="1500" dirty="0"/>
          </a:p>
        </p:txBody>
      </p:sp>
      <p:sp>
        <p:nvSpPr>
          <p:cNvPr id="21" name="Text 12"/>
          <p:cNvSpPr/>
          <p:nvPr/>
        </p:nvSpPr>
        <p:spPr>
          <a:xfrm>
            <a:off x="8715375" y="3254375"/>
            <a:ext cx="603250" cy="603250"/>
          </a:xfrm>
          <a:custGeom>
            <a:avLst/>
            <a:gdLst/>
            <a:ahLst/>
            <a:cxnLst/>
            <a:rect l="l" t="t" r="r" b="b"/>
            <a:pathLst>
              <a:path w="603250" h="603250">
                <a:moveTo>
                  <a:pt x="301625" y="0"/>
                </a:moveTo>
                <a:lnTo>
                  <a:pt x="301625" y="0"/>
                </a:lnTo>
                <a:arcTo wR="301625" hR="301625" stAng="16200000" swAng="5400000"/>
                <a:lnTo>
                  <a:pt x="603250" y="301625"/>
                </a:lnTo>
                <a:arcTo wR="301625" hR="301625" stAng="0" swAng="5400000"/>
                <a:lnTo>
                  <a:pt x="301625" y="603250"/>
                </a:lnTo>
                <a:arcTo wR="301625" hR="301625" stAng="5400000" swAng="5400000"/>
                <a:lnTo>
                  <a:pt x="0" y="301625"/>
                </a:lnTo>
                <a:arcTo wR="301625" hR="301625" stAng="10800000" swAng="5400000"/>
                <a:close/>
              </a:path>
            </a:pathLst>
          </a:custGeom>
          <a:solidFill>
            <a:srgbClr val="F08C4B"/>
          </a:solidFill>
          <a:ln w="31750">
            <a:solidFill>
              <a:srgbClr val="16202C"/>
            </a:solidFill>
            <a:prstDash val="solid"/>
          </a:ln>
        </p:spPr>
        <p:txBody>
          <a:bodyPr wrap="square" lIns="0" tIns="15875" rIns="0" bIns="0" rtlCol="0" anchor="t">
            <a:normAutofit/>
          </a:bodyPr>
          <a:lstStyle/>
          <a:p>
            <a:pPr marL="0" indent="0" algn="ctr">
              <a:lnSpc>
                <a:spcPts val="4500"/>
              </a:lnSpc>
              <a:buNone/>
            </a:pPr>
            <a:r>
              <a:rPr lang="en-US" sz="1500" b="1" dirty="0">
                <a:solidFill>
                  <a:srgbClr val="16202C"/>
                </a:solidFill>
                <a:latin typeface="JetBrains Mono" pitchFamily="34" charset="0"/>
                <a:ea typeface="JetBrains Mono" pitchFamily="34" charset="-122"/>
                <a:cs typeface="JetBrains Mono" pitchFamily="34" charset="-120"/>
              </a:rPr>
              <a:t>F1'</a:t>
            </a:r>
            <a:endParaRPr lang="en-US" sz="1500" dirty="0"/>
          </a:p>
        </p:txBody>
      </p:sp>
      <p:sp>
        <p:nvSpPr>
          <p:cNvPr id="22" name="Text 13"/>
          <p:cNvSpPr/>
          <p:nvPr/>
        </p:nvSpPr>
        <p:spPr>
          <a:xfrm>
            <a:off x="9858375" y="3254375"/>
            <a:ext cx="603250" cy="603250"/>
          </a:xfrm>
          <a:custGeom>
            <a:avLst/>
            <a:gdLst/>
            <a:ahLst/>
            <a:cxnLst/>
            <a:rect l="l" t="t" r="r" b="b"/>
            <a:pathLst>
              <a:path w="603250" h="603250">
                <a:moveTo>
                  <a:pt x="301625" y="0"/>
                </a:moveTo>
                <a:lnTo>
                  <a:pt x="301625" y="0"/>
                </a:lnTo>
                <a:arcTo wR="301625" hR="301625" stAng="16200000" swAng="5400000"/>
                <a:lnTo>
                  <a:pt x="603250" y="301625"/>
                </a:lnTo>
                <a:arcTo wR="301625" hR="301625" stAng="0" swAng="5400000"/>
                <a:lnTo>
                  <a:pt x="301625" y="603250"/>
                </a:lnTo>
                <a:arcTo wR="301625" hR="301625" stAng="5400000" swAng="5400000"/>
                <a:lnTo>
                  <a:pt x="0" y="301625"/>
                </a:lnTo>
                <a:arcTo wR="301625" hR="301625" stAng="10800000" swAng="5400000"/>
                <a:close/>
              </a:path>
            </a:pathLst>
          </a:custGeom>
          <a:solidFill>
            <a:srgbClr val="F08C4B"/>
          </a:solidFill>
          <a:ln w="31750">
            <a:solidFill>
              <a:srgbClr val="16202C"/>
            </a:solidFill>
            <a:prstDash val="solid"/>
          </a:ln>
        </p:spPr>
        <p:txBody>
          <a:bodyPr wrap="square" lIns="0" tIns="15875" rIns="0" bIns="0" rtlCol="0" anchor="t">
            <a:normAutofit/>
          </a:bodyPr>
          <a:lstStyle/>
          <a:p>
            <a:pPr marL="0" indent="0" algn="ctr">
              <a:lnSpc>
                <a:spcPts val="4500"/>
              </a:lnSpc>
              <a:buNone/>
            </a:pPr>
            <a:r>
              <a:rPr lang="en-US" sz="1500" b="1" dirty="0">
                <a:solidFill>
                  <a:srgbClr val="16202C"/>
                </a:solidFill>
                <a:latin typeface="JetBrains Mono" pitchFamily="34" charset="0"/>
                <a:ea typeface="JetBrains Mono" pitchFamily="34" charset="-122"/>
                <a:cs typeface="JetBrains Mono" pitchFamily="34" charset="-120"/>
              </a:rPr>
              <a:t>F2'</a:t>
            </a:r>
            <a:endParaRPr lang="en-US" sz="1500" dirty="0"/>
          </a:p>
        </p:txBody>
      </p:sp>
      <p:sp>
        <p:nvSpPr>
          <p:cNvPr id="23" name="Text 14"/>
          <p:cNvSpPr/>
          <p:nvPr/>
        </p:nvSpPr>
        <p:spPr>
          <a:xfrm>
            <a:off x="812800" y="4953000"/>
            <a:ext cx="4970780"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02C"/>
                </a:solidFill>
                <a:latin typeface="IBM Plex Sans" pitchFamily="34" charset="0"/>
                <a:ea typeface="IBM Plex Sans" pitchFamily="34" charset="-122"/>
                <a:cs typeface="IBM Plex Sans" pitchFamily="34" charset="-120"/>
              </a:rPr>
              <a:t>Gerçek geçmiş korunur,</a:t>
            </a:r>
            <a:r>
              <a:rPr lang="en-US" sz="1500" dirty="0">
                <a:solidFill>
                  <a:srgbClr val="16202C"/>
                </a:solidFill>
                <a:latin typeface="IBM Plex Sans" pitchFamily="34" charset="0"/>
                <a:ea typeface="IBM Plex Sans" pitchFamily="34" charset="-122"/>
                <a:cs typeface="IBM Plex Sans" pitchFamily="34" charset="-120"/>
              </a:rPr>
              <a:t> birleşme noktası görünür. Paylaşılan dallarda güvenli.</a:t>
            </a:r>
            <a:endParaRPr lang="en-US" sz="1500" dirty="0"/>
          </a:p>
        </p:txBody>
      </p:sp>
      <p:sp>
        <p:nvSpPr>
          <p:cNvPr id="24" name="Text 15"/>
          <p:cNvSpPr/>
          <p:nvPr/>
        </p:nvSpPr>
        <p:spPr>
          <a:xfrm>
            <a:off x="6350000" y="4953000"/>
            <a:ext cx="5180076"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02C"/>
                </a:solidFill>
                <a:latin typeface="IBM Plex Sans" pitchFamily="34" charset="0"/>
                <a:ea typeface="IBM Plex Sans" pitchFamily="34" charset="-122"/>
                <a:cs typeface="IBM Plex Sans" pitchFamily="34" charset="-120"/>
              </a:rPr>
              <a:t>Düz, okunaklı log.</a:t>
            </a:r>
            <a:r>
              <a:rPr lang="en-US" sz="1500" dirty="0">
                <a:solidFill>
                  <a:srgbClr val="16202C"/>
                </a:solidFill>
                <a:latin typeface="IBM Plex Sans" pitchFamily="34" charset="0"/>
                <a:ea typeface="IBM Plex Sans" pitchFamily="34" charset="-122"/>
                <a:cs typeface="IBM Plex Sans" pitchFamily="34" charset="-120"/>
              </a:rPr>
              <a:t> Bedeli: F1 ve F2 yeniden yazıldı, hash'leri değişti.</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B8430A"/>
        </a:solidFill>
        <a:effectLst/>
      </p:bgPr>
    </p:bg>
    <p:spTree>
      <p:nvGrpSpPr>
        <p:cNvPr id="1" name=""/>
        <p:cNvGrpSpPr/>
        <p:nvPr/>
      </p:nvGrpSpPr>
      <p:grpSpPr>
        <a:xfrm>
          <a:off x="0" y="0"/>
          <a:ext cx="0" cy="0"/>
          <a:chOff x="0" y="0"/>
          <a:chExt cx="0" cy="0"/>
        </a:xfrm>
      </p:grpSpPr>
      <p:pic>
        <p:nvPicPr>
          <p:cNvPr id="2" name="Image 0" descr="Warning"/>
          <p:cNvPicPr>
            <a:picLocks noChangeAspect="1"/>
          </p:cNvPicPr>
          <p:nvPr/>
        </p:nvPicPr>
        <p:blipFill>
          <a:blip r:embed="rId3"/>
          <a:srcRect/>
          <a:stretch/>
        </p:blipFill>
        <p:spPr>
          <a:xfrm>
            <a:off x="812800" y="1841500"/>
            <a:ext cx="304800" cy="304800"/>
          </a:xfrm>
          <a:prstGeom prst="rect">
            <a:avLst/>
          </a:prstGeom>
        </p:spPr>
      </p:pic>
      <p:sp>
        <p:nvSpPr>
          <p:cNvPr id="3" name="Text 0"/>
          <p:cNvSpPr/>
          <p:nvPr/>
        </p:nvSpPr>
        <p:spPr>
          <a:xfrm>
            <a:off x="1219200" y="1878310"/>
            <a:ext cx="1280220"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6F4EE"/>
                </a:solidFill>
                <a:latin typeface="JetBrains Mono" pitchFamily="34" charset="0"/>
                <a:ea typeface="JetBrains Mono" pitchFamily="34" charset="-122"/>
                <a:cs typeface="JetBrains Mono" pitchFamily="34" charset="-120"/>
              </a:rPr>
              <a:t>ALTIN KURAL</a:t>
            </a:r>
            <a:endParaRPr lang="en-US" sz="1300" dirty="0"/>
          </a:p>
        </p:txBody>
      </p:sp>
      <p:sp>
        <p:nvSpPr>
          <p:cNvPr id="4" name="Text 1"/>
          <p:cNvSpPr/>
          <p:nvPr/>
        </p:nvSpPr>
        <p:spPr>
          <a:xfrm>
            <a:off x="812800" y="2451100"/>
            <a:ext cx="9810750" cy="16256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E"/>
                </a:solidFill>
                <a:latin typeface="Space Grotesk" pitchFamily="34" charset="0"/>
                <a:ea typeface="Space Grotesk" pitchFamily="34" charset="-122"/>
                <a:cs typeface="Space Grotesk" pitchFamily="34" charset="-120"/>
              </a:rPr>
              <a:t>Push edilmiş, paylaşılan dalı asla rebase etme.</a:t>
            </a:r>
            <a:endParaRPr lang="en-US" sz="6000" dirty="0"/>
          </a:p>
        </p:txBody>
      </p:sp>
      <p:sp>
        <p:nvSpPr>
          <p:cNvPr id="5" name="Text 2"/>
          <p:cNvSpPr/>
          <p:nvPr/>
        </p:nvSpPr>
        <p:spPr>
          <a:xfrm>
            <a:off x="812800" y="4356100"/>
            <a:ext cx="85026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BE9DC"/>
                </a:solidFill>
                <a:latin typeface="IBM Plex Sans" pitchFamily="34" charset="0"/>
                <a:ea typeface="IBM Plex Sans" pitchFamily="34" charset="-122"/>
                <a:cs typeface="IBM Plex Sans" pitchFamily="34" charset="-120"/>
              </a:rPr>
              <a:t>Kendi defterini istediğin kadar yeniden yazabilirsin. Herkesin okuduğu ortak kitabı yeniden yazarsan herkesin sayfası kayar.</a:t>
            </a:r>
            <a:endParaRPr 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AHMET'İN HİKÂYESİ · ADIM 1 / 6</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Herkes aynı zeminde</a:t>
            </a:r>
            <a:endParaRPr lang="en-US" sz="3600" dirty="0"/>
          </a:p>
        </p:txBody>
      </p:sp>
      <p:sp>
        <p:nvSpPr>
          <p:cNvPr id="4" name="Shape 2"/>
          <p:cNvSpPr/>
          <p:nvPr/>
        </p:nvSpPr>
        <p:spPr>
          <a:xfrm>
            <a:off x="819150" y="1911350"/>
            <a:ext cx="6591300" cy="1003300"/>
          </a:xfrm>
          <a:prstGeom prst="roundRect">
            <a:avLst>
              <a:gd name="adj" fmla="val 9494"/>
            </a:avLst>
          </a:prstGeom>
          <a:solidFill>
            <a:srgbClr val="FDFCF9"/>
          </a:solidFill>
          <a:ln w="12700">
            <a:solidFill>
              <a:srgbClr val="E2DDD0"/>
            </a:solidFill>
            <a:prstDash val="solid"/>
          </a:ln>
        </p:spPr>
      </p:sp>
      <p:sp>
        <p:nvSpPr>
          <p:cNvPr id="5" name="Shape 3"/>
          <p:cNvSpPr/>
          <p:nvPr/>
        </p:nvSpPr>
        <p:spPr>
          <a:xfrm>
            <a:off x="819150" y="3054350"/>
            <a:ext cx="6591300" cy="1003300"/>
          </a:xfrm>
          <a:prstGeom prst="roundRect">
            <a:avLst>
              <a:gd name="adj" fmla="val 9494"/>
            </a:avLst>
          </a:prstGeom>
          <a:solidFill>
            <a:srgbClr val="16202C"/>
          </a:solidFill>
          <a:ln w="12700">
            <a:solidFill>
              <a:srgbClr val="16202C"/>
            </a:solidFill>
            <a:prstDash val="solid"/>
          </a:ln>
        </p:spPr>
      </p:sp>
      <p:sp>
        <p:nvSpPr>
          <p:cNvPr id="6" name="Shape 4"/>
          <p:cNvSpPr/>
          <p:nvPr/>
        </p:nvSpPr>
        <p:spPr>
          <a:xfrm>
            <a:off x="819150" y="4197350"/>
            <a:ext cx="6591300" cy="1003300"/>
          </a:xfrm>
          <a:prstGeom prst="roundRect">
            <a:avLst>
              <a:gd name="adj" fmla="val 9494"/>
            </a:avLst>
          </a:prstGeom>
          <a:solidFill>
            <a:srgbClr val="FDFCF9"/>
          </a:solidFill>
          <a:ln w="12700">
            <a:solidFill>
              <a:srgbClr val="E2DDD0"/>
            </a:solidFill>
            <a:prstDash val="solid"/>
          </a:ln>
        </p:spPr>
      </p:sp>
      <p:pic>
        <p:nvPicPr>
          <p:cNvPr id="7" name="Image 0" descr="connector"/>
          <p:cNvPicPr>
            <a:picLocks noChangeAspect="1"/>
          </p:cNvPicPr>
          <p:nvPr/>
        </p:nvPicPr>
        <p:blipFill>
          <a:blip r:embed="rId3"/>
          <a:srcRect/>
          <a:stretch/>
        </p:blipFill>
        <p:spPr>
          <a:xfrm>
            <a:off x="2908300" y="2184400"/>
            <a:ext cx="1104900" cy="152400"/>
          </a:xfrm>
          <a:prstGeom prst="rect">
            <a:avLst/>
          </a:prstGeom>
        </p:spPr>
      </p:pic>
      <p:pic>
        <p:nvPicPr>
          <p:cNvPr id="8" name="Image 1" descr="connector"/>
          <p:cNvPicPr>
            <a:picLocks noChangeAspect="1"/>
          </p:cNvPicPr>
          <p:nvPr/>
        </p:nvPicPr>
        <p:blipFill>
          <a:blip r:embed="rId4"/>
          <a:srcRect/>
          <a:stretch/>
        </p:blipFill>
        <p:spPr>
          <a:xfrm>
            <a:off x="2908300" y="3327400"/>
            <a:ext cx="1104900" cy="152400"/>
          </a:xfrm>
          <a:prstGeom prst="rect">
            <a:avLst/>
          </a:prstGeom>
        </p:spPr>
      </p:pic>
      <p:pic>
        <p:nvPicPr>
          <p:cNvPr id="9" name="Image 2" descr="connector"/>
          <p:cNvPicPr>
            <a:picLocks noChangeAspect="1"/>
          </p:cNvPicPr>
          <p:nvPr/>
        </p:nvPicPr>
        <p:blipFill>
          <a:blip r:embed="rId3"/>
          <a:srcRect/>
          <a:stretch/>
        </p:blipFill>
        <p:spPr>
          <a:xfrm>
            <a:off x="2908300" y="4470400"/>
            <a:ext cx="1104900" cy="152400"/>
          </a:xfrm>
          <a:prstGeom prst="rect">
            <a:avLst/>
          </a:prstGeom>
        </p:spPr>
      </p:pic>
      <p:sp>
        <p:nvSpPr>
          <p:cNvPr id="10" name="Text 5"/>
          <p:cNvSpPr/>
          <p:nvPr/>
        </p:nvSpPr>
        <p:spPr>
          <a:xfrm>
            <a:off x="990600" y="2171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1" name="Text 6"/>
          <p:cNvSpPr/>
          <p:nvPr/>
        </p:nvSpPr>
        <p:spPr>
          <a:xfrm>
            <a:off x="990600" y="3314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SUNUCU</a:t>
            </a:r>
            <a:endParaRPr lang="en-US" sz="1300" dirty="0"/>
          </a:p>
          <a:p>
            <a:pPr marL="0" indent="0" algn="l">
              <a:lnSpc>
                <a:spcPts val="1820"/>
              </a:lnSpc>
              <a:buNone/>
            </a:pPr>
            <a:r>
              <a:rPr lang="en-US" sz="1300" b="1" dirty="0">
                <a:solidFill>
                  <a:srgbClr val="B8C4D1"/>
                </a:solidFill>
                <a:latin typeface="JetBrains Mono" pitchFamily="34" charset="0"/>
                <a:ea typeface="JetBrains Mono" pitchFamily="34" charset="-122"/>
                <a:cs typeface="JetBrains Mono" pitchFamily="34" charset="-120"/>
              </a:rPr>
              <a:t>origin/dev</a:t>
            </a:r>
            <a:endParaRPr lang="en-US" sz="1300" dirty="0"/>
          </a:p>
        </p:txBody>
      </p:sp>
      <p:sp>
        <p:nvSpPr>
          <p:cNvPr id="12" name="Text 7"/>
          <p:cNvSpPr/>
          <p:nvPr/>
        </p:nvSpPr>
        <p:spPr>
          <a:xfrm>
            <a:off x="990600" y="4457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AHMET</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3" name="Text 8"/>
          <p:cNvSpPr/>
          <p:nvPr/>
        </p:nvSpPr>
        <p:spPr>
          <a:xfrm>
            <a:off x="27305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4" name="Text 9"/>
          <p:cNvSpPr/>
          <p:nvPr/>
        </p:nvSpPr>
        <p:spPr>
          <a:xfrm>
            <a:off x="36830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5" name="Text 10"/>
          <p:cNvSpPr/>
          <p:nvPr/>
        </p:nvSpPr>
        <p:spPr>
          <a:xfrm>
            <a:off x="27305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6" name="Text 11"/>
          <p:cNvSpPr/>
          <p:nvPr/>
        </p:nvSpPr>
        <p:spPr>
          <a:xfrm>
            <a:off x="36830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7" name="Text 12"/>
          <p:cNvSpPr/>
          <p:nvPr/>
        </p:nvSpPr>
        <p:spPr>
          <a:xfrm>
            <a:off x="2730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8" name="Text 13"/>
          <p:cNvSpPr/>
          <p:nvPr/>
        </p:nvSpPr>
        <p:spPr>
          <a:xfrm>
            <a:off x="36830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9" name="Text 14"/>
          <p:cNvSpPr/>
          <p:nvPr/>
        </p:nvSpPr>
        <p:spPr>
          <a:xfrm>
            <a:off x="2482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0" name="Text 15"/>
          <p:cNvSpPr/>
          <p:nvPr/>
        </p:nvSpPr>
        <p:spPr>
          <a:xfrm>
            <a:off x="34353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7a3f2c1</a:t>
            </a:r>
            <a:endParaRPr lang="en-US" sz="1200" dirty="0"/>
          </a:p>
        </p:txBody>
      </p:sp>
      <p:sp>
        <p:nvSpPr>
          <p:cNvPr id="21" name="Text 16"/>
          <p:cNvSpPr/>
          <p:nvPr/>
        </p:nvSpPr>
        <p:spPr>
          <a:xfrm>
            <a:off x="2482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e41d9f0</a:t>
            </a:r>
            <a:endParaRPr lang="en-US" sz="1200" dirty="0"/>
          </a:p>
        </p:txBody>
      </p:sp>
      <p:sp>
        <p:nvSpPr>
          <p:cNvPr id="22" name="Text 17"/>
          <p:cNvSpPr/>
          <p:nvPr/>
        </p:nvSpPr>
        <p:spPr>
          <a:xfrm>
            <a:off x="34353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7a3f2c1</a:t>
            </a:r>
            <a:endParaRPr lang="en-US" sz="1200" dirty="0"/>
          </a:p>
        </p:txBody>
      </p:sp>
      <p:sp>
        <p:nvSpPr>
          <p:cNvPr id="23" name="Text 18"/>
          <p:cNvSpPr/>
          <p:nvPr/>
        </p:nvSpPr>
        <p:spPr>
          <a:xfrm>
            <a:off x="2482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4" name="Text 19"/>
          <p:cNvSpPr/>
          <p:nvPr/>
        </p:nvSpPr>
        <p:spPr>
          <a:xfrm>
            <a:off x="34353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7a3f2c1</a:t>
            </a:r>
            <a:endParaRPr lang="en-US" sz="1200" dirty="0"/>
          </a:p>
        </p:txBody>
      </p:sp>
      <p:sp>
        <p:nvSpPr>
          <p:cNvPr id="25" name="Shape 20"/>
          <p:cNvSpPr/>
          <p:nvPr/>
        </p:nvSpPr>
        <p:spPr>
          <a:xfrm>
            <a:off x="7689850" y="1911350"/>
            <a:ext cx="3683000" cy="2886968"/>
          </a:xfrm>
          <a:prstGeom prst="roundRect">
            <a:avLst>
              <a:gd name="adj" fmla="val 4179"/>
            </a:avLst>
          </a:prstGeom>
          <a:solidFill>
            <a:srgbClr val="FDFCF9"/>
          </a:solidFill>
          <a:ln w="12700">
            <a:solidFill>
              <a:srgbClr val="E2DDD0"/>
            </a:solidFill>
            <a:prstDash val="solid"/>
          </a:ln>
        </p:spPr>
      </p:sp>
      <p:sp>
        <p:nvSpPr>
          <p:cNvPr id="26" name="Text 21"/>
          <p:cNvSpPr/>
          <p:nvPr/>
        </p:nvSpPr>
        <p:spPr>
          <a:xfrm>
            <a:off x="7924800" y="2146300"/>
            <a:ext cx="330949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DURUM</a:t>
            </a:r>
            <a:endParaRPr lang="en-US" sz="1300" dirty="0"/>
          </a:p>
        </p:txBody>
      </p:sp>
      <p:sp>
        <p:nvSpPr>
          <p:cNvPr id="27" name="Text 22"/>
          <p:cNvSpPr/>
          <p:nvPr/>
        </p:nvSpPr>
        <p:spPr>
          <a:xfrm>
            <a:off x="7924800" y="2504380"/>
            <a:ext cx="33094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Üç kopya, aynı geçmiş</a:t>
            </a:r>
            <a:endParaRPr lang="en-US" sz="2000" dirty="0"/>
          </a:p>
        </p:txBody>
      </p:sp>
      <p:sp>
        <p:nvSpPr>
          <p:cNvPr id="28" name="Text 23"/>
          <p:cNvSpPr/>
          <p:nvPr/>
        </p:nvSpPr>
        <p:spPr>
          <a:xfrm>
            <a:off x="7924800" y="2936180"/>
            <a:ext cx="3309493"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6"/>
                </a:solidFill>
                <a:latin typeface="IBM Plex Sans" pitchFamily="34" charset="0"/>
                <a:ea typeface="IBM Plex Sans" pitchFamily="34" charset="-122"/>
                <a:cs typeface="IBM Plex Sans" pitchFamily="34" charset="-120"/>
              </a:rPr>
              <a:t>Sen ve Ahmet sunucudaki dev dalını çektiniz. Üç yerde de C0 ve C1 var ve hash'leri birebir aynı.</a:t>
            </a:r>
            <a:endParaRPr lang="en-US" sz="1300" dirty="0"/>
          </a:p>
        </p:txBody>
      </p:sp>
      <p:sp>
        <p:nvSpPr>
          <p:cNvPr id="29" name="Text 24"/>
          <p:cNvSpPr/>
          <p:nvPr/>
        </p:nvSpPr>
        <p:spPr>
          <a:xfrm>
            <a:off x="7924800" y="3781127"/>
            <a:ext cx="3213100" cy="782241"/>
          </a:xfrm>
          <a:prstGeom prst="roundRect">
            <a:avLst>
              <a:gd name="adj" fmla="val 9741"/>
            </a:avLst>
          </a:prstGeom>
          <a:solidFill>
            <a:srgbClr val="16202C"/>
          </a:solidFill>
          <a:ln/>
        </p:spPr>
        <p:txBody>
          <a:bodyPr wrap="square" lIns="155482" tIns="104682" rIns="69757"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dev</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pull</a:t>
            </a:r>
            <a:endParaRPr lang="en-US" sz="1300" dirty="0"/>
          </a:p>
        </p:txBody>
      </p:sp>
      <p:sp>
        <p:nvSpPr>
          <p:cNvPr id="30" name="Text 25"/>
          <p:cNvSpPr/>
          <p:nvPr/>
        </p:nvSpPr>
        <p:spPr>
          <a:xfrm>
            <a:off x="812800" y="5410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Hatırla:</a:t>
            </a:r>
            <a:r>
              <a:rPr lang="en-US" sz="1500" dirty="0">
                <a:solidFill>
                  <a:srgbClr val="16202C"/>
                </a:solidFill>
                <a:latin typeface="IBM Plex Sans" pitchFamily="34" charset="0"/>
                <a:ea typeface="IBM Plex Sans" pitchFamily="34" charset="-122"/>
                <a:cs typeface="IBM Plex Sans" pitchFamily="34" charset="-120"/>
              </a:rPr>
              <a:t> hash = içerik + parent + yazar + zaman. Hash aynıysa commit de aynıdır.</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AHMET'İN HİKÂYESİ · ADIM 2 / 6</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Ahmet C1'in üzerine inşa ediyor</a:t>
            </a:r>
            <a:endParaRPr lang="en-US" sz="3600" dirty="0"/>
          </a:p>
        </p:txBody>
      </p:sp>
      <p:sp>
        <p:nvSpPr>
          <p:cNvPr id="4" name="Shape 2"/>
          <p:cNvSpPr/>
          <p:nvPr/>
        </p:nvSpPr>
        <p:spPr>
          <a:xfrm>
            <a:off x="819150" y="1911350"/>
            <a:ext cx="6591300" cy="1003300"/>
          </a:xfrm>
          <a:prstGeom prst="roundRect">
            <a:avLst>
              <a:gd name="adj" fmla="val 9494"/>
            </a:avLst>
          </a:prstGeom>
          <a:solidFill>
            <a:srgbClr val="FDFCF9"/>
          </a:solidFill>
          <a:ln w="12700">
            <a:solidFill>
              <a:srgbClr val="E2DDD0"/>
            </a:solidFill>
            <a:prstDash val="solid"/>
          </a:ln>
        </p:spPr>
      </p:sp>
      <p:sp>
        <p:nvSpPr>
          <p:cNvPr id="5" name="Shape 3"/>
          <p:cNvSpPr/>
          <p:nvPr/>
        </p:nvSpPr>
        <p:spPr>
          <a:xfrm>
            <a:off x="819150" y="3054350"/>
            <a:ext cx="6591300" cy="1003300"/>
          </a:xfrm>
          <a:prstGeom prst="roundRect">
            <a:avLst>
              <a:gd name="adj" fmla="val 9494"/>
            </a:avLst>
          </a:prstGeom>
          <a:solidFill>
            <a:srgbClr val="16202C"/>
          </a:solidFill>
          <a:ln w="12700">
            <a:solidFill>
              <a:srgbClr val="16202C"/>
            </a:solidFill>
            <a:prstDash val="solid"/>
          </a:ln>
        </p:spPr>
      </p:sp>
      <p:sp>
        <p:nvSpPr>
          <p:cNvPr id="6" name="Shape 4"/>
          <p:cNvSpPr/>
          <p:nvPr/>
        </p:nvSpPr>
        <p:spPr>
          <a:xfrm>
            <a:off x="819150" y="4197350"/>
            <a:ext cx="6591300" cy="1003300"/>
          </a:xfrm>
          <a:prstGeom prst="roundRect">
            <a:avLst>
              <a:gd name="adj" fmla="val 9494"/>
            </a:avLst>
          </a:prstGeom>
          <a:solidFill>
            <a:srgbClr val="FDFCF9"/>
          </a:solidFill>
          <a:ln w="12700">
            <a:solidFill>
              <a:srgbClr val="E2DDD0"/>
            </a:solidFill>
            <a:prstDash val="solid"/>
          </a:ln>
        </p:spPr>
      </p:sp>
      <p:pic>
        <p:nvPicPr>
          <p:cNvPr id="7" name="Image 0" descr="connector"/>
          <p:cNvPicPr>
            <a:picLocks noChangeAspect="1"/>
          </p:cNvPicPr>
          <p:nvPr/>
        </p:nvPicPr>
        <p:blipFill>
          <a:blip r:embed="rId3"/>
          <a:srcRect/>
          <a:stretch/>
        </p:blipFill>
        <p:spPr>
          <a:xfrm>
            <a:off x="2908300" y="2184400"/>
            <a:ext cx="1104900" cy="152400"/>
          </a:xfrm>
          <a:prstGeom prst="rect">
            <a:avLst/>
          </a:prstGeom>
        </p:spPr>
      </p:pic>
      <p:pic>
        <p:nvPicPr>
          <p:cNvPr id="8" name="Image 1" descr="connector"/>
          <p:cNvPicPr>
            <a:picLocks noChangeAspect="1"/>
          </p:cNvPicPr>
          <p:nvPr/>
        </p:nvPicPr>
        <p:blipFill>
          <a:blip r:embed="rId4"/>
          <a:srcRect/>
          <a:stretch/>
        </p:blipFill>
        <p:spPr>
          <a:xfrm>
            <a:off x="2908300" y="3327400"/>
            <a:ext cx="1104900" cy="152400"/>
          </a:xfrm>
          <a:prstGeom prst="rect">
            <a:avLst/>
          </a:prstGeom>
        </p:spPr>
      </p:pic>
      <p:pic>
        <p:nvPicPr>
          <p:cNvPr id="9" name="Image 2" descr="connector"/>
          <p:cNvPicPr>
            <a:picLocks noChangeAspect="1"/>
          </p:cNvPicPr>
          <p:nvPr/>
        </p:nvPicPr>
        <p:blipFill>
          <a:blip r:embed="rId3"/>
          <a:srcRect/>
          <a:stretch/>
        </p:blipFill>
        <p:spPr>
          <a:xfrm>
            <a:off x="2908300" y="4470400"/>
            <a:ext cx="1104900" cy="152400"/>
          </a:xfrm>
          <a:prstGeom prst="rect">
            <a:avLst/>
          </a:prstGeom>
        </p:spPr>
      </p:pic>
      <p:pic>
        <p:nvPicPr>
          <p:cNvPr id="10" name="Image 3" descr="connector"/>
          <p:cNvPicPr>
            <a:picLocks noChangeAspect="1"/>
          </p:cNvPicPr>
          <p:nvPr/>
        </p:nvPicPr>
        <p:blipFill>
          <a:blip r:embed="rId5"/>
          <a:srcRect/>
          <a:stretch/>
        </p:blipFill>
        <p:spPr>
          <a:xfrm>
            <a:off x="3860800" y="4470400"/>
            <a:ext cx="1104900" cy="152400"/>
          </a:xfrm>
          <a:prstGeom prst="rect">
            <a:avLst/>
          </a:prstGeom>
        </p:spPr>
      </p:pic>
      <p:sp>
        <p:nvSpPr>
          <p:cNvPr id="11" name="Text 5"/>
          <p:cNvSpPr/>
          <p:nvPr/>
        </p:nvSpPr>
        <p:spPr>
          <a:xfrm>
            <a:off x="990600" y="2171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2" name="Text 6"/>
          <p:cNvSpPr/>
          <p:nvPr/>
        </p:nvSpPr>
        <p:spPr>
          <a:xfrm>
            <a:off x="990600" y="3314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SUNUCU</a:t>
            </a:r>
            <a:endParaRPr lang="en-US" sz="1300" dirty="0"/>
          </a:p>
          <a:p>
            <a:pPr marL="0" indent="0" algn="l">
              <a:lnSpc>
                <a:spcPts val="1820"/>
              </a:lnSpc>
              <a:buNone/>
            </a:pPr>
            <a:r>
              <a:rPr lang="en-US" sz="1300" b="1" dirty="0">
                <a:solidFill>
                  <a:srgbClr val="B8C4D1"/>
                </a:solidFill>
                <a:latin typeface="JetBrains Mono" pitchFamily="34" charset="0"/>
                <a:ea typeface="JetBrains Mono" pitchFamily="34" charset="-122"/>
                <a:cs typeface="JetBrains Mono" pitchFamily="34" charset="-120"/>
              </a:rPr>
              <a:t>origin/dev</a:t>
            </a:r>
            <a:endParaRPr lang="en-US" sz="1300" dirty="0"/>
          </a:p>
        </p:txBody>
      </p:sp>
      <p:sp>
        <p:nvSpPr>
          <p:cNvPr id="13" name="Text 7"/>
          <p:cNvSpPr/>
          <p:nvPr/>
        </p:nvSpPr>
        <p:spPr>
          <a:xfrm>
            <a:off x="990600" y="4457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AHMET</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4" name="Text 8"/>
          <p:cNvSpPr/>
          <p:nvPr/>
        </p:nvSpPr>
        <p:spPr>
          <a:xfrm>
            <a:off x="27305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5" name="Text 9"/>
          <p:cNvSpPr/>
          <p:nvPr/>
        </p:nvSpPr>
        <p:spPr>
          <a:xfrm>
            <a:off x="36830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6" name="Text 10"/>
          <p:cNvSpPr/>
          <p:nvPr/>
        </p:nvSpPr>
        <p:spPr>
          <a:xfrm>
            <a:off x="27305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7" name="Text 11"/>
          <p:cNvSpPr/>
          <p:nvPr/>
        </p:nvSpPr>
        <p:spPr>
          <a:xfrm>
            <a:off x="36830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8" name="Text 12"/>
          <p:cNvSpPr/>
          <p:nvPr/>
        </p:nvSpPr>
        <p:spPr>
          <a:xfrm>
            <a:off x="2730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9" name="Text 13"/>
          <p:cNvSpPr/>
          <p:nvPr/>
        </p:nvSpPr>
        <p:spPr>
          <a:xfrm>
            <a:off x="36830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20" name="Text 14"/>
          <p:cNvSpPr/>
          <p:nvPr/>
        </p:nvSpPr>
        <p:spPr>
          <a:xfrm>
            <a:off x="4635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F08C4B"/>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A1</a:t>
            </a:r>
            <a:endParaRPr lang="en-US" sz="1300" dirty="0"/>
          </a:p>
        </p:txBody>
      </p:sp>
      <p:sp>
        <p:nvSpPr>
          <p:cNvPr id="21" name="Text 15"/>
          <p:cNvSpPr/>
          <p:nvPr/>
        </p:nvSpPr>
        <p:spPr>
          <a:xfrm>
            <a:off x="2482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2" name="Text 16"/>
          <p:cNvSpPr/>
          <p:nvPr/>
        </p:nvSpPr>
        <p:spPr>
          <a:xfrm>
            <a:off x="34353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7a3f2c1</a:t>
            </a:r>
            <a:endParaRPr lang="en-US" sz="1200" dirty="0"/>
          </a:p>
        </p:txBody>
      </p:sp>
      <p:sp>
        <p:nvSpPr>
          <p:cNvPr id="23" name="Text 17"/>
          <p:cNvSpPr/>
          <p:nvPr/>
        </p:nvSpPr>
        <p:spPr>
          <a:xfrm>
            <a:off x="2482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e41d9f0</a:t>
            </a:r>
            <a:endParaRPr lang="en-US" sz="1200" dirty="0"/>
          </a:p>
        </p:txBody>
      </p:sp>
      <p:sp>
        <p:nvSpPr>
          <p:cNvPr id="24" name="Text 18"/>
          <p:cNvSpPr/>
          <p:nvPr/>
        </p:nvSpPr>
        <p:spPr>
          <a:xfrm>
            <a:off x="34353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7a3f2c1</a:t>
            </a:r>
            <a:endParaRPr lang="en-US" sz="1200" dirty="0"/>
          </a:p>
        </p:txBody>
      </p:sp>
      <p:sp>
        <p:nvSpPr>
          <p:cNvPr id="25" name="Text 19"/>
          <p:cNvSpPr/>
          <p:nvPr/>
        </p:nvSpPr>
        <p:spPr>
          <a:xfrm>
            <a:off x="2482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6" name="Text 20"/>
          <p:cNvSpPr/>
          <p:nvPr/>
        </p:nvSpPr>
        <p:spPr>
          <a:xfrm>
            <a:off x="34353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7a3f2c1</a:t>
            </a:r>
            <a:endParaRPr lang="en-US" sz="1200" dirty="0"/>
          </a:p>
        </p:txBody>
      </p:sp>
      <p:sp>
        <p:nvSpPr>
          <p:cNvPr id="27" name="Text 21"/>
          <p:cNvSpPr/>
          <p:nvPr/>
        </p:nvSpPr>
        <p:spPr>
          <a:xfrm>
            <a:off x="4387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b52e8d4</a:t>
            </a:r>
            <a:endParaRPr lang="en-US" sz="1200" dirty="0"/>
          </a:p>
        </p:txBody>
      </p:sp>
      <p:sp>
        <p:nvSpPr>
          <p:cNvPr id="28" name="Shape 22"/>
          <p:cNvSpPr/>
          <p:nvPr/>
        </p:nvSpPr>
        <p:spPr>
          <a:xfrm>
            <a:off x="7689850" y="1911350"/>
            <a:ext cx="3683000" cy="2622848"/>
          </a:xfrm>
          <a:prstGeom prst="roundRect">
            <a:avLst>
              <a:gd name="adj" fmla="val 4600"/>
            </a:avLst>
          </a:prstGeom>
          <a:solidFill>
            <a:srgbClr val="FDFCF9"/>
          </a:solidFill>
          <a:ln w="12700">
            <a:solidFill>
              <a:srgbClr val="E2DDD0"/>
            </a:solidFill>
            <a:prstDash val="solid"/>
          </a:ln>
        </p:spPr>
      </p:sp>
      <p:sp>
        <p:nvSpPr>
          <p:cNvPr id="29" name="Text 23"/>
          <p:cNvSpPr/>
          <p:nvPr/>
        </p:nvSpPr>
        <p:spPr>
          <a:xfrm>
            <a:off x="7924800" y="2146300"/>
            <a:ext cx="330949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AHMET'İN BİLGİSAYARI</a:t>
            </a:r>
            <a:endParaRPr lang="en-US" sz="1300" dirty="0"/>
          </a:p>
        </p:txBody>
      </p:sp>
      <p:sp>
        <p:nvSpPr>
          <p:cNvPr id="30" name="Text 24"/>
          <p:cNvSpPr/>
          <p:nvPr/>
        </p:nvSpPr>
        <p:spPr>
          <a:xfrm>
            <a:off x="7924800" y="2504380"/>
            <a:ext cx="33094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A1'in zemini C1</a:t>
            </a:r>
            <a:endParaRPr lang="en-US" sz="2000" dirty="0"/>
          </a:p>
        </p:txBody>
      </p:sp>
      <p:sp>
        <p:nvSpPr>
          <p:cNvPr id="31" name="Text 25"/>
          <p:cNvSpPr/>
          <p:nvPr/>
        </p:nvSpPr>
        <p:spPr>
          <a:xfrm>
            <a:off x="7924800" y="2936180"/>
            <a:ext cx="3309493"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6"/>
                </a:solidFill>
                <a:latin typeface="IBM Plex Sans" pitchFamily="34" charset="0"/>
                <a:ea typeface="IBM Plex Sans" pitchFamily="34" charset="-122"/>
                <a:cs typeface="IBM Plex Sans" pitchFamily="34" charset="-120"/>
              </a:rPr>
              <a:t>Ahmet login formunu yazıp A1'i commit etti. A1'in parent'ı C1, yani 7a3f2c1. Henüz push etmedi.</a:t>
            </a:r>
            <a:endParaRPr lang="en-US" sz="1300" dirty="0"/>
          </a:p>
        </p:txBody>
      </p:sp>
      <p:sp>
        <p:nvSpPr>
          <p:cNvPr id="32" name="Text 26"/>
          <p:cNvSpPr/>
          <p:nvPr/>
        </p:nvSpPr>
        <p:spPr>
          <a:xfrm>
            <a:off x="7924800" y="3781127"/>
            <a:ext cx="3213100" cy="518120"/>
          </a:xfrm>
          <a:prstGeom prst="roundRect">
            <a:avLst>
              <a:gd name="adj" fmla="val 14707"/>
            </a:avLst>
          </a:prstGeom>
          <a:solidFill>
            <a:srgbClr val="16202C"/>
          </a:solidFill>
          <a:ln/>
        </p:spPr>
        <p:txBody>
          <a:bodyPr wrap="square" lIns="155482" tIns="104682" rIns="69757"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-m "feat: login"</a:t>
            </a:r>
            <a:endParaRPr lang="en-US" sz="1300" dirty="0"/>
          </a:p>
        </p:txBody>
      </p:sp>
      <p:sp>
        <p:nvSpPr>
          <p:cNvPr id="33" name="Text 27"/>
          <p:cNvSpPr/>
          <p:nvPr/>
        </p:nvSpPr>
        <p:spPr>
          <a:xfrm>
            <a:off x="812800" y="5410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A1, C1'e sıkı sıkıya bağlı: </a:t>
            </a:r>
            <a:r>
              <a:rPr lang="en-US" sz="1500" b="1" dirty="0">
                <a:solidFill>
                  <a:srgbClr val="16202C"/>
                </a:solidFill>
                <a:latin typeface="IBM Plex Sans" pitchFamily="34" charset="0"/>
                <a:ea typeface="IBM Plex Sans" pitchFamily="34" charset="-122"/>
                <a:cs typeface="IBM Plex Sans" pitchFamily="34" charset="-120"/>
              </a:rPr>
              <a:t>C1 onun zemini.</a:t>
            </a:r>
            <a:r>
              <a:rPr lang="en-US" sz="1500" dirty="0">
                <a:solidFill>
                  <a:srgbClr val="16202C"/>
                </a:solidFill>
                <a:latin typeface="IBM Plex Sans" pitchFamily="34" charset="0"/>
                <a:ea typeface="IBM Plex Sans" pitchFamily="34" charset="-122"/>
                <a:cs typeface="IBM Plex Sans" pitchFamily="34" charset="-120"/>
              </a:rPr>
              <a:t> Sunucu ve sen bu değişikliği henüz görmüyorsunuz.</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AHMET'İN HİKÂYESİ · ADIM 3 / 6</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Sen dev'i rebase ediyorsun</a:t>
            </a:r>
            <a:endParaRPr lang="en-US" sz="3600" dirty="0"/>
          </a:p>
        </p:txBody>
      </p:sp>
      <p:sp>
        <p:nvSpPr>
          <p:cNvPr id="4" name="Shape 2"/>
          <p:cNvSpPr/>
          <p:nvPr/>
        </p:nvSpPr>
        <p:spPr>
          <a:xfrm>
            <a:off x="819150" y="1911350"/>
            <a:ext cx="6591300" cy="1003300"/>
          </a:xfrm>
          <a:prstGeom prst="roundRect">
            <a:avLst>
              <a:gd name="adj" fmla="val 9494"/>
            </a:avLst>
          </a:prstGeom>
          <a:solidFill>
            <a:srgbClr val="FDFCF9"/>
          </a:solidFill>
          <a:ln w="12700">
            <a:solidFill>
              <a:srgbClr val="E2DDD0"/>
            </a:solidFill>
            <a:prstDash val="solid"/>
          </a:ln>
        </p:spPr>
      </p:sp>
      <p:sp>
        <p:nvSpPr>
          <p:cNvPr id="5" name="Shape 3"/>
          <p:cNvSpPr/>
          <p:nvPr/>
        </p:nvSpPr>
        <p:spPr>
          <a:xfrm>
            <a:off x="819150" y="3054350"/>
            <a:ext cx="6591300" cy="1003300"/>
          </a:xfrm>
          <a:prstGeom prst="roundRect">
            <a:avLst>
              <a:gd name="adj" fmla="val 9494"/>
            </a:avLst>
          </a:prstGeom>
          <a:solidFill>
            <a:srgbClr val="16202C"/>
          </a:solidFill>
          <a:ln w="12700">
            <a:solidFill>
              <a:srgbClr val="16202C"/>
            </a:solidFill>
            <a:prstDash val="solid"/>
          </a:ln>
        </p:spPr>
      </p:sp>
      <p:sp>
        <p:nvSpPr>
          <p:cNvPr id="6" name="Shape 4"/>
          <p:cNvSpPr/>
          <p:nvPr/>
        </p:nvSpPr>
        <p:spPr>
          <a:xfrm>
            <a:off x="819150" y="4197350"/>
            <a:ext cx="6591300" cy="1003300"/>
          </a:xfrm>
          <a:prstGeom prst="roundRect">
            <a:avLst>
              <a:gd name="adj" fmla="val 9494"/>
            </a:avLst>
          </a:prstGeom>
          <a:solidFill>
            <a:srgbClr val="FDFCF9"/>
          </a:solidFill>
          <a:ln w="12700">
            <a:solidFill>
              <a:srgbClr val="E2DDD0"/>
            </a:solidFill>
            <a:prstDash val="solid"/>
          </a:ln>
        </p:spPr>
      </p:sp>
      <p:pic>
        <p:nvPicPr>
          <p:cNvPr id="7" name="Image 0" descr="connector"/>
          <p:cNvPicPr>
            <a:picLocks noChangeAspect="1"/>
          </p:cNvPicPr>
          <p:nvPr/>
        </p:nvPicPr>
        <p:blipFill>
          <a:blip r:embed="rId3"/>
          <a:srcRect/>
          <a:stretch/>
        </p:blipFill>
        <p:spPr>
          <a:xfrm>
            <a:off x="2908300" y="2184400"/>
            <a:ext cx="1104900" cy="152400"/>
          </a:xfrm>
          <a:prstGeom prst="rect">
            <a:avLst/>
          </a:prstGeom>
        </p:spPr>
      </p:pic>
      <p:pic>
        <p:nvPicPr>
          <p:cNvPr id="8" name="Image 1" descr="connector"/>
          <p:cNvPicPr>
            <a:picLocks noChangeAspect="1"/>
          </p:cNvPicPr>
          <p:nvPr/>
        </p:nvPicPr>
        <p:blipFill>
          <a:blip r:embed="rId4"/>
          <a:srcRect/>
          <a:stretch/>
        </p:blipFill>
        <p:spPr>
          <a:xfrm>
            <a:off x="3860800" y="2184400"/>
            <a:ext cx="1104900" cy="152400"/>
          </a:xfrm>
          <a:prstGeom prst="rect">
            <a:avLst/>
          </a:prstGeom>
        </p:spPr>
      </p:pic>
      <p:pic>
        <p:nvPicPr>
          <p:cNvPr id="9" name="Image 2" descr="connector"/>
          <p:cNvPicPr>
            <a:picLocks noChangeAspect="1"/>
          </p:cNvPicPr>
          <p:nvPr/>
        </p:nvPicPr>
        <p:blipFill>
          <a:blip r:embed="rId5"/>
          <a:srcRect/>
          <a:stretch/>
        </p:blipFill>
        <p:spPr>
          <a:xfrm>
            <a:off x="2908300" y="3327400"/>
            <a:ext cx="1104900" cy="152400"/>
          </a:xfrm>
          <a:prstGeom prst="rect">
            <a:avLst/>
          </a:prstGeom>
        </p:spPr>
      </p:pic>
      <p:pic>
        <p:nvPicPr>
          <p:cNvPr id="10" name="Image 3" descr="connector"/>
          <p:cNvPicPr>
            <a:picLocks noChangeAspect="1"/>
          </p:cNvPicPr>
          <p:nvPr/>
        </p:nvPicPr>
        <p:blipFill>
          <a:blip r:embed="rId3"/>
          <a:srcRect/>
          <a:stretch/>
        </p:blipFill>
        <p:spPr>
          <a:xfrm>
            <a:off x="2908300" y="4470400"/>
            <a:ext cx="1104900" cy="152400"/>
          </a:xfrm>
          <a:prstGeom prst="rect">
            <a:avLst/>
          </a:prstGeom>
        </p:spPr>
      </p:pic>
      <p:pic>
        <p:nvPicPr>
          <p:cNvPr id="11" name="Image 4" descr="connector"/>
          <p:cNvPicPr>
            <a:picLocks noChangeAspect="1"/>
          </p:cNvPicPr>
          <p:nvPr/>
        </p:nvPicPr>
        <p:blipFill>
          <a:blip r:embed="rId6"/>
          <a:srcRect/>
          <a:stretch/>
        </p:blipFill>
        <p:spPr>
          <a:xfrm>
            <a:off x="3860800" y="4470400"/>
            <a:ext cx="1104900" cy="152400"/>
          </a:xfrm>
          <a:prstGeom prst="rect">
            <a:avLst/>
          </a:prstGeom>
        </p:spPr>
      </p:pic>
      <p:sp>
        <p:nvSpPr>
          <p:cNvPr id="12" name="Text 5"/>
          <p:cNvSpPr/>
          <p:nvPr/>
        </p:nvSpPr>
        <p:spPr>
          <a:xfrm>
            <a:off x="990600" y="2171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3" name="Text 6"/>
          <p:cNvSpPr/>
          <p:nvPr/>
        </p:nvSpPr>
        <p:spPr>
          <a:xfrm>
            <a:off x="990600" y="3314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SUNUCU</a:t>
            </a:r>
            <a:endParaRPr lang="en-US" sz="1300" dirty="0"/>
          </a:p>
          <a:p>
            <a:pPr marL="0" indent="0" algn="l">
              <a:lnSpc>
                <a:spcPts val="1820"/>
              </a:lnSpc>
              <a:buNone/>
            </a:pPr>
            <a:r>
              <a:rPr lang="en-US" sz="1300" b="1" dirty="0">
                <a:solidFill>
                  <a:srgbClr val="B8C4D1"/>
                </a:solidFill>
                <a:latin typeface="JetBrains Mono" pitchFamily="34" charset="0"/>
                <a:ea typeface="JetBrains Mono" pitchFamily="34" charset="-122"/>
                <a:cs typeface="JetBrains Mono" pitchFamily="34" charset="-120"/>
              </a:rPr>
              <a:t>origin/dev</a:t>
            </a:r>
            <a:endParaRPr lang="en-US" sz="1300" dirty="0"/>
          </a:p>
        </p:txBody>
      </p:sp>
      <p:sp>
        <p:nvSpPr>
          <p:cNvPr id="14" name="Text 7"/>
          <p:cNvSpPr/>
          <p:nvPr/>
        </p:nvSpPr>
        <p:spPr>
          <a:xfrm>
            <a:off x="990600" y="4457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AHMET</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5" name="Text 8"/>
          <p:cNvSpPr/>
          <p:nvPr/>
        </p:nvSpPr>
        <p:spPr>
          <a:xfrm>
            <a:off x="27305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6" name="Text 9"/>
          <p:cNvSpPr/>
          <p:nvPr/>
        </p:nvSpPr>
        <p:spPr>
          <a:xfrm>
            <a:off x="36830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E2DDD0"/>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B</a:t>
            </a:r>
            <a:endParaRPr lang="en-US" sz="1300" dirty="0"/>
          </a:p>
        </p:txBody>
      </p:sp>
      <p:sp>
        <p:nvSpPr>
          <p:cNvPr id="17" name="Text 10"/>
          <p:cNvSpPr/>
          <p:nvPr/>
        </p:nvSpPr>
        <p:spPr>
          <a:xfrm>
            <a:off x="4651375" y="2022475"/>
            <a:ext cx="476250" cy="475853"/>
          </a:xfrm>
          <a:custGeom>
            <a:avLst/>
            <a:gdLst/>
            <a:ahLst/>
            <a:cxnLst/>
            <a:rect l="l" t="t" r="r" b="b"/>
            <a:pathLst>
              <a:path w="476250" h="475853">
                <a:moveTo>
                  <a:pt x="237927" y="0"/>
                </a:moveTo>
                <a:lnTo>
                  <a:pt x="238323" y="0"/>
                </a:lnTo>
                <a:arcTo wR="237927" hR="237927" stAng="16200000" swAng="5400000"/>
                <a:lnTo>
                  <a:pt x="476250" y="237927"/>
                </a:lnTo>
                <a:arcTo wR="237927" hR="237927" stAng="0" swAng="5400000"/>
                <a:lnTo>
                  <a:pt x="237927" y="475853"/>
                </a:lnTo>
                <a:arcTo wR="237927" hR="237927" stAng="5400000" swAng="5400000"/>
                <a:lnTo>
                  <a:pt x="0" y="237927"/>
                </a:lnTo>
                <a:arcTo wR="237927" hR="237927" stAng="10800000" swAng="5400000"/>
                <a:close/>
              </a:path>
            </a:pathLst>
          </a:custGeom>
          <a:solidFill>
            <a:srgbClr val="FBE9DC"/>
          </a:solidFill>
          <a:ln w="31750">
            <a:solidFill>
              <a:srgbClr val="B8430A"/>
            </a:solidFill>
            <a:prstDash val="solid"/>
          </a:ln>
        </p:spPr>
        <p:txBody>
          <a:bodyPr wrap="square" lIns="0" tIns="15875" rIns="0" bIns="0" rtlCol="0" anchor="t">
            <a:normAutofit/>
          </a:bodyPr>
          <a:lstStyle/>
          <a:p>
            <a:pPr marL="0" indent="0" algn="ctr">
              <a:lnSpc>
                <a:spcPts val="3497"/>
              </a:lnSpc>
              <a:buNone/>
            </a:pPr>
            <a:r>
              <a:rPr lang="en-US" sz="1300" b="1" dirty="0">
                <a:solidFill>
                  <a:srgbClr val="16202C"/>
                </a:solidFill>
                <a:latin typeface="JetBrains Mono" pitchFamily="34" charset="0"/>
                <a:ea typeface="JetBrains Mono" pitchFamily="34" charset="-122"/>
                <a:cs typeface="JetBrains Mono" pitchFamily="34" charset="-120"/>
              </a:rPr>
              <a:t>C1'</a:t>
            </a:r>
            <a:endParaRPr lang="en-US" sz="1300" dirty="0"/>
          </a:p>
        </p:txBody>
      </p:sp>
      <p:sp>
        <p:nvSpPr>
          <p:cNvPr id="18" name="Text 11"/>
          <p:cNvSpPr/>
          <p:nvPr/>
        </p:nvSpPr>
        <p:spPr>
          <a:xfrm>
            <a:off x="27305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9" name="Text 12"/>
          <p:cNvSpPr/>
          <p:nvPr/>
        </p:nvSpPr>
        <p:spPr>
          <a:xfrm>
            <a:off x="36830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20" name="Text 13"/>
          <p:cNvSpPr/>
          <p:nvPr/>
        </p:nvSpPr>
        <p:spPr>
          <a:xfrm>
            <a:off x="2730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21" name="Text 14"/>
          <p:cNvSpPr/>
          <p:nvPr/>
        </p:nvSpPr>
        <p:spPr>
          <a:xfrm>
            <a:off x="36830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22" name="Text 15"/>
          <p:cNvSpPr/>
          <p:nvPr/>
        </p:nvSpPr>
        <p:spPr>
          <a:xfrm>
            <a:off x="4635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F08C4B"/>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A1</a:t>
            </a:r>
            <a:endParaRPr lang="en-US" sz="1300" dirty="0"/>
          </a:p>
        </p:txBody>
      </p:sp>
      <p:sp>
        <p:nvSpPr>
          <p:cNvPr id="23" name="Text 16"/>
          <p:cNvSpPr/>
          <p:nvPr/>
        </p:nvSpPr>
        <p:spPr>
          <a:xfrm>
            <a:off x="2482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4" name="Text 17"/>
          <p:cNvSpPr/>
          <p:nvPr/>
        </p:nvSpPr>
        <p:spPr>
          <a:xfrm>
            <a:off x="34353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d81c0a2</a:t>
            </a:r>
            <a:endParaRPr lang="en-US" sz="1200" dirty="0"/>
          </a:p>
        </p:txBody>
      </p:sp>
      <p:sp>
        <p:nvSpPr>
          <p:cNvPr id="25" name="Text 18"/>
          <p:cNvSpPr/>
          <p:nvPr/>
        </p:nvSpPr>
        <p:spPr>
          <a:xfrm>
            <a:off x="4387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x9y8z7w</a:t>
            </a:r>
            <a:endParaRPr lang="en-US" sz="1200" dirty="0"/>
          </a:p>
        </p:txBody>
      </p:sp>
      <p:sp>
        <p:nvSpPr>
          <p:cNvPr id="26" name="Text 19"/>
          <p:cNvSpPr/>
          <p:nvPr/>
        </p:nvSpPr>
        <p:spPr>
          <a:xfrm>
            <a:off x="2482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e41d9f0</a:t>
            </a:r>
            <a:endParaRPr lang="en-US" sz="1200" dirty="0"/>
          </a:p>
        </p:txBody>
      </p:sp>
      <p:sp>
        <p:nvSpPr>
          <p:cNvPr id="27" name="Text 20"/>
          <p:cNvSpPr/>
          <p:nvPr/>
        </p:nvSpPr>
        <p:spPr>
          <a:xfrm>
            <a:off x="34353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7a3f2c1</a:t>
            </a:r>
            <a:endParaRPr lang="en-US" sz="1200" dirty="0"/>
          </a:p>
        </p:txBody>
      </p:sp>
      <p:sp>
        <p:nvSpPr>
          <p:cNvPr id="28" name="Text 21"/>
          <p:cNvSpPr/>
          <p:nvPr/>
        </p:nvSpPr>
        <p:spPr>
          <a:xfrm>
            <a:off x="2482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9" name="Text 22"/>
          <p:cNvSpPr/>
          <p:nvPr/>
        </p:nvSpPr>
        <p:spPr>
          <a:xfrm>
            <a:off x="34353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7a3f2c1</a:t>
            </a:r>
            <a:endParaRPr lang="en-US" sz="1200" dirty="0"/>
          </a:p>
        </p:txBody>
      </p:sp>
      <p:sp>
        <p:nvSpPr>
          <p:cNvPr id="30" name="Text 23"/>
          <p:cNvSpPr/>
          <p:nvPr/>
        </p:nvSpPr>
        <p:spPr>
          <a:xfrm>
            <a:off x="4387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b52e8d4</a:t>
            </a:r>
            <a:endParaRPr lang="en-US" sz="1200" dirty="0"/>
          </a:p>
        </p:txBody>
      </p:sp>
      <p:sp>
        <p:nvSpPr>
          <p:cNvPr id="31" name="Shape 24"/>
          <p:cNvSpPr/>
          <p:nvPr/>
        </p:nvSpPr>
        <p:spPr>
          <a:xfrm>
            <a:off x="7689850" y="1911350"/>
            <a:ext cx="3683000" cy="2886968"/>
          </a:xfrm>
          <a:prstGeom prst="roundRect">
            <a:avLst>
              <a:gd name="adj" fmla="val 4179"/>
            </a:avLst>
          </a:prstGeom>
          <a:solidFill>
            <a:srgbClr val="FDFCF9"/>
          </a:solidFill>
          <a:ln w="12700">
            <a:solidFill>
              <a:srgbClr val="E2DDD0"/>
            </a:solidFill>
            <a:prstDash val="solid"/>
          </a:ln>
        </p:spPr>
      </p:sp>
      <p:sp>
        <p:nvSpPr>
          <p:cNvPr id="32" name="Text 25"/>
          <p:cNvSpPr/>
          <p:nvPr/>
        </p:nvSpPr>
        <p:spPr>
          <a:xfrm>
            <a:off x="7924800" y="2146300"/>
            <a:ext cx="330949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SENİN BİLGİSAYARIN</a:t>
            </a:r>
            <a:endParaRPr lang="en-US" sz="1300" dirty="0"/>
          </a:p>
        </p:txBody>
      </p:sp>
      <p:sp>
        <p:nvSpPr>
          <p:cNvPr id="33" name="Text 26"/>
          <p:cNvSpPr/>
          <p:nvPr/>
        </p:nvSpPr>
        <p:spPr>
          <a:xfrm>
            <a:off x="7924800" y="2504380"/>
            <a:ext cx="33094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C1 yeniden basıldı</a:t>
            </a:r>
            <a:endParaRPr lang="en-US" sz="2000" dirty="0"/>
          </a:p>
        </p:txBody>
      </p:sp>
      <p:sp>
        <p:nvSpPr>
          <p:cNvPr id="34" name="Text 27"/>
          <p:cNvSpPr/>
          <p:nvPr/>
        </p:nvSpPr>
        <p:spPr>
          <a:xfrm>
            <a:off x="7924800" y="2936180"/>
            <a:ext cx="3309493"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6"/>
                </a:solidFill>
                <a:latin typeface="IBM Plex Sans" pitchFamily="34" charset="0"/>
                <a:ea typeface="IBM Plex Sans" pitchFamily="34" charset="-122"/>
                <a:cs typeface="IBM Plex Sans" pitchFamily="34" charset="-120"/>
              </a:rPr>
              <a:t>main'e yeni commit B gelmişti. Git, C1'i B'nin üzerine kopyaladı: içerik aynı, parent farklı, hash yeni.</a:t>
            </a:r>
            <a:endParaRPr lang="en-US" sz="1300" dirty="0"/>
          </a:p>
        </p:txBody>
      </p:sp>
      <p:sp>
        <p:nvSpPr>
          <p:cNvPr id="35" name="Text 28"/>
          <p:cNvSpPr/>
          <p:nvPr/>
        </p:nvSpPr>
        <p:spPr>
          <a:xfrm>
            <a:off x="7924800" y="3781127"/>
            <a:ext cx="3213100" cy="782241"/>
          </a:xfrm>
          <a:prstGeom prst="roundRect">
            <a:avLst>
              <a:gd name="adj" fmla="val 9741"/>
            </a:avLst>
          </a:prstGeom>
          <a:solidFill>
            <a:srgbClr val="16202C"/>
          </a:solidFill>
          <a:ln/>
        </p:spPr>
        <p:txBody>
          <a:bodyPr wrap="square" lIns="155482" tIns="104682" rIns="69757"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dev</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rebase main</a:t>
            </a:r>
            <a:endParaRPr lang="en-US" sz="1300" dirty="0"/>
          </a:p>
        </p:txBody>
      </p:sp>
      <p:sp>
        <p:nvSpPr>
          <p:cNvPr id="36" name="Text 29"/>
          <p:cNvSpPr/>
          <p:nvPr/>
        </p:nvSpPr>
        <p:spPr>
          <a:xfrm>
            <a:off x="812800" y="5410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C1 ≠ C1': senin dev'inde artık </a:t>
            </a:r>
            <a:r>
              <a:rPr lang="en-US" sz="1500" b="1" dirty="0">
                <a:solidFill>
                  <a:srgbClr val="16202C"/>
                </a:solidFill>
                <a:latin typeface="IBM Plex Sans" pitchFamily="34" charset="0"/>
                <a:ea typeface="IBM Plex Sans" pitchFamily="34" charset="-122"/>
                <a:cs typeface="IBM Plex Sans" pitchFamily="34" charset="-120"/>
              </a:rPr>
              <a:t>7a3f2c1</a:t>
            </a:r>
            <a:r>
              <a:rPr lang="en-US" sz="1500" dirty="0">
                <a:solidFill>
                  <a:srgbClr val="16202C"/>
                </a:solidFill>
                <a:latin typeface="IBM Plex Sans" pitchFamily="34" charset="0"/>
                <a:ea typeface="IBM Plex Sans" pitchFamily="34" charset="-122"/>
                <a:cs typeface="IBM Plex Sans" pitchFamily="34" charset="-120"/>
              </a:rPr>
              <a:t> yok, yerinde </a:t>
            </a:r>
            <a:r>
              <a:rPr lang="en-US" sz="1500" b="1" dirty="0">
                <a:solidFill>
                  <a:srgbClr val="16202C"/>
                </a:solidFill>
                <a:latin typeface="IBM Plex Sans" pitchFamily="34" charset="0"/>
                <a:ea typeface="IBM Plex Sans" pitchFamily="34" charset="-122"/>
                <a:cs typeface="IBM Plex Sans" pitchFamily="34" charset="-120"/>
              </a:rPr>
              <a:t>x9y8z7w</a:t>
            </a:r>
            <a:r>
              <a:rPr lang="en-US" sz="1500" dirty="0">
                <a:solidFill>
                  <a:srgbClr val="16202C"/>
                </a:solidFill>
                <a:latin typeface="IBM Plex Sans" pitchFamily="34" charset="0"/>
                <a:ea typeface="IBM Plex Sans" pitchFamily="34" charset="-122"/>
                <a:cs typeface="IBM Plex Sans" pitchFamily="34" charset="-120"/>
              </a:rPr>
              <a:t> var.</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AHMET'İN HİKÂYESİ · ADIM 4 / 6</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--force ile sunucuyu eziyorsun</a:t>
            </a:r>
            <a:endParaRPr lang="en-US" sz="3600" dirty="0"/>
          </a:p>
        </p:txBody>
      </p:sp>
      <p:sp>
        <p:nvSpPr>
          <p:cNvPr id="4" name="Shape 2"/>
          <p:cNvSpPr/>
          <p:nvPr/>
        </p:nvSpPr>
        <p:spPr>
          <a:xfrm>
            <a:off x="819150" y="1911350"/>
            <a:ext cx="6591300" cy="1003300"/>
          </a:xfrm>
          <a:prstGeom prst="roundRect">
            <a:avLst>
              <a:gd name="adj" fmla="val 9494"/>
            </a:avLst>
          </a:prstGeom>
          <a:solidFill>
            <a:srgbClr val="FDFCF9"/>
          </a:solidFill>
          <a:ln w="12700">
            <a:solidFill>
              <a:srgbClr val="E2DDD0"/>
            </a:solidFill>
            <a:prstDash val="solid"/>
          </a:ln>
        </p:spPr>
      </p:sp>
      <p:sp>
        <p:nvSpPr>
          <p:cNvPr id="5" name="Shape 3"/>
          <p:cNvSpPr/>
          <p:nvPr/>
        </p:nvSpPr>
        <p:spPr>
          <a:xfrm>
            <a:off x="819150" y="3054350"/>
            <a:ext cx="6591300" cy="1003300"/>
          </a:xfrm>
          <a:prstGeom prst="roundRect">
            <a:avLst>
              <a:gd name="adj" fmla="val 9494"/>
            </a:avLst>
          </a:prstGeom>
          <a:solidFill>
            <a:srgbClr val="16202C"/>
          </a:solidFill>
          <a:ln w="12700">
            <a:solidFill>
              <a:srgbClr val="16202C"/>
            </a:solidFill>
            <a:prstDash val="solid"/>
          </a:ln>
        </p:spPr>
      </p:sp>
      <p:sp>
        <p:nvSpPr>
          <p:cNvPr id="6" name="Shape 4"/>
          <p:cNvSpPr/>
          <p:nvPr/>
        </p:nvSpPr>
        <p:spPr>
          <a:xfrm>
            <a:off x="819150" y="4197350"/>
            <a:ext cx="6591300" cy="1003300"/>
          </a:xfrm>
          <a:prstGeom prst="roundRect">
            <a:avLst>
              <a:gd name="adj" fmla="val 9494"/>
            </a:avLst>
          </a:prstGeom>
          <a:solidFill>
            <a:srgbClr val="FDFCF9"/>
          </a:solidFill>
          <a:ln w="12700">
            <a:solidFill>
              <a:srgbClr val="E2DDD0"/>
            </a:solidFill>
            <a:prstDash val="solid"/>
          </a:ln>
        </p:spPr>
      </p:sp>
      <p:pic>
        <p:nvPicPr>
          <p:cNvPr id="7" name="Image 0" descr="connector"/>
          <p:cNvPicPr>
            <a:picLocks noChangeAspect="1"/>
          </p:cNvPicPr>
          <p:nvPr/>
        </p:nvPicPr>
        <p:blipFill>
          <a:blip r:embed="rId3"/>
          <a:srcRect/>
          <a:stretch/>
        </p:blipFill>
        <p:spPr>
          <a:xfrm>
            <a:off x="2908300" y="2184400"/>
            <a:ext cx="1104900" cy="152400"/>
          </a:xfrm>
          <a:prstGeom prst="rect">
            <a:avLst/>
          </a:prstGeom>
        </p:spPr>
      </p:pic>
      <p:pic>
        <p:nvPicPr>
          <p:cNvPr id="8" name="Image 1" descr="connector"/>
          <p:cNvPicPr>
            <a:picLocks noChangeAspect="1"/>
          </p:cNvPicPr>
          <p:nvPr/>
        </p:nvPicPr>
        <p:blipFill>
          <a:blip r:embed="rId4"/>
          <a:srcRect/>
          <a:stretch/>
        </p:blipFill>
        <p:spPr>
          <a:xfrm>
            <a:off x="3860800" y="2184400"/>
            <a:ext cx="1104900" cy="152400"/>
          </a:xfrm>
          <a:prstGeom prst="rect">
            <a:avLst/>
          </a:prstGeom>
        </p:spPr>
      </p:pic>
      <p:pic>
        <p:nvPicPr>
          <p:cNvPr id="9" name="Image 2" descr="connector"/>
          <p:cNvPicPr>
            <a:picLocks noChangeAspect="1"/>
          </p:cNvPicPr>
          <p:nvPr/>
        </p:nvPicPr>
        <p:blipFill>
          <a:blip r:embed="rId5"/>
          <a:srcRect/>
          <a:stretch/>
        </p:blipFill>
        <p:spPr>
          <a:xfrm>
            <a:off x="2908300" y="3327400"/>
            <a:ext cx="1104900" cy="152400"/>
          </a:xfrm>
          <a:prstGeom prst="rect">
            <a:avLst/>
          </a:prstGeom>
        </p:spPr>
      </p:pic>
      <p:pic>
        <p:nvPicPr>
          <p:cNvPr id="10" name="Image 3" descr="connector"/>
          <p:cNvPicPr>
            <a:picLocks noChangeAspect="1"/>
          </p:cNvPicPr>
          <p:nvPr/>
        </p:nvPicPr>
        <p:blipFill>
          <a:blip r:embed="rId6"/>
          <a:srcRect/>
          <a:stretch/>
        </p:blipFill>
        <p:spPr>
          <a:xfrm>
            <a:off x="3860800" y="3327400"/>
            <a:ext cx="1104900" cy="152400"/>
          </a:xfrm>
          <a:prstGeom prst="rect">
            <a:avLst/>
          </a:prstGeom>
        </p:spPr>
      </p:pic>
      <p:pic>
        <p:nvPicPr>
          <p:cNvPr id="11" name="Image 4" descr="connector"/>
          <p:cNvPicPr>
            <a:picLocks noChangeAspect="1"/>
          </p:cNvPicPr>
          <p:nvPr/>
        </p:nvPicPr>
        <p:blipFill>
          <a:blip r:embed="rId3"/>
          <a:srcRect/>
          <a:stretch/>
        </p:blipFill>
        <p:spPr>
          <a:xfrm>
            <a:off x="2908300" y="4470400"/>
            <a:ext cx="1104900" cy="152400"/>
          </a:xfrm>
          <a:prstGeom prst="rect">
            <a:avLst/>
          </a:prstGeom>
        </p:spPr>
      </p:pic>
      <p:pic>
        <p:nvPicPr>
          <p:cNvPr id="12" name="Image 5" descr="connector"/>
          <p:cNvPicPr>
            <a:picLocks noChangeAspect="1"/>
          </p:cNvPicPr>
          <p:nvPr/>
        </p:nvPicPr>
        <p:blipFill>
          <a:blip r:embed="rId7"/>
          <a:srcRect/>
          <a:stretch/>
        </p:blipFill>
        <p:spPr>
          <a:xfrm>
            <a:off x="3860800" y="4470400"/>
            <a:ext cx="1104900" cy="152400"/>
          </a:xfrm>
          <a:prstGeom prst="rect">
            <a:avLst/>
          </a:prstGeom>
        </p:spPr>
      </p:pic>
      <p:sp>
        <p:nvSpPr>
          <p:cNvPr id="13" name="Text 5"/>
          <p:cNvSpPr/>
          <p:nvPr/>
        </p:nvSpPr>
        <p:spPr>
          <a:xfrm>
            <a:off x="990600" y="2171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4" name="Text 6"/>
          <p:cNvSpPr/>
          <p:nvPr/>
        </p:nvSpPr>
        <p:spPr>
          <a:xfrm>
            <a:off x="990600" y="3314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SUNUCU</a:t>
            </a:r>
            <a:endParaRPr lang="en-US" sz="1300" dirty="0"/>
          </a:p>
          <a:p>
            <a:pPr marL="0" indent="0" algn="l">
              <a:lnSpc>
                <a:spcPts val="1820"/>
              </a:lnSpc>
              <a:buNone/>
            </a:pPr>
            <a:r>
              <a:rPr lang="en-US" sz="1300" b="1" dirty="0">
                <a:solidFill>
                  <a:srgbClr val="B8C4D1"/>
                </a:solidFill>
                <a:latin typeface="JetBrains Mono" pitchFamily="34" charset="0"/>
                <a:ea typeface="JetBrains Mono" pitchFamily="34" charset="-122"/>
                <a:cs typeface="JetBrains Mono" pitchFamily="34" charset="-120"/>
              </a:rPr>
              <a:t>origin/dev</a:t>
            </a:r>
            <a:endParaRPr lang="en-US" sz="1300" dirty="0"/>
          </a:p>
        </p:txBody>
      </p:sp>
      <p:sp>
        <p:nvSpPr>
          <p:cNvPr id="15" name="Text 7"/>
          <p:cNvSpPr/>
          <p:nvPr/>
        </p:nvSpPr>
        <p:spPr>
          <a:xfrm>
            <a:off x="990600" y="4457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AHMET</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6" name="Text 8"/>
          <p:cNvSpPr/>
          <p:nvPr/>
        </p:nvSpPr>
        <p:spPr>
          <a:xfrm>
            <a:off x="27305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7" name="Text 9"/>
          <p:cNvSpPr/>
          <p:nvPr/>
        </p:nvSpPr>
        <p:spPr>
          <a:xfrm>
            <a:off x="36830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E2DDD0"/>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B</a:t>
            </a:r>
            <a:endParaRPr lang="en-US" sz="1300" dirty="0"/>
          </a:p>
        </p:txBody>
      </p:sp>
      <p:sp>
        <p:nvSpPr>
          <p:cNvPr id="18" name="Text 10"/>
          <p:cNvSpPr/>
          <p:nvPr/>
        </p:nvSpPr>
        <p:spPr>
          <a:xfrm>
            <a:off x="4651375" y="2022475"/>
            <a:ext cx="476250" cy="475853"/>
          </a:xfrm>
          <a:custGeom>
            <a:avLst/>
            <a:gdLst/>
            <a:ahLst/>
            <a:cxnLst/>
            <a:rect l="l" t="t" r="r" b="b"/>
            <a:pathLst>
              <a:path w="476250" h="475853">
                <a:moveTo>
                  <a:pt x="237927" y="0"/>
                </a:moveTo>
                <a:lnTo>
                  <a:pt x="238323" y="0"/>
                </a:lnTo>
                <a:arcTo wR="237927" hR="237927" stAng="16200000" swAng="5400000"/>
                <a:lnTo>
                  <a:pt x="476250" y="237927"/>
                </a:lnTo>
                <a:arcTo wR="237927" hR="237927" stAng="0" swAng="5400000"/>
                <a:lnTo>
                  <a:pt x="237927" y="475853"/>
                </a:lnTo>
                <a:arcTo wR="237927" hR="237927" stAng="5400000" swAng="5400000"/>
                <a:lnTo>
                  <a:pt x="0" y="237927"/>
                </a:lnTo>
                <a:arcTo wR="237927" hR="237927" stAng="10800000" swAng="5400000"/>
                <a:close/>
              </a:path>
            </a:pathLst>
          </a:custGeom>
          <a:solidFill>
            <a:srgbClr val="FBE9DC"/>
          </a:solidFill>
          <a:ln w="31750">
            <a:solidFill>
              <a:srgbClr val="B8430A"/>
            </a:solidFill>
            <a:prstDash val="solid"/>
          </a:ln>
        </p:spPr>
        <p:txBody>
          <a:bodyPr wrap="square" lIns="0" tIns="15875" rIns="0" bIns="0" rtlCol="0" anchor="t">
            <a:normAutofit/>
          </a:bodyPr>
          <a:lstStyle/>
          <a:p>
            <a:pPr marL="0" indent="0" algn="ctr">
              <a:lnSpc>
                <a:spcPts val="3497"/>
              </a:lnSpc>
              <a:buNone/>
            </a:pPr>
            <a:r>
              <a:rPr lang="en-US" sz="1300" b="1" dirty="0">
                <a:solidFill>
                  <a:srgbClr val="16202C"/>
                </a:solidFill>
                <a:latin typeface="JetBrains Mono" pitchFamily="34" charset="0"/>
                <a:ea typeface="JetBrains Mono" pitchFamily="34" charset="-122"/>
                <a:cs typeface="JetBrains Mono" pitchFamily="34" charset="-120"/>
              </a:rPr>
              <a:t>C1'</a:t>
            </a:r>
            <a:endParaRPr lang="en-US" sz="1300" dirty="0"/>
          </a:p>
        </p:txBody>
      </p:sp>
      <p:sp>
        <p:nvSpPr>
          <p:cNvPr id="19" name="Text 11"/>
          <p:cNvSpPr/>
          <p:nvPr/>
        </p:nvSpPr>
        <p:spPr>
          <a:xfrm>
            <a:off x="27305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20" name="Text 12"/>
          <p:cNvSpPr/>
          <p:nvPr/>
        </p:nvSpPr>
        <p:spPr>
          <a:xfrm>
            <a:off x="36830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E2DDD0"/>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B</a:t>
            </a:r>
            <a:endParaRPr lang="en-US" sz="1300" dirty="0"/>
          </a:p>
        </p:txBody>
      </p:sp>
      <p:sp>
        <p:nvSpPr>
          <p:cNvPr id="21" name="Text 13"/>
          <p:cNvSpPr/>
          <p:nvPr/>
        </p:nvSpPr>
        <p:spPr>
          <a:xfrm>
            <a:off x="4651375" y="3165475"/>
            <a:ext cx="476250" cy="475853"/>
          </a:xfrm>
          <a:custGeom>
            <a:avLst/>
            <a:gdLst/>
            <a:ahLst/>
            <a:cxnLst/>
            <a:rect l="l" t="t" r="r" b="b"/>
            <a:pathLst>
              <a:path w="476250" h="475853">
                <a:moveTo>
                  <a:pt x="237927" y="0"/>
                </a:moveTo>
                <a:lnTo>
                  <a:pt x="238323" y="0"/>
                </a:lnTo>
                <a:arcTo wR="237927" hR="237927" stAng="16200000" swAng="5400000"/>
                <a:lnTo>
                  <a:pt x="476250" y="237927"/>
                </a:lnTo>
                <a:arcTo wR="237927" hR="237927" stAng="0" swAng="5400000"/>
                <a:lnTo>
                  <a:pt x="237927" y="475853"/>
                </a:lnTo>
                <a:arcTo wR="237927" hR="237927" stAng="5400000" swAng="5400000"/>
                <a:lnTo>
                  <a:pt x="0" y="237927"/>
                </a:lnTo>
                <a:arcTo wR="237927" hR="237927" stAng="10800000" swAng="5400000"/>
                <a:close/>
              </a:path>
            </a:pathLst>
          </a:custGeom>
          <a:solidFill>
            <a:srgbClr val="FBE9DC"/>
          </a:solidFill>
          <a:ln w="31750">
            <a:solidFill>
              <a:srgbClr val="F7A46B"/>
            </a:solidFill>
            <a:prstDash val="solid"/>
          </a:ln>
        </p:spPr>
        <p:txBody>
          <a:bodyPr wrap="square" lIns="0" tIns="15875" rIns="0" bIns="0" rtlCol="0" anchor="t">
            <a:normAutofit/>
          </a:bodyPr>
          <a:lstStyle/>
          <a:p>
            <a:pPr marL="0" indent="0" algn="ctr">
              <a:lnSpc>
                <a:spcPts val="3497"/>
              </a:lnSpc>
              <a:buNone/>
            </a:pPr>
            <a:r>
              <a:rPr lang="en-US" sz="1300" b="1" dirty="0">
                <a:solidFill>
                  <a:srgbClr val="16202C"/>
                </a:solidFill>
                <a:latin typeface="JetBrains Mono" pitchFamily="34" charset="0"/>
                <a:ea typeface="JetBrains Mono" pitchFamily="34" charset="-122"/>
                <a:cs typeface="JetBrains Mono" pitchFamily="34" charset="-120"/>
              </a:rPr>
              <a:t>C1'</a:t>
            </a:r>
            <a:endParaRPr lang="en-US" sz="1300" dirty="0"/>
          </a:p>
        </p:txBody>
      </p:sp>
      <p:sp>
        <p:nvSpPr>
          <p:cNvPr id="22" name="Text 14"/>
          <p:cNvSpPr/>
          <p:nvPr/>
        </p:nvSpPr>
        <p:spPr>
          <a:xfrm>
            <a:off x="6550025" y="3159125"/>
            <a:ext cx="488950" cy="488950"/>
          </a:xfrm>
          <a:custGeom>
            <a:avLst/>
            <a:gdLst/>
            <a:ahLst/>
            <a:cxnLst/>
            <a:rect l="l" t="t" r="r" b="b"/>
            <a:pathLst>
              <a:path w="488950" h="488950">
                <a:moveTo>
                  <a:pt x="244475" y="0"/>
                </a:moveTo>
                <a:lnTo>
                  <a:pt x="244475" y="0"/>
                </a:lnTo>
                <a:arcTo wR="244475" hR="244475" stAng="16200000" swAng="5400000"/>
                <a:lnTo>
                  <a:pt x="488950" y="244475"/>
                </a:lnTo>
                <a:arcTo wR="244475" hR="244475" stAng="0" swAng="5400000"/>
                <a:lnTo>
                  <a:pt x="244475" y="488950"/>
                </a:lnTo>
                <a:arcTo wR="244475" hR="244475" stAng="5400000" swAng="5400000"/>
                <a:lnTo>
                  <a:pt x="0" y="244475"/>
                </a:lnTo>
                <a:arcTo wR="244475" hR="244475" stAng="10800000" swAng="5400000"/>
                <a:close/>
              </a:path>
            </a:pathLst>
          </a:custGeom>
          <a:solidFill>
            <a:srgbClr val="26323F"/>
          </a:solidFill>
          <a:ln w="19050">
            <a:solidFill>
              <a:srgbClr val="9AA7B6"/>
            </a:solidFill>
            <a:prstDash val="dash"/>
          </a:ln>
        </p:spPr>
        <p:txBody>
          <a:bodyPr wrap="square" lIns="0" tIns="9525" rIns="0" bIns="0" rtlCol="0" anchor="t">
            <a:normAutofit/>
          </a:bodyPr>
          <a:lstStyle/>
          <a:p>
            <a:pPr marL="0" indent="0" algn="ctr">
              <a:lnSpc>
                <a:spcPts val="3705"/>
              </a:lnSpc>
              <a:buNone/>
            </a:pPr>
            <a:r>
              <a:rPr lang="en-US" sz="1300" b="1" dirty="0">
                <a:solidFill>
                  <a:srgbClr val="9AA7B6"/>
                </a:solidFill>
                <a:latin typeface="JetBrains Mono" pitchFamily="34" charset="0"/>
                <a:ea typeface="JetBrains Mono" pitchFamily="34" charset="-122"/>
                <a:cs typeface="JetBrains Mono" pitchFamily="34" charset="-120"/>
              </a:rPr>
              <a:t>C1</a:t>
            </a:r>
            <a:endParaRPr lang="en-US" sz="1300" dirty="0"/>
          </a:p>
        </p:txBody>
      </p:sp>
      <p:sp>
        <p:nvSpPr>
          <p:cNvPr id="23" name="Text 15"/>
          <p:cNvSpPr/>
          <p:nvPr/>
        </p:nvSpPr>
        <p:spPr>
          <a:xfrm>
            <a:off x="2730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24" name="Text 16"/>
          <p:cNvSpPr/>
          <p:nvPr/>
        </p:nvSpPr>
        <p:spPr>
          <a:xfrm>
            <a:off x="36830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25" name="Text 17"/>
          <p:cNvSpPr/>
          <p:nvPr/>
        </p:nvSpPr>
        <p:spPr>
          <a:xfrm>
            <a:off x="4635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F08C4B"/>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A1</a:t>
            </a:r>
            <a:endParaRPr lang="en-US" sz="1300" dirty="0"/>
          </a:p>
        </p:txBody>
      </p:sp>
      <p:sp>
        <p:nvSpPr>
          <p:cNvPr id="26" name="Text 18"/>
          <p:cNvSpPr/>
          <p:nvPr/>
        </p:nvSpPr>
        <p:spPr>
          <a:xfrm>
            <a:off x="2482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7" name="Text 19"/>
          <p:cNvSpPr/>
          <p:nvPr/>
        </p:nvSpPr>
        <p:spPr>
          <a:xfrm>
            <a:off x="34353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d81c0a2</a:t>
            </a:r>
            <a:endParaRPr lang="en-US" sz="1200" dirty="0"/>
          </a:p>
        </p:txBody>
      </p:sp>
      <p:sp>
        <p:nvSpPr>
          <p:cNvPr id="28" name="Text 20"/>
          <p:cNvSpPr/>
          <p:nvPr/>
        </p:nvSpPr>
        <p:spPr>
          <a:xfrm>
            <a:off x="4387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x9y8z7w</a:t>
            </a:r>
            <a:endParaRPr lang="en-US" sz="1200" dirty="0"/>
          </a:p>
        </p:txBody>
      </p:sp>
      <p:sp>
        <p:nvSpPr>
          <p:cNvPr id="29" name="Text 21"/>
          <p:cNvSpPr/>
          <p:nvPr/>
        </p:nvSpPr>
        <p:spPr>
          <a:xfrm>
            <a:off x="2482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e41d9f0</a:t>
            </a:r>
            <a:endParaRPr lang="en-US" sz="1200" dirty="0"/>
          </a:p>
        </p:txBody>
      </p:sp>
      <p:sp>
        <p:nvSpPr>
          <p:cNvPr id="30" name="Text 22"/>
          <p:cNvSpPr/>
          <p:nvPr/>
        </p:nvSpPr>
        <p:spPr>
          <a:xfrm>
            <a:off x="34353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d81c0a2</a:t>
            </a:r>
            <a:endParaRPr lang="en-US" sz="1200" dirty="0"/>
          </a:p>
        </p:txBody>
      </p:sp>
      <p:sp>
        <p:nvSpPr>
          <p:cNvPr id="31" name="Text 23"/>
          <p:cNvSpPr/>
          <p:nvPr/>
        </p:nvSpPr>
        <p:spPr>
          <a:xfrm>
            <a:off x="4387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7A46B"/>
                </a:solidFill>
                <a:latin typeface="JetBrains Mono" pitchFamily="34" charset="0"/>
                <a:ea typeface="JetBrains Mono" pitchFamily="34" charset="-122"/>
                <a:cs typeface="JetBrains Mono" pitchFamily="34" charset="-120"/>
              </a:rPr>
              <a:t>x9y8z7w</a:t>
            </a:r>
            <a:endParaRPr lang="en-US" sz="1200" dirty="0"/>
          </a:p>
        </p:txBody>
      </p:sp>
      <p:sp>
        <p:nvSpPr>
          <p:cNvPr id="32" name="Text 24"/>
          <p:cNvSpPr/>
          <p:nvPr/>
        </p:nvSpPr>
        <p:spPr>
          <a:xfrm>
            <a:off x="6292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AA7B6"/>
                </a:solidFill>
                <a:latin typeface="JetBrains Mono" pitchFamily="34" charset="0"/>
                <a:ea typeface="JetBrains Mono" pitchFamily="34" charset="-122"/>
                <a:cs typeface="JetBrains Mono" pitchFamily="34" charset="-120"/>
              </a:rPr>
              <a:t>silindi</a:t>
            </a:r>
            <a:endParaRPr lang="en-US" sz="1200" dirty="0"/>
          </a:p>
        </p:txBody>
      </p:sp>
      <p:sp>
        <p:nvSpPr>
          <p:cNvPr id="33" name="Text 25"/>
          <p:cNvSpPr/>
          <p:nvPr/>
        </p:nvSpPr>
        <p:spPr>
          <a:xfrm>
            <a:off x="2482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34" name="Text 26"/>
          <p:cNvSpPr/>
          <p:nvPr/>
        </p:nvSpPr>
        <p:spPr>
          <a:xfrm>
            <a:off x="34353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7a3f2c1</a:t>
            </a:r>
            <a:endParaRPr lang="en-US" sz="1200" dirty="0"/>
          </a:p>
        </p:txBody>
      </p:sp>
      <p:sp>
        <p:nvSpPr>
          <p:cNvPr id="35" name="Text 27"/>
          <p:cNvSpPr/>
          <p:nvPr/>
        </p:nvSpPr>
        <p:spPr>
          <a:xfrm>
            <a:off x="4387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b52e8d4</a:t>
            </a:r>
            <a:endParaRPr lang="en-US" sz="1200" dirty="0"/>
          </a:p>
        </p:txBody>
      </p:sp>
      <p:sp>
        <p:nvSpPr>
          <p:cNvPr id="36" name="Shape 28"/>
          <p:cNvSpPr/>
          <p:nvPr/>
        </p:nvSpPr>
        <p:spPr>
          <a:xfrm>
            <a:off x="7689850" y="1911350"/>
            <a:ext cx="3683000" cy="2622848"/>
          </a:xfrm>
          <a:prstGeom prst="roundRect">
            <a:avLst>
              <a:gd name="adj" fmla="val 4600"/>
            </a:avLst>
          </a:prstGeom>
          <a:solidFill>
            <a:srgbClr val="FDFCF9"/>
          </a:solidFill>
          <a:ln w="12700">
            <a:solidFill>
              <a:srgbClr val="E2DDD0"/>
            </a:solidFill>
            <a:prstDash val="solid"/>
          </a:ln>
        </p:spPr>
      </p:sp>
      <p:sp>
        <p:nvSpPr>
          <p:cNvPr id="37" name="Text 29"/>
          <p:cNvSpPr/>
          <p:nvPr/>
        </p:nvSpPr>
        <p:spPr>
          <a:xfrm>
            <a:off x="7924800" y="2146300"/>
            <a:ext cx="330949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SUNUCU</a:t>
            </a:r>
            <a:endParaRPr lang="en-US" sz="1300" dirty="0"/>
          </a:p>
        </p:txBody>
      </p:sp>
      <p:sp>
        <p:nvSpPr>
          <p:cNvPr id="38" name="Text 30"/>
          <p:cNvSpPr/>
          <p:nvPr/>
        </p:nvSpPr>
        <p:spPr>
          <a:xfrm>
            <a:off x="7924800" y="2504380"/>
            <a:ext cx="33094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Geçmiş ezildi</a:t>
            </a:r>
            <a:endParaRPr lang="en-US" sz="2000" dirty="0"/>
          </a:p>
        </p:txBody>
      </p:sp>
      <p:sp>
        <p:nvSpPr>
          <p:cNvPr id="39" name="Text 31"/>
          <p:cNvSpPr/>
          <p:nvPr/>
        </p:nvSpPr>
        <p:spPr>
          <a:xfrm>
            <a:off x="7924800" y="2936180"/>
            <a:ext cx="3309493"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6"/>
                </a:solidFill>
                <a:latin typeface="IBM Plex Sans" pitchFamily="34" charset="0"/>
                <a:ea typeface="IBM Plex Sans" pitchFamily="34" charset="-122"/>
                <a:cs typeface="IBM Plex Sans" pitchFamily="34" charset="-120"/>
              </a:rPr>
              <a:t>Normal push reddedildi, çünkü sunucudaki C1 senin geçmişinde yok. Sen de --force ile sunucuyu kendi kopyanla değiştirdin.</a:t>
            </a:r>
            <a:endParaRPr lang="en-US" sz="1300" dirty="0"/>
          </a:p>
        </p:txBody>
      </p:sp>
      <p:sp>
        <p:nvSpPr>
          <p:cNvPr id="40" name="Text 32"/>
          <p:cNvSpPr/>
          <p:nvPr/>
        </p:nvSpPr>
        <p:spPr>
          <a:xfrm>
            <a:off x="7924800" y="3781127"/>
            <a:ext cx="3213100" cy="518120"/>
          </a:xfrm>
          <a:prstGeom prst="roundRect">
            <a:avLst>
              <a:gd name="adj" fmla="val 14707"/>
            </a:avLst>
          </a:prstGeom>
          <a:solidFill>
            <a:srgbClr val="16202C"/>
          </a:solidFill>
          <a:ln/>
        </p:spPr>
        <p:txBody>
          <a:bodyPr wrap="square" lIns="155482" tIns="104682" rIns="69757"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 </a:t>
            </a:r>
            <a:r>
              <a:rPr lang="en-US" sz="1300" dirty="0">
                <a:solidFill>
                  <a:srgbClr val="F7A46B"/>
                </a:solidFill>
                <a:latin typeface="JetBrains Mono" pitchFamily="34" charset="0"/>
                <a:ea typeface="JetBrains Mono" pitchFamily="34" charset="-122"/>
                <a:cs typeface="JetBrains Mono" pitchFamily="34" charset="-120"/>
              </a:rPr>
              <a:t>--force</a:t>
            </a:r>
            <a:endParaRPr lang="en-US" sz="1300" dirty="0"/>
          </a:p>
        </p:txBody>
      </p:sp>
      <p:sp>
        <p:nvSpPr>
          <p:cNvPr id="41" name="Text 33"/>
          <p:cNvSpPr/>
          <p:nvPr/>
        </p:nvSpPr>
        <p:spPr>
          <a:xfrm>
            <a:off x="812800" y="5410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Sunucudaki C1 silindi. </a:t>
            </a:r>
            <a:r>
              <a:rPr lang="en-US" sz="1500" b="1" dirty="0">
                <a:solidFill>
                  <a:srgbClr val="16202C"/>
                </a:solidFill>
                <a:latin typeface="IBM Plex Sans" pitchFamily="34" charset="0"/>
                <a:ea typeface="IBM Plex Sans" pitchFamily="34" charset="-122"/>
                <a:cs typeface="IBM Plex Sans" pitchFamily="34" charset="-120"/>
              </a:rPr>
              <a:t>Ahmet'in bundan haberi yok:</a:t>
            </a:r>
            <a:r>
              <a:rPr lang="en-US" sz="1500" dirty="0">
                <a:solidFill>
                  <a:srgbClr val="16202C"/>
                </a:solidFill>
                <a:latin typeface="IBM Plex Sans" pitchFamily="34" charset="0"/>
                <a:ea typeface="IBM Plex Sans" pitchFamily="34" charset="-122"/>
                <a:cs typeface="IBM Plex Sans" pitchFamily="34" charset="-120"/>
              </a:rPr>
              <a:t> onun bilgisayarı hâlâ eski resmi gösteriyor.</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AHMET'İN HİKÂYESİ · ADIM 5 / 6</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Ahmet push ediyor ve reddediliyor</a:t>
            </a:r>
            <a:endParaRPr lang="en-US" sz="3600" dirty="0"/>
          </a:p>
        </p:txBody>
      </p:sp>
      <p:sp>
        <p:nvSpPr>
          <p:cNvPr id="4" name="Shape 2"/>
          <p:cNvSpPr/>
          <p:nvPr/>
        </p:nvSpPr>
        <p:spPr>
          <a:xfrm>
            <a:off x="819150" y="1911350"/>
            <a:ext cx="6591300" cy="1003300"/>
          </a:xfrm>
          <a:prstGeom prst="roundRect">
            <a:avLst>
              <a:gd name="adj" fmla="val 9494"/>
            </a:avLst>
          </a:prstGeom>
          <a:solidFill>
            <a:srgbClr val="FDFCF9"/>
          </a:solidFill>
          <a:ln w="12700">
            <a:solidFill>
              <a:srgbClr val="E2DDD0"/>
            </a:solidFill>
            <a:prstDash val="solid"/>
          </a:ln>
        </p:spPr>
      </p:sp>
      <p:sp>
        <p:nvSpPr>
          <p:cNvPr id="5" name="Shape 3"/>
          <p:cNvSpPr/>
          <p:nvPr/>
        </p:nvSpPr>
        <p:spPr>
          <a:xfrm>
            <a:off x="819150" y="3054350"/>
            <a:ext cx="6591300" cy="1003300"/>
          </a:xfrm>
          <a:prstGeom prst="roundRect">
            <a:avLst>
              <a:gd name="adj" fmla="val 9494"/>
            </a:avLst>
          </a:prstGeom>
          <a:solidFill>
            <a:srgbClr val="16202C"/>
          </a:solidFill>
          <a:ln w="12700">
            <a:solidFill>
              <a:srgbClr val="16202C"/>
            </a:solidFill>
            <a:prstDash val="solid"/>
          </a:ln>
        </p:spPr>
      </p:sp>
      <p:sp>
        <p:nvSpPr>
          <p:cNvPr id="6" name="Shape 4"/>
          <p:cNvSpPr/>
          <p:nvPr/>
        </p:nvSpPr>
        <p:spPr>
          <a:xfrm>
            <a:off x="819150" y="4197350"/>
            <a:ext cx="6591300" cy="1003300"/>
          </a:xfrm>
          <a:prstGeom prst="roundRect">
            <a:avLst>
              <a:gd name="adj" fmla="val 9494"/>
            </a:avLst>
          </a:prstGeom>
          <a:solidFill>
            <a:srgbClr val="FBE9DC"/>
          </a:solidFill>
          <a:ln w="12700">
            <a:solidFill>
              <a:srgbClr val="F08C4B"/>
            </a:solidFill>
            <a:prstDash val="solid"/>
          </a:ln>
        </p:spPr>
      </p:sp>
      <p:pic>
        <p:nvPicPr>
          <p:cNvPr id="7" name="Image 0" descr="connector"/>
          <p:cNvPicPr>
            <a:picLocks noChangeAspect="1"/>
          </p:cNvPicPr>
          <p:nvPr/>
        </p:nvPicPr>
        <p:blipFill>
          <a:blip r:embed="rId3"/>
          <a:srcRect/>
          <a:stretch/>
        </p:blipFill>
        <p:spPr>
          <a:xfrm>
            <a:off x="2908300" y="2184400"/>
            <a:ext cx="1104900" cy="152400"/>
          </a:xfrm>
          <a:prstGeom prst="rect">
            <a:avLst/>
          </a:prstGeom>
        </p:spPr>
      </p:pic>
      <p:pic>
        <p:nvPicPr>
          <p:cNvPr id="8" name="Image 1" descr="connector"/>
          <p:cNvPicPr>
            <a:picLocks noChangeAspect="1"/>
          </p:cNvPicPr>
          <p:nvPr/>
        </p:nvPicPr>
        <p:blipFill>
          <a:blip r:embed="rId4"/>
          <a:srcRect/>
          <a:stretch/>
        </p:blipFill>
        <p:spPr>
          <a:xfrm>
            <a:off x="3860800" y="2184400"/>
            <a:ext cx="1104900" cy="152400"/>
          </a:xfrm>
          <a:prstGeom prst="rect">
            <a:avLst/>
          </a:prstGeom>
        </p:spPr>
      </p:pic>
      <p:pic>
        <p:nvPicPr>
          <p:cNvPr id="9" name="Image 2" descr="connector"/>
          <p:cNvPicPr>
            <a:picLocks noChangeAspect="1"/>
          </p:cNvPicPr>
          <p:nvPr/>
        </p:nvPicPr>
        <p:blipFill>
          <a:blip r:embed="rId5"/>
          <a:srcRect/>
          <a:stretch/>
        </p:blipFill>
        <p:spPr>
          <a:xfrm>
            <a:off x="2908300" y="3327400"/>
            <a:ext cx="1104900" cy="152400"/>
          </a:xfrm>
          <a:prstGeom prst="rect">
            <a:avLst/>
          </a:prstGeom>
        </p:spPr>
      </p:pic>
      <p:pic>
        <p:nvPicPr>
          <p:cNvPr id="10" name="Image 3" descr="connector"/>
          <p:cNvPicPr>
            <a:picLocks noChangeAspect="1"/>
          </p:cNvPicPr>
          <p:nvPr/>
        </p:nvPicPr>
        <p:blipFill>
          <a:blip r:embed="rId6"/>
          <a:srcRect/>
          <a:stretch/>
        </p:blipFill>
        <p:spPr>
          <a:xfrm>
            <a:off x="3860800" y="3327400"/>
            <a:ext cx="1104900" cy="152400"/>
          </a:xfrm>
          <a:prstGeom prst="rect">
            <a:avLst/>
          </a:prstGeom>
        </p:spPr>
      </p:pic>
      <p:pic>
        <p:nvPicPr>
          <p:cNvPr id="11" name="Image 4" descr="connector"/>
          <p:cNvPicPr>
            <a:picLocks noChangeAspect="1"/>
          </p:cNvPicPr>
          <p:nvPr/>
        </p:nvPicPr>
        <p:blipFill>
          <a:blip r:embed="rId3"/>
          <a:srcRect/>
          <a:stretch/>
        </p:blipFill>
        <p:spPr>
          <a:xfrm>
            <a:off x="2908300" y="4470400"/>
            <a:ext cx="1104900" cy="152400"/>
          </a:xfrm>
          <a:prstGeom prst="rect">
            <a:avLst/>
          </a:prstGeom>
        </p:spPr>
      </p:pic>
      <p:pic>
        <p:nvPicPr>
          <p:cNvPr id="12" name="Image 5" descr="connector"/>
          <p:cNvPicPr>
            <a:picLocks noChangeAspect="1"/>
          </p:cNvPicPr>
          <p:nvPr/>
        </p:nvPicPr>
        <p:blipFill>
          <a:blip r:embed="rId7"/>
          <a:srcRect/>
          <a:stretch/>
        </p:blipFill>
        <p:spPr>
          <a:xfrm>
            <a:off x="3860800" y="4470400"/>
            <a:ext cx="1104900" cy="152400"/>
          </a:xfrm>
          <a:prstGeom prst="rect">
            <a:avLst/>
          </a:prstGeom>
        </p:spPr>
      </p:pic>
      <p:sp>
        <p:nvSpPr>
          <p:cNvPr id="13" name="Text 5"/>
          <p:cNvSpPr/>
          <p:nvPr/>
        </p:nvSpPr>
        <p:spPr>
          <a:xfrm>
            <a:off x="990600" y="2171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SEN</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4" name="Text 6"/>
          <p:cNvSpPr/>
          <p:nvPr/>
        </p:nvSpPr>
        <p:spPr>
          <a:xfrm>
            <a:off x="990600" y="3314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SUNUCU</a:t>
            </a:r>
            <a:endParaRPr lang="en-US" sz="1300" dirty="0"/>
          </a:p>
          <a:p>
            <a:pPr marL="0" indent="0" algn="l">
              <a:lnSpc>
                <a:spcPts val="1820"/>
              </a:lnSpc>
              <a:buNone/>
            </a:pPr>
            <a:r>
              <a:rPr lang="en-US" sz="1300" b="1" dirty="0">
                <a:solidFill>
                  <a:srgbClr val="B8C4D1"/>
                </a:solidFill>
                <a:latin typeface="JetBrains Mono" pitchFamily="34" charset="0"/>
                <a:ea typeface="JetBrains Mono" pitchFamily="34" charset="-122"/>
                <a:cs typeface="JetBrains Mono" pitchFamily="34" charset="-120"/>
              </a:rPr>
              <a:t>origin/dev</a:t>
            </a:r>
            <a:endParaRPr lang="en-US" sz="1300" dirty="0"/>
          </a:p>
        </p:txBody>
      </p:sp>
      <p:sp>
        <p:nvSpPr>
          <p:cNvPr id="15" name="Text 7"/>
          <p:cNvSpPr/>
          <p:nvPr/>
        </p:nvSpPr>
        <p:spPr>
          <a:xfrm>
            <a:off x="990600" y="4457700"/>
            <a:ext cx="1511300"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AHMET</a:t>
            </a:r>
            <a:endParaRPr lang="en-US" sz="1300" dirty="0"/>
          </a:p>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yerel dev</a:t>
            </a:r>
            <a:endParaRPr lang="en-US" sz="1300" dirty="0"/>
          </a:p>
        </p:txBody>
      </p:sp>
      <p:sp>
        <p:nvSpPr>
          <p:cNvPr id="16" name="Text 8"/>
          <p:cNvSpPr/>
          <p:nvPr/>
        </p:nvSpPr>
        <p:spPr>
          <a:xfrm>
            <a:off x="27305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17" name="Text 9"/>
          <p:cNvSpPr/>
          <p:nvPr/>
        </p:nvSpPr>
        <p:spPr>
          <a:xfrm>
            <a:off x="3683000" y="2006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E2DDD0"/>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B</a:t>
            </a:r>
            <a:endParaRPr lang="en-US" sz="1300" dirty="0"/>
          </a:p>
        </p:txBody>
      </p:sp>
      <p:sp>
        <p:nvSpPr>
          <p:cNvPr id="18" name="Text 10"/>
          <p:cNvSpPr/>
          <p:nvPr/>
        </p:nvSpPr>
        <p:spPr>
          <a:xfrm>
            <a:off x="4651375" y="2022475"/>
            <a:ext cx="476250" cy="475853"/>
          </a:xfrm>
          <a:custGeom>
            <a:avLst/>
            <a:gdLst/>
            <a:ahLst/>
            <a:cxnLst/>
            <a:rect l="l" t="t" r="r" b="b"/>
            <a:pathLst>
              <a:path w="476250" h="475853">
                <a:moveTo>
                  <a:pt x="237927" y="0"/>
                </a:moveTo>
                <a:lnTo>
                  <a:pt x="238323" y="0"/>
                </a:lnTo>
                <a:arcTo wR="237927" hR="237927" stAng="16200000" swAng="5400000"/>
                <a:lnTo>
                  <a:pt x="476250" y="237927"/>
                </a:lnTo>
                <a:arcTo wR="237927" hR="237927" stAng="0" swAng="5400000"/>
                <a:lnTo>
                  <a:pt x="237927" y="475853"/>
                </a:lnTo>
                <a:arcTo wR="237927" hR="237927" stAng="5400000" swAng="5400000"/>
                <a:lnTo>
                  <a:pt x="0" y="237927"/>
                </a:lnTo>
                <a:arcTo wR="237927" hR="237927" stAng="10800000" swAng="5400000"/>
                <a:close/>
              </a:path>
            </a:pathLst>
          </a:custGeom>
          <a:solidFill>
            <a:srgbClr val="FBE9DC"/>
          </a:solidFill>
          <a:ln w="31750">
            <a:solidFill>
              <a:srgbClr val="B8430A"/>
            </a:solidFill>
            <a:prstDash val="solid"/>
          </a:ln>
        </p:spPr>
        <p:txBody>
          <a:bodyPr wrap="square" lIns="0" tIns="15875" rIns="0" bIns="0" rtlCol="0" anchor="t">
            <a:normAutofit/>
          </a:bodyPr>
          <a:lstStyle/>
          <a:p>
            <a:pPr marL="0" indent="0" algn="ctr">
              <a:lnSpc>
                <a:spcPts val="3497"/>
              </a:lnSpc>
              <a:buNone/>
            </a:pPr>
            <a:r>
              <a:rPr lang="en-US" sz="1300" b="1" dirty="0">
                <a:solidFill>
                  <a:srgbClr val="16202C"/>
                </a:solidFill>
                <a:latin typeface="JetBrains Mono" pitchFamily="34" charset="0"/>
                <a:ea typeface="JetBrains Mono" pitchFamily="34" charset="-122"/>
                <a:cs typeface="JetBrains Mono" pitchFamily="34" charset="-120"/>
              </a:rPr>
              <a:t>C1'</a:t>
            </a:r>
            <a:endParaRPr lang="en-US" sz="1300" dirty="0"/>
          </a:p>
        </p:txBody>
      </p:sp>
      <p:sp>
        <p:nvSpPr>
          <p:cNvPr id="19" name="Text 11"/>
          <p:cNvSpPr/>
          <p:nvPr/>
        </p:nvSpPr>
        <p:spPr>
          <a:xfrm>
            <a:off x="27305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20" name="Text 12"/>
          <p:cNvSpPr/>
          <p:nvPr/>
        </p:nvSpPr>
        <p:spPr>
          <a:xfrm>
            <a:off x="3683000" y="3149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E2DDD0"/>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B</a:t>
            </a:r>
            <a:endParaRPr lang="en-US" sz="1300" dirty="0"/>
          </a:p>
        </p:txBody>
      </p:sp>
      <p:sp>
        <p:nvSpPr>
          <p:cNvPr id="21" name="Text 13"/>
          <p:cNvSpPr/>
          <p:nvPr/>
        </p:nvSpPr>
        <p:spPr>
          <a:xfrm>
            <a:off x="4651375" y="3165475"/>
            <a:ext cx="476250" cy="475853"/>
          </a:xfrm>
          <a:custGeom>
            <a:avLst/>
            <a:gdLst/>
            <a:ahLst/>
            <a:cxnLst/>
            <a:rect l="l" t="t" r="r" b="b"/>
            <a:pathLst>
              <a:path w="476250" h="475853">
                <a:moveTo>
                  <a:pt x="237927" y="0"/>
                </a:moveTo>
                <a:lnTo>
                  <a:pt x="238323" y="0"/>
                </a:lnTo>
                <a:arcTo wR="237927" hR="237927" stAng="16200000" swAng="5400000"/>
                <a:lnTo>
                  <a:pt x="476250" y="237927"/>
                </a:lnTo>
                <a:arcTo wR="237927" hR="237927" stAng="0" swAng="5400000"/>
                <a:lnTo>
                  <a:pt x="237927" y="475853"/>
                </a:lnTo>
                <a:arcTo wR="237927" hR="237927" stAng="5400000" swAng="5400000"/>
                <a:lnTo>
                  <a:pt x="0" y="237927"/>
                </a:lnTo>
                <a:arcTo wR="237927" hR="237927" stAng="10800000" swAng="5400000"/>
                <a:close/>
              </a:path>
            </a:pathLst>
          </a:custGeom>
          <a:solidFill>
            <a:srgbClr val="FBE9DC"/>
          </a:solidFill>
          <a:ln w="31750">
            <a:solidFill>
              <a:srgbClr val="F7A46B"/>
            </a:solidFill>
            <a:prstDash val="solid"/>
          </a:ln>
        </p:spPr>
        <p:txBody>
          <a:bodyPr wrap="square" lIns="0" tIns="15875" rIns="0" bIns="0" rtlCol="0" anchor="t">
            <a:normAutofit/>
          </a:bodyPr>
          <a:lstStyle/>
          <a:p>
            <a:pPr marL="0" indent="0" algn="ctr">
              <a:lnSpc>
                <a:spcPts val="3497"/>
              </a:lnSpc>
              <a:buNone/>
            </a:pPr>
            <a:r>
              <a:rPr lang="en-US" sz="1300" b="1" dirty="0">
                <a:solidFill>
                  <a:srgbClr val="16202C"/>
                </a:solidFill>
                <a:latin typeface="JetBrains Mono" pitchFamily="34" charset="0"/>
                <a:ea typeface="JetBrains Mono" pitchFamily="34" charset="-122"/>
                <a:cs typeface="JetBrains Mono" pitchFamily="34" charset="-120"/>
              </a:rPr>
              <a:t>C1'</a:t>
            </a:r>
            <a:endParaRPr lang="en-US" sz="1300" dirty="0"/>
          </a:p>
        </p:txBody>
      </p:sp>
      <p:sp>
        <p:nvSpPr>
          <p:cNvPr id="22" name="Text 14"/>
          <p:cNvSpPr/>
          <p:nvPr/>
        </p:nvSpPr>
        <p:spPr>
          <a:xfrm>
            <a:off x="2730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C0</a:t>
            </a:r>
            <a:endParaRPr lang="en-US" sz="1300" dirty="0"/>
          </a:p>
        </p:txBody>
      </p:sp>
      <p:sp>
        <p:nvSpPr>
          <p:cNvPr id="23" name="Text 15"/>
          <p:cNvSpPr/>
          <p:nvPr/>
        </p:nvSpPr>
        <p:spPr>
          <a:xfrm>
            <a:off x="3698875" y="4308475"/>
            <a:ext cx="476250" cy="475853"/>
          </a:xfrm>
          <a:custGeom>
            <a:avLst/>
            <a:gdLst/>
            <a:ahLst/>
            <a:cxnLst/>
            <a:rect l="l" t="t" r="r" b="b"/>
            <a:pathLst>
              <a:path w="476250" h="475853">
                <a:moveTo>
                  <a:pt x="237927" y="0"/>
                </a:moveTo>
                <a:lnTo>
                  <a:pt x="238323" y="0"/>
                </a:lnTo>
                <a:arcTo wR="237927" hR="237927" stAng="16200000" swAng="5400000"/>
                <a:lnTo>
                  <a:pt x="476250" y="237927"/>
                </a:lnTo>
                <a:arcTo wR="237927" hR="237927" stAng="0" swAng="5400000"/>
                <a:lnTo>
                  <a:pt x="237927" y="475853"/>
                </a:lnTo>
                <a:arcTo wR="237927" hR="237927" stAng="5400000" swAng="5400000"/>
                <a:lnTo>
                  <a:pt x="0" y="237927"/>
                </a:lnTo>
                <a:arcTo wR="237927" hR="237927" stAng="10800000" swAng="5400000"/>
                <a:close/>
              </a:path>
            </a:pathLst>
          </a:custGeom>
          <a:solidFill>
            <a:srgbClr val="2F6FDB"/>
          </a:solidFill>
          <a:ln w="31750">
            <a:solidFill>
              <a:srgbClr val="B8430A"/>
            </a:solidFill>
            <a:prstDash val="dash"/>
          </a:ln>
        </p:spPr>
        <p:txBody>
          <a:bodyPr wrap="square" lIns="0" tIns="15875" rIns="0" bIns="0" rtlCol="0" anchor="t">
            <a:normAutofit/>
          </a:bodyPr>
          <a:lstStyle/>
          <a:p>
            <a:pPr marL="0" indent="0" algn="ctr">
              <a:lnSpc>
                <a:spcPts val="3497"/>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24" name="Text 16"/>
          <p:cNvSpPr/>
          <p:nvPr/>
        </p:nvSpPr>
        <p:spPr>
          <a:xfrm>
            <a:off x="4635500" y="4292600"/>
            <a:ext cx="508000" cy="508000"/>
          </a:xfrm>
          <a:custGeom>
            <a:avLst/>
            <a:gdLst/>
            <a:ahLst/>
            <a:cxnLst/>
            <a:rect l="l" t="t" r="r" b="b"/>
            <a:pathLst>
              <a:path w="508000" h="508000">
                <a:moveTo>
                  <a:pt x="254000" y="0"/>
                </a:moveTo>
                <a:lnTo>
                  <a:pt x="254000" y="0"/>
                </a:lnTo>
                <a:arcTo wR="254000" hR="254000" stAng="16200000" swAng="5400000"/>
                <a:lnTo>
                  <a:pt x="508000" y="254000"/>
                </a:lnTo>
                <a:arcTo wR="254000" hR="254000" stAng="0" swAng="5400000"/>
                <a:lnTo>
                  <a:pt x="254000" y="508000"/>
                </a:lnTo>
                <a:arcTo wR="254000" hR="254000" stAng="5400000" swAng="5400000"/>
                <a:lnTo>
                  <a:pt x="0" y="254000"/>
                </a:lnTo>
                <a:arcTo wR="254000" hR="254000" stAng="10800000" swAng="5400000"/>
                <a:close/>
              </a:path>
            </a:pathLst>
          </a:custGeom>
          <a:solidFill>
            <a:srgbClr val="F08C4B"/>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A1</a:t>
            </a:r>
            <a:endParaRPr lang="en-US" sz="1300" dirty="0"/>
          </a:p>
        </p:txBody>
      </p:sp>
      <p:sp>
        <p:nvSpPr>
          <p:cNvPr id="25" name="Text 17"/>
          <p:cNvSpPr/>
          <p:nvPr/>
        </p:nvSpPr>
        <p:spPr>
          <a:xfrm>
            <a:off x="2482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26" name="Text 18"/>
          <p:cNvSpPr/>
          <p:nvPr/>
        </p:nvSpPr>
        <p:spPr>
          <a:xfrm>
            <a:off x="34353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d81c0a2</a:t>
            </a:r>
            <a:endParaRPr lang="en-US" sz="1200" dirty="0"/>
          </a:p>
        </p:txBody>
      </p:sp>
      <p:sp>
        <p:nvSpPr>
          <p:cNvPr id="27" name="Text 19"/>
          <p:cNvSpPr/>
          <p:nvPr/>
        </p:nvSpPr>
        <p:spPr>
          <a:xfrm>
            <a:off x="4387850" y="2565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x9y8z7w</a:t>
            </a:r>
            <a:endParaRPr lang="en-US" sz="1200" dirty="0"/>
          </a:p>
        </p:txBody>
      </p:sp>
      <p:sp>
        <p:nvSpPr>
          <p:cNvPr id="28" name="Text 20"/>
          <p:cNvSpPr/>
          <p:nvPr/>
        </p:nvSpPr>
        <p:spPr>
          <a:xfrm>
            <a:off x="2482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e41d9f0</a:t>
            </a:r>
            <a:endParaRPr lang="en-US" sz="1200" dirty="0"/>
          </a:p>
        </p:txBody>
      </p:sp>
      <p:sp>
        <p:nvSpPr>
          <p:cNvPr id="29" name="Text 21"/>
          <p:cNvSpPr/>
          <p:nvPr/>
        </p:nvSpPr>
        <p:spPr>
          <a:xfrm>
            <a:off x="34353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C4D1"/>
                </a:solidFill>
                <a:latin typeface="JetBrains Mono" pitchFamily="34" charset="0"/>
                <a:ea typeface="JetBrains Mono" pitchFamily="34" charset="-122"/>
                <a:cs typeface="JetBrains Mono" pitchFamily="34" charset="-120"/>
              </a:rPr>
              <a:t>d81c0a2</a:t>
            </a:r>
            <a:endParaRPr lang="en-US" sz="1200" dirty="0"/>
          </a:p>
        </p:txBody>
      </p:sp>
      <p:sp>
        <p:nvSpPr>
          <p:cNvPr id="30" name="Text 22"/>
          <p:cNvSpPr/>
          <p:nvPr/>
        </p:nvSpPr>
        <p:spPr>
          <a:xfrm>
            <a:off x="4387850" y="3708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7A46B"/>
                </a:solidFill>
                <a:latin typeface="JetBrains Mono" pitchFamily="34" charset="0"/>
                <a:ea typeface="JetBrains Mono" pitchFamily="34" charset="-122"/>
                <a:cs typeface="JetBrains Mono" pitchFamily="34" charset="-120"/>
              </a:rPr>
              <a:t>x9y8z7w</a:t>
            </a:r>
            <a:endParaRPr lang="en-US" sz="1200" dirty="0"/>
          </a:p>
        </p:txBody>
      </p:sp>
      <p:sp>
        <p:nvSpPr>
          <p:cNvPr id="31" name="Text 23"/>
          <p:cNvSpPr/>
          <p:nvPr/>
        </p:nvSpPr>
        <p:spPr>
          <a:xfrm>
            <a:off x="2482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6"/>
                </a:solidFill>
                <a:latin typeface="JetBrains Mono" pitchFamily="34" charset="0"/>
                <a:ea typeface="JetBrains Mono" pitchFamily="34" charset="-122"/>
                <a:cs typeface="JetBrains Mono" pitchFamily="34" charset="-120"/>
              </a:rPr>
              <a:t>e41d9f0</a:t>
            </a:r>
            <a:endParaRPr lang="en-US" sz="1200" dirty="0"/>
          </a:p>
        </p:txBody>
      </p:sp>
      <p:sp>
        <p:nvSpPr>
          <p:cNvPr id="32" name="Text 24"/>
          <p:cNvSpPr/>
          <p:nvPr/>
        </p:nvSpPr>
        <p:spPr>
          <a:xfrm>
            <a:off x="34353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7a3f2c1</a:t>
            </a:r>
            <a:endParaRPr lang="en-US" sz="1200" dirty="0"/>
          </a:p>
        </p:txBody>
      </p:sp>
      <p:sp>
        <p:nvSpPr>
          <p:cNvPr id="33" name="Text 25"/>
          <p:cNvSpPr/>
          <p:nvPr/>
        </p:nvSpPr>
        <p:spPr>
          <a:xfrm>
            <a:off x="4387850" y="485140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8430A"/>
                </a:solidFill>
                <a:latin typeface="JetBrains Mono" pitchFamily="34" charset="0"/>
                <a:ea typeface="JetBrains Mono" pitchFamily="34" charset="-122"/>
                <a:cs typeface="JetBrains Mono" pitchFamily="34" charset="-120"/>
              </a:rPr>
              <a:t>b52e8d4</a:t>
            </a:r>
            <a:endParaRPr lang="en-US" sz="1200" dirty="0"/>
          </a:p>
        </p:txBody>
      </p:sp>
      <p:sp>
        <p:nvSpPr>
          <p:cNvPr id="34" name="Text 26"/>
          <p:cNvSpPr/>
          <p:nvPr/>
        </p:nvSpPr>
        <p:spPr>
          <a:xfrm>
            <a:off x="5397500" y="4356100"/>
            <a:ext cx="1962150"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6202C"/>
                </a:solidFill>
                <a:latin typeface="IBM Plex Sans" pitchFamily="34" charset="0"/>
                <a:ea typeface="IBM Plex Sans" pitchFamily="34" charset="-122"/>
                <a:cs typeface="IBM Plex Sans" pitchFamily="34" charset="-120"/>
              </a:rPr>
              <a:t>C1 sunucuda yok.</a:t>
            </a:r>
            <a:r>
              <a:rPr lang="en-US" sz="1300" dirty="0">
                <a:solidFill>
                  <a:srgbClr val="16202C"/>
                </a:solidFill>
                <a:latin typeface="IBM Plex Sans" pitchFamily="34" charset="0"/>
                <a:ea typeface="IBM Plex Sans" pitchFamily="34" charset="-122"/>
                <a:cs typeface="IBM Plex Sans" pitchFamily="34" charset="-120"/>
              </a:rPr>
              <a:t> A1'in zemini kaydı.</a:t>
            </a:r>
            <a:endParaRPr lang="en-US" sz="1300" dirty="0"/>
          </a:p>
        </p:txBody>
      </p:sp>
      <p:sp>
        <p:nvSpPr>
          <p:cNvPr id="35" name="Shape 27"/>
          <p:cNvSpPr/>
          <p:nvPr/>
        </p:nvSpPr>
        <p:spPr>
          <a:xfrm>
            <a:off x="7683500" y="1905000"/>
            <a:ext cx="3695700" cy="2452588"/>
          </a:xfrm>
          <a:prstGeom prst="roundRect">
            <a:avLst>
              <a:gd name="adj" fmla="val 5178"/>
            </a:avLst>
          </a:prstGeom>
          <a:solidFill>
            <a:srgbClr val="16202C"/>
          </a:solidFill>
          <a:ln/>
        </p:spPr>
      </p:sp>
      <p:sp>
        <p:nvSpPr>
          <p:cNvPr id="36" name="Text 28"/>
          <p:cNvSpPr/>
          <p:nvPr/>
        </p:nvSpPr>
        <p:spPr>
          <a:xfrm>
            <a:off x="7912100" y="2133600"/>
            <a:ext cx="333565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AHMET'İN TERMİNALİ</a:t>
            </a:r>
            <a:endParaRPr lang="en-US" sz="1300" dirty="0"/>
          </a:p>
        </p:txBody>
      </p:sp>
      <p:sp>
        <p:nvSpPr>
          <p:cNvPr id="37" name="Text 29"/>
          <p:cNvSpPr/>
          <p:nvPr/>
        </p:nvSpPr>
        <p:spPr>
          <a:xfrm>
            <a:off x="7912100" y="2491680"/>
            <a:ext cx="3335655"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 git push</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 [rejected] dev -&gt; dev</a:t>
            </a:r>
            <a:endParaRPr lang="en-US" sz="1300" dirty="0"/>
          </a:p>
          <a:p>
            <a:pPr marL="0" indent="0" algn="l">
              <a:lnSpc>
                <a:spcPts val="2080"/>
              </a:lnSpc>
              <a:buNone/>
            </a:pPr>
            <a:r>
              <a:rPr lang="en-US" sz="1300" dirty="0">
                <a:solidFill>
                  <a:srgbClr val="F7A46B"/>
                </a:solidFill>
                <a:latin typeface="JetBrains Mono" pitchFamily="34" charset="0"/>
                <a:ea typeface="JetBrains Mono" pitchFamily="34" charset="-122"/>
                <a:cs typeface="JetBrains Mono" pitchFamily="34" charset="-120"/>
              </a:rPr>
              <a:t>(fetch first)</a:t>
            </a:r>
            <a:endParaRPr lang="en-US" sz="1300" dirty="0"/>
          </a:p>
        </p:txBody>
      </p:sp>
      <p:sp>
        <p:nvSpPr>
          <p:cNvPr id="38" name="Text 30"/>
          <p:cNvSpPr/>
          <p:nvPr/>
        </p:nvSpPr>
        <p:spPr>
          <a:xfrm>
            <a:off x="7912100" y="3411041"/>
            <a:ext cx="333565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B8C4D1"/>
                </a:solidFill>
                <a:latin typeface="IBM Plex Sans" pitchFamily="34" charset="0"/>
                <a:ea typeface="IBM Plex Sans" pitchFamily="34" charset="-122"/>
                <a:cs typeface="IBM Plex Sans" pitchFamily="34" charset="-120"/>
              </a:rPr>
              <a:t>Sunucuda Ahmet'in hiç görmediği B ve C1' var. Ahmet'in C1'i ise sunucuda yok. İki geçmiş C0'dan sonra birbirinden ayrılıyor.</a:t>
            </a:r>
            <a:endParaRPr lang="en-US" sz="1300" dirty="0"/>
          </a:p>
        </p:txBody>
      </p:sp>
      <p:sp>
        <p:nvSpPr>
          <p:cNvPr id="39" name="Text 31"/>
          <p:cNvSpPr/>
          <p:nvPr/>
        </p:nvSpPr>
        <p:spPr>
          <a:xfrm>
            <a:off x="812800" y="5410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Aynı iş iki farklı kimlikle dolaşıyor: </a:t>
            </a:r>
            <a:r>
              <a:rPr lang="en-US" sz="1500" b="1" dirty="0">
                <a:solidFill>
                  <a:srgbClr val="16202C"/>
                </a:solidFill>
                <a:latin typeface="IBM Plex Sans" pitchFamily="34" charset="0"/>
                <a:ea typeface="IBM Plex Sans" pitchFamily="34" charset="-122"/>
                <a:cs typeface="IBM Plex Sans" pitchFamily="34" charset="-120"/>
              </a:rPr>
              <a:t>7a3f2c1</a:t>
            </a:r>
            <a:r>
              <a:rPr lang="en-US" sz="1500" dirty="0">
                <a:solidFill>
                  <a:srgbClr val="16202C"/>
                </a:solidFill>
                <a:latin typeface="IBM Plex Sans" pitchFamily="34" charset="0"/>
                <a:ea typeface="IBM Plex Sans" pitchFamily="34" charset="-122"/>
                <a:cs typeface="IBM Plex Sans" pitchFamily="34" charset="-120"/>
              </a:rPr>
              <a:t> Ahmet'te, </a:t>
            </a:r>
            <a:r>
              <a:rPr lang="en-US" sz="1500" b="1" dirty="0">
                <a:solidFill>
                  <a:srgbClr val="16202C"/>
                </a:solidFill>
                <a:latin typeface="IBM Plex Sans" pitchFamily="34" charset="0"/>
                <a:ea typeface="IBM Plex Sans" pitchFamily="34" charset="-122"/>
                <a:cs typeface="IBM Plex Sans" pitchFamily="34" charset="-120"/>
              </a:rPr>
              <a:t>x9y8z7w</a:t>
            </a:r>
            <a:r>
              <a:rPr lang="en-US" sz="1500" dirty="0">
                <a:solidFill>
                  <a:srgbClr val="16202C"/>
                </a:solidFill>
                <a:latin typeface="IBM Plex Sans" pitchFamily="34" charset="0"/>
                <a:ea typeface="IBM Plex Sans" pitchFamily="34" charset="-122"/>
                <a:cs typeface="IBM Plex Sans" pitchFamily="34" charset="-120"/>
              </a:rPr>
              <a:t> sunucuda.</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AHMET'İN HİKÂYESİ · ADIM 6 / 6</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Ne olur, nasıl kurtarılır?</a:t>
            </a:r>
            <a:endParaRPr lang="en-US" sz="3600" dirty="0"/>
          </a:p>
        </p:txBody>
      </p:sp>
      <p:sp>
        <p:nvSpPr>
          <p:cNvPr id="4" name="Shape 2"/>
          <p:cNvSpPr/>
          <p:nvPr/>
        </p:nvSpPr>
        <p:spPr>
          <a:xfrm>
            <a:off x="819150" y="1908671"/>
            <a:ext cx="3407767" cy="2672953"/>
          </a:xfrm>
          <a:prstGeom prst="roundRect">
            <a:avLst>
              <a:gd name="adj" fmla="val 4514"/>
            </a:avLst>
          </a:prstGeom>
          <a:solidFill>
            <a:srgbClr val="FBE9DC"/>
          </a:solidFill>
          <a:ln w="12700">
            <a:solidFill>
              <a:srgbClr val="F08C4B"/>
            </a:solidFill>
            <a:prstDash val="solid"/>
          </a:ln>
        </p:spPr>
      </p:sp>
      <p:pic>
        <p:nvPicPr>
          <p:cNvPr id="5" name="Image 0" descr="Warning"/>
          <p:cNvPicPr>
            <a:picLocks noChangeAspect="1"/>
          </p:cNvPicPr>
          <p:nvPr/>
        </p:nvPicPr>
        <p:blipFill>
          <a:blip r:embed="rId3"/>
          <a:srcRect/>
          <a:stretch/>
        </p:blipFill>
        <p:spPr>
          <a:xfrm>
            <a:off x="1028700" y="2119412"/>
            <a:ext cx="228600" cy="228600"/>
          </a:xfrm>
          <a:prstGeom prst="rect">
            <a:avLst/>
          </a:prstGeom>
        </p:spPr>
      </p:pic>
      <p:sp>
        <p:nvSpPr>
          <p:cNvPr id="6" name="Text 3"/>
          <p:cNvSpPr/>
          <p:nvPr/>
        </p:nvSpPr>
        <p:spPr>
          <a:xfrm>
            <a:off x="1333500" y="2118221"/>
            <a:ext cx="10414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KÖTÜ SONUÇ</a:t>
            </a:r>
            <a:endParaRPr lang="en-US" sz="1300" dirty="0"/>
          </a:p>
        </p:txBody>
      </p:sp>
      <p:sp>
        <p:nvSpPr>
          <p:cNvPr id="7" name="Text 4"/>
          <p:cNvSpPr/>
          <p:nvPr/>
        </p:nvSpPr>
        <p:spPr>
          <a:xfrm>
            <a:off x="1028700" y="2450902"/>
            <a:ext cx="30783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Ahmet düz pull yaparsa</a:t>
            </a:r>
            <a:endParaRPr lang="en-US" sz="2000" dirty="0"/>
          </a:p>
        </p:txBody>
      </p:sp>
      <p:sp>
        <p:nvSpPr>
          <p:cNvPr id="8" name="Text 5"/>
          <p:cNvSpPr/>
          <p:nvPr/>
        </p:nvSpPr>
        <p:spPr>
          <a:xfrm>
            <a:off x="1028700" y="2857302"/>
            <a:ext cx="3078327"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6202C"/>
                </a:solidFill>
                <a:latin typeface="IBM Plex Sans" pitchFamily="34" charset="0"/>
                <a:ea typeface="IBM Plex Sans" pitchFamily="34" charset="-122"/>
                <a:cs typeface="IBM Plex Sans" pitchFamily="34" charset="-120"/>
              </a:rPr>
              <a:t>Aynı değişiklik geçmişe iki kez girer: C1 ve C1'. Conflict çıkabilir, log karışır ve bu karmaşa bir sonraki push ile herkese yayılır.</a:t>
            </a:r>
            <a:endParaRPr lang="en-US" sz="1300" dirty="0"/>
          </a:p>
        </p:txBody>
      </p:sp>
      <p:sp>
        <p:nvSpPr>
          <p:cNvPr id="9" name="Shape 6"/>
          <p:cNvSpPr/>
          <p:nvPr/>
        </p:nvSpPr>
        <p:spPr>
          <a:xfrm>
            <a:off x="4392017" y="1908671"/>
            <a:ext cx="3407866" cy="2672953"/>
          </a:xfrm>
          <a:prstGeom prst="roundRect">
            <a:avLst>
              <a:gd name="adj" fmla="val 4514"/>
            </a:avLst>
          </a:prstGeom>
          <a:solidFill>
            <a:srgbClr val="E3ECFB"/>
          </a:solidFill>
          <a:ln w="12700">
            <a:solidFill>
              <a:srgbClr val="2F6FDB"/>
            </a:solidFill>
            <a:prstDash val="solid"/>
          </a:ln>
        </p:spPr>
      </p:sp>
      <p:pic>
        <p:nvPicPr>
          <p:cNvPr id="10" name="Image 1" descr="Wrench"/>
          <p:cNvPicPr>
            <a:picLocks noChangeAspect="1"/>
          </p:cNvPicPr>
          <p:nvPr/>
        </p:nvPicPr>
        <p:blipFill>
          <a:blip r:embed="rId4"/>
          <a:srcRect/>
          <a:stretch/>
        </p:blipFill>
        <p:spPr>
          <a:xfrm>
            <a:off x="4601567" y="2119412"/>
            <a:ext cx="228600" cy="228600"/>
          </a:xfrm>
          <a:prstGeom prst="rect">
            <a:avLst/>
          </a:prstGeom>
        </p:spPr>
      </p:pic>
      <p:sp>
        <p:nvSpPr>
          <p:cNvPr id="11" name="Text 7"/>
          <p:cNvSpPr/>
          <p:nvPr/>
        </p:nvSpPr>
        <p:spPr>
          <a:xfrm>
            <a:off x="4906367" y="2118221"/>
            <a:ext cx="14376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TEMİZ KURTARMA</a:t>
            </a:r>
            <a:endParaRPr lang="en-US" sz="1300" dirty="0"/>
          </a:p>
        </p:txBody>
      </p:sp>
      <p:sp>
        <p:nvSpPr>
          <p:cNvPr id="12" name="Text 8"/>
          <p:cNvSpPr/>
          <p:nvPr/>
        </p:nvSpPr>
        <p:spPr>
          <a:xfrm>
            <a:off x="4601567" y="2450902"/>
            <a:ext cx="307842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Sadece A1'i taşı</a:t>
            </a:r>
            <a:endParaRPr lang="en-US" sz="2000" dirty="0"/>
          </a:p>
        </p:txBody>
      </p:sp>
      <p:sp>
        <p:nvSpPr>
          <p:cNvPr id="13" name="Text 9"/>
          <p:cNvSpPr/>
          <p:nvPr/>
        </p:nvSpPr>
        <p:spPr>
          <a:xfrm>
            <a:off x="4601567" y="2857302"/>
            <a:ext cx="2988766" cy="934541"/>
          </a:xfrm>
          <a:prstGeom prst="roundRect">
            <a:avLst>
              <a:gd name="adj" fmla="val 8154"/>
            </a:avLst>
          </a:prstGeom>
          <a:solidFill>
            <a:srgbClr val="16202C"/>
          </a:solidFill>
          <a:ln/>
        </p:spPr>
        <p:txBody>
          <a:bodyPr wrap="square" lIns="117382" tIns="79282" rIns="36101" bIns="53882" rtlCol="0" anchor="t">
            <a:normAutofit/>
          </a:bodyPr>
          <a:lstStyle/>
          <a:p>
            <a:pPr marL="0" indent="0" algn="l">
              <a:lnSpc>
                <a:spcPts val="1920"/>
              </a:lnSpc>
              <a:buNone/>
            </a:pPr>
            <a:r>
              <a:rPr lang="en-US" sz="1200" dirty="0">
                <a:solidFill>
                  <a:srgbClr val="F6F4EE"/>
                </a:solidFill>
                <a:latin typeface="JetBrains Mono" pitchFamily="34" charset="0"/>
                <a:ea typeface="JetBrains Mono" pitchFamily="34" charset="-122"/>
                <a:cs typeface="JetBrains Mono" pitchFamily="34" charset="-120"/>
              </a:rPr>
              <a:t>git fetch</a:t>
            </a:r>
            <a:endParaRPr lang="en-US" sz="1200" dirty="0"/>
          </a:p>
          <a:p>
            <a:pPr marL="0" indent="0" algn="l">
              <a:lnSpc>
                <a:spcPts val="1920"/>
              </a:lnSpc>
              <a:buNone/>
            </a:pPr>
            <a:r>
              <a:rPr lang="en-US" sz="1200" dirty="0">
                <a:solidFill>
                  <a:srgbClr val="F6F4EE"/>
                </a:solidFill>
                <a:latin typeface="JetBrains Mono" pitchFamily="34" charset="0"/>
                <a:ea typeface="JetBrains Mono" pitchFamily="34" charset="-122"/>
                <a:cs typeface="JetBrains Mono" pitchFamily="34" charset="-120"/>
              </a:rPr>
              <a:t>git rebase --onto \</a:t>
            </a:r>
            <a:endParaRPr lang="en-US" sz="1200" dirty="0"/>
          </a:p>
          <a:p>
            <a:pPr marL="0" indent="0" algn="l">
              <a:lnSpc>
                <a:spcPts val="1920"/>
              </a:lnSpc>
              <a:buNone/>
            </a:pPr>
            <a:r>
              <a:rPr lang="en-US" sz="1200" dirty="0">
                <a:solidFill>
                  <a:srgbClr val="F6F4EE"/>
                </a:solidFill>
                <a:latin typeface="JetBrains Mono" pitchFamily="34" charset="0"/>
                <a:ea typeface="JetBrains Mono" pitchFamily="34" charset="-122"/>
                <a:cs typeface="JetBrains Mono" pitchFamily="34" charset="-120"/>
              </a:rPr>
              <a:t>origin/dev 7a3f2c1</a:t>
            </a:r>
            <a:endParaRPr lang="en-US" sz="1200" dirty="0"/>
          </a:p>
        </p:txBody>
      </p:sp>
      <p:sp>
        <p:nvSpPr>
          <p:cNvPr id="14" name="Text 10"/>
          <p:cNvSpPr/>
          <p:nvPr/>
        </p:nvSpPr>
        <p:spPr>
          <a:xfrm>
            <a:off x="4601567" y="3893443"/>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6202C"/>
                </a:solidFill>
                <a:latin typeface="IBM Plex Sans" pitchFamily="34" charset="0"/>
                <a:ea typeface="IBM Plex Sans" pitchFamily="34" charset="-122"/>
                <a:cs typeface="IBM Plex Sans" pitchFamily="34" charset="-120"/>
              </a:rPr>
              <a:t>Eski C1'i geride bırakır, A1'i yeni zemine (C1') taşır.</a:t>
            </a:r>
            <a:endParaRPr lang="en-US" sz="1300" dirty="0"/>
          </a:p>
        </p:txBody>
      </p:sp>
      <p:sp>
        <p:nvSpPr>
          <p:cNvPr id="15" name="Shape 11"/>
          <p:cNvSpPr/>
          <p:nvPr/>
        </p:nvSpPr>
        <p:spPr>
          <a:xfrm>
            <a:off x="7964984" y="1908671"/>
            <a:ext cx="3407866" cy="2672953"/>
          </a:xfrm>
          <a:prstGeom prst="roundRect">
            <a:avLst>
              <a:gd name="adj" fmla="val 4514"/>
            </a:avLst>
          </a:prstGeom>
          <a:solidFill>
            <a:srgbClr val="16202C"/>
          </a:solidFill>
          <a:ln w="12700">
            <a:solidFill>
              <a:srgbClr val="16202C"/>
            </a:solidFill>
            <a:prstDash val="solid"/>
          </a:ln>
        </p:spPr>
      </p:sp>
      <p:pic>
        <p:nvPicPr>
          <p:cNvPr id="16" name="Image 2" descr="CheckCircle"/>
          <p:cNvPicPr>
            <a:picLocks noChangeAspect="1"/>
          </p:cNvPicPr>
          <p:nvPr/>
        </p:nvPicPr>
        <p:blipFill>
          <a:blip r:embed="rId5"/>
          <a:srcRect/>
          <a:stretch/>
        </p:blipFill>
        <p:spPr>
          <a:xfrm>
            <a:off x="8174534" y="2119412"/>
            <a:ext cx="228600" cy="228600"/>
          </a:xfrm>
          <a:prstGeom prst="rect">
            <a:avLst/>
          </a:prstGeom>
        </p:spPr>
      </p:pic>
      <p:sp>
        <p:nvSpPr>
          <p:cNvPr id="17" name="Text 12"/>
          <p:cNvSpPr/>
          <p:nvPr/>
        </p:nvSpPr>
        <p:spPr>
          <a:xfrm>
            <a:off x="8479334" y="2118221"/>
            <a:ext cx="16358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BAŞTAN DOĞRU YOL</a:t>
            </a:r>
            <a:endParaRPr lang="en-US" sz="1300" dirty="0"/>
          </a:p>
        </p:txBody>
      </p:sp>
      <p:sp>
        <p:nvSpPr>
          <p:cNvPr id="18" name="Text 13"/>
          <p:cNvSpPr/>
          <p:nvPr/>
        </p:nvSpPr>
        <p:spPr>
          <a:xfrm>
            <a:off x="8174534" y="2450902"/>
            <a:ext cx="307842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Rebase yerine merge</a:t>
            </a:r>
            <a:endParaRPr lang="en-US" sz="2000" dirty="0"/>
          </a:p>
        </p:txBody>
      </p:sp>
      <p:sp>
        <p:nvSpPr>
          <p:cNvPr id="19" name="Text 14"/>
          <p:cNvSpPr/>
          <p:nvPr/>
        </p:nvSpPr>
        <p:spPr>
          <a:xfrm>
            <a:off x="8174534" y="2857302"/>
            <a:ext cx="2988766" cy="934541"/>
          </a:xfrm>
          <a:prstGeom prst="roundRect">
            <a:avLst>
              <a:gd name="adj" fmla="val 8154"/>
            </a:avLst>
          </a:prstGeom>
          <a:solidFill>
            <a:srgbClr val="26323F"/>
          </a:solidFill>
          <a:ln/>
        </p:spPr>
        <p:txBody>
          <a:bodyPr wrap="square" lIns="117382" tIns="79282" rIns="36101" bIns="53882" rtlCol="0" anchor="t">
            <a:normAutofit/>
          </a:bodyPr>
          <a:lstStyle/>
          <a:p>
            <a:pPr marL="0" indent="0" algn="l">
              <a:lnSpc>
                <a:spcPts val="1920"/>
              </a:lnSpc>
              <a:buNone/>
            </a:pPr>
            <a:r>
              <a:rPr lang="en-US" sz="1200" dirty="0">
                <a:solidFill>
                  <a:srgbClr val="F6F4EE"/>
                </a:solidFill>
                <a:latin typeface="JetBrains Mono" pitchFamily="34" charset="0"/>
                <a:ea typeface="JetBrains Mono" pitchFamily="34" charset="-122"/>
                <a:cs typeface="JetBrains Mono" pitchFamily="34" charset="-120"/>
              </a:rPr>
              <a:t>git switch dev</a:t>
            </a:r>
            <a:endParaRPr lang="en-US" sz="1200" dirty="0"/>
          </a:p>
          <a:p>
            <a:pPr marL="0" indent="0" algn="l">
              <a:lnSpc>
                <a:spcPts val="1920"/>
              </a:lnSpc>
              <a:buNone/>
            </a:pPr>
            <a:r>
              <a:rPr lang="en-US" sz="1200" dirty="0">
                <a:solidFill>
                  <a:srgbClr val="F6F4EE"/>
                </a:solidFill>
                <a:latin typeface="JetBrains Mono" pitchFamily="34" charset="0"/>
                <a:ea typeface="JetBrains Mono" pitchFamily="34" charset="-122"/>
                <a:cs typeface="JetBrains Mono" pitchFamily="34" charset="-120"/>
              </a:rPr>
              <a:t>git merge main</a:t>
            </a:r>
            <a:endParaRPr lang="en-US" sz="1200" dirty="0"/>
          </a:p>
          <a:p>
            <a:pPr marL="0" indent="0" algn="l">
              <a:lnSpc>
                <a:spcPts val="1920"/>
              </a:lnSpc>
              <a:buNone/>
            </a:pPr>
            <a:r>
              <a:rPr lang="en-US" sz="1200" dirty="0">
                <a:solidFill>
                  <a:srgbClr val="F6F4EE"/>
                </a:solidFill>
                <a:latin typeface="JetBrains Mono" pitchFamily="34" charset="0"/>
                <a:ea typeface="JetBrains Mono" pitchFamily="34" charset="-122"/>
                <a:cs typeface="JetBrains Mono" pitchFamily="34" charset="-120"/>
              </a:rPr>
              <a:t>git push</a:t>
            </a:r>
            <a:endParaRPr lang="en-US" sz="1200" dirty="0"/>
          </a:p>
        </p:txBody>
      </p:sp>
      <p:sp>
        <p:nvSpPr>
          <p:cNvPr id="20" name="Text 15"/>
          <p:cNvSpPr/>
          <p:nvPr/>
        </p:nvSpPr>
        <p:spPr>
          <a:xfrm>
            <a:off x="8174534" y="3893443"/>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B8C4D1"/>
                </a:solidFill>
                <a:latin typeface="IBM Plex Sans" pitchFamily="34" charset="0"/>
                <a:ea typeface="IBM Plex Sans" pitchFamily="34" charset="-122"/>
                <a:cs typeface="IBM Plex Sans" pitchFamily="34" charset="-120"/>
              </a:rPr>
              <a:t>C1 yerinde kalır, force gerekmez. Ahmet hiçbir şey fark etmez.</a:t>
            </a:r>
            <a:endParaRPr lang="en-US" sz="1300" dirty="0"/>
          </a:p>
        </p:txBody>
      </p:sp>
      <p:sp>
        <p:nvSpPr>
          <p:cNvPr id="21" name="Shape 16"/>
          <p:cNvSpPr/>
          <p:nvPr/>
        </p:nvSpPr>
        <p:spPr>
          <a:xfrm>
            <a:off x="812800" y="4841974"/>
            <a:ext cx="10566400" cy="584200"/>
          </a:xfrm>
          <a:prstGeom prst="roundRect">
            <a:avLst>
              <a:gd name="adj" fmla="val 17391"/>
            </a:avLst>
          </a:prstGeom>
          <a:solidFill>
            <a:srgbClr val="B8430A"/>
          </a:solidFill>
          <a:ln/>
        </p:spPr>
      </p:sp>
      <p:pic>
        <p:nvPicPr>
          <p:cNvPr id="22" name="Image 3" descr="Warning"/>
          <p:cNvPicPr>
            <a:picLocks noChangeAspect="1"/>
          </p:cNvPicPr>
          <p:nvPr/>
        </p:nvPicPr>
        <p:blipFill>
          <a:blip r:embed="rId6"/>
          <a:srcRect/>
          <a:stretch/>
        </p:blipFill>
        <p:spPr>
          <a:xfrm>
            <a:off x="1041400" y="4994374"/>
            <a:ext cx="279400" cy="279400"/>
          </a:xfrm>
          <a:prstGeom prst="rect">
            <a:avLst/>
          </a:prstGeom>
        </p:spPr>
      </p:pic>
      <p:sp>
        <p:nvSpPr>
          <p:cNvPr id="23" name="Text 17"/>
          <p:cNvSpPr/>
          <p:nvPr/>
        </p:nvSpPr>
        <p:spPr>
          <a:xfrm>
            <a:off x="1447800" y="5000724"/>
            <a:ext cx="619814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Altın kural:</a:t>
            </a:r>
            <a:r>
              <a:rPr lang="en-US" sz="1500" dirty="0">
                <a:solidFill>
                  <a:srgbClr val="F6F4EE"/>
                </a:solidFill>
                <a:latin typeface="IBM Plex Sans" pitchFamily="34" charset="0"/>
                <a:ea typeface="IBM Plex Sans" pitchFamily="34" charset="-122"/>
                <a:cs typeface="IBM Plex Sans" pitchFamily="34" charset="-120"/>
              </a:rPr>
              <a:t> başkalarının üzerine inşa ettiği commit'leri yeniden yazma.</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7 · EMNİYET KEMERİ</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Force push şartsa: --force-with-lease</a:t>
            </a:r>
            <a:endParaRPr lang="en-US" sz="3600" dirty="0"/>
          </a:p>
        </p:txBody>
      </p:sp>
      <p:sp>
        <p:nvSpPr>
          <p:cNvPr id="4" name="Shape 2"/>
          <p:cNvSpPr/>
          <p:nvPr/>
        </p:nvSpPr>
        <p:spPr>
          <a:xfrm>
            <a:off x="819150" y="1959471"/>
            <a:ext cx="5194300" cy="1898650"/>
          </a:xfrm>
          <a:prstGeom prst="roundRect">
            <a:avLst>
              <a:gd name="adj" fmla="val 6355"/>
            </a:avLst>
          </a:prstGeom>
          <a:solidFill>
            <a:srgbClr val="FBE9DC"/>
          </a:solidFill>
          <a:ln w="12700">
            <a:solidFill>
              <a:srgbClr val="F08C4B"/>
            </a:solidFill>
            <a:prstDash val="solid"/>
          </a:ln>
        </p:spPr>
      </p:sp>
      <p:sp>
        <p:nvSpPr>
          <p:cNvPr id="5" name="Text 3"/>
          <p:cNvSpPr/>
          <p:nvPr/>
        </p:nvSpPr>
        <p:spPr>
          <a:xfrm>
            <a:off x="1079500" y="2219821"/>
            <a:ext cx="481380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8430A"/>
                </a:solidFill>
                <a:latin typeface="JetBrains Mono" pitchFamily="34" charset="0"/>
                <a:ea typeface="JetBrains Mono" pitchFamily="34" charset="-122"/>
                <a:cs typeface="JetBrains Mono" pitchFamily="34" charset="-120"/>
              </a:rPr>
              <a:t>git push --force</a:t>
            </a:r>
            <a:endParaRPr lang="en-US" sz="1500" dirty="0"/>
          </a:p>
        </p:txBody>
      </p:sp>
      <p:sp>
        <p:nvSpPr>
          <p:cNvPr id="6" name="Text 4"/>
          <p:cNvSpPr/>
          <p:nvPr/>
        </p:nvSpPr>
        <p:spPr>
          <a:xfrm>
            <a:off x="1079500" y="2613521"/>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Körlemesine ezer</a:t>
            </a:r>
            <a:endParaRPr lang="en-US" sz="2000" dirty="0"/>
          </a:p>
        </p:txBody>
      </p:sp>
      <p:sp>
        <p:nvSpPr>
          <p:cNvPr id="7" name="Text 5"/>
          <p:cNvSpPr/>
          <p:nvPr/>
        </p:nvSpPr>
        <p:spPr>
          <a:xfrm>
            <a:off x="1079500" y="3045321"/>
            <a:ext cx="4813808"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5566"/>
                </a:solidFill>
                <a:latin typeface="IBM Plex Sans" pitchFamily="34" charset="0"/>
                <a:ea typeface="IBM Plex Sans" pitchFamily="34" charset="-122"/>
                <a:cs typeface="IBM Plex Sans" pitchFamily="34" charset="-120"/>
              </a:rPr>
              <a:t>Sunucuda ne varsa siler. Ahmet'in bu arada gönderdiği commit de gider.</a:t>
            </a:r>
            <a:endParaRPr lang="en-US" sz="1500" dirty="0"/>
          </a:p>
        </p:txBody>
      </p:sp>
      <p:sp>
        <p:nvSpPr>
          <p:cNvPr id="8" name="Shape 6"/>
          <p:cNvSpPr/>
          <p:nvPr/>
        </p:nvSpPr>
        <p:spPr>
          <a:xfrm>
            <a:off x="6178550" y="1959471"/>
            <a:ext cx="5194300" cy="1898650"/>
          </a:xfrm>
          <a:prstGeom prst="roundRect">
            <a:avLst>
              <a:gd name="adj" fmla="val 6355"/>
            </a:avLst>
          </a:prstGeom>
          <a:solidFill>
            <a:srgbClr val="16202C"/>
          </a:solidFill>
          <a:ln w="12700">
            <a:solidFill>
              <a:srgbClr val="16202C"/>
            </a:solidFill>
            <a:prstDash val="solid"/>
          </a:ln>
        </p:spPr>
      </p:sp>
      <p:sp>
        <p:nvSpPr>
          <p:cNvPr id="9" name="Text 7"/>
          <p:cNvSpPr/>
          <p:nvPr/>
        </p:nvSpPr>
        <p:spPr>
          <a:xfrm>
            <a:off x="6438900" y="2219821"/>
            <a:ext cx="481380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A46B"/>
                </a:solidFill>
                <a:latin typeface="JetBrains Mono" pitchFamily="34" charset="0"/>
                <a:ea typeface="JetBrains Mono" pitchFamily="34" charset="-122"/>
                <a:cs typeface="JetBrains Mono" pitchFamily="34" charset="-120"/>
              </a:rPr>
              <a:t>git push --force-with-lease</a:t>
            </a:r>
            <a:endParaRPr lang="en-US" sz="1500" dirty="0"/>
          </a:p>
        </p:txBody>
      </p:sp>
      <p:sp>
        <p:nvSpPr>
          <p:cNvPr id="10" name="Text 8"/>
          <p:cNvSpPr/>
          <p:nvPr/>
        </p:nvSpPr>
        <p:spPr>
          <a:xfrm>
            <a:off x="6438900" y="2613521"/>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Önce kontrol eder</a:t>
            </a:r>
            <a:endParaRPr lang="en-US" sz="2000" dirty="0"/>
          </a:p>
        </p:txBody>
      </p:sp>
      <p:sp>
        <p:nvSpPr>
          <p:cNvPr id="11" name="Text 9"/>
          <p:cNvSpPr/>
          <p:nvPr/>
        </p:nvSpPr>
        <p:spPr>
          <a:xfrm>
            <a:off x="6438900" y="3045321"/>
            <a:ext cx="4813808"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Son fetch'ten beri sunucuya başkası commit gönderdiyse reddeder.</a:t>
            </a:r>
            <a:endParaRPr lang="en-US" sz="1500" dirty="0"/>
          </a:p>
        </p:txBody>
      </p:sp>
      <p:sp>
        <p:nvSpPr>
          <p:cNvPr id="12" name="Shape 10"/>
          <p:cNvSpPr/>
          <p:nvPr/>
        </p:nvSpPr>
        <p:spPr>
          <a:xfrm>
            <a:off x="819150" y="4175621"/>
            <a:ext cx="10553700" cy="647700"/>
          </a:xfrm>
          <a:prstGeom prst="roundRect">
            <a:avLst>
              <a:gd name="adj" fmla="val 14706"/>
            </a:avLst>
          </a:prstGeom>
          <a:solidFill>
            <a:srgbClr val="FDFCF9"/>
          </a:solidFill>
          <a:ln w="12700">
            <a:solidFill>
              <a:srgbClr val="E2DDD0"/>
            </a:solidFill>
            <a:prstDash val="solid"/>
          </a:ln>
        </p:spPr>
      </p:sp>
      <p:pic>
        <p:nvPicPr>
          <p:cNvPr id="13" name="Image 0" descr="CheckCircle"/>
          <p:cNvPicPr>
            <a:picLocks noChangeAspect="1"/>
          </p:cNvPicPr>
          <p:nvPr/>
        </p:nvPicPr>
        <p:blipFill>
          <a:blip r:embed="rId3"/>
          <a:srcRect/>
          <a:stretch/>
        </p:blipFill>
        <p:spPr>
          <a:xfrm>
            <a:off x="1054100" y="4359771"/>
            <a:ext cx="279400" cy="279400"/>
          </a:xfrm>
          <a:prstGeom prst="rect">
            <a:avLst/>
          </a:prstGeom>
        </p:spPr>
      </p:pic>
      <p:sp>
        <p:nvSpPr>
          <p:cNvPr id="14" name="Text 11"/>
          <p:cNvSpPr/>
          <p:nvPr/>
        </p:nvSpPr>
        <p:spPr>
          <a:xfrm>
            <a:off x="1435100" y="4366121"/>
            <a:ext cx="891827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C"/>
                </a:solidFill>
                <a:latin typeface="IBM Plex Sans" pitchFamily="34" charset="0"/>
                <a:ea typeface="IBM Plex Sans" pitchFamily="34" charset="-122"/>
                <a:cs typeface="IBM Plex Sans" pitchFamily="34" charset="-120"/>
              </a:rPr>
              <a:t>Kabul edilebilir durum:</a:t>
            </a:r>
            <a:r>
              <a:rPr lang="en-US" sz="1500" dirty="0">
                <a:solidFill>
                  <a:srgbClr val="16202C"/>
                </a:solidFill>
                <a:latin typeface="IBM Plex Sans" pitchFamily="34" charset="0"/>
                <a:ea typeface="IBM Plex Sans" pitchFamily="34" charset="-122"/>
                <a:cs typeface="IBM Plex Sans" pitchFamily="34" charset="-120"/>
              </a:rPr>
              <a:t> sadece senin kullandığın bir PR dalını main üzerine rebase edip güncellemek.</a:t>
            </a:r>
            <a:endParaRPr lang="en-US" sz="1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7 · KARAR REHBERİ</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Merge mi, rebase mi?</a:t>
            </a:r>
            <a:endParaRPr lang="en-US" sz="3600" dirty="0"/>
          </a:p>
        </p:txBody>
      </p:sp>
      <p:pic>
        <p:nvPicPr>
          <p:cNvPr id="4" name="Image 0" descr="connector"/>
          <p:cNvPicPr>
            <a:picLocks noChangeAspect="1"/>
          </p:cNvPicPr>
          <p:nvPr/>
        </p:nvPicPr>
        <p:blipFill>
          <a:blip r:embed="rId3"/>
          <a:srcRect/>
          <a:stretch/>
        </p:blipFill>
        <p:spPr>
          <a:xfrm>
            <a:off x="4305300" y="2476500"/>
            <a:ext cx="1447800" cy="127000"/>
          </a:xfrm>
          <a:prstGeom prst="rect">
            <a:avLst/>
          </a:prstGeom>
        </p:spPr>
      </p:pic>
      <p:pic>
        <p:nvPicPr>
          <p:cNvPr id="5" name="Image 1" descr="connector"/>
          <p:cNvPicPr>
            <a:picLocks noChangeAspect="1"/>
          </p:cNvPicPr>
          <p:nvPr/>
        </p:nvPicPr>
        <p:blipFill>
          <a:blip r:embed="rId4"/>
          <a:srcRect/>
          <a:stretch/>
        </p:blipFill>
        <p:spPr>
          <a:xfrm>
            <a:off x="2527300" y="2984500"/>
            <a:ext cx="127000" cy="863600"/>
          </a:xfrm>
          <a:prstGeom prst="rect">
            <a:avLst/>
          </a:prstGeom>
        </p:spPr>
      </p:pic>
      <p:pic>
        <p:nvPicPr>
          <p:cNvPr id="6" name="Image 2" descr="connector"/>
          <p:cNvPicPr>
            <a:picLocks noChangeAspect="1"/>
          </p:cNvPicPr>
          <p:nvPr/>
        </p:nvPicPr>
        <p:blipFill>
          <a:blip r:embed="rId3"/>
          <a:srcRect/>
          <a:stretch/>
        </p:blipFill>
        <p:spPr>
          <a:xfrm>
            <a:off x="4305300" y="4254500"/>
            <a:ext cx="1447800" cy="127000"/>
          </a:xfrm>
          <a:prstGeom prst="rect">
            <a:avLst/>
          </a:prstGeom>
        </p:spPr>
      </p:pic>
      <p:sp>
        <p:nvSpPr>
          <p:cNvPr id="7" name="Text 2"/>
          <p:cNvSpPr/>
          <p:nvPr/>
        </p:nvSpPr>
        <p:spPr>
          <a:xfrm>
            <a:off x="822325" y="2041525"/>
            <a:ext cx="3536950" cy="996950"/>
          </a:xfrm>
          <a:prstGeom prst="roundRect">
            <a:avLst>
              <a:gd name="adj" fmla="val 11783"/>
            </a:avLst>
          </a:prstGeom>
          <a:solidFill>
            <a:srgbClr val="FDFCF9"/>
          </a:solidFill>
          <a:ln w="19050">
            <a:solidFill>
              <a:srgbClr val="16202C"/>
            </a:solidFill>
            <a:prstDash val="solid"/>
          </a:ln>
        </p:spPr>
        <p:txBody>
          <a:bodyPr wrap="square" lIns="178318" tIns="127518" rIns="84973" bIns="127518" rtlCol="0" anchor="ctr">
            <a:normAutofit/>
          </a:bodyPr>
          <a:lstStyle/>
          <a:p>
            <a:pPr marL="0" indent="0" algn="l">
              <a:lnSpc>
                <a:spcPts val="2025"/>
              </a:lnSpc>
              <a:buNone/>
            </a:pPr>
            <a:r>
              <a:rPr lang="en-US" sz="1500" b="1" dirty="0">
                <a:solidFill>
                  <a:srgbClr val="16202C"/>
                </a:solidFill>
                <a:latin typeface="IBM Plex Sans" pitchFamily="34" charset="0"/>
                <a:ea typeface="IBM Plex Sans" pitchFamily="34" charset="-122"/>
                <a:cs typeface="IBM Plex Sans" pitchFamily="34" charset="-120"/>
              </a:rPr>
              <a:t>Dal push edildi ve başkası da kullanıyor mu?</a:t>
            </a:r>
            <a:endParaRPr lang="en-US" sz="1500" dirty="0"/>
          </a:p>
        </p:txBody>
      </p:sp>
      <p:sp>
        <p:nvSpPr>
          <p:cNvPr id="8" name="Text 3"/>
          <p:cNvSpPr/>
          <p:nvPr/>
        </p:nvSpPr>
        <p:spPr>
          <a:xfrm>
            <a:off x="822325" y="3819525"/>
            <a:ext cx="3536950" cy="996950"/>
          </a:xfrm>
          <a:prstGeom prst="roundRect">
            <a:avLst>
              <a:gd name="adj" fmla="val 11783"/>
            </a:avLst>
          </a:prstGeom>
          <a:solidFill>
            <a:srgbClr val="FDFCF9"/>
          </a:solidFill>
          <a:ln w="19050">
            <a:solidFill>
              <a:srgbClr val="16202C"/>
            </a:solidFill>
            <a:prstDash val="solid"/>
          </a:ln>
        </p:spPr>
        <p:txBody>
          <a:bodyPr wrap="square" lIns="178318" tIns="127518" rIns="84973" bIns="127518" rtlCol="0" anchor="ctr">
            <a:normAutofit/>
          </a:bodyPr>
          <a:lstStyle/>
          <a:p>
            <a:pPr marL="0" indent="0" algn="l">
              <a:lnSpc>
                <a:spcPts val="2025"/>
              </a:lnSpc>
              <a:buNone/>
            </a:pPr>
            <a:r>
              <a:rPr lang="en-US" sz="1500" b="1" dirty="0">
                <a:solidFill>
                  <a:srgbClr val="16202C"/>
                </a:solidFill>
                <a:latin typeface="IBM Plex Sans" pitchFamily="34" charset="0"/>
                <a:ea typeface="IBM Plex Sans" pitchFamily="34" charset="-122"/>
                <a:cs typeface="IBM Plex Sans" pitchFamily="34" charset="-120"/>
              </a:rPr>
              <a:t>Düz, okunaklı bir geçmiş istiyor musun?</a:t>
            </a:r>
            <a:endParaRPr lang="en-US" sz="1500" dirty="0"/>
          </a:p>
        </p:txBody>
      </p:sp>
      <p:sp>
        <p:nvSpPr>
          <p:cNvPr id="9" name="Text 4"/>
          <p:cNvSpPr/>
          <p:nvPr/>
        </p:nvSpPr>
        <p:spPr>
          <a:xfrm>
            <a:off x="4610100" y="2222500"/>
            <a:ext cx="8763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6202C"/>
                </a:solidFill>
                <a:latin typeface="JetBrains Mono" pitchFamily="34" charset="0"/>
                <a:ea typeface="JetBrains Mono" pitchFamily="34" charset="-122"/>
                <a:cs typeface="JetBrains Mono" pitchFamily="34" charset="-120"/>
              </a:rPr>
              <a:t>Evet</a:t>
            </a:r>
            <a:endParaRPr lang="en-US" sz="1300" dirty="0"/>
          </a:p>
        </p:txBody>
      </p:sp>
      <p:sp>
        <p:nvSpPr>
          <p:cNvPr id="10" name="Text 5"/>
          <p:cNvSpPr/>
          <p:nvPr/>
        </p:nvSpPr>
        <p:spPr>
          <a:xfrm>
            <a:off x="4610100" y="4000500"/>
            <a:ext cx="8763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6202C"/>
                </a:solidFill>
                <a:latin typeface="JetBrains Mono" pitchFamily="34" charset="0"/>
                <a:ea typeface="JetBrains Mono" pitchFamily="34" charset="-122"/>
                <a:cs typeface="JetBrains Mono" pitchFamily="34" charset="-120"/>
              </a:rPr>
              <a:t>Evet</a:t>
            </a:r>
            <a:endParaRPr lang="en-US" sz="1300" dirty="0"/>
          </a:p>
        </p:txBody>
      </p:sp>
      <p:sp>
        <p:nvSpPr>
          <p:cNvPr id="11" name="Text 6"/>
          <p:cNvSpPr/>
          <p:nvPr/>
        </p:nvSpPr>
        <p:spPr>
          <a:xfrm>
            <a:off x="2717800" y="3289300"/>
            <a:ext cx="876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C"/>
                </a:solidFill>
                <a:latin typeface="JetBrains Mono" pitchFamily="34" charset="0"/>
                <a:ea typeface="JetBrains Mono" pitchFamily="34" charset="-122"/>
                <a:cs typeface="JetBrains Mono" pitchFamily="34" charset="-120"/>
              </a:rPr>
              <a:t>Hayır</a:t>
            </a:r>
            <a:endParaRPr lang="en-US" sz="1300" dirty="0"/>
          </a:p>
        </p:txBody>
      </p:sp>
      <p:sp>
        <p:nvSpPr>
          <p:cNvPr id="12" name="Shape 7"/>
          <p:cNvSpPr/>
          <p:nvPr/>
        </p:nvSpPr>
        <p:spPr>
          <a:xfrm>
            <a:off x="5715000" y="2032000"/>
            <a:ext cx="5664200" cy="1016000"/>
          </a:xfrm>
          <a:prstGeom prst="roundRect">
            <a:avLst>
              <a:gd name="adj" fmla="val 12500"/>
            </a:avLst>
          </a:prstGeom>
          <a:solidFill>
            <a:srgbClr val="2F6FDB"/>
          </a:solidFill>
          <a:ln/>
        </p:spPr>
      </p:sp>
      <p:sp>
        <p:nvSpPr>
          <p:cNvPr id="13" name="Text 8"/>
          <p:cNvSpPr/>
          <p:nvPr/>
        </p:nvSpPr>
        <p:spPr>
          <a:xfrm>
            <a:off x="5943600" y="2246610"/>
            <a:ext cx="536321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MERGE kullan</a:t>
            </a:r>
            <a:endParaRPr lang="en-US" sz="2000" dirty="0"/>
          </a:p>
        </p:txBody>
      </p:sp>
      <p:sp>
        <p:nvSpPr>
          <p:cNvPr id="14" name="Text 9"/>
          <p:cNvSpPr/>
          <p:nvPr/>
        </p:nvSpPr>
        <p:spPr>
          <a:xfrm>
            <a:off x="5943600" y="2602210"/>
            <a:ext cx="53632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JetBrains Mono" pitchFamily="34" charset="0"/>
                <a:ea typeface="JetBrains Mono" pitchFamily="34" charset="-122"/>
                <a:cs typeface="JetBrains Mono" pitchFamily="34" charset="-120"/>
              </a:rPr>
              <a:t>git merge dal · git pull</a:t>
            </a:r>
            <a:endParaRPr lang="en-US" sz="1300" dirty="0"/>
          </a:p>
        </p:txBody>
      </p:sp>
      <p:sp>
        <p:nvSpPr>
          <p:cNvPr id="15" name="Shape 10"/>
          <p:cNvSpPr/>
          <p:nvPr/>
        </p:nvSpPr>
        <p:spPr>
          <a:xfrm>
            <a:off x="5715000" y="3810000"/>
            <a:ext cx="5664200" cy="1016000"/>
          </a:xfrm>
          <a:prstGeom prst="roundRect">
            <a:avLst>
              <a:gd name="adj" fmla="val 12500"/>
            </a:avLst>
          </a:prstGeom>
          <a:solidFill>
            <a:srgbClr val="F08C4B"/>
          </a:solidFill>
          <a:ln/>
        </p:spPr>
      </p:sp>
      <p:sp>
        <p:nvSpPr>
          <p:cNvPr id="16" name="Text 11"/>
          <p:cNvSpPr/>
          <p:nvPr/>
        </p:nvSpPr>
        <p:spPr>
          <a:xfrm>
            <a:off x="5943600" y="4024610"/>
            <a:ext cx="536321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REBASE, sonra fast-forward</a:t>
            </a:r>
            <a:endParaRPr lang="en-US" sz="2000" dirty="0"/>
          </a:p>
        </p:txBody>
      </p:sp>
      <p:sp>
        <p:nvSpPr>
          <p:cNvPr id="17" name="Text 12"/>
          <p:cNvSpPr/>
          <p:nvPr/>
        </p:nvSpPr>
        <p:spPr>
          <a:xfrm>
            <a:off x="5943600" y="4380210"/>
            <a:ext cx="53632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JetBrains Mono" pitchFamily="34" charset="0"/>
                <a:ea typeface="JetBrains Mono" pitchFamily="34" charset="-122"/>
                <a:cs typeface="JetBrains Mono" pitchFamily="34" charset="-120"/>
              </a:rPr>
              <a:t>git rebase main · git switch main · git merge dal</a:t>
            </a:r>
            <a:endParaRPr lang="en-US" sz="1300" dirty="0"/>
          </a:p>
        </p:txBody>
      </p:sp>
      <p:sp>
        <p:nvSpPr>
          <p:cNvPr id="18" name="Text 13"/>
          <p:cNvSpPr/>
          <p:nvPr/>
        </p:nvSpPr>
        <p:spPr>
          <a:xfrm>
            <a:off x="812800" y="50800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Hayır</a:t>
            </a:r>
            <a:r>
              <a:rPr lang="en-US" sz="1500" dirty="0">
                <a:solidFill>
                  <a:srgbClr val="4A5566"/>
                </a:solidFill>
                <a:latin typeface="IBM Plex Sans" pitchFamily="34" charset="0"/>
                <a:ea typeface="IBM Plex Sans" pitchFamily="34" charset="-122"/>
                <a:cs typeface="IBM Plex Sans" pitchFamily="34" charset="-120"/>
              </a:rPr>
              <a:t> dersen merge de gayet iyi. Takımın kuralı varsa (örneğin "sadece squash"), her zaman o kazanır.</a:t>
            </a:r>
            <a:endParaRPr lang="en-US" sz="15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6202C"/>
        </a:solidFill>
        <a:effectLst/>
      </p:bgPr>
    </p:bg>
    <p:spTree>
      <p:nvGrpSpPr>
        <p:cNvPr id="1" name=""/>
        <p:cNvGrpSpPr/>
        <p:nvPr/>
      </p:nvGrpSpPr>
      <p:grpSpPr>
        <a:xfrm>
          <a:off x="0" y="0"/>
          <a:ext cx="0" cy="0"/>
          <a:chOff x="0" y="0"/>
          <a:chExt cx="0" cy="0"/>
        </a:xfrm>
      </p:grpSpPr>
      <p:sp>
        <p:nvSpPr>
          <p:cNvPr id="2" name="Text 0"/>
          <p:cNvSpPr/>
          <p:nvPr/>
        </p:nvSpPr>
        <p:spPr>
          <a:xfrm>
            <a:off x="812800" y="184279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7A46B"/>
                </a:solidFill>
                <a:latin typeface="JetBrains Mono" pitchFamily="34" charset="0"/>
                <a:ea typeface="JetBrains Mono" pitchFamily="34" charset="-122"/>
                <a:cs typeface="JetBrains Mono" pitchFamily="34" charset="-120"/>
              </a:rPr>
              <a:t>MODÜL 8 · REVERT &amp; STASH</a:t>
            </a:r>
            <a:endParaRPr lang="en-US" sz="1300" dirty="0"/>
          </a:p>
        </p:txBody>
      </p:sp>
      <p:sp>
        <p:nvSpPr>
          <p:cNvPr id="3" name="Text 1"/>
          <p:cNvSpPr/>
          <p:nvPr/>
        </p:nvSpPr>
        <p:spPr>
          <a:xfrm>
            <a:off x="812800" y="2378670"/>
            <a:ext cx="9810750" cy="1366441"/>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6F4EE"/>
                </a:solidFill>
                <a:latin typeface="Space Grotesk" pitchFamily="34" charset="0"/>
                <a:ea typeface="Space Grotesk" pitchFamily="34" charset="-122"/>
                <a:cs typeface="Space Grotesk" pitchFamily="34" charset="-120"/>
              </a:rPr>
              <a:t>Geçmişi silmeden geri al,</a:t>
            </a:r>
            <a:endParaRPr lang="en-US" sz="4800" dirty="0"/>
          </a:p>
          <a:p>
            <a:pPr marL="0" indent="0" algn="l">
              <a:lnSpc>
                <a:spcPts val="5280"/>
              </a:lnSpc>
              <a:buNone/>
            </a:pPr>
            <a:r>
              <a:rPr lang="en-US" sz="4800" b="1" dirty="0">
                <a:solidFill>
                  <a:srgbClr val="F7A46B"/>
                </a:solidFill>
                <a:latin typeface="Space Grotesk" pitchFamily="34" charset="0"/>
                <a:ea typeface="Space Grotesk" pitchFamily="34" charset="-122"/>
                <a:cs typeface="Space Grotesk" pitchFamily="34" charset="-120"/>
              </a:rPr>
              <a:t>yarım işi rafa kaldır.</a:t>
            </a:r>
            <a:endParaRPr lang="en-US" sz="4800" dirty="0"/>
          </a:p>
        </p:txBody>
      </p:sp>
      <p:sp>
        <p:nvSpPr>
          <p:cNvPr id="4" name="Text 2"/>
          <p:cNvSpPr/>
          <p:nvPr/>
        </p:nvSpPr>
        <p:spPr>
          <a:xfrm>
            <a:off x="812800" y="4024511"/>
            <a:ext cx="8502650" cy="10160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8C4D1"/>
                </a:solidFill>
                <a:latin typeface="IBM Plex Sans" pitchFamily="34" charset="0"/>
                <a:ea typeface="IBM Plex Sans" pitchFamily="34" charset="-122"/>
                <a:cs typeface="IBM Plex Sans" pitchFamily="34" charset="-120"/>
              </a:rPr>
              <a:t>İki küçük komut, iki büyük kurtarıcı: </a:t>
            </a:r>
            <a:r>
              <a:rPr lang="en-US" sz="2000" dirty="0">
                <a:solidFill>
                  <a:srgbClr val="F7A46B"/>
                </a:solidFill>
                <a:latin typeface="IBM Plex Sans" pitchFamily="34" charset="0"/>
                <a:ea typeface="IBM Plex Sans" pitchFamily="34" charset="-122"/>
                <a:cs typeface="IBM Plex Sans" pitchFamily="34" charset="-120"/>
              </a:rPr>
              <a:t>git revert</a:t>
            </a:r>
            <a:r>
              <a:rPr lang="en-US" sz="2000" dirty="0">
                <a:solidFill>
                  <a:srgbClr val="B8C4D1"/>
                </a:solidFill>
                <a:latin typeface="IBM Plex Sans" pitchFamily="34" charset="0"/>
                <a:ea typeface="IBM Plex Sans" pitchFamily="34" charset="-122"/>
                <a:cs typeface="IBM Plex Sans" pitchFamily="34" charset="-120"/>
              </a:rPr>
              <a:t> paylaşılmış bir hatayı güvenle geri alır, </a:t>
            </a:r>
            <a:r>
              <a:rPr lang="en-US" sz="2000" dirty="0">
                <a:solidFill>
                  <a:srgbClr val="F7A46B"/>
                </a:solidFill>
                <a:latin typeface="IBM Plex Sans" pitchFamily="34" charset="0"/>
                <a:ea typeface="IBM Plex Sans" pitchFamily="34" charset="-122"/>
                <a:cs typeface="IBM Plex Sans" pitchFamily="34" charset="-120"/>
              </a:rPr>
              <a:t>git stash</a:t>
            </a:r>
            <a:r>
              <a:rPr lang="en-US" sz="2000" dirty="0">
                <a:solidFill>
                  <a:srgbClr val="B8C4D1"/>
                </a:solidFill>
                <a:latin typeface="IBM Plex Sans" pitchFamily="34" charset="0"/>
                <a:ea typeface="IBM Plex Sans" pitchFamily="34" charset="-122"/>
                <a:cs typeface="IBM Plex Sans" pitchFamily="34" charset="-120"/>
              </a:rPr>
              <a:t> yarım kalan işi commit etmeden bir kenara koyar.</a:t>
            </a:r>
            <a:endParaRPr lang="en-US"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8 · REVERT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git revert: geri alma da bir commit'tir</a:t>
            </a:r>
            <a:endParaRPr lang="en-US" sz="3600" dirty="0"/>
          </a:p>
        </p:txBody>
      </p:sp>
      <p:pic>
        <p:nvPicPr>
          <p:cNvPr id="4" name="Image 0" descr="connector"/>
          <p:cNvPicPr>
            <a:picLocks noChangeAspect="1"/>
          </p:cNvPicPr>
          <p:nvPr/>
        </p:nvPicPr>
        <p:blipFill>
          <a:blip r:embed="rId3"/>
          <a:srcRect/>
          <a:stretch/>
        </p:blipFill>
        <p:spPr>
          <a:xfrm>
            <a:off x="1428750" y="2698750"/>
            <a:ext cx="1460500" cy="190500"/>
          </a:xfrm>
          <a:prstGeom prst="rect">
            <a:avLst/>
          </a:prstGeom>
        </p:spPr>
      </p:pic>
      <p:pic>
        <p:nvPicPr>
          <p:cNvPr id="5" name="Image 1" descr="connector"/>
          <p:cNvPicPr>
            <a:picLocks noChangeAspect="1"/>
          </p:cNvPicPr>
          <p:nvPr/>
        </p:nvPicPr>
        <p:blipFill>
          <a:blip r:embed="rId3"/>
          <a:srcRect/>
          <a:stretch/>
        </p:blipFill>
        <p:spPr>
          <a:xfrm>
            <a:off x="2698750" y="2698750"/>
            <a:ext cx="1460500" cy="190500"/>
          </a:xfrm>
          <a:prstGeom prst="rect">
            <a:avLst/>
          </a:prstGeom>
        </p:spPr>
      </p:pic>
      <p:pic>
        <p:nvPicPr>
          <p:cNvPr id="6" name="Image 2" descr="connector"/>
          <p:cNvPicPr>
            <a:picLocks noChangeAspect="1"/>
          </p:cNvPicPr>
          <p:nvPr/>
        </p:nvPicPr>
        <p:blipFill>
          <a:blip r:embed="rId4"/>
          <a:srcRect/>
          <a:stretch/>
        </p:blipFill>
        <p:spPr>
          <a:xfrm>
            <a:off x="4000500" y="2311400"/>
            <a:ext cx="127000" cy="203200"/>
          </a:xfrm>
          <a:prstGeom prst="rect">
            <a:avLst/>
          </a:prstGeom>
        </p:spPr>
      </p:pic>
      <p:pic>
        <p:nvPicPr>
          <p:cNvPr id="7" name="Image 3" descr="connector"/>
          <p:cNvPicPr>
            <a:picLocks noChangeAspect="1"/>
          </p:cNvPicPr>
          <p:nvPr/>
        </p:nvPicPr>
        <p:blipFill>
          <a:blip r:embed="rId3"/>
          <a:srcRect/>
          <a:stretch/>
        </p:blipFill>
        <p:spPr>
          <a:xfrm>
            <a:off x="1428750" y="4476750"/>
            <a:ext cx="1460500" cy="190500"/>
          </a:xfrm>
          <a:prstGeom prst="rect">
            <a:avLst/>
          </a:prstGeom>
        </p:spPr>
      </p:pic>
      <p:pic>
        <p:nvPicPr>
          <p:cNvPr id="8" name="Image 4" descr="connector"/>
          <p:cNvPicPr>
            <a:picLocks noChangeAspect="1"/>
          </p:cNvPicPr>
          <p:nvPr/>
        </p:nvPicPr>
        <p:blipFill>
          <a:blip r:embed="rId3"/>
          <a:srcRect/>
          <a:stretch/>
        </p:blipFill>
        <p:spPr>
          <a:xfrm>
            <a:off x="2698750" y="4476750"/>
            <a:ext cx="1460500" cy="190500"/>
          </a:xfrm>
          <a:prstGeom prst="rect">
            <a:avLst/>
          </a:prstGeom>
        </p:spPr>
      </p:pic>
      <p:pic>
        <p:nvPicPr>
          <p:cNvPr id="9" name="Image 5" descr="connector"/>
          <p:cNvPicPr>
            <a:picLocks noChangeAspect="1"/>
          </p:cNvPicPr>
          <p:nvPr/>
        </p:nvPicPr>
        <p:blipFill>
          <a:blip r:embed="rId3"/>
          <a:srcRect/>
          <a:stretch/>
        </p:blipFill>
        <p:spPr>
          <a:xfrm>
            <a:off x="3968750" y="4476750"/>
            <a:ext cx="1460500" cy="190500"/>
          </a:xfrm>
          <a:prstGeom prst="rect">
            <a:avLst/>
          </a:prstGeom>
        </p:spPr>
      </p:pic>
      <p:pic>
        <p:nvPicPr>
          <p:cNvPr id="10" name="Image 6" descr="connector"/>
          <p:cNvPicPr>
            <a:picLocks noChangeAspect="1"/>
          </p:cNvPicPr>
          <p:nvPr/>
        </p:nvPicPr>
        <p:blipFill>
          <a:blip r:embed="rId4"/>
          <a:srcRect/>
          <a:stretch/>
        </p:blipFill>
        <p:spPr>
          <a:xfrm>
            <a:off x="5270500" y="4089400"/>
            <a:ext cx="127000" cy="203200"/>
          </a:xfrm>
          <a:prstGeom prst="rect">
            <a:avLst/>
          </a:prstGeom>
        </p:spPr>
      </p:pic>
      <p:sp>
        <p:nvSpPr>
          <p:cNvPr id="11" name="Text 2"/>
          <p:cNvSpPr/>
          <p:nvPr/>
        </p:nvSpPr>
        <p:spPr>
          <a:xfrm>
            <a:off x="812800" y="207010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6"/>
                </a:solidFill>
                <a:latin typeface="JetBrains Mono" pitchFamily="34" charset="0"/>
                <a:ea typeface="JetBrains Mono" pitchFamily="34" charset="-122"/>
                <a:cs typeface="JetBrains Mono" pitchFamily="34" charset="-120"/>
              </a:rPr>
              <a:t>ÖNCE</a:t>
            </a:r>
            <a:endParaRPr lang="en-US" sz="1300" dirty="0"/>
          </a:p>
        </p:txBody>
      </p:sp>
      <p:sp>
        <p:nvSpPr>
          <p:cNvPr id="12" name="Text 3"/>
          <p:cNvSpPr/>
          <p:nvPr/>
        </p:nvSpPr>
        <p:spPr>
          <a:xfrm>
            <a:off x="812800" y="3848100"/>
            <a:ext cx="274701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SONRA · git revert C2</a:t>
            </a:r>
            <a:endParaRPr lang="en-US" sz="1300" dirty="0"/>
          </a:p>
        </p:txBody>
      </p:sp>
      <p:sp>
        <p:nvSpPr>
          <p:cNvPr id="13" name="Text 4"/>
          <p:cNvSpPr/>
          <p:nvPr/>
        </p:nvSpPr>
        <p:spPr>
          <a:xfrm>
            <a:off x="1206500" y="2476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14" name="Text 5"/>
          <p:cNvSpPr/>
          <p:nvPr/>
        </p:nvSpPr>
        <p:spPr>
          <a:xfrm>
            <a:off x="2476500" y="2476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F08C4B"/>
          </a:solidFill>
          <a:ln/>
        </p:spPr>
        <p:txBody>
          <a:bodyPr wrap="square" lIns="0" tIns="0" rIns="0" bIns="0" rtlCol="0" anchor="t">
            <a:normAutofit/>
          </a:bodyPr>
          <a:lstStyle/>
          <a:p>
            <a:pPr marL="0" indent="0" algn="ctr">
              <a:lnSpc>
                <a:spcPts val="4995"/>
              </a:lnSpc>
              <a:buNone/>
            </a:pPr>
            <a:r>
              <a:rPr lang="en-US" sz="1500" b="1" dirty="0">
                <a:solidFill>
                  <a:srgbClr val="16202C"/>
                </a:solidFill>
                <a:latin typeface="JetBrains Mono" pitchFamily="34" charset="0"/>
                <a:ea typeface="JetBrains Mono" pitchFamily="34" charset="-122"/>
                <a:cs typeface="JetBrains Mono" pitchFamily="34" charset="-120"/>
              </a:rPr>
              <a:t>C2</a:t>
            </a:r>
            <a:endParaRPr lang="en-US" sz="1500" dirty="0"/>
          </a:p>
        </p:txBody>
      </p:sp>
      <p:sp>
        <p:nvSpPr>
          <p:cNvPr id="15" name="Text 6"/>
          <p:cNvSpPr/>
          <p:nvPr/>
        </p:nvSpPr>
        <p:spPr>
          <a:xfrm>
            <a:off x="3746500" y="2476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C3</a:t>
            </a:r>
            <a:endParaRPr lang="en-US" sz="1500" dirty="0"/>
          </a:p>
        </p:txBody>
      </p:sp>
      <p:sp>
        <p:nvSpPr>
          <p:cNvPr id="16" name="Text 7"/>
          <p:cNvSpPr/>
          <p:nvPr/>
        </p:nvSpPr>
        <p:spPr>
          <a:xfrm>
            <a:off x="3619500" y="2044700"/>
            <a:ext cx="889000" cy="330200"/>
          </a:xfrm>
          <a:custGeom>
            <a:avLst/>
            <a:gdLst/>
            <a:ahLst/>
            <a:cxnLst/>
            <a:rect l="l" t="t" r="r" b="b"/>
            <a:pathLst>
              <a:path w="889000" h="330200">
                <a:moveTo>
                  <a:pt x="165100" y="0"/>
                </a:moveTo>
                <a:lnTo>
                  <a:pt x="723900" y="0"/>
                </a:lnTo>
                <a:arcTo wR="165100" hR="165100" stAng="16200000" swAng="5400000"/>
                <a:lnTo>
                  <a:pt x="889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17" name="Text 8"/>
          <p:cNvSpPr/>
          <p:nvPr/>
        </p:nvSpPr>
        <p:spPr>
          <a:xfrm>
            <a:off x="2133600" y="31750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hatalı</a:t>
            </a:r>
            <a:endParaRPr lang="en-US" sz="1300" dirty="0"/>
          </a:p>
        </p:txBody>
      </p:sp>
      <p:sp>
        <p:nvSpPr>
          <p:cNvPr id="18" name="Text 9"/>
          <p:cNvSpPr/>
          <p:nvPr/>
        </p:nvSpPr>
        <p:spPr>
          <a:xfrm>
            <a:off x="1206500" y="4254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C1</a:t>
            </a:r>
            <a:endParaRPr lang="en-US" sz="1500" dirty="0"/>
          </a:p>
        </p:txBody>
      </p:sp>
      <p:sp>
        <p:nvSpPr>
          <p:cNvPr id="19" name="Text 10"/>
          <p:cNvSpPr/>
          <p:nvPr/>
        </p:nvSpPr>
        <p:spPr>
          <a:xfrm>
            <a:off x="2476500" y="4254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F08C4B"/>
          </a:solidFill>
          <a:ln/>
        </p:spPr>
        <p:txBody>
          <a:bodyPr wrap="square" lIns="0" tIns="0" rIns="0" bIns="0" rtlCol="0" anchor="t">
            <a:normAutofit/>
          </a:bodyPr>
          <a:lstStyle/>
          <a:p>
            <a:pPr marL="0" indent="0" algn="ctr">
              <a:lnSpc>
                <a:spcPts val="4995"/>
              </a:lnSpc>
              <a:buNone/>
            </a:pPr>
            <a:r>
              <a:rPr lang="en-US" sz="1500" b="1" dirty="0">
                <a:solidFill>
                  <a:srgbClr val="16202C"/>
                </a:solidFill>
                <a:latin typeface="JetBrains Mono" pitchFamily="34" charset="0"/>
                <a:ea typeface="JetBrains Mono" pitchFamily="34" charset="-122"/>
                <a:cs typeface="JetBrains Mono" pitchFamily="34" charset="-120"/>
              </a:rPr>
              <a:t>C2</a:t>
            </a:r>
            <a:endParaRPr lang="en-US" sz="1500" dirty="0"/>
          </a:p>
        </p:txBody>
      </p:sp>
      <p:sp>
        <p:nvSpPr>
          <p:cNvPr id="20" name="Text 11"/>
          <p:cNvSpPr/>
          <p:nvPr/>
        </p:nvSpPr>
        <p:spPr>
          <a:xfrm>
            <a:off x="3746500" y="4254500"/>
            <a:ext cx="635000" cy="634305"/>
          </a:xfrm>
          <a:custGeom>
            <a:avLst/>
            <a:gdLst/>
            <a:ahLst/>
            <a:cxnLst/>
            <a:rect l="l" t="t" r="r" b="b"/>
            <a:pathLst>
              <a:path w="635000" h="634305">
                <a:moveTo>
                  <a:pt x="317153" y="0"/>
                </a:moveTo>
                <a:lnTo>
                  <a:pt x="317847" y="0"/>
                </a:lnTo>
                <a:arcTo wR="317153" hR="317153" stAng="16200000" swAng="5400000"/>
                <a:lnTo>
                  <a:pt x="635000" y="317153"/>
                </a:lnTo>
                <a:arcTo wR="317153" hR="317153" stAng="0" swAng="5400000"/>
                <a:lnTo>
                  <a:pt x="317153" y="634305"/>
                </a:lnTo>
                <a:arcTo wR="317153" hR="317153" stAng="5400000" swAng="5400000"/>
                <a:lnTo>
                  <a:pt x="0" y="317153"/>
                </a:lnTo>
                <a:arcTo wR="317153" hR="317153" stAng="10800000" swAng="5400000"/>
                <a:close/>
              </a:path>
            </a:pathLst>
          </a:custGeom>
          <a:solidFill>
            <a:srgbClr val="2F6FDB"/>
          </a:solidFill>
          <a:ln/>
        </p:spPr>
        <p:txBody>
          <a:bodyPr wrap="square" lIns="0" tIns="0" rIns="0" bIns="0" rtlCol="0" anchor="t">
            <a:normAutofit/>
          </a:bodyPr>
          <a:lstStyle/>
          <a:p>
            <a:pPr marL="0" indent="0" algn="ctr">
              <a:lnSpc>
                <a:spcPts val="4995"/>
              </a:lnSpc>
              <a:buNone/>
            </a:pPr>
            <a:r>
              <a:rPr lang="en-US" sz="1500" b="1" dirty="0">
                <a:solidFill>
                  <a:srgbClr val="F6F4EE"/>
                </a:solidFill>
                <a:latin typeface="JetBrains Mono" pitchFamily="34" charset="0"/>
                <a:ea typeface="JetBrains Mono" pitchFamily="34" charset="-122"/>
                <a:cs typeface="JetBrains Mono" pitchFamily="34" charset="-120"/>
              </a:rPr>
              <a:t>C3</a:t>
            </a:r>
            <a:endParaRPr lang="en-US" sz="1500" dirty="0"/>
          </a:p>
        </p:txBody>
      </p:sp>
      <p:sp>
        <p:nvSpPr>
          <p:cNvPr id="21" name="Text 12"/>
          <p:cNvSpPr/>
          <p:nvPr/>
        </p:nvSpPr>
        <p:spPr>
          <a:xfrm>
            <a:off x="5035550" y="4273550"/>
            <a:ext cx="596900" cy="596205"/>
          </a:xfrm>
          <a:custGeom>
            <a:avLst/>
            <a:gdLst/>
            <a:ahLst/>
            <a:cxnLst/>
            <a:rect l="l" t="t" r="r" b="b"/>
            <a:pathLst>
              <a:path w="596900" h="596205">
                <a:moveTo>
                  <a:pt x="298103" y="0"/>
                </a:moveTo>
                <a:lnTo>
                  <a:pt x="298797" y="0"/>
                </a:lnTo>
                <a:arcTo wR="298103" hR="298103" stAng="16200000" swAng="5400000"/>
                <a:lnTo>
                  <a:pt x="596900" y="298103"/>
                </a:lnTo>
                <a:arcTo wR="298103" hR="298103" stAng="0" swAng="5400000"/>
                <a:lnTo>
                  <a:pt x="298103" y="596205"/>
                </a:lnTo>
                <a:arcTo wR="298103" hR="298103" stAng="5400000" swAng="5400000"/>
                <a:lnTo>
                  <a:pt x="0" y="298103"/>
                </a:lnTo>
                <a:arcTo wR="298103" hR="298103" stAng="10800000" swAng="5400000"/>
                <a:close/>
              </a:path>
            </a:pathLst>
          </a:custGeom>
          <a:solidFill>
            <a:srgbClr val="F6F4EE"/>
          </a:solidFill>
          <a:ln w="38100">
            <a:solidFill>
              <a:srgbClr val="2F6FDB"/>
            </a:solidFill>
            <a:prstDash val="solid"/>
          </a:ln>
        </p:spPr>
        <p:txBody>
          <a:bodyPr wrap="square" lIns="0" tIns="19050" rIns="0" bIns="0" rtlCol="0" anchor="t">
            <a:normAutofit/>
          </a:bodyPr>
          <a:lstStyle/>
          <a:p>
            <a:pPr marL="0" indent="0" algn="ctr">
              <a:lnSpc>
                <a:spcPts val="4395"/>
              </a:lnSpc>
              <a:buNone/>
            </a:pPr>
            <a:r>
              <a:rPr lang="en-US" sz="1500" b="1" dirty="0">
                <a:solidFill>
                  <a:srgbClr val="16202C"/>
                </a:solidFill>
                <a:latin typeface="JetBrains Mono" pitchFamily="34" charset="0"/>
                <a:ea typeface="JetBrains Mono" pitchFamily="34" charset="-122"/>
                <a:cs typeface="JetBrains Mono" pitchFamily="34" charset="-120"/>
              </a:rPr>
              <a:t>R</a:t>
            </a:r>
            <a:endParaRPr lang="en-US" sz="1500" dirty="0"/>
          </a:p>
        </p:txBody>
      </p:sp>
      <p:sp>
        <p:nvSpPr>
          <p:cNvPr id="22" name="Text 13"/>
          <p:cNvSpPr/>
          <p:nvPr/>
        </p:nvSpPr>
        <p:spPr>
          <a:xfrm>
            <a:off x="4889500" y="3822700"/>
            <a:ext cx="889000" cy="330200"/>
          </a:xfrm>
          <a:custGeom>
            <a:avLst/>
            <a:gdLst/>
            <a:ahLst/>
            <a:cxnLst/>
            <a:rect l="l" t="t" r="r" b="b"/>
            <a:pathLst>
              <a:path w="889000" h="330200">
                <a:moveTo>
                  <a:pt x="165100" y="0"/>
                </a:moveTo>
                <a:lnTo>
                  <a:pt x="723900" y="0"/>
                </a:lnTo>
                <a:arcTo wR="165100" hR="165100" stAng="16200000" swAng="5400000"/>
                <a:lnTo>
                  <a:pt x="889000" y="165100"/>
                </a:lnTo>
                <a:arcTo wR="165100" hR="165100" stAng="0" swAng="5400000"/>
                <a:lnTo>
                  <a:pt x="165100" y="330200"/>
                </a:lnTo>
                <a:arcTo wR="165100" hR="165100" stAng="5400000" swAng="5400000"/>
                <a:lnTo>
                  <a:pt x="0" y="165100"/>
                </a:lnTo>
                <a:arcTo wR="165100" hR="165100" stAng="10800000" swAng="5400000"/>
                <a:close/>
              </a:path>
            </a:pathLst>
          </a:custGeom>
          <a:solidFill>
            <a:srgbClr val="2F6FDB"/>
          </a:solidFill>
          <a:ln/>
        </p:spPr>
        <p:txBody>
          <a:bodyPr wrap="square" lIns="0" tIns="0" rIns="0" bIns="0" rtlCol="0" anchor="t">
            <a:normAutofit/>
          </a:bodyPr>
          <a:lstStyle/>
          <a:p>
            <a:pPr marL="0" indent="0" algn="ctr">
              <a:lnSpc>
                <a:spcPts val="2600"/>
              </a:lnSpc>
              <a:buNone/>
            </a:pPr>
            <a:r>
              <a:rPr lang="en-US" sz="1300" b="1" dirty="0">
                <a:solidFill>
                  <a:srgbClr val="F6F4EE"/>
                </a:solidFill>
                <a:latin typeface="JetBrains Mono" pitchFamily="34" charset="0"/>
                <a:ea typeface="JetBrains Mono" pitchFamily="34" charset="-122"/>
                <a:cs typeface="JetBrains Mono" pitchFamily="34" charset="-120"/>
              </a:rPr>
              <a:t>master</a:t>
            </a:r>
            <a:endParaRPr lang="en-US" sz="1300" dirty="0"/>
          </a:p>
        </p:txBody>
      </p:sp>
      <p:sp>
        <p:nvSpPr>
          <p:cNvPr id="23" name="Text 14"/>
          <p:cNvSpPr/>
          <p:nvPr/>
        </p:nvSpPr>
        <p:spPr>
          <a:xfrm>
            <a:off x="2133600" y="4953000"/>
            <a:ext cx="1320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yerinde</a:t>
            </a:r>
            <a:endParaRPr lang="en-US" sz="1300" dirty="0"/>
          </a:p>
        </p:txBody>
      </p:sp>
      <p:sp>
        <p:nvSpPr>
          <p:cNvPr id="24" name="Text 15"/>
          <p:cNvSpPr/>
          <p:nvPr/>
        </p:nvSpPr>
        <p:spPr>
          <a:xfrm>
            <a:off x="4546600" y="4953000"/>
            <a:ext cx="1574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C2'nin tersi</a:t>
            </a:r>
            <a:endParaRPr lang="en-US" sz="1300" dirty="0"/>
          </a:p>
        </p:txBody>
      </p:sp>
      <p:sp>
        <p:nvSpPr>
          <p:cNvPr id="25" name="Shape 16"/>
          <p:cNvSpPr/>
          <p:nvPr/>
        </p:nvSpPr>
        <p:spPr>
          <a:xfrm>
            <a:off x="6610350" y="2051050"/>
            <a:ext cx="4762500" cy="3449439"/>
          </a:xfrm>
          <a:prstGeom prst="roundRect">
            <a:avLst>
              <a:gd name="adj" fmla="val 3498"/>
            </a:avLst>
          </a:prstGeom>
          <a:solidFill>
            <a:srgbClr val="FDFCF9"/>
          </a:solidFill>
          <a:ln w="12700">
            <a:solidFill>
              <a:srgbClr val="E2DDD0"/>
            </a:solidFill>
            <a:prstDash val="solid"/>
          </a:ln>
        </p:spPr>
      </p:sp>
      <p:sp>
        <p:nvSpPr>
          <p:cNvPr id="26" name="Text 17"/>
          <p:cNvSpPr/>
          <p:nvPr/>
        </p:nvSpPr>
        <p:spPr>
          <a:xfrm>
            <a:off x="6870700" y="2311400"/>
            <a:ext cx="436905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Silmez, telafi eder</a:t>
            </a:r>
            <a:endParaRPr lang="en-US" sz="2000" dirty="0"/>
          </a:p>
        </p:txBody>
      </p:sp>
      <p:sp>
        <p:nvSpPr>
          <p:cNvPr id="27" name="Text 18"/>
          <p:cNvSpPr/>
          <p:nvPr/>
        </p:nvSpPr>
        <p:spPr>
          <a:xfrm>
            <a:off x="6870700" y="2743200"/>
            <a:ext cx="4369054"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6"/>
                </a:solidFill>
                <a:latin typeface="IBM Plex Sans" pitchFamily="34" charset="0"/>
                <a:ea typeface="IBM Plex Sans" pitchFamily="34" charset="-122"/>
                <a:cs typeface="IBM Plex Sans" pitchFamily="34" charset="-120"/>
              </a:rPr>
              <a:t>Revert, C2'nin yaptığı değişikliğin tam tersini içeren yeni bir commit (R) ekler. C2 geçmişte kalır; hiçbir hash değişmez.</a:t>
            </a:r>
            <a:endParaRPr lang="en-US" sz="1300" dirty="0"/>
          </a:p>
        </p:txBody>
      </p:sp>
      <p:sp>
        <p:nvSpPr>
          <p:cNvPr id="28" name="Text 19"/>
          <p:cNvSpPr/>
          <p:nvPr/>
        </p:nvSpPr>
        <p:spPr>
          <a:xfrm>
            <a:off x="6870700" y="3588147"/>
            <a:ext cx="4241800" cy="1046361"/>
          </a:xfrm>
          <a:prstGeom prst="roundRect">
            <a:avLst>
              <a:gd name="adj" fmla="val 7282"/>
            </a:avLst>
          </a:prstGeom>
          <a:solidFill>
            <a:srgbClr val="16202C"/>
          </a:solidFill>
          <a:ln/>
        </p:spPr>
        <p:txBody>
          <a:bodyPr wrap="square" lIns="155482" tIns="104682" rIns="38896" bIns="7928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revert b7e21c4</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[master 9c1e0f2] Revert</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"feat: hatali ozellik"</a:t>
            </a:r>
            <a:endParaRPr lang="en-US" sz="1300" dirty="0"/>
          </a:p>
        </p:txBody>
      </p:sp>
      <p:sp>
        <p:nvSpPr>
          <p:cNvPr id="29" name="Text 20"/>
          <p:cNvSpPr/>
          <p:nvPr/>
        </p:nvSpPr>
        <p:spPr>
          <a:xfrm>
            <a:off x="6870700" y="4761508"/>
            <a:ext cx="4369054" cy="504031"/>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16202C"/>
                </a:solidFill>
                <a:latin typeface="IBM Plex Sans" pitchFamily="34" charset="0"/>
                <a:ea typeface="IBM Plex Sans" pitchFamily="34" charset="-122"/>
                <a:cs typeface="IBM Plex Sans" pitchFamily="34" charset="-120"/>
              </a:rPr>
              <a:t>Push edilmiş dallarda güvenli:</a:t>
            </a:r>
            <a:r>
              <a:rPr lang="en-US" sz="1300" dirty="0">
                <a:solidFill>
                  <a:srgbClr val="16202C"/>
                </a:solidFill>
                <a:latin typeface="IBM Plex Sans" pitchFamily="34" charset="0"/>
                <a:ea typeface="IBM Plex Sans" pitchFamily="34" charset="-122"/>
                <a:cs typeface="IBM Plex Sans" pitchFamily="34" charset="-120"/>
              </a:rPr>
              <a:t> normal git push yeter, --force gerekmez.</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8 · REVERT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Reset mi, revert mi?</a:t>
            </a:r>
            <a:endParaRPr lang="en-US" sz="3600" dirty="0"/>
          </a:p>
        </p:txBody>
      </p:sp>
      <p:sp>
        <p:nvSpPr>
          <p:cNvPr id="4" name="Shape 2"/>
          <p:cNvSpPr/>
          <p:nvPr/>
        </p:nvSpPr>
        <p:spPr>
          <a:xfrm>
            <a:off x="819150" y="1908671"/>
            <a:ext cx="5194300" cy="2754412"/>
          </a:xfrm>
          <a:prstGeom prst="roundRect">
            <a:avLst>
              <a:gd name="adj" fmla="val 4380"/>
            </a:avLst>
          </a:prstGeom>
          <a:solidFill>
            <a:srgbClr val="FDFCF9"/>
          </a:solidFill>
          <a:ln w="12700">
            <a:solidFill>
              <a:srgbClr val="E2DDD0"/>
            </a:solidFill>
            <a:prstDash val="solid"/>
          </a:ln>
        </p:spPr>
      </p:sp>
      <p:sp>
        <p:nvSpPr>
          <p:cNvPr id="5" name="Text 3"/>
          <p:cNvSpPr/>
          <p:nvPr/>
        </p:nvSpPr>
        <p:spPr>
          <a:xfrm>
            <a:off x="1054100" y="2143621"/>
            <a:ext cx="486613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Reset: zamanı geri sarar</a:t>
            </a:r>
            <a:endParaRPr lang="en-US" sz="2000" dirty="0"/>
          </a:p>
        </p:txBody>
      </p:sp>
      <p:sp>
        <p:nvSpPr>
          <p:cNvPr id="6" name="Text 4"/>
          <p:cNvSpPr/>
          <p:nvPr/>
        </p:nvSpPr>
        <p:spPr>
          <a:xfrm>
            <a:off x="1054100" y="2550021"/>
            <a:ext cx="4724400" cy="434280"/>
          </a:xfrm>
          <a:prstGeom prst="roundRect">
            <a:avLst>
              <a:gd name="adj" fmla="val 17546"/>
            </a:avLst>
          </a:prstGeom>
          <a:solidFill>
            <a:srgbClr val="16202C"/>
          </a:solidFill>
          <a:ln/>
        </p:spPr>
        <p:txBody>
          <a:bodyPr wrap="square" lIns="130082" tIns="79282" rIns="0" bIns="53882" rtlCol="0" anchor="t">
            <a:normAutofit/>
          </a:bodyPr>
          <a:lstStyle/>
          <a:p>
            <a:pPr marL="0" indent="0" algn="l">
              <a:lnSpc>
                <a:spcPts val="1820"/>
              </a:lnSpc>
              <a:buNone/>
            </a:pPr>
            <a:r>
              <a:rPr lang="en-US" sz="1300" dirty="0">
                <a:solidFill>
                  <a:srgbClr val="F6F4EE"/>
                </a:solidFill>
                <a:latin typeface="JetBrains Mono" pitchFamily="34" charset="0"/>
                <a:ea typeface="JetBrains Mono" pitchFamily="34" charset="-122"/>
                <a:cs typeface="JetBrains Mono" pitchFamily="34" charset="-120"/>
              </a:rPr>
              <a:t>git reset --hard HEAD~1</a:t>
            </a:r>
            <a:endParaRPr lang="en-US" sz="1300" dirty="0"/>
          </a:p>
        </p:txBody>
      </p:sp>
      <p:pic>
        <p:nvPicPr>
          <p:cNvPr id="7" name="Image 0" descr="connector"/>
          <p:cNvPicPr>
            <a:picLocks noChangeAspect="1"/>
          </p:cNvPicPr>
          <p:nvPr/>
        </p:nvPicPr>
        <p:blipFill>
          <a:blip r:embed="rId3"/>
          <a:srcRect/>
          <a:stretch/>
        </p:blipFill>
        <p:spPr>
          <a:xfrm>
            <a:off x="1358900" y="3390702"/>
            <a:ext cx="1168400" cy="152400"/>
          </a:xfrm>
          <a:prstGeom prst="rect">
            <a:avLst/>
          </a:prstGeom>
        </p:spPr>
      </p:pic>
      <p:pic>
        <p:nvPicPr>
          <p:cNvPr id="8" name="Image 1" descr="connector"/>
          <p:cNvPicPr>
            <a:picLocks noChangeAspect="1"/>
          </p:cNvPicPr>
          <p:nvPr/>
        </p:nvPicPr>
        <p:blipFill>
          <a:blip r:embed="rId4"/>
          <a:srcRect/>
          <a:stretch/>
        </p:blipFill>
        <p:spPr>
          <a:xfrm>
            <a:off x="2387600" y="3403402"/>
            <a:ext cx="1143000" cy="127000"/>
          </a:xfrm>
          <a:prstGeom prst="rect">
            <a:avLst/>
          </a:prstGeom>
        </p:spPr>
      </p:pic>
      <p:sp>
        <p:nvSpPr>
          <p:cNvPr id="9" name="Text 5"/>
          <p:cNvSpPr/>
          <p:nvPr/>
        </p:nvSpPr>
        <p:spPr>
          <a:xfrm>
            <a:off x="1181100" y="3212902"/>
            <a:ext cx="508000" cy="508496"/>
          </a:xfrm>
          <a:custGeom>
            <a:avLst/>
            <a:gdLst/>
            <a:ahLst/>
            <a:cxnLst/>
            <a:rect l="l" t="t" r="r" b="b"/>
            <a:pathLst>
              <a:path w="508000" h="508496">
                <a:moveTo>
                  <a:pt x="254000" y="0"/>
                </a:moveTo>
                <a:lnTo>
                  <a:pt x="254000" y="0"/>
                </a:lnTo>
                <a:arcTo wR="254000" hR="254000" stAng="16200000" swAng="5400000"/>
                <a:lnTo>
                  <a:pt x="508000" y="254496"/>
                </a:lnTo>
                <a:arcTo wR="254000" hR="254000" stAng="0" swAng="5400000"/>
                <a:lnTo>
                  <a:pt x="254000" y="508496"/>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10" name="Text 6"/>
          <p:cNvSpPr/>
          <p:nvPr/>
        </p:nvSpPr>
        <p:spPr>
          <a:xfrm>
            <a:off x="2197100" y="3212902"/>
            <a:ext cx="508000" cy="508496"/>
          </a:xfrm>
          <a:custGeom>
            <a:avLst/>
            <a:gdLst/>
            <a:ahLst/>
            <a:cxnLst/>
            <a:rect l="l" t="t" r="r" b="b"/>
            <a:pathLst>
              <a:path w="508000" h="508496">
                <a:moveTo>
                  <a:pt x="254000" y="0"/>
                </a:moveTo>
                <a:lnTo>
                  <a:pt x="254000" y="0"/>
                </a:lnTo>
                <a:arcTo wR="254000" hR="254000" stAng="16200000" swAng="5400000"/>
                <a:lnTo>
                  <a:pt x="508000" y="254496"/>
                </a:lnTo>
                <a:arcTo wR="254000" hR="254000" stAng="0" swAng="5400000"/>
                <a:lnTo>
                  <a:pt x="254000" y="508496"/>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11" name="Text 7"/>
          <p:cNvSpPr/>
          <p:nvPr/>
        </p:nvSpPr>
        <p:spPr>
          <a:xfrm>
            <a:off x="3225800" y="3225602"/>
            <a:ext cx="482600" cy="482699"/>
          </a:xfrm>
          <a:custGeom>
            <a:avLst/>
            <a:gdLst/>
            <a:ahLst/>
            <a:cxnLst/>
            <a:rect l="l" t="t" r="r" b="b"/>
            <a:pathLst>
              <a:path w="482600" h="482699">
                <a:moveTo>
                  <a:pt x="241300" y="0"/>
                </a:moveTo>
                <a:lnTo>
                  <a:pt x="241300" y="0"/>
                </a:lnTo>
                <a:arcTo wR="241300" hR="241300" stAng="16200000" swAng="5400000"/>
                <a:lnTo>
                  <a:pt x="482600" y="241399"/>
                </a:lnTo>
                <a:arcTo wR="241300" hR="241300" stAng="0" swAng="5400000"/>
                <a:lnTo>
                  <a:pt x="241300" y="482699"/>
                </a:lnTo>
                <a:arcTo wR="241300" hR="241300" stAng="5400000" swAng="5400000"/>
                <a:lnTo>
                  <a:pt x="0" y="241300"/>
                </a:lnTo>
                <a:arcTo wR="241300" hR="241300" stAng="10800000" swAng="5400000"/>
                <a:close/>
              </a:path>
            </a:pathLst>
          </a:custGeom>
          <a:solidFill>
            <a:srgbClr val="E9E5DA"/>
          </a:solidFill>
          <a:ln w="25400">
            <a:solidFill>
              <a:srgbClr val="9AA7B6"/>
            </a:solidFill>
            <a:prstDash val="dash"/>
          </a:ln>
        </p:spPr>
        <p:txBody>
          <a:bodyPr wrap="square" lIns="0" tIns="12700" rIns="0" bIns="0" rtlCol="0" anchor="t">
            <a:normAutofit/>
          </a:bodyPr>
          <a:lstStyle/>
          <a:p>
            <a:pPr marL="0" indent="0" algn="ctr">
              <a:lnSpc>
                <a:spcPts val="3601"/>
              </a:lnSpc>
              <a:buNone/>
            </a:pPr>
            <a:r>
              <a:rPr lang="en-US" sz="1300" b="1" dirty="0">
                <a:solidFill>
                  <a:srgbClr val="4A5566"/>
                </a:solidFill>
                <a:latin typeface="JetBrains Mono" pitchFamily="34" charset="0"/>
                <a:ea typeface="JetBrains Mono" pitchFamily="34" charset="-122"/>
                <a:cs typeface="JetBrains Mono" pitchFamily="34" charset="-120"/>
              </a:rPr>
              <a:t>C3</a:t>
            </a:r>
            <a:endParaRPr lang="en-US" sz="1300" dirty="0"/>
          </a:p>
        </p:txBody>
      </p:sp>
      <p:sp>
        <p:nvSpPr>
          <p:cNvPr id="12" name="Text 8"/>
          <p:cNvSpPr/>
          <p:nvPr/>
        </p:nvSpPr>
        <p:spPr>
          <a:xfrm>
            <a:off x="3911600" y="3339902"/>
            <a:ext cx="1701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C3 geçmişten çıktı</a:t>
            </a:r>
            <a:endParaRPr lang="en-US" sz="1300" dirty="0"/>
          </a:p>
        </p:txBody>
      </p:sp>
      <p:sp>
        <p:nvSpPr>
          <p:cNvPr id="13" name="Text 9"/>
          <p:cNvSpPr/>
          <p:nvPr/>
        </p:nvSpPr>
        <p:spPr>
          <a:xfrm>
            <a:off x="1257300" y="3949502"/>
            <a:ext cx="4656836" cy="504031"/>
          </a:xfrm>
          <a:prstGeom prst="rect">
            <a:avLst/>
          </a:prstGeom>
          <a:noFill/>
          <a:ln/>
        </p:spPr>
        <p:txBody>
          <a:bodyPr wrap="square" lIns="0" tIns="0" rIns="0" bIns="0" rtlCol="0" anchor="t">
            <a:normAutofit/>
          </a:bodyPr>
          <a:lstStyle/>
          <a:p>
            <a:pPr marL="198120" indent="-168656" algn="l">
              <a:lnSpc>
                <a:spcPts val="1885"/>
              </a:lnSpc>
              <a:buSzPct val="100000"/>
              <a:buChar char="•"/>
            </a:pPr>
            <a:r>
              <a:rPr lang="en-US" sz="1300" dirty="0">
                <a:solidFill>
                  <a:srgbClr val="16202C"/>
                </a:solidFill>
                <a:latin typeface="IBM Plex Sans" pitchFamily="34" charset="0"/>
                <a:ea typeface="IBM Plex Sans" pitchFamily="34" charset="-122"/>
                <a:cs typeface="IBM Plex Sans" pitchFamily="34" charset="-120"/>
              </a:rPr>
              <a:t>Push edildiyse sunucuyla geçmiş ayrışır, --force gerekir.</a:t>
            </a:r>
            <a:endParaRPr lang="en-US" sz="1300" dirty="0"/>
          </a:p>
          <a:p>
            <a:pPr marL="198120" indent="-168656" algn="l">
              <a:lnSpc>
                <a:spcPts val="1885"/>
              </a:lnSpc>
              <a:buSzPct val="100000"/>
              <a:buChar char="•"/>
            </a:pPr>
            <a:r>
              <a:rPr lang="en-US" sz="1300" dirty="0">
                <a:solidFill>
                  <a:srgbClr val="16202C"/>
                </a:solidFill>
                <a:latin typeface="IBM Plex Sans" pitchFamily="34" charset="0"/>
                <a:ea typeface="IBM Plex Sans" pitchFamily="34" charset="-122"/>
                <a:cs typeface="IBM Plex Sans" pitchFamily="34" charset="-120"/>
              </a:rPr>
              <a:t>Sadece yerel, paylaşılmamış commit'ler için.</a:t>
            </a:r>
            <a:endParaRPr lang="en-US" sz="1300" dirty="0"/>
          </a:p>
        </p:txBody>
      </p:sp>
      <p:sp>
        <p:nvSpPr>
          <p:cNvPr id="14" name="Shape 10"/>
          <p:cNvSpPr/>
          <p:nvPr/>
        </p:nvSpPr>
        <p:spPr>
          <a:xfrm>
            <a:off x="6178550" y="1908671"/>
            <a:ext cx="5194300" cy="2754412"/>
          </a:xfrm>
          <a:prstGeom prst="roundRect">
            <a:avLst>
              <a:gd name="adj" fmla="val 4380"/>
            </a:avLst>
          </a:prstGeom>
          <a:solidFill>
            <a:srgbClr val="FDFCF9"/>
          </a:solidFill>
          <a:ln w="12700">
            <a:solidFill>
              <a:srgbClr val="2F6FDB"/>
            </a:solidFill>
            <a:prstDash val="solid"/>
          </a:ln>
        </p:spPr>
      </p:sp>
      <p:sp>
        <p:nvSpPr>
          <p:cNvPr id="15" name="Text 11"/>
          <p:cNvSpPr/>
          <p:nvPr/>
        </p:nvSpPr>
        <p:spPr>
          <a:xfrm>
            <a:off x="6413500" y="2143621"/>
            <a:ext cx="486613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Revert: telafi commit'i ekler</a:t>
            </a:r>
            <a:endParaRPr lang="en-US" sz="2000" dirty="0"/>
          </a:p>
        </p:txBody>
      </p:sp>
      <p:sp>
        <p:nvSpPr>
          <p:cNvPr id="16" name="Text 12"/>
          <p:cNvSpPr/>
          <p:nvPr/>
        </p:nvSpPr>
        <p:spPr>
          <a:xfrm>
            <a:off x="6413500" y="2550021"/>
            <a:ext cx="4724400" cy="434280"/>
          </a:xfrm>
          <a:prstGeom prst="roundRect">
            <a:avLst>
              <a:gd name="adj" fmla="val 17546"/>
            </a:avLst>
          </a:prstGeom>
          <a:solidFill>
            <a:srgbClr val="16202C"/>
          </a:solidFill>
          <a:ln/>
        </p:spPr>
        <p:txBody>
          <a:bodyPr wrap="square" lIns="130082" tIns="79282" rIns="0" bIns="53882" rtlCol="0" anchor="t">
            <a:normAutofit/>
          </a:bodyPr>
          <a:lstStyle/>
          <a:p>
            <a:pPr marL="0" indent="0" algn="l">
              <a:lnSpc>
                <a:spcPts val="1820"/>
              </a:lnSpc>
              <a:buNone/>
            </a:pPr>
            <a:r>
              <a:rPr lang="en-US" sz="1300" dirty="0">
                <a:solidFill>
                  <a:srgbClr val="F6F4EE"/>
                </a:solidFill>
                <a:latin typeface="JetBrains Mono" pitchFamily="34" charset="0"/>
                <a:ea typeface="JetBrains Mono" pitchFamily="34" charset="-122"/>
                <a:cs typeface="JetBrains Mono" pitchFamily="34" charset="-120"/>
              </a:rPr>
              <a:t>git revert HEAD</a:t>
            </a:r>
            <a:endParaRPr lang="en-US" sz="1300" dirty="0"/>
          </a:p>
        </p:txBody>
      </p:sp>
      <p:pic>
        <p:nvPicPr>
          <p:cNvPr id="17" name="Image 2" descr="connector"/>
          <p:cNvPicPr>
            <a:picLocks noChangeAspect="1"/>
          </p:cNvPicPr>
          <p:nvPr/>
        </p:nvPicPr>
        <p:blipFill>
          <a:blip r:embed="rId3"/>
          <a:srcRect/>
          <a:stretch/>
        </p:blipFill>
        <p:spPr>
          <a:xfrm>
            <a:off x="6718300" y="3390702"/>
            <a:ext cx="1168400" cy="152400"/>
          </a:xfrm>
          <a:prstGeom prst="rect">
            <a:avLst/>
          </a:prstGeom>
        </p:spPr>
      </p:pic>
      <p:pic>
        <p:nvPicPr>
          <p:cNvPr id="18" name="Image 3" descr="connector"/>
          <p:cNvPicPr>
            <a:picLocks noChangeAspect="1"/>
          </p:cNvPicPr>
          <p:nvPr/>
        </p:nvPicPr>
        <p:blipFill>
          <a:blip r:embed="rId3"/>
          <a:srcRect/>
          <a:stretch/>
        </p:blipFill>
        <p:spPr>
          <a:xfrm>
            <a:off x="7734300" y="3390702"/>
            <a:ext cx="1168400" cy="152400"/>
          </a:xfrm>
          <a:prstGeom prst="rect">
            <a:avLst/>
          </a:prstGeom>
        </p:spPr>
      </p:pic>
      <p:pic>
        <p:nvPicPr>
          <p:cNvPr id="19" name="Image 4" descr="connector"/>
          <p:cNvPicPr>
            <a:picLocks noChangeAspect="1"/>
          </p:cNvPicPr>
          <p:nvPr/>
        </p:nvPicPr>
        <p:blipFill>
          <a:blip r:embed="rId3"/>
          <a:srcRect/>
          <a:stretch/>
        </p:blipFill>
        <p:spPr>
          <a:xfrm>
            <a:off x="8750300" y="3390702"/>
            <a:ext cx="1168400" cy="152400"/>
          </a:xfrm>
          <a:prstGeom prst="rect">
            <a:avLst/>
          </a:prstGeom>
        </p:spPr>
      </p:pic>
      <p:sp>
        <p:nvSpPr>
          <p:cNvPr id="20" name="Text 13"/>
          <p:cNvSpPr/>
          <p:nvPr/>
        </p:nvSpPr>
        <p:spPr>
          <a:xfrm>
            <a:off x="6540500" y="3212902"/>
            <a:ext cx="508000" cy="508496"/>
          </a:xfrm>
          <a:custGeom>
            <a:avLst/>
            <a:gdLst/>
            <a:ahLst/>
            <a:cxnLst/>
            <a:rect l="l" t="t" r="r" b="b"/>
            <a:pathLst>
              <a:path w="508000" h="508496">
                <a:moveTo>
                  <a:pt x="254000" y="0"/>
                </a:moveTo>
                <a:lnTo>
                  <a:pt x="254000" y="0"/>
                </a:lnTo>
                <a:arcTo wR="254000" hR="254000" stAng="16200000" swAng="5400000"/>
                <a:lnTo>
                  <a:pt x="508000" y="254496"/>
                </a:lnTo>
                <a:arcTo wR="254000" hR="254000" stAng="0" swAng="5400000"/>
                <a:lnTo>
                  <a:pt x="254000" y="508496"/>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C1</a:t>
            </a:r>
            <a:endParaRPr lang="en-US" sz="1300" dirty="0"/>
          </a:p>
        </p:txBody>
      </p:sp>
      <p:sp>
        <p:nvSpPr>
          <p:cNvPr id="21" name="Text 14"/>
          <p:cNvSpPr/>
          <p:nvPr/>
        </p:nvSpPr>
        <p:spPr>
          <a:xfrm>
            <a:off x="7556500" y="3212902"/>
            <a:ext cx="508000" cy="508496"/>
          </a:xfrm>
          <a:custGeom>
            <a:avLst/>
            <a:gdLst/>
            <a:ahLst/>
            <a:cxnLst/>
            <a:rect l="l" t="t" r="r" b="b"/>
            <a:pathLst>
              <a:path w="508000" h="508496">
                <a:moveTo>
                  <a:pt x="254000" y="0"/>
                </a:moveTo>
                <a:lnTo>
                  <a:pt x="254000" y="0"/>
                </a:lnTo>
                <a:arcTo wR="254000" hR="254000" stAng="16200000" swAng="5400000"/>
                <a:lnTo>
                  <a:pt x="508000" y="254496"/>
                </a:lnTo>
                <a:arcTo wR="254000" hR="254000" stAng="0" swAng="5400000"/>
                <a:lnTo>
                  <a:pt x="254000" y="508496"/>
                </a:lnTo>
                <a:arcTo wR="254000" hR="254000" stAng="5400000" swAng="5400000"/>
                <a:lnTo>
                  <a:pt x="0" y="254000"/>
                </a:lnTo>
                <a:arcTo wR="254000" hR="254000" stAng="10800000" swAng="5400000"/>
                <a:close/>
              </a:path>
            </a:pathLst>
          </a:custGeom>
          <a:solidFill>
            <a:srgbClr val="2F6FDB"/>
          </a:solidFill>
          <a:ln/>
        </p:spPr>
        <p:txBody>
          <a:bodyPr wrap="square" lIns="0" tIns="0" rIns="0" bIns="0" rtlCol="0" anchor="t">
            <a:normAutofit/>
          </a:bodyPr>
          <a:lstStyle/>
          <a:p>
            <a:pPr marL="0" indent="0" algn="ctr">
              <a:lnSpc>
                <a:spcPts val="4004"/>
              </a:lnSpc>
              <a:buNone/>
            </a:pPr>
            <a:r>
              <a:rPr lang="en-US" sz="1300" b="1" dirty="0">
                <a:solidFill>
                  <a:srgbClr val="F6F4EE"/>
                </a:solidFill>
                <a:latin typeface="JetBrains Mono" pitchFamily="34" charset="0"/>
                <a:ea typeface="JetBrains Mono" pitchFamily="34" charset="-122"/>
                <a:cs typeface="JetBrains Mono" pitchFamily="34" charset="-120"/>
              </a:rPr>
              <a:t>C2</a:t>
            </a:r>
            <a:endParaRPr lang="en-US" sz="1300" dirty="0"/>
          </a:p>
        </p:txBody>
      </p:sp>
      <p:sp>
        <p:nvSpPr>
          <p:cNvPr id="22" name="Text 15"/>
          <p:cNvSpPr/>
          <p:nvPr/>
        </p:nvSpPr>
        <p:spPr>
          <a:xfrm>
            <a:off x="8572500" y="3212902"/>
            <a:ext cx="508000" cy="508496"/>
          </a:xfrm>
          <a:custGeom>
            <a:avLst/>
            <a:gdLst/>
            <a:ahLst/>
            <a:cxnLst/>
            <a:rect l="l" t="t" r="r" b="b"/>
            <a:pathLst>
              <a:path w="508000" h="508496">
                <a:moveTo>
                  <a:pt x="254000" y="0"/>
                </a:moveTo>
                <a:lnTo>
                  <a:pt x="254000" y="0"/>
                </a:lnTo>
                <a:arcTo wR="254000" hR="254000" stAng="16200000" swAng="5400000"/>
                <a:lnTo>
                  <a:pt x="508000" y="254496"/>
                </a:lnTo>
                <a:arcTo wR="254000" hR="254000" stAng="0" swAng="5400000"/>
                <a:lnTo>
                  <a:pt x="254000" y="508496"/>
                </a:lnTo>
                <a:arcTo wR="254000" hR="254000" stAng="5400000" swAng="5400000"/>
                <a:lnTo>
                  <a:pt x="0" y="254000"/>
                </a:lnTo>
                <a:arcTo wR="254000" hR="254000" stAng="10800000" swAng="5400000"/>
                <a:close/>
              </a:path>
            </a:pathLst>
          </a:custGeom>
          <a:solidFill>
            <a:srgbClr val="F08C4B"/>
          </a:solidFill>
          <a:ln/>
        </p:spPr>
        <p:txBody>
          <a:bodyPr wrap="square" lIns="0" tIns="0" rIns="0" bIns="0" rtlCol="0" anchor="t">
            <a:normAutofit/>
          </a:bodyPr>
          <a:lstStyle/>
          <a:p>
            <a:pPr marL="0" indent="0" algn="ctr">
              <a:lnSpc>
                <a:spcPts val="4004"/>
              </a:lnSpc>
              <a:buNone/>
            </a:pPr>
            <a:r>
              <a:rPr lang="en-US" sz="1300" b="1" dirty="0">
                <a:solidFill>
                  <a:srgbClr val="16202C"/>
                </a:solidFill>
                <a:latin typeface="JetBrains Mono" pitchFamily="34" charset="0"/>
                <a:ea typeface="JetBrains Mono" pitchFamily="34" charset="-122"/>
                <a:cs typeface="JetBrains Mono" pitchFamily="34" charset="-120"/>
              </a:rPr>
              <a:t>C3</a:t>
            </a:r>
            <a:endParaRPr lang="en-US" sz="1300" dirty="0"/>
          </a:p>
        </p:txBody>
      </p:sp>
      <p:sp>
        <p:nvSpPr>
          <p:cNvPr id="23" name="Text 16"/>
          <p:cNvSpPr/>
          <p:nvPr/>
        </p:nvSpPr>
        <p:spPr>
          <a:xfrm>
            <a:off x="9607550" y="3231952"/>
            <a:ext cx="469900" cy="470595"/>
          </a:xfrm>
          <a:custGeom>
            <a:avLst/>
            <a:gdLst/>
            <a:ahLst/>
            <a:cxnLst/>
            <a:rect l="l" t="t" r="r" b="b"/>
            <a:pathLst>
              <a:path w="469900" h="470595">
                <a:moveTo>
                  <a:pt x="234950" y="0"/>
                </a:moveTo>
                <a:lnTo>
                  <a:pt x="234950" y="0"/>
                </a:lnTo>
                <a:arcTo wR="234950" hR="234950" stAng="16200000" swAng="5400000"/>
                <a:lnTo>
                  <a:pt x="469900" y="235645"/>
                </a:lnTo>
                <a:arcTo wR="234950" hR="234950" stAng="0" swAng="5400000"/>
                <a:lnTo>
                  <a:pt x="234950" y="470595"/>
                </a:lnTo>
                <a:arcTo wR="234950" hR="234950" stAng="5400000" swAng="5400000"/>
                <a:lnTo>
                  <a:pt x="0" y="234950"/>
                </a:lnTo>
                <a:arcTo wR="234950" hR="234950" stAng="10800000" swAng="5400000"/>
                <a:close/>
              </a:path>
            </a:pathLst>
          </a:custGeom>
          <a:solidFill>
            <a:srgbClr val="F6F4EE"/>
          </a:solidFill>
          <a:ln w="38100">
            <a:solidFill>
              <a:srgbClr val="2F6FDB"/>
            </a:solidFill>
            <a:prstDash val="solid"/>
          </a:ln>
        </p:spPr>
        <p:txBody>
          <a:bodyPr wrap="square" lIns="0" tIns="19050" rIns="0" bIns="0" rtlCol="0" anchor="t">
            <a:normAutofit/>
          </a:bodyPr>
          <a:lstStyle/>
          <a:p>
            <a:pPr marL="0" indent="0" algn="ctr">
              <a:lnSpc>
                <a:spcPts val="3406"/>
              </a:lnSpc>
              <a:buNone/>
            </a:pPr>
            <a:r>
              <a:rPr lang="en-US" sz="1300" b="1" dirty="0">
                <a:solidFill>
                  <a:srgbClr val="16202C"/>
                </a:solidFill>
                <a:latin typeface="JetBrains Mono" pitchFamily="34" charset="0"/>
                <a:ea typeface="JetBrains Mono" pitchFamily="34" charset="-122"/>
                <a:cs typeface="JetBrains Mono" pitchFamily="34" charset="-120"/>
              </a:rPr>
              <a:t>R</a:t>
            </a:r>
            <a:endParaRPr lang="en-US" sz="1300" dirty="0"/>
          </a:p>
        </p:txBody>
      </p:sp>
      <p:sp>
        <p:nvSpPr>
          <p:cNvPr id="24" name="Text 17"/>
          <p:cNvSpPr/>
          <p:nvPr/>
        </p:nvSpPr>
        <p:spPr>
          <a:xfrm>
            <a:off x="6616700" y="3949502"/>
            <a:ext cx="4656836" cy="504031"/>
          </a:xfrm>
          <a:prstGeom prst="rect">
            <a:avLst/>
          </a:prstGeom>
          <a:noFill/>
          <a:ln/>
        </p:spPr>
        <p:txBody>
          <a:bodyPr wrap="square" lIns="0" tIns="0" rIns="0" bIns="0" rtlCol="0" anchor="t">
            <a:normAutofit/>
          </a:bodyPr>
          <a:lstStyle/>
          <a:p>
            <a:pPr marL="198120" indent="-168656" algn="l">
              <a:lnSpc>
                <a:spcPts val="1885"/>
              </a:lnSpc>
              <a:buSzPct val="100000"/>
              <a:buChar char="•"/>
            </a:pPr>
            <a:r>
              <a:rPr lang="en-US" sz="1300" dirty="0">
                <a:solidFill>
                  <a:srgbClr val="16202C"/>
                </a:solidFill>
                <a:latin typeface="IBM Plex Sans" pitchFamily="34" charset="0"/>
                <a:ea typeface="IBM Plex Sans" pitchFamily="34" charset="-122"/>
                <a:cs typeface="IBM Plex Sans" pitchFamily="34" charset="-120"/>
              </a:rPr>
              <a:t>C3 geçmişte kalır, R onu nötrler. Normal push yeter.</a:t>
            </a:r>
            <a:endParaRPr lang="en-US" sz="1300" dirty="0"/>
          </a:p>
          <a:p>
            <a:pPr marL="198120" indent="-168656" algn="l">
              <a:lnSpc>
                <a:spcPts val="1885"/>
              </a:lnSpc>
              <a:buSzPct val="100000"/>
              <a:buChar char="•"/>
            </a:pPr>
            <a:r>
              <a:rPr lang="en-US" sz="1300" dirty="0">
                <a:solidFill>
                  <a:srgbClr val="16202C"/>
                </a:solidFill>
                <a:latin typeface="IBM Plex Sans" pitchFamily="34" charset="0"/>
                <a:ea typeface="IBM Plex Sans" pitchFamily="34" charset="-122"/>
                <a:cs typeface="IBM Plex Sans" pitchFamily="34" charset="-120"/>
              </a:rPr>
              <a:t>Paylaşılmış commit'ler için doğru yol.</a:t>
            </a:r>
            <a:endParaRPr lang="en-US" sz="1300" dirty="0"/>
          </a:p>
        </p:txBody>
      </p:sp>
      <p:sp>
        <p:nvSpPr>
          <p:cNvPr id="25" name="Shape 18"/>
          <p:cNvSpPr/>
          <p:nvPr/>
        </p:nvSpPr>
        <p:spPr>
          <a:xfrm>
            <a:off x="812800" y="4923433"/>
            <a:ext cx="10566400" cy="584200"/>
          </a:xfrm>
          <a:prstGeom prst="roundRect">
            <a:avLst>
              <a:gd name="adj" fmla="val 17391"/>
            </a:avLst>
          </a:prstGeom>
          <a:solidFill>
            <a:srgbClr val="16202C"/>
          </a:solidFill>
          <a:ln/>
        </p:spPr>
      </p:sp>
      <p:pic>
        <p:nvPicPr>
          <p:cNvPr id="26" name="Image 5" descr="Lightbulb"/>
          <p:cNvPicPr>
            <a:picLocks noChangeAspect="1"/>
          </p:cNvPicPr>
          <p:nvPr/>
        </p:nvPicPr>
        <p:blipFill>
          <a:blip r:embed="rId5"/>
          <a:srcRect/>
          <a:stretch/>
        </p:blipFill>
        <p:spPr>
          <a:xfrm>
            <a:off x="1041400" y="5075833"/>
            <a:ext cx="279400" cy="279400"/>
          </a:xfrm>
          <a:prstGeom prst="rect">
            <a:avLst/>
          </a:prstGeom>
        </p:spPr>
      </p:pic>
      <p:sp>
        <p:nvSpPr>
          <p:cNvPr id="27" name="Text 19"/>
          <p:cNvSpPr/>
          <p:nvPr/>
        </p:nvSpPr>
        <p:spPr>
          <a:xfrm>
            <a:off x="1447800" y="5082183"/>
            <a:ext cx="451846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Kural:</a:t>
            </a:r>
            <a:r>
              <a:rPr lang="en-US" sz="1500" dirty="0">
                <a:solidFill>
                  <a:srgbClr val="F6F4EE"/>
                </a:solidFill>
                <a:latin typeface="IBM Plex Sans" pitchFamily="34" charset="0"/>
                <a:ea typeface="IBM Plex Sans" pitchFamily="34" charset="-122"/>
                <a:cs typeface="IBM Plex Sans" pitchFamily="34" charset="-120"/>
              </a:rPr>
              <a:t> push etmediysen reset, push ettiysen revert.</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6F4EE"/>
        </a:solidFill>
        <a:effectLst/>
      </p:bgPr>
    </p:bg>
    <p:spTree>
      <p:nvGrpSpPr>
        <p:cNvPr id="1" name=""/>
        <p:cNvGrpSpPr/>
        <p:nvPr/>
      </p:nvGrpSpPr>
      <p:grpSpPr>
        <a:xfrm>
          <a:off x="0" y="0"/>
          <a:ext cx="0" cy="0"/>
          <a:chOff x="0" y="0"/>
          <a:chExt cx="0" cy="0"/>
        </a:xfrm>
      </p:grpSpPr>
      <p:pic>
        <p:nvPicPr>
          <p:cNvPr id="2" name="Image 0" descr="Play"/>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187184"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CANLI DEMO · REVERT</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Push edilmiş bir hatayı geri almak</a:t>
            </a:r>
            <a:endParaRPr lang="en-US" sz="3600" dirty="0"/>
          </a:p>
        </p:txBody>
      </p:sp>
      <p:sp>
        <p:nvSpPr>
          <p:cNvPr id="5" name="Text 2"/>
          <p:cNvSpPr/>
          <p:nvPr/>
        </p:nvSpPr>
        <p:spPr>
          <a:xfrm>
            <a:off x="812800" y="1953121"/>
            <a:ext cx="6421140" cy="3073400"/>
          </a:xfrm>
          <a:prstGeom prst="roundRect">
            <a:avLst>
              <a:gd name="adj" fmla="val 3306"/>
            </a:avLst>
          </a:prstGeom>
          <a:solidFill>
            <a:srgbClr val="16202C"/>
          </a:solidFill>
          <a:ln/>
        </p:spPr>
        <p:txBody>
          <a:bodyPr wrap="square" lIns="224242" tIns="173442" rIns="46848" bIns="148042" rtlCol="0" anchor="t">
            <a:normAutofit/>
          </a:bodyPr>
          <a:lstStyle/>
          <a:p>
            <a:pPr marL="0" indent="0" algn="l">
              <a:lnSpc>
                <a:spcPts val="2100"/>
              </a:lnSpc>
              <a:buNone/>
            </a:pPr>
            <a:r>
              <a:rPr lang="en-US" sz="1400" dirty="0">
                <a:solidFill>
                  <a:srgbClr val="9AA7B6"/>
                </a:solidFill>
                <a:latin typeface="JetBrains Mono" pitchFamily="34" charset="0"/>
                <a:ea typeface="JetBrains Mono" pitchFamily="34" charset="-122"/>
                <a:cs typeface="JetBrains Mono" pitchFamily="34" charset="-120"/>
              </a:rPr>
              <a:t># 1. hatalı commit'i at ve paylaş</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echo "hatali satir" &gt;&gt; app.txt</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commit -am </a:t>
            </a:r>
            <a:r>
              <a:rPr lang="en-US" sz="1400" dirty="0">
                <a:solidFill>
                  <a:srgbClr val="F7A46B"/>
                </a:solidFill>
                <a:latin typeface="JetBrains Mono" pitchFamily="34" charset="0"/>
                <a:ea typeface="JetBrains Mono" pitchFamily="34" charset="-122"/>
                <a:cs typeface="JetBrains Mono" pitchFamily="34" charset="-120"/>
              </a:rPr>
              <a:t>"feat: hatali ozellik"</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push</a:t>
            </a:r>
            <a:endParaRPr lang="en-US" sz="1400" dirty="0"/>
          </a:p>
          <a:p>
            <a:pPr marL="0" indent="0" algn="l">
              <a:lnSpc>
                <a:spcPts val="2100"/>
              </a:lnSpc>
              <a:buNone/>
            </a:pPr>
            <a:r>
              <a:rPr lang="en-US" sz="1400" dirty="0">
                <a:solidFill>
                  <a:srgbClr val="9AA7B6"/>
                </a:solidFill>
                <a:latin typeface="JetBrains Mono" pitchFamily="34" charset="0"/>
                <a:ea typeface="JetBrains Mono" pitchFamily="34" charset="-122"/>
                <a:cs typeface="JetBrains Mono" pitchFamily="34" charset="-120"/>
              </a:rPr>
              <a:t># 2. hash'i bul ve geri al</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log --oneline</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revert </a:t>
            </a:r>
            <a:r>
              <a:rPr lang="en-US" sz="1400" dirty="0">
                <a:solidFill>
                  <a:srgbClr val="F7A46B"/>
                </a:solidFill>
                <a:latin typeface="JetBrains Mono" pitchFamily="34" charset="0"/>
                <a:ea typeface="JetBrains Mono" pitchFamily="34" charset="-122"/>
                <a:cs typeface="JetBrains Mono" pitchFamily="34" charset="-120"/>
              </a:rPr>
              <a:t>3f2a1b9</a:t>
            </a:r>
            <a:endParaRPr lang="en-US" sz="1400" dirty="0"/>
          </a:p>
          <a:p>
            <a:pPr marL="0" indent="0" algn="l">
              <a:lnSpc>
                <a:spcPts val="2100"/>
              </a:lnSpc>
              <a:buNone/>
            </a:pPr>
            <a:r>
              <a:rPr lang="en-US" sz="1400" dirty="0">
                <a:solidFill>
                  <a:srgbClr val="9AA7B6"/>
                </a:solidFill>
                <a:latin typeface="JetBrains Mono" pitchFamily="34" charset="0"/>
                <a:ea typeface="JetBrains Mono" pitchFamily="34" charset="-122"/>
                <a:cs typeface="JetBrains Mono" pitchFamily="34" charset="-120"/>
              </a:rPr>
              <a:t># 3. kontrol et ve paylaş</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log --oneline</a:t>
            </a:r>
            <a:endParaRPr lang="en-US" sz="1400" dirty="0"/>
          </a:p>
          <a:p>
            <a:pPr marL="0" indent="0" algn="l">
              <a:lnSpc>
                <a:spcPts val="2100"/>
              </a:lnSpc>
              <a:buNone/>
            </a:pPr>
            <a:r>
              <a:rPr lang="en-US" sz="1400" dirty="0">
                <a:solidFill>
                  <a:srgbClr val="F6F4EE"/>
                </a:solidFill>
                <a:latin typeface="JetBrains Mono" pitchFamily="34" charset="0"/>
                <a:ea typeface="JetBrains Mono" pitchFamily="34" charset="-122"/>
                <a:cs typeface="JetBrains Mono" pitchFamily="34" charset="-120"/>
              </a:rPr>
              <a:t>git push </a:t>
            </a:r>
            <a:r>
              <a:rPr lang="en-US" sz="1400" dirty="0">
                <a:solidFill>
                  <a:srgbClr val="9AA7B6"/>
                </a:solidFill>
                <a:latin typeface="JetBrains Mono" pitchFamily="34" charset="0"/>
                <a:ea typeface="JetBrains Mono" pitchFamily="34" charset="-122"/>
                <a:cs typeface="JetBrains Mono" pitchFamily="34" charset="-120"/>
              </a:rPr>
              <a:t># --force gerekmez</a:t>
            </a:r>
            <a:endParaRPr lang="en-US" sz="1400" dirty="0"/>
          </a:p>
        </p:txBody>
      </p:sp>
      <p:sp>
        <p:nvSpPr>
          <p:cNvPr id="6" name="Shape 3"/>
          <p:cNvSpPr/>
          <p:nvPr/>
        </p:nvSpPr>
        <p:spPr>
          <a:xfrm>
            <a:off x="7443490" y="1959471"/>
            <a:ext cx="3929360" cy="1512391"/>
          </a:xfrm>
          <a:prstGeom prst="roundRect">
            <a:avLst>
              <a:gd name="adj" fmla="val 7977"/>
            </a:avLst>
          </a:prstGeom>
          <a:solidFill>
            <a:srgbClr val="FDFCF9"/>
          </a:solidFill>
          <a:ln w="12700">
            <a:solidFill>
              <a:srgbClr val="E2DDD0"/>
            </a:solidFill>
            <a:prstDash val="solid"/>
          </a:ln>
        </p:spPr>
      </p:sp>
      <p:sp>
        <p:nvSpPr>
          <p:cNvPr id="7" name="Text 4"/>
          <p:cNvSpPr/>
          <p:nvPr/>
        </p:nvSpPr>
        <p:spPr>
          <a:xfrm>
            <a:off x="7653040" y="2169021"/>
            <a:ext cx="361556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EDİTÖRSÜZ</a:t>
            </a:r>
            <a:endParaRPr lang="en-US" sz="1300" dirty="0"/>
          </a:p>
        </p:txBody>
      </p:sp>
      <p:sp>
        <p:nvSpPr>
          <p:cNvPr id="8" name="Text 5"/>
          <p:cNvSpPr/>
          <p:nvPr/>
        </p:nvSpPr>
        <p:spPr>
          <a:xfrm>
            <a:off x="7653040" y="2476302"/>
            <a:ext cx="361556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16202C"/>
                </a:solidFill>
                <a:latin typeface="JetBrains Mono" pitchFamily="34" charset="0"/>
                <a:ea typeface="JetBrains Mono" pitchFamily="34" charset="-122"/>
                <a:cs typeface="JetBrains Mono" pitchFamily="34" charset="-120"/>
              </a:rPr>
              <a:t>git revert --no-edit 3f2a1b9</a:t>
            </a:r>
            <a:endParaRPr lang="en-US" sz="1300" dirty="0"/>
          </a:p>
        </p:txBody>
      </p:sp>
      <p:sp>
        <p:nvSpPr>
          <p:cNvPr id="9" name="Text 6"/>
          <p:cNvSpPr/>
          <p:nvPr/>
        </p:nvSpPr>
        <p:spPr>
          <a:xfrm>
            <a:off x="7653040" y="2800152"/>
            <a:ext cx="361556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6"/>
                </a:solidFill>
                <a:latin typeface="IBM Plex Sans" pitchFamily="34" charset="0"/>
                <a:ea typeface="IBM Plex Sans" pitchFamily="34" charset="-122"/>
                <a:cs typeface="IBM Plex Sans" pitchFamily="34" charset="-120"/>
              </a:rPr>
              <a:t>Varsayılan "Revert ..." mesajıyla hemen commit atar.</a:t>
            </a:r>
            <a:endParaRPr lang="en-US" sz="1300" dirty="0"/>
          </a:p>
        </p:txBody>
      </p:sp>
      <p:sp>
        <p:nvSpPr>
          <p:cNvPr id="10" name="Shape 7"/>
          <p:cNvSpPr/>
          <p:nvPr/>
        </p:nvSpPr>
        <p:spPr>
          <a:xfrm>
            <a:off x="7437140" y="3630613"/>
            <a:ext cx="3942060" cy="1175841"/>
          </a:xfrm>
          <a:prstGeom prst="roundRect">
            <a:avLst>
              <a:gd name="adj" fmla="val 10801"/>
            </a:avLst>
          </a:prstGeom>
          <a:solidFill>
            <a:srgbClr val="FBE9DC"/>
          </a:solidFill>
          <a:ln/>
        </p:spPr>
      </p:sp>
      <p:pic>
        <p:nvPicPr>
          <p:cNvPr id="11" name="Image 1" descr="Warning"/>
          <p:cNvPicPr>
            <a:picLocks noChangeAspect="1"/>
          </p:cNvPicPr>
          <p:nvPr/>
        </p:nvPicPr>
        <p:blipFill>
          <a:blip r:embed="rId4"/>
          <a:srcRect/>
          <a:stretch/>
        </p:blipFill>
        <p:spPr>
          <a:xfrm>
            <a:off x="7640340" y="3835003"/>
            <a:ext cx="228600" cy="228600"/>
          </a:xfrm>
          <a:prstGeom prst="rect">
            <a:avLst/>
          </a:prstGeom>
        </p:spPr>
      </p:pic>
      <p:sp>
        <p:nvSpPr>
          <p:cNvPr id="12" name="Text 8"/>
          <p:cNvSpPr/>
          <p:nvPr/>
        </p:nvSpPr>
        <p:spPr>
          <a:xfrm>
            <a:off x="7945140" y="3833812"/>
            <a:ext cx="5461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TUZAK</a:t>
            </a:r>
            <a:endParaRPr lang="en-US" sz="1300" dirty="0"/>
          </a:p>
        </p:txBody>
      </p:sp>
      <p:sp>
        <p:nvSpPr>
          <p:cNvPr id="13" name="Text 9"/>
          <p:cNvSpPr/>
          <p:nvPr/>
        </p:nvSpPr>
        <p:spPr>
          <a:xfrm>
            <a:off x="7640340" y="4141093"/>
            <a:ext cx="364173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Conflict çıkarsa: düzelt, git add, </a:t>
            </a:r>
            <a:r>
              <a:rPr lang="en-US" sz="1300" b="1" dirty="0">
                <a:solidFill>
                  <a:srgbClr val="16202C"/>
                </a:solidFill>
                <a:latin typeface="IBM Plex Sans" pitchFamily="34" charset="0"/>
                <a:ea typeface="IBM Plex Sans" pitchFamily="34" charset="-122"/>
                <a:cs typeface="IBM Plex Sans" pitchFamily="34" charset="-120"/>
              </a:rPr>
              <a:t>git revert --continue</a:t>
            </a:r>
            <a:r>
              <a:rPr lang="en-US" sz="1300" dirty="0">
                <a:solidFill>
                  <a:srgbClr val="16202C"/>
                </a:solidFill>
                <a:latin typeface="IBM Plex Sans" pitchFamily="34" charset="0"/>
                <a:ea typeface="IBM Plex Sans" pitchFamily="34" charset="-122"/>
                <a:cs typeface="IBM Plex Sans" pitchFamily="34" charset="-120"/>
              </a:rPr>
              <a:t>. Vazgeçmek için --abort.</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8 · STASH</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git stash: yarım işi rafa kaldır</a:t>
            </a:r>
            <a:endParaRPr lang="en-US" sz="3600" dirty="0"/>
          </a:p>
        </p:txBody>
      </p:sp>
      <p:sp>
        <p:nvSpPr>
          <p:cNvPr id="4" name="Text 2"/>
          <p:cNvSpPr/>
          <p:nvPr/>
        </p:nvSpPr>
        <p:spPr>
          <a:xfrm>
            <a:off x="812800" y="1902321"/>
            <a:ext cx="108833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6"/>
                </a:solidFill>
                <a:latin typeface="IBM Plex Sans" pitchFamily="34" charset="0"/>
                <a:ea typeface="IBM Plex Sans" pitchFamily="34" charset="-122"/>
                <a:cs typeface="IBM Plex Sans" pitchFamily="34" charset="-120"/>
              </a:rPr>
              <a:t>Senaryo:</a:t>
            </a:r>
            <a:r>
              <a:rPr lang="en-US" sz="1500" dirty="0">
                <a:solidFill>
                  <a:srgbClr val="4A5566"/>
                </a:solidFill>
                <a:latin typeface="IBM Plex Sans" pitchFamily="34" charset="0"/>
                <a:ea typeface="IBM Plex Sans" pitchFamily="34" charset="-122"/>
                <a:cs typeface="IBM Plex Sans" pitchFamily="34" charset="-120"/>
              </a:rPr>
              <a:t> feature/login'de yarım bir iş var. Acil bir hata için main'e geçmen gerek, ama yarım kodu commit etmek istemiyorsun.</a:t>
            </a:r>
            <a:endParaRPr lang="en-US" sz="1500" dirty="0"/>
          </a:p>
        </p:txBody>
      </p:sp>
      <p:sp>
        <p:nvSpPr>
          <p:cNvPr id="5" name="Shape 3"/>
          <p:cNvSpPr/>
          <p:nvPr/>
        </p:nvSpPr>
        <p:spPr>
          <a:xfrm>
            <a:off x="819150" y="2696071"/>
            <a:ext cx="4038600" cy="2026741"/>
          </a:xfrm>
          <a:prstGeom prst="roundRect">
            <a:avLst>
              <a:gd name="adj" fmla="val 5953"/>
            </a:avLst>
          </a:prstGeom>
          <a:solidFill>
            <a:srgbClr val="FDFCF9"/>
          </a:solidFill>
          <a:ln w="12700">
            <a:solidFill>
              <a:srgbClr val="E2DDD0"/>
            </a:solidFill>
            <a:prstDash val="solid"/>
          </a:ln>
        </p:spPr>
      </p:sp>
      <p:sp>
        <p:nvSpPr>
          <p:cNvPr id="6" name="Text 4"/>
          <p:cNvSpPr/>
          <p:nvPr/>
        </p:nvSpPr>
        <p:spPr>
          <a:xfrm>
            <a:off x="1054100" y="2931021"/>
            <a:ext cx="367576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FDB"/>
                </a:solidFill>
                <a:latin typeface="JetBrains Mono" pitchFamily="34" charset="0"/>
                <a:ea typeface="JetBrains Mono" pitchFamily="34" charset="-122"/>
                <a:cs typeface="JetBrains Mono" pitchFamily="34" charset="-120"/>
              </a:rPr>
              <a:t>ÇALIŞMA ALANI</a:t>
            </a:r>
            <a:endParaRPr lang="en-US" sz="1300" dirty="0"/>
          </a:p>
        </p:txBody>
      </p:sp>
      <p:sp>
        <p:nvSpPr>
          <p:cNvPr id="7" name="Text 5"/>
          <p:cNvSpPr/>
          <p:nvPr/>
        </p:nvSpPr>
        <p:spPr>
          <a:xfrm>
            <a:off x="1054100" y="3263702"/>
            <a:ext cx="367576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C"/>
                </a:solidFill>
                <a:latin typeface="Space Grotesk" pitchFamily="34" charset="0"/>
                <a:ea typeface="Space Grotesk" pitchFamily="34" charset="-122"/>
                <a:cs typeface="Space Grotesk" pitchFamily="34" charset="-120"/>
              </a:rPr>
              <a:t>feature/login</a:t>
            </a:r>
            <a:endParaRPr lang="en-US" sz="2000" dirty="0"/>
          </a:p>
        </p:txBody>
      </p:sp>
      <p:sp>
        <p:nvSpPr>
          <p:cNvPr id="8" name="Text 6"/>
          <p:cNvSpPr/>
          <p:nvPr/>
        </p:nvSpPr>
        <p:spPr>
          <a:xfrm>
            <a:off x="1054100" y="3670102"/>
            <a:ext cx="3568700" cy="358080"/>
          </a:xfrm>
          <a:prstGeom prst="roundRect">
            <a:avLst>
              <a:gd name="adj" fmla="val 17733"/>
            </a:avLst>
          </a:prstGeom>
          <a:solidFill>
            <a:srgbClr val="FBE9DC"/>
          </a:solidFill>
          <a:ln/>
        </p:spPr>
        <p:txBody>
          <a:bodyPr wrap="square" lIns="108401" tIns="44901" rIns="8960" bIns="19501" rtlCol="0" anchor="t">
            <a:normAutofit/>
          </a:bodyPr>
          <a:lstStyle/>
          <a:p>
            <a:pPr marL="0" indent="0" algn="l">
              <a:lnSpc>
                <a:spcPts val="1820"/>
              </a:lnSpc>
              <a:buNone/>
            </a:pPr>
            <a:r>
              <a:rPr lang="en-US" sz="1300" dirty="0">
                <a:solidFill>
                  <a:srgbClr val="16202C"/>
                </a:solidFill>
                <a:latin typeface="JetBrains Mono" pitchFamily="34" charset="0"/>
                <a:ea typeface="JetBrains Mono" pitchFamily="34" charset="-122"/>
                <a:cs typeface="JetBrains Mono" pitchFamily="34" charset="-120"/>
              </a:rPr>
              <a:t>M login.js</a:t>
            </a:r>
            <a:endParaRPr lang="en-US" sz="1300" dirty="0"/>
          </a:p>
        </p:txBody>
      </p:sp>
      <p:sp>
        <p:nvSpPr>
          <p:cNvPr id="9" name="Text 7"/>
          <p:cNvSpPr/>
          <p:nvPr/>
        </p:nvSpPr>
        <p:spPr>
          <a:xfrm>
            <a:off x="1054100" y="4129782"/>
            <a:ext cx="3568700" cy="358080"/>
          </a:xfrm>
          <a:prstGeom prst="roundRect">
            <a:avLst>
              <a:gd name="adj" fmla="val 17733"/>
            </a:avLst>
          </a:prstGeom>
          <a:solidFill>
            <a:srgbClr val="FBE9DC"/>
          </a:solidFill>
          <a:ln/>
        </p:spPr>
        <p:txBody>
          <a:bodyPr wrap="square" lIns="108401" tIns="44901" rIns="8960" bIns="19501" rtlCol="0" anchor="t">
            <a:normAutofit/>
          </a:bodyPr>
          <a:lstStyle/>
          <a:p>
            <a:pPr marL="0" indent="0" algn="l">
              <a:lnSpc>
                <a:spcPts val="1820"/>
              </a:lnSpc>
              <a:buNone/>
            </a:pPr>
            <a:r>
              <a:rPr lang="en-US" sz="1300" dirty="0">
                <a:solidFill>
                  <a:srgbClr val="16202C"/>
                </a:solidFill>
                <a:latin typeface="JetBrains Mono" pitchFamily="34" charset="0"/>
                <a:ea typeface="JetBrains Mono" pitchFamily="34" charset="-122"/>
                <a:cs typeface="JetBrains Mono" pitchFamily="34" charset="-120"/>
              </a:rPr>
              <a:t>M style.css</a:t>
            </a:r>
            <a:endParaRPr lang="en-US" sz="1300" dirty="0"/>
          </a:p>
        </p:txBody>
      </p:sp>
      <p:sp>
        <p:nvSpPr>
          <p:cNvPr id="10" name="Text 8"/>
          <p:cNvSpPr/>
          <p:nvPr/>
        </p:nvSpPr>
        <p:spPr>
          <a:xfrm>
            <a:off x="5615880" y="2914452"/>
            <a:ext cx="101094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8430A"/>
                </a:solidFill>
                <a:latin typeface="JetBrains Mono" pitchFamily="34" charset="0"/>
                <a:ea typeface="JetBrains Mono" pitchFamily="34" charset="-122"/>
                <a:cs typeface="JetBrains Mono" pitchFamily="34" charset="-120"/>
              </a:rPr>
              <a:t>git stash</a:t>
            </a:r>
            <a:endParaRPr lang="en-US" sz="1400" dirty="0"/>
          </a:p>
        </p:txBody>
      </p:sp>
      <p:pic>
        <p:nvPicPr>
          <p:cNvPr id="11" name="Image 0" descr="arrow-right"/>
          <p:cNvPicPr>
            <a:picLocks noChangeAspect="1"/>
          </p:cNvPicPr>
          <p:nvPr/>
        </p:nvPicPr>
        <p:blipFill>
          <a:blip r:embed="rId3"/>
          <a:srcRect/>
          <a:stretch/>
        </p:blipFill>
        <p:spPr>
          <a:xfrm>
            <a:off x="5397500" y="3214092"/>
            <a:ext cx="1397000" cy="406400"/>
          </a:xfrm>
          <a:prstGeom prst="rect">
            <a:avLst/>
          </a:prstGeom>
        </p:spPr>
      </p:pic>
      <p:pic>
        <p:nvPicPr>
          <p:cNvPr id="12" name="Image 1" descr="arrow-left"/>
          <p:cNvPicPr>
            <a:picLocks noChangeAspect="1"/>
          </p:cNvPicPr>
          <p:nvPr/>
        </p:nvPicPr>
        <p:blipFill>
          <a:blip r:embed="rId4"/>
          <a:srcRect/>
          <a:stretch/>
        </p:blipFill>
        <p:spPr>
          <a:xfrm>
            <a:off x="5397500" y="3798292"/>
            <a:ext cx="1397000" cy="406400"/>
          </a:xfrm>
          <a:prstGeom prst="rect">
            <a:avLst/>
          </a:prstGeom>
        </p:spPr>
      </p:pic>
      <p:sp>
        <p:nvSpPr>
          <p:cNvPr id="13" name="Text 9"/>
          <p:cNvSpPr/>
          <p:nvPr/>
        </p:nvSpPr>
        <p:spPr>
          <a:xfrm>
            <a:off x="5402560" y="4255492"/>
            <a:ext cx="14376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FDB"/>
                </a:solidFill>
                <a:latin typeface="JetBrains Mono" pitchFamily="34" charset="0"/>
                <a:ea typeface="JetBrains Mono" pitchFamily="34" charset="-122"/>
                <a:cs typeface="JetBrains Mono" pitchFamily="34" charset="-120"/>
              </a:rPr>
              <a:t>git stash pop</a:t>
            </a:r>
            <a:endParaRPr lang="en-US" sz="1400" dirty="0"/>
          </a:p>
        </p:txBody>
      </p:sp>
      <p:sp>
        <p:nvSpPr>
          <p:cNvPr id="14" name="Shape 10"/>
          <p:cNvSpPr/>
          <p:nvPr/>
        </p:nvSpPr>
        <p:spPr>
          <a:xfrm>
            <a:off x="7334250" y="2696071"/>
            <a:ext cx="4038600" cy="2026741"/>
          </a:xfrm>
          <a:prstGeom prst="roundRect">
            <a:avLst>
              <a:gd name="adj" fmla="val 5953"/>
            </a:avLst>
          </a:prstGeom>
          <a:solidFill>
            <a:srgbClr val="16202C"/>
          </a:solidFill>
          <a:ln w="12700">
            <a:solidFill>
              <a:srgbClr val="16202C"/>
            </a:solidFill>
            <a:prstDash val="solid"/>
          </a:ln>
        </p:spPr>
      </p:sp>
      <p:sp>
        <p:nvSpPr>
          <p:cNvPr id="15" name="Text 11"/>
          <p:cNvSpPr/>
          <p:nvPr/>
        </p:nvSpPr>
        <p:spPr>
          <a:xfrm>
            <a:off x="7569200" y="2931021"/>
            <a:ext cx="367576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7A46B"/>
                </a:solidFill>
                <a:latin typeface="JetBrains Mono" pitchFamily="34" charset="0"/>
                <a:ea typeface="JetBrains Mono" pitchFamily="34" charset="-122"/>
                <a:cs typeface="JetBrains Mono" pitchFamily="34" charset="-120"/>
              </a:rPr>
              <a:t>STASH RAFI</a:t>
            </a:r>
            <a:endParaRPr lang="en-US" sz="1300" dirty="0"/>
          </a:p>
        </p:txBody>
      </p:sp>
      <p:sp>
        <p:nvSpPr>
          <p:cNvPr id="16" name="Text 12"/>
          <p:cNvSpPr/>
          <p:nvPr/>
        </p:nvSpPr>
        <p:spPr>
          <a:xfrm>
            <a:off x="7569200" y="3263702"/>
            <a:ext cx="367576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Son giren en üstte</a:t>
            </a:r>
            <a:endParaRPr lang="en-US" sz="2000" dirty="0"/>
          </a:p>
        </p:txBody>
      </p:sp>
      <p:sp>
        <p:nvSpPr>
          <p:cNvPr id="17" name="Text 13"/>
          <p:cNvSpPr/>
          <p:nvPr/>
        </p:nvSpPr>
        <p:spPr>
          <a:xfrm>
            <a:off x="7569200" y="3670102"/>
            <a:ext cx="3568700" cy="358080"/>
          </a:xfrm>
          <a:prstGeom prst="roundRect">
            <a:avLst>
              <a:gd name="adj" fmla="val 17733"/>
            </a:avLst>
          </a:prstGeom>
          <a:solidFill>
            <a:srgbClr val="F08C4B"/>
          </a:solidFill>
          <a:ln/>
        </p:spPr>
        <p:txBody>
          <a:bodyPr wrap="square" lIns="108401" tIns="44901" rIns="8960" bIns="19501" rtlCol="0" anchor="t">
            <a:normAutofit/>
          </a:bodyPr>
          <a:lstStyle/>
          <a:p>
            <a:pPr marL="0" indent="0" algn="l">
              <a:lnSpc>
                <a:spcPts val="1820"/>
              </a:lnSpc>
              <a:buNone/>
            </a:pPr>
            <a:r>
              <a:rPr lang="en-US" sz="1300" dirty="0">
                <a:solidFill>
                  <a:srgbClr val="16202C"/>
                </a:solidFill>
                <a:latin typeface="JetBrains Mono" pitchFamily="34" charset="0"/>
                <a:ea typeface="JetBrains Mono" pitchFamily="34" charset="-122"/>
                <a:cs typeface="JetBrains Mono" pitchFamily="34" charset="-120"/>
              </a:rPr>
              <a:t>stash@{0}: yarim login</a:t>
            </a:r>
            <a:endParaRPr lang="en-US" sz="1300" dirty="0"/>
          </a:p>
        </p:txBody>
      </p:sp>
      <p:sp>
        <p:nvSpPr>
          <p:cNvPr id="18" name="Text 14"/>
          <p:cNvSpPr/>
          <p:nvPr/>
        </p:nvSpPr>
        <p:spPr>
          <a:xfrm>
            <a:off x="7569200" y="4129782"/>
            <a:ext cx="3568700" cy="358080"/>
          </a:xfrm>
          <a:prstGeom prst="roundRect">
            <a:avLst>
              <a:gd name="adj" fmla="val 17733"/>
            </a:avLst>
          </a:prstGeom>
          <a:solidFill>
            <a:srgbClr val="3A4656"/>
          </a:solidFill>
          <a:ln/>
        </p:spPr>
        <p:txBody>
          <a:bodyPr wrap="square" lIns="108401" tIns="44901" rIns="8960" bIns="19501" rtlCol="0" anchor="t">
            <a:normAutofit/>
          </a:bodyPr>
          <a:lstStyle/>
          <a:p>
            <a:pPr marL="0" indent="0" algn="l">
              <a:lnSpc>
                <a:spcPts val="1820"/>
              </a:lnSpc>
              <a:buNone/>
            </a:pPr>
            <a:r>
              <a:rPr lang="en-US" sz="1300" dirty="0">
                <a:solidFill>
                  <a:srgbClr val="F6F4EE"/>
                </a:solidFill>
                <a:latin typeface="JetBrains Mono" pitchFamily="34" charset="0"/>
                <a:ea typeface="JetBrains Mono" pitchFamily="34" charset="-122"/>
                <a:cs typeface="JetBrains Mono" pitchFamily="34" charset="-120"/>
              </a:rPr>
              <a:t>stash@{1}: eski deneme</a:t>
            </a:r>
            <a:endParaRPr lang="en-US" sz="1300" dirty="0"/>
          </a:p>
        </p:txBody>
      </p:sp>
      <p:sp>
        <p:nvSpPr>
          <p:cNvPr id="19" name="Shape 15"/>
          <p:cNvSpPr/>
          <p:nvPr/>
        </p:nvSpPr>
        <p:spPr>
          <a:xfrm>
            <a:off x="812800" y="4983163"/>
            <a:ext cx="10566400" cy="584200"/>
          </a:xfrm>
          <a:prstGeom prst="roundRect">
            <a:avLst>
              <a:gd name="adj" fmla="val 17391"/>
            </a:avLst>
          </a:prstGeom>
          <a:solidFill>
            <a:srgbClr val="E3ECFB"/>
          </a:solidFill>
          <a:ln/>
        </p:spPr>
      </p:sp>
      <p:pic>
        <p:nvPicPr>
          <p:cNvPr id="20" name="Image 2" descr="Lightbulb"/>
          <p:cNvPicPr>
            <a:picLocks noChangeAspect="1"/>
          </p:cNvPicPr>
          <p:nvPr/>
        </p:nvPicPr>
        <p:blipFill>
          <a:blip r:embed="rId5"/>
          <a:srcRect/>
          <a:stretch/>
        </p:blipFill>
        <p:spPr>
          <a:xfrm>
            <a:off x="1016000" y="5135563"/>
            <a:ext cx="279400" cy="279400"/>
          </a:xfrm>
          <a:prstGeom prst="rect">
            <a:avLst/>
          </a:prstGeom>
        </p:spPr>
      </p:pic>
      <p:sp>
        <p:nvSpPr>
          <p:cNvPr id="21" name="Text 16"/>
          <p:cNvSpPr/>
          <p:nvPr/>
        </p:nvSpPr>
        <p:spPr>
          <a:xfrm>
            <a:off x="1397000" y="5141913"/>
            <a:ext cx="951254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Stash sonrası çalışma alanı temiz: dal değiştirebilirsin. Raf </a:t>
            </a:r>
            <a:r>
              <a:rPr lang="en-US" sz="1500" b="1" dirty="0">
                <a:solidFill>
                  <a:srgbClr val="16202C"/>
                </a:solidFill>
                <a:latin typeface="IBM Plex Sans" pitchFamily="34" charset="0"/>
                <a:ea typeface="IBM Plex Sans" pitchFamily="34" charset="-122"/>
                <a:cs typeface="IBM Plex Sans" pitchFamily="34" charset="-120"/>
              </a:rPr>
              <a:t>sadece senin bilgisayarında</a:t>
            </a:r>
            <a:r>
              <a:rPr lang="en-US" sz="1500" dirty="0">
                <a:solidFill>
                  <a:srgbClr val="16202C"/>
                </a:solidFill>
                <a:latin typeface="IBM Plex Sans" pitchFamily="34" charset="0"/>
                <a:ea typeface="IBM Plex Sans" pitchFamily="34" charset="-122"/>
                <a:cs typeface="IBM Plex Sans" pitchFamily="34" charset="-120"/>
              </a:rPr>
              <a:t> durur, push edilmez.</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6F4EE"/>
        </a:solidFill>
        <a:effectLst/>
      </p:bgPr>
    </p:bg>
    <p:spTree>
      <p:nvGrpSpPr>
        <p:cNvPr id="1" name=""/>
        <p:cNvGrpSpPr/>
        <p:nvPr/>
      </p:nvGrpSpPr>
      <p:grpSpPr>
        <a:xfrm>
          <a:off x="0" y="0"/>
          <a:ext cx="0" cy="0"/>
          <a:chOff x="0" y="0"/>
          <a:chExt cx="0" cy="0"/>
        </a:xfrm>
      </p:grpSpPr>
      <p:pic>
        <p:nvPicPr>
          <p:cNvPr id="2" name="Image 0" descr="Play"/>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072010"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CANLI DEMO · STASH</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Rafa kaldır, düzelt, geri al</a:t>
            </a:r>
            <a:endParaRPr lang="en-US" sz="3600" dirty="0"/>
          </a:p>
        </p:txBody>
      </p:sp>
      <p:sp>
        <p:nvSpPr>
          <p:cNvPr id="5" name="Text 2"/>
          <p:cNvSpPr/>
          <p:nvPr/>
        </p:nvSpPr>
        <p:spPr>
          <a:xfrm>
            <a:off x="812800" y="1953121"/>
            <a:ext cx="6400800" cy="3598168"/>
          </a:xfrm>
          <a:prstGeom prst="roundRect">
            <a:avLst>
              <a:gd name="adj" fmla="val 2824"/>
            </a:avLst>
          </a:prstGeom>
          <a:solidFill>
            <a:srgbClr val="16202C"/>
          </a:solidFill>
          <a:ln/>
        </p:spPr>
        <p:txBody>
          <a:bodyPr wrap="square" lIns="198842" tIns="173442" rIns="20534" bIns="148042" rtlCol="0" anchor="t">
            <a:normAutofit/>
          </a:bodyPr>
          <a:lstStyle/>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status </a:t>
            </a:r>
            <a:r>
              <a:rPr lang="en-US" sz="1300" dirty="0">
                <a:solidFill>
                  <a:srgbClr val="9AA7B6"/>
                </a:solidFill>
                <a:latin typeface="JetBrains Mono" pitchFamily="34" charset="0"/>
                <a:ea typeface="JetBrains Mono" pitchFamily="34" charset="-122"/>
                <a:cs typeface="JetBrains Mono" pitchFamily="34" charset="-120"/>
              </a:rPr>
              <a:t># modified: login.js</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stash push -m </a:t>
            </a:r>
            <a:r>
              <a:rPr lang="en-US" sz="1300" dirty="0">
                <a:solidFill>
                  <a:srgbClr val="F7A46B"/>
                </a:solidFill>
                <a:latin typeface="JetBrains Mono" pitchFamily="34" charset="0"/>
                <a:ea typeface="JetBrains Mono" pitchFamily="34" charset="-122"/>
                <a:cs typeface="JetBrains Mono" pitchFamily="34" charset="-120"/>
              </a:rPr>
              <a:t>"yarim login"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status </a:t>
            </a:r>
            <a:r>
              <a:rPr lang="en-US" sz="1300" dirty="0">
                <a:solidFill>
                  <a:srgbClr val="9AA7B6"/>
                </a:solidFill>
                <a:latin typeface="JetBrains Mono" pitchFamily="34" charset="0"/>
                <a:ea typeface="JetBrains Mono" pitchFamily="34" charset="-122"/>
                <a:cs typeface="JetBrains Mono" pitchFamily="34" charset="-120"/>
              </a:rPr>
              <a:t># working tree clean</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acil düzeltme</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main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commit -am </a:t>
            </a:r>
            <a:r>
              <a:rPr lang="en-US" sz="1300" dirty="0">
                <a:solidFill>
                  <a:srgbClr val="F7A46B"/>
                </a:solidFill>
                <a:latin typeface="JetBrains Mono" pitchFamily="34" charset="0"/>
                <a:ea typeface="JetBrains Mono" pitchFamily="34" charset="-122"/>
                <a:cs typeface="JetBrains Mono" pitchFamily="34" charset="-120"/>
              </a:rPr>
              <a:t>"fix: acil hata"</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push</a:t>
            </a:r>
            <a:endParaRPr lang="en-US" sz="1300" dirty="0"/>
          </a:p>
          <a:p>
            <a:pPr marL="0" indent="0" algn="l">
              <a:lnSpc>
                <a:spcPts val="2080"/>
              </a:lnSpc>
              <a:buNone/>
            </a:pPr>
            <a:r>
              <a:rPr lang="en-US" sz="1300" dirty="0">
                <a:solidFill>
                  <a:srgbClr val="9AA7B6"/>
                </a:solidFill>
                <a:latin typeface="JetBrains Mono" pitchFamily="34" charset="0"/>
                <a:ea typeface="JetBrains Mono" pitchFamily="34" charset="-122"/>
                <a:cs typeface="JetBrains Mono" pitchFamily="34" charset="-120"/>
              </a:rPr>
              <a:t># yarım işe dön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switch feature/login</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stash list</a:t>
            </a:r>
            <a:endParaRPr lang="en-US" sz="1300" dirty="0"/>
          </a:p>
          <a:p>
            <a:pPr marL="0" indent="0" algn="l">
              <a:lnSpc>
                <a:spcPts val="2080"/>
              </a:lnSpc>
              <a:buNone/>
            </a:pPr>
            <a:r>
              <a:rPr lang="en-US" sz="1300" dirty="0">
                <a:solidFill>
                  <a:srgbClr val="F6F4EE"/>
                </a:solidFill>
                <a:latin typeface="JetBrains Mono" pitchFamily="34" charset="0"/>
                <a:ea typeface="JetBrains Mono" pitchFamily="34" charset="-122"/>
                <a:cs typeface="JetBrains Mono" pitchFamily="34" charset="-120"/>
              </a:rPr>
              <a:t>git stash pop </a:t>
            </a:r>
            <a:r>
              <a:rPr lang="en-US" sz="1300" dirty="0">
                <a:solidFill>
                  <a:srgbClr val="9AA7B6"/>
                </a:solidFill>
                <a:latin typeface="JetBrains Mono" pitchFamily="34" charset="0"/>
                <a:ea typeface="JetBrains Mono" pitchFamily="34" charset="-122"/>
                <a:cs typeface="JetBrains Mono" pitchFamily="34" charset="-120"/>
              </a:rPr>
              <a:t># yarım iş geri geldi</a:t>
            </a:r>
            <a:endParaRPr lang="en-US" sz="1300" dirty="0"/>
          </a:p>
        </p:txBody>
      </p:sp>
      <p:sp>
        <p:nvSpPr>
          <p:cNvPr id="6" name="Shape 3"/>
          <p:cNvSpPr/>
          <p:nvPr/>
        </p:nvSpPr>
        <p:spPr>
          <a:xfrm>
            <a:off x="7416800" y="1959471"/>
            <a:ext cx="3962400" cy="0"/>
          </a:xfrm>
          <a:prstGeom prst="line">
            <a:avLst/>
          </a:prstGeom>
          <a:noFill/>
          <a:ln w="12700">
            <a:solidFill>
              <a:srgbClr val="141413">
                <a:alpha val="22000"/>
              </a:srgbClr>
            </a:solidFill>
            <a:prstDash val="solid"/>
          </a:ln>
        </p:spPr>
      </p:sp>
      <p:sp>
        <p:nvSpPr>
          <p:cNvPr id="7" name="Shape 4"/>
          <p:cNvSpPr/>
          <p:nvPr/>
        </p:nvSpPr>
        <p:spPr>
          <a:xfrm>
            <a:off x="7423150" y="1953121"/>
            <a:ext cx="0" cy="2320727"/>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43800" y="2042021"/>
          <a:ext cx="3721100" cy="2155626"/>
        </p:xfrm>
        <a:graphic>
          <a:graphicData uri="http://schemas.openxmlformats.org/drawingml/2006/table">
            <a:tbl>
              <a:tblPr/>
              <a:tblGrid>
                <a:gridCol w="1934972">
                  <a:extLst>
                    <a:ext uri="{9D8B030D-6E8A-4147-A177-3AD203B41FA5}">
                      <a16:colId xmlns:a16="http://schemas.microsoft.com/office/drawing/2014/main" val="20000"/>
                    </a:ext>
                  </a:extLst>
                </a:gridCol>
                <a:gridCol w="1786128">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Komut</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Ne yapar?</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stash list</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Rafı listeler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stash pop</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Geri al, raftan sil</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stash apply</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Geri al, rafta tut</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stash drop</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Raftan sil</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stash show -p</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İçeriği göster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bl>
          </a:graphicData>
        </a:graphic>
      </p:graphicFrame>
      <p:sp>
        <p:nvSpPr>
          <p:cNvPr id="9" name="Shape 5"/>
          <p:cNvSpPr/>
          <p:nvPr/>
        </p:nvSpPr>
        <p:spPr>
          <a:xfrm>
            <a:off x="7416800" y="4426248"/>
            <a:ext cx="3962400" cy="1125041"/>
          </a:xfrm>
          <a:prstGeom prst="roundRect">
            <a:avLst>
              <a:gd name="adj" fmla="val 11288"/>
            </a:avLst>
          </a:prstGeom>
          <a:solidFill>
            <a:srgbClr val="FBE9DC"/>
          </a:solidFill>
          <a:ln/>
        </p:spPr>
      </p:sp>
      <p:pic>
        <p:nvPicPr>
          <p:cNvPr id="10" name="Image 1" descr="Warning"/>
          <p:cNvPicPr>
            <a:picLocks noChangeAspect="1"/>
          </p:cNvPicPr>
          <p:nvPr/>
        </p:nvPicPr>
        <p:blipFill>
          <a:blip r:embed="rId4"/>
          <a:srcRect/>
          <a:stretch/>
        </p:blipFill>
        <p:spPr>
          <a:xfrm>
            <a:off x="7594600" y="4605238"/>
            <a:ext cx="228600" cy="228600"/>
          </a:xfrm>
          <a:prstGeom prst="rect">
            <a:avLst/>
          </a:prstGeom>
        </p:spPr>
      </p:pic>
      <p:sp>
        <p:nvSpPr>
          <p:cNvPr id="11" name="Text 6"/>
          <p:cNvSpPr/>
          <p:nvPr/>
        </p:nvSpPr>
        <p:spPr>
          <a:xfrm>
            <a:off x="7899400" y="4604048"/>
            <a:ext cx="5461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30A"/>
                </a:solidFill>
                <a:latin typeface="JetBrains Mono" pitchFamily="34" charset="0"/>
                <a:ea typeface="JetBrains Mono" pitchFamily="34" charset="-122"/>
                <a:cs typeface="JetBrains Mono" pitchFamily="34" charset="-120"/>
              </a:rPr>
              <a:t>TUZAK</a:t>
            </a:r>
            <a:endParaRPr lang="en-US" sz="1300" dirty="0"/>
          </a:p>
        </p:txBody>
      </p:sp>
      <p:sp>
        <p:nvSpPr>
          <p:cNvPr id="12" name="Text 7"/>
          <p:cNvSpPr/>
          <p:nvPr/>
        </p:nvSpPr>
        <p:spPr>
          <a:xfrm>
            <a:off x="7594600" y="4911328"/>
            <a:ext cx="371500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C"/>
                </a:solidFill>
                <a:latin typeface="IBM Plex Sans" pitchFamily="34" charset="0"/>
                <a:ea typeface="IBM Plex Sans" pitchFamily="34" charset="-122"/>
                <a:cs typeface="IBM Plex Sans" pitchFamily="34" charset="-120"/>
              </a:rPr>
              <a:t>Yeni (untracked) dosyalar rafa girmez: </a:t>
            </a:r>
            <a:r>
              <a:rPr lang="en-US" sz="1300" b="1" dirty="0">
                <a:solidFill>
                  <a:srgbClr val="16202C"/>
                </a:solidFill>
                <a:latin typeface="IBM Plex Sans" pitchFamily="34" charset="0"/>
                <a:ea typeface="IBM Plex Sans" pitchFamily="34" charset="-122"/>
                <a:cs typeface="IBM Plex Sans" pitchFamily="34" charset="-120"/>
              </a:rPr>
              <a:t>git stash -u</a:t>
            </a:r>
            <a:r>
              <a:rPr lang="en-US" sz="1300" dirty="0">
                <a:solidFill>
                  <a:srgbClr val="16202C"/>
                </a:solidFill>
                <a:latin typeface="IBM Plex Sans" pitchFamily="34" charset="0"/>
                <a:ea typeface="IBM Plex Sans" pitchFamily="34" charset="-122"/>
                <a:cs typeface="IBM Plex Sans" pitchFamily="34" charset="-120"/>
              </a:rPr>
              <a:t> kullan.</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8 · ÖZET</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Geri alma haritası</a:t>
            </a:r>
            <a:endParaRPr lang="en-US" sz="3600" dirty="0"/>
          </a:p>
        </p:txBody>
      </p:sp>
      <p:sp>
        <p:nvSpPr>
          <p:cNvPr id="4" name="Shape 2"/>
          <p:cNvSpPr/>
          <p:nvPr/>
        </p:nvSpPr>
        <p:spPr>
          <a:xfrm>
            <a:off x="812800" y="1959471"/>
            <a:ext cx="10566400" cy="0"/>
          </a:xfrm>
          <a:prstGeom prst="line">
            <a:avLst/>
          </a:prstGeom>
          <a:noFill/>
          <a:ln w="12700">
            <a:solidFill>
              <a:srgbClr val="141413">
                <a:alpha val="22000"/>
              </a:srgbClr>
            </a:solidFill>
            <a:prstDash val="solid"/>
          </a:ln>
        </p:spPr>
      </p:sp>
      <p:sp>
        <p:nvSpPr>
          <p:cNvPr id="5" name="Shape 3"/>
          <p:cNvSpPr/>
          <p:nvPr/>
        </p:nvSpPr>
        <p:spPr>
          <a:xfrm>
            <a:off x="819150" y="1953121"/>
            <a:ext cx="0" cy="2557066"/>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080121"/>
          <a:ext cx="10248900" cy="2315766"/>
        </p:xfrm>
        <a:graphic>
          <a:graphicData uri="http://schemas.openxmlformats.org/drawingml/2006/table">
            <a:tbl>
              <a:tblPr/>
              <a:tblGrid>
                <a:gridCol w="4304538">
                  <a:extLst>
                    <a:ext uri="{9D8B030D-6E8A-4147-A177-3AD203B41FA5}">
                      <a16:colId xmlns:a16="http://schemas.microsoft.com/office/drawing/2014/main" val="20000"/>
                    </a:ext>
                  </a:extLst>
                </a:gridCol>
                <a:gridCol w="3074670">
                  <a:extLst>
                    <a:ext uri="{9D8B030D-6E8A-4147-A177-3AD203B41FA5}">
                      <a16:colId xmlns:a16="http://schemas.microsoft.com/office/drawing/2014/main" val="20001"/>
                    </a:ext>
                  </a:extLst>
                </a:gridCol>
                <a:gridCol w="2869692">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Durum</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Komut</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tc>
                  <a:txBody>
                    <a:bodyPr/>
                    <a:lstStyle/>
                    <a:p>
                      <a:pPr marL="0" indent="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Geçmiş değişir mi?</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7"/>
                      </a:solidFill>
                      <a:prstDash val="solid"/>
                      <a:round/>
                      <a:headEnd type="none" w="med" len="med"/>
                      <a:tailEnd type="none" w="med" len="med"/>
                    </a:lnL>
                    <a:lnR w="12700" cap="flat" cmpd="sng" algn="ctr">
                      <a:solidFill>
                        <a:srgbClr val="161D27"/>
                      </a:solidFill>
                      <a:prstDash val="solid"/>
                      <a:round/>
                      <a:headEnd type="none" w="med" len="med"/>
                      <a:tailEnd type="none" w="med" len="med"/>
                    </a:lnR>
                    <a:lnT w="0" cap="flat" cmpd="sng" algn="ctr">
                      <a:noFill/>
                    </a:lnT>
                    <a:lnB w="12700" cap="flat" cmpd="sng" algn="ctr">
                      <a:solidFill>
                        <a:srgbClr val="161D27"/>
                      </a:solidFill>
                      <a:prstDash val="solid"/>
                      <a:round/>
                      <a:headEnd type="none" w="med" len="med"/>
                      <a:tailEnd type="none" w="med" len="med"/>
                    </a:lnB>
                    <a:solidFill>
                      <a:srgbClr val="16202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Yarım işi geçici olarak kaldır</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stash</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Hayır</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Stage'i boşalt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reset</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Hayır</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Push etmediğin son commit'i geri al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reset --soft HEAD~1</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Evet, sadece yerelde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Push ettiğin commit'i geri al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5BCC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revert &lt;hash&gt;</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Hayır, yeni commit eklenir</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Kaybolan commit'i bul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FBCB5"/>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git reflog</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960"/>
                        </a:lnSpc>
                        <a:buNone/>
                      </a:pPr>
                      <a:r>
                        <a:rPr lang="en-US" sz="1400" dirty="0">
                          <a:solidFill>
                            <a:srgbClr val="16202C"/>
                          </a:solidFill>
                          <a:latin typeface="IBM Plex Sans" pitchFamily="34" charset="0"/>
                          <a:ea typeface="IBM Plex Sans" pitchFamily="34" charset="-122"/>
                          <a:cs typeface="IBM Plex Sans" pitchFamily="34" charset="-120"/>
                        </a:rPr>
                        <a:t>Hayır</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5"/>
                  </a:ext>
                </a:extLst>
              </a:tr>
            </a:tbl>
          </a:graphicData>
        </a:graphic>
      </p:graphicFrame>
      <p:sp>
        <p:nvSpPr>
          <p:cNvPr id="7" name="Text 4"/>
          <p:cNvSpPr/>
          <p:nvPr/>
        </p:nvSpPr>
        <p:spPr>
          <a:xfrm>
            <a:off x="812800" y="4814987"/>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6"/>
                </a:solidFill>
                <a:latin typeface="IBM Plex Sans" pitchFamily="34" charset="0"/>
                <a:ea typeface="IBM Plex Sans" pitchFamily="34" charset="-122"/>
                <a:cs typeface="IBM Plex Sans" pitchFamily="34" charset="-120"/>
              </a:rPr>
              <a:t>Tek soru: </a:t>
            </a:r>
            <a:r>
              <a:rPr lang="en-US" sz="1500" b="1" dirty="0">
                <a:solidFill>
                  <a:srgbClr val="4A5566"/>
                </a:solidFill>
                <a:latin typeface="IBM Plex Sans" pitchFamily="34" charset="0"/>
                <a:ea typeface="IBM Plex Sans" pitchFamily="34" charset="-122"/>
                <a:cs typeface="IBM Plex Sans" pitchFamily="34" charset="-120"/>
              </a:rPr>
              <a:t>Bu commit'i başkası gördü mü?</a:t>
            </a:r>
            <a:r>
              <a:rPr lang="en-US" sz="1500" dirty="0">
                <a:solidFill>
                  <a:srgbClr val="4A5566"/>
                </a:solidFill>
                <a:latin typeface="IBM Plex Sans" pitchFamily="34" charset="0"/>
                <a:ea typeface="IBM Plex Sans" pitchFamily="34" charset="-122"/>
                <a:cs typeface="IBM Plex Sans" pitchFamily="34" charset="-120"/>
              </a:rPr>
              <a:t> Gördüyse geçmişi yeniden yazma, revert kullan.</a:t>
            </a:r>
            <a:endParaRPr lang="en-US" sz="15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MODÜL 9 · KAPANIŞ</a:t>
            </a:r>
            <a:endParaRPr lang="en-US" sz="1300" dirty="0"/>
          </a:p>
        </p:txBody>
      </p:sp>
      <p:sp>
        <p:nvSpPr>
          <p:cNvPr id="3"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Tek sayfalık kopya kağıdı</a:t>
            </a:r>
            <a:endParaRPr lang="en-US" sz="3600" dirty="0"/>
          </a:p>
        </p:txBody>
      </p:sp>
      <p:sp>
        <p:nvSpPr>
          <p:cNvPr id="4" name="Shape 2"/>
          <p:cNvSpPr/>
          <p:nvPr/>
        </p:nvSpPr>
        <p:spPr>
          <a:xfrm>
            <a:off x="812800" y="1959471"/>
            <a:ext cx="5181600" cy="0"/>
          </a:xfrm>
          <a:prstGeom prst="line">
            <a:avLst/>
          </a:prstGeom>
          <a:noFill/>
          <a:ln w="12700">
            <a:solidFill>
              <a:srgbClr val="141413">
                <a:alpha val="22000"/>
              </a:srgbClr>
            </a:solidFill>
            <a:prstDash val="solid"/>
          </a:ln>
        </p:spPr>
      </p:sp>
      <p:sp>
        <p:nvSpPr>
          <p:cNvPr id="5" name="Shape 3"/>
          <p:cNvSpPr/>
          <p:nvPr/>
        </p:nvSpPr>
        <p:spPr>
          <a:xfrm>
            <a:off x="819150" y="1953121"/>
            <a:ext cx="0" cy="342394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2054721"/>
          <a:ext cx="4914900" cy="3233439"/>
        </p:xfrm>
        <a:graphic>
          <a:graphicData uri="http://schemas.openxmlformats.org/drawingml/2006/table">
            <a:tbl>
              <a:tblPr/>
              <a:tblGrid>
                <a:gridCol w="2555748">
                  <a:extLst>
                    <a:ext uri="{9D8B030D-6E8A-4147-A177-3AD203B41FA5}">
                      <a16:colId xmlns:a16="http://schemas.microsoft.com/office/drawing/2014/main" val="20000"/>
                    </a:ext>
                  </a:extLst>
                </a:gridCol>
                <a:gridCol w="2359152">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Tek başına</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295BAF"/>
                      </a:solidFill>
                      <a:prstDash val="solid"/>
                      <a:round/>
                      <a:headEnd type="none" w="med" len="med"/>
                      <a:tailEnd type="none" w="med" len="med"/>
                    </a:lnR>
                    <a:lnT w="0" cap="flat" cmpd="sng" algn="ctr">
                      <a:noFill/>
                    </a:lnT>
                    <a:lnB w="12700" cap="flat" cmpd="sng" algn="ctr">
                      <a:solidFill>
                        <a:srgbClr val="295BAF"/>
                      </a:solidFill>
                      <a:prstDash val="solid"/>
                      <a:round/>
                      <a:headEnd type="none" w="med" len="med"/>
                      <a:tailEnd type="none" w="med" len="med"/>
                    </a:lnB>
                    <a:solidFill>
                      <a:srgbClr val="2F6FDB"/>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Ne yapar?</a:t>
                      </a:r>
                      <a:endParaRPr lang="en-US" sz="1300" dirty="0">
                        <a:latin typeface="IBM Plex Sans" charset="0"/>
                        <a:ea typeface="IBM Plex Sans" charset="0"/>
                        <a:cs typeface="IBM Plex Sans" charset="0"/>
                      </a:endParaRPr>
                    </a:p>
                  </a:txBody>
                  <a:tcPr marL="57785" marR="57785" marT="57785" marB="57785">
                    <a:lnL w="12700" cap="flat" cmpd="sng" algn="ctr">
                      <a:solidFill>
                        <a:srgbClr val="295BAF"/>
                      </a:solidFill>
                      <a:prstDash val="solid"/>
                      <a:round/>
                      <a:headEnd type="none" w="med" len="med"/>
                      <a:tailEnd type="none" w="med" len="med"/>
                    </a:lnL>
                    <a:lnR w="12700" cap="flat" cmpd="sng" algn="ctr">
                      <a:solidFill>
                        <a:srgbClr val="295BAF"/>
                      </a:solidFill>
                      <a:prstDash val="solid"/>
                      <a:round/>
                      <a:headEnd type="none" w="med" len="med"/>
                      <a:tailEnd type="none" w="med" len="med"/>
                    </a:lnR>
                    <a:lnT w="0" cap="flat" cmpd="sng" algn="ctr">
                      <a:noFill/>
                    </a:lnT>
                    <a:lnB w="12700" cap="flat" cmpd="sng" algn="ctr">
                      <a:solidFill>
                        <a:srgbClr val="295BAF"/>
                      </a:solidFill>
                      <a:prstDash val="solid"/>
                      <a:round/>
                      <a:headEnd type="none" w="med" len="med"/>
                      <a:tailEnd type="none" w="med" len="med"/>
                    </a:lnB>
                    <a:solidFill>
                      <a:srgbClr val="2F6FDB"/>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add . / git commit -m</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295BA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Stage et, kaydet</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95BA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log --oneline --graph</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Geçmişi çiz</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rm --cached dosya</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Takipten çıkar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reset --soft HEAD~1</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Commit'i geri al, kod kalsın</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reset --hard</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Her şeyi sıfırla</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reflog</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Kayıp commit'i bul</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switch -c dal</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Dal aç ve geç</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stash / stash pop</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Yarım işi rafa kaldır</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8"/>
                  </a:ext>
                </a:extLst>
              </a:tr>
            </a:tbl>
          </a:graphicData>
        </a:graphic>
      </p:graphicFrame>
      <p:sp>
        <p:nvSpPr>
          <p:cNvPr id="7" name="Shape 4"/>
          <p:cNvSpPr/>
          <p:nvPr/>
        </p:nvSpPr>
        <p:spPr>
          <a:xfrm>
            <a:off x="6197600" y="1959471"/>
            <a:ext cx="5181600" cy="0"/>
          </a:xfrm>
          <a:prstGeom prst="line">
            <a:avLst/>
          </a:prstGeom>
          <a:noFill/>
          <a:ln w="12700">
            <a:solidFill>
              <a:srgbClr val="141413">
                <a:alpha val="22000"/>
              </a:srgbClr>
            </a:solidFill>
            <a:prstDash val="solid"/>
          </a:ln>
        </p:spPr>
      </p:sp>
      <p:sp>
        <p:nvSpPr>
          <p:cNvPr id="8" name="Shape 5"/>
          <p:cNvSpPr/>
          <p:nvPr/>
        </p:nvSpPr>
        <p:spPr>
          <a:xfrm>
            <a:off x="6203950" y="1953121"/>
            <a:ext cx="0" cy="3423940"/>
          </a:xfrm>
          <a:prstGeom prst="line">
            <a:avLst/>
          </a:prstGeom>
          <a:noFill/>
          <a:ln w="12700">
            <a:solidFill>
              <a:srgbClr val="141413">
                <a:alpha val="22000"/>
              </a:srgbClr>
            </a:solidFill>
            <a:prstDash val="solid"/>
          </a:ln>
        </p:spPr>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337300" y="2054721"/>
          <a:ext cx="4914900" cy="3233439"/>
        </p:xfrm>
        <a:graphic>
          <a:graphicData uri="http://schemas.openxmlformats.org/drawingml/2006/table">
            <a:tbl>
              <a:tblPr/>
              <a:tblGrid>
                <a:gridCol w="2555748">
                  <a:extLst>
                    <a:ext uri="{9D8B030D-6E8A-4147-A177-3AD203B41FA5}">
                      <a16:colId xmlns:a16="http://schemas.microsoft.com/office/drawing/2014/main" val="20000"/>
                    </a:ext>
                  </a:extLst>
                </a:gridCol>
                <a:gridCol w="2359152">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Takımla</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94390C"/>
                      </a:solidFill>
                      <a:prstDash val="solid"/>
                      <a:round/>
                      <a:headEnd type="none" w="med" len="med"/>
                      <a:tailEnd type="none" w="med" len="med"/>
                    </a:lnR>
                    <a:lnT w="0" cap="flat" cmpd="sng" algn="ctr">
                      <a:noFill/>
                    </a:lnT>
                    <a:lnB w="12700" cap="flat" cmpd="sng" algn="ctr">
                      <a:solidFill>
                        <a:srgbClr val="94390C"/>
                      </a:solidFill>
                      <a:prstDash val="solid"/>
                      <a:round/>
                      <a:headEnd type="none" w="med" len="med"/>
                      <a:tailEnd type="none" w="med" len="med"/>
                    </a:lnB>
                    <a:solidFill>
                      <a:srgbClr val="B8430A"/>
                    </a:solidFill>
                  </a:tcPr>
                </a:tc>
                <a:tc>
                  <a:txBody>
                    <a:bodyPr/>
                    <a:lstStyle/>
                    <a:p>
                      <a:pPr marL="0" indent="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Ne yapar?</a:t>
                      </a:r>
                      <a:endParaRPr lang="en-US" sz="1300" dirty="0">
                        <a:latin typeface="IBM Plex Sans" charset="0"/>
                        <a:ea typeface="IBM Plex Sans" charset="0"/>
                        <a:cs typeface="IBM Plex Sans" charset="0"/>
                      </a:endParaRPr>
                    </a:p>
                  </a:txBody>
                  <a:tcPr marL="57785" marR="57785" marT="57785" marB="57785">
                    <a:lnL w="12700" cap="flat" cmpd="sng" algn="ctr">
                      <a:solidFill>
                        <a:srgbClr val="94390C"/>
                      </a:solidFill>
                      <a:prstDash val="solid"/>
                      <a:round/>
                      <a:headEnd type="none" w="med" len="med"/>
                      <a:tailEnd type="none" w="med" len="med"/>
                    </a:lnL>
                    <a:lnR w="12700" cap="flat" cmpd="sng" algn="ctr">
                      <a:solidFill>
                        <a:srgbClr val="94390C"/>
                      </a:solidFill>
                      <a:prstDash val="solid"/>
                      <a:round/>
                      <a:headEnd type="none" w="med" len="med"/>
                      <a:tailEnd type="none" w="med" len="med"/>
                    </a:lnR>
                    <a:lnT w="0" cap="flat" cmpd="sng" algn="ctr">
                      <a:noFill/>
                    </a:lnT>
                    <a:lnB w="12700" cap="flat" cmpd="sng" algn="ctr">
                      <a:solidFill>
                        <a:srgbClr val="94390C"/>
                      </a:solidFill>
                      <a:prstDash val="solid"/>
                      <a:round/>
                      <a:headEnd type="none" w="med" len="med"/>
                      <a:tailEnd type="none" w="med" len="med"/>
                    </a:lnB>
                    <a:solidFill>
                      <a:srgbClr val="B8430A"/>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push -u origin dal</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94390C"/>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Gönder ve bağla</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94390C"/>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fetch --prune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Haritayı güncelle, temizle</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 dal</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FF veya 3-way birleştir</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 --no-ff / --squash</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Kabarcık / tek paket</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merge --abort</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Conflict'ten kaç</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rebase main</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Yeni zemine oturt</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rebase --continue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Conflict sonrası devam</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git revert hash</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marL="0" indent="0">
                        <a:lnSpc>
                          <a:spcPts val="1820"/>
                        </a:lnSpc>
                        <a:buNone/>
                      </a:pPr>
                      <a:r>
                        <a:rPr lang="en-US" sz="1300" dirty="0">
                          <a:solidFill>
                            <a:srgbClr val="16202C"/>
                          </a:solidFill>
                          <a:latin typeface="IBM Plex Sans" pitchFamily="34" charset="0"/>
                          <a:ea typeface="IBM Plex Sans" pitchFamily="34" charset="-122"/>
                          <a:cs typeface="IBM Plex Sans" pitchFamily="34" charset="-120"/>
                        </a:rPr>
                        <a:t>Paylaşılan commit'i geri al</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6F4EE"/>
        </a:solidFill>
        <a:effectLst/>
      </p:bgPr>
    </p:bg>
    <p:spTree>
      <p:nvGrpSpPr>
        <p:cNvPr id="1" name=""/>
        <p:cNvGrpSpPr/>
        <p:nvPr/>
      </p:nvGrpSpPr>
      <p:grpSpPr>
        <a:xfrm>
          <a:off x="0" y="0"/>
          <a:ext cx="0" cy="0"/>
          <a:chOff x="0" y="0"/>
          <a:chExt cx="0" cy="0"/>
        </a:xfrm>
      </p:grpSpPr>
      <p:pic>
        <p:nvPicPr>
          <p:cNvPr id="2" name="Image 0" descr="Tool"/>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3568456"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LAB · 45 DAKİKA · İKİLİ ÇALIŞMA</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Lab: menü uygulaması</a:t>
            </a:r>
            <a:endParaRPr lang="en-US" sz="3600" dirty="0"/>
          </a:p>
        </p:txBody>
      </p:sp>
      <p:sp>
        <p:nvSpPr>
          <p:cNvPr id="5" name="Text 2"/>
          <p:cNvSpPr/>
          <p:nvPr/>
        </p:nvSpPr>
        <p:spPr>
          <a:xfrm>
            <a:off x="1092200" y="1953121"/>
            <a:ext cx="5917824" cy="2202755"/>
          </a:xfrm>
          <a:prstGeom prst="rect">
            <a:avLst/>
          </a:prstGeom>
          <a:noFill/>
          <a:ln/>
        </p:spPr>
        <p:txBody>
          <a:bodyPr wrap="square" lIns="0" tIns="0" rIns="0" bIns="0" rtlCol="0" anchor="t">
            <a:normAutofit/>
          </a:bodyPr>
          <a:lstStyle/>
          <a:p>
            <a:pPr marL="228600" indent="-228600" algn="l">
              <a:lnSpc>
                <a:spcPts val="2250"/>
              </a:lnSpc>
              <a:buSzPct val="100000"/>
              <a:buFontTx/>
              <a:buAutoNum type="arabicPeriod"/>
            </a:pPr>
            <a:r>
              <a:rPr lang="en-US" sz="1500" dirty="0">
                <a:solidFill>
                  <a:srgbClr val="16202C"/>
                </a:solidFill>
                <a:latin typeface="IBM Plex Sans" pitchFamily="34" charset="0"/>
                <a:ea typeface="IBM Plex Sans" pitchFamily="34" charset="-122"/>
                <a:cs typeface="IBM Plex Sans" pitchFamily="34" charset="-120"/>
              </a:rPr>
              <a:t>menu.txt ile repo aç, 2 commit at, GitHub'a push -u ile gönder.</a:t>
            </a:r>
            <a:endParaRPr lang="en-US" sz="1500" dirty="0"/>
          </a:p>
          <a:p>
            <a:pPr marL="228600" indent="-228600" algn="l">
              <a:lnSpc>
                <a:spcPts val="2250"/>
              </a:lnSpc>
              <a:buSzPct val="100000"/>
              <a:buFontTx/>
              <a:buAutoNum type="arabicPeriod"/>
            </a:pPr>
            <a:r>
              <a:rPr lang="en-US" sz="1500" dirty="0">
                <a:solidFill>
                  <a:srgbClr val="16202C"/>
                </a:solidFill>
                <a:latin typeface="IBM Plex Sans" pitchFamily="34" charset="0"/>
                <a:ea typeface="IBM Plex Sans" pitchFamily="34" charset="-122"/>
                <a:cs typeface="IBM Plex Sans" pitchFamily="34" charset="-120"/>
              </a:rPr>
              <a:t>feature/tatlilar dalı aç, 2 commit at.</a:t>
            </a:r>
            <a:endParaRPr lang="en-US" sz="1500" dirty="0"/>
          </a:p>
          <a:p>
            <a:pPr marL="228600" indent="-228600" algn="l">
              <a:lnSpc>
                <a:spcPts val="2250"/>
              </a:lnSpc>
              <a:buSzPct val="100000"/>
              <a:buFontTx/>
              <a:buAutoNum type="arabicPeriod"/>
            </a:pPr>
            <a:r>
              <a:rPr lang="en-US" sz="1500" dirty="0">
                <a:solidFill>
                  <a:srgbClr val="16202C"/>
                </a:solidFill>
                <a:latin typeface="IBM Plex Sans" pitchFamily="34" charset="0"/>
                <a:ea typeface="IBM Plex Sans" pitchFamily="34" charset="-122"/>
                <a:cs typeface="IBM Plex Sans" pitchFamily="34" charset="-120"/>
              </a:rPr>
              <a:t>master'da farklı bir satırı değiştir, 3-way merge yap.</a:t>
            </a:r>
            <a:endParaRPr lang="en-US" sz="1500" dirty="0"/>
          </a:p>
          <a:p>
            <a:pPr marL="228600" indent="-228600" algn="l">
              <a:lnSpc>
                <a:spcPts val="2250"/>
              </a:lnSpc>
              <a:buSzPct val="100000"/>
              <a:buFontTx/>
              <a:buAutoNum type="arabicPeriod"/>
            </a:pPr>
            <a:r>
              <a:rPr lang="en-US" sz="1500" dirty="0">
                <a:solidFill>
                  <a:srgbClr val="16202C"/>
                </a:solidFill>
                <a:latin typeface="IBM Plex Sans" pitchFamily="34" charset="0"/>
                <a:ea typeface="IBM Plex Sans" pitchFamily="34" charset="-122"/>
                <a:cs typeface="IBM Plex Sans" pitchFamily="34" charset="-120"/>
              </a:rPr>
              <a:t>Aynı satırı iki dalda değiştir, conflict'i elle çöz.</a:t>
            </a:r>
            <a:endParaRPr lang="en-US" sz="1500" dirty="0"/>
          </a:p>
          <a:p>
            <a:pPr marL="228600" indent="-228600" algn="l">
              <a:lnSpc>
                <a:spcPts val="2250"/>
              </a:lnSpc>
              <a:buSzPct val="100000"/>
              <a:buFontTx/>
              <a:buAutoNum type="arabicPeriod"/>
            </a:pPr>
            <a:r>
              <a:rPr lang="en-US" sz="1500" dirty="0">
                <a:solidFill>
                  <a:srgbClr val="16202C"/>
                </a:solidFill>
                <a:latin typeface="IBM Plex Sans" pitchFamily="34" charset="0"/>
                <a:ea typeface="IBM Plex Sans" pitchFamily="34" charset="-122"/>
                <a:cs typeface="IBM Plex Sans" pitchFamily="34" charset="-120"/>
              </a:rPr>
              <a:t>Yeni bir dalda aynı işi rebase ile yap, iki log'u karşılaştır.</a:t>
            </a:r>
            <a:endParaRPr lang="en-US" sz="1500" dirty="0"/>
          </a:p>
          <a:p>
            <a:pPr marL="228600" indent="-228600" algn="l">
              <a:lnSpc>
                <a:spcPts val="2250"/>
              </a:lnSpc>
              <a:buSzPct val="100000"/>
              <a:buFontTx/>
              <a:buAutoNum type="arabicPeriod"/>
            </a:pPr>
            <a:r>
              <a:rPr lang="en-US" sz="1500" dirty="0">
                <a:solidFill>
                  <a:srgbClr val="16202C"/>
                </a:solidFill>
                <a:latin typeface="IBM Plex Sans" pitchFamily="34" charset="0"/>
                <a:ea typeface="IBM Plex Sans" pitchFamily="34" charset="-122"/>
                <a:cs typeface="IBM Plex Sans" pitchFamily="34" charset="-120"/>
              </a:rPr>
              <a:t>Bonus: reset --hard ile bir commit'i "kaybet", reflog ile kurtar.</a:t>
            </a:r>
            <a:endParaRPr lang="en-US" sz="1500" dirty="0"/>
          </a:p>
        </p:txBody>
      </p:sp>
      <p:sp>
        <p:nvSpPr>
          <p:cNvPr id="6" name="Shape 3"/>
          <p:cNvSpPr/>
          <p:nvPr/>
        </p:nvSpPr>
        <p:spPr>
          <a:xfrm>
            <a:off x="7040860" y="1953121"/>
            <a:ext cx="4338340" cy="2177355"/>
          </a:xfrm>
          <a:prstGeom prst="roundRect">
            <a:avLst>
              <a:gd name="adj" fmla="val 5833"/>
            </a:avLst>
          </a:prstGeom>
          <a:solidFill>
            <a:srgbClr val="16202C"/>
          </a:solidFill>
          <a:ln/>
        </p:spPr>
      </p:sp>
      <p:sp>
        <p:nvSpPr>
          <p:cNvPr id="7" name="Text 4"/>
          <p:cNvSpPr/>
          <p:nvPr/>
        </p:nvSpPr>
        <p:spPr>
          <a:xfrm>
            <a:off x="7294860" y="2207121"/>
            <a:ext cx="39452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E"/>
                </a:solidFill>
                <a:latin typeface="Space Grotesk" pitchFamily="34" charset="0"/>
                <a:ea typeface="Space Grotesk" pitchFamily="34" charset="-122"/>
                <a:cs typeface="Space Grotesk" pitchFamily="34" charset="-120"/>
              </a:rPr>
              <a:t>Teslim</a:t>
            </a:r>
            <a:endParaRPr lang="en-US" sz="2000" dirty="0"/>
          </a:p>
        </p:txBody>
      </p:sp>
      <p:sp>
        <p:nvSpPr>
          <p:cNvPr id="8" name="Text 5"/>
          <p:cNvSpPr/>
          <p:nvPr/>
        </p:nvSpPr>
        <p:spPr>
          <a:xfrm>
            <a:off x="7294860" y="2613521"/>
            <a:ext cx="3945250"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Bu komutun ekran görüntüsü:</a:t>
            </a:r>
            <a:endParaRPr lang="en-US" sz="1500" dirty="0"/>
          </a:p>
        </p:txBody>
      </p:sp>
      <p:sp>
        <p:nvSpPr>
          <p:cNvPr id="9" name="Text 6"/>
          <p:cNvSpPr/>
          <p:nvPr/>
        </p:nvSpPr>
        <p:spPr>
          <a:xfrm>
            <a:off x="7294860" y="2991346"/>
            <a:ext cx="39452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A46B"/>
                </a:solidFill>
                <a:latin typeface="JetBrains Mono" pitchFamily="34" charset="0"/>
                <a:ea typeface="JetBrains Mono" pitchFamily="34" charset="-122"/>
                <a:cs typeface="JetBrains Mono" pitchFamily="34" charset="-120"/>
              </a:rPr>
              <a:t>git log --oneline --graph --all</a:t>
            </a:r>
            <a:endParaRPr lang="en-US" sz="1300" dirty="0"/>
          </a:p>
        </p:txBody>
      </p:sp>
      <p:sp>
        <p:nvSpPr>
          <p:cNvPr id="10" name="Text 7"/>
          <p:cNvSpPr/>
          <p:nvPr/>
        </p:nvSpPr>
        <p:spPr>
          <a:xfrm>
            <a:off x="7294860" y="3324027"/>
            <a:ext cx="39452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8C4D1"/>
                </a:solidFill>
                <a:latin typeface="IBM Plex Sans" pitchFamily="34" charset="0"/>
                <a:ea typeface="IBM Plex Sans" pitchFamily="34" charset="-122"/>
                <a:cs typeface="IBM Plex Sans" pitchFamily="34" charset="-120"/>
              </a:rPr>
              <a:t>Grafikte FF, elmas ve düz çizgi şekillerini işaretle.</a:t>
            </a:r>
            <a:endParaRPr lang="en-US" sz="15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BE9DC"/>
        </a:solidFill>
        <a:effectLst/>
      </p:bgPr>
    </p:bg>
    <p:spTree>
      <p:nvGrpSpPr>
        <p:cNvPr id="1" name=""/>
        <p:cNvGrpSpPr/>
        <p:nvPr/>
      </p:nvGrpSpPr>
      <p:grpSpPr>
        <a:xfrm>
          <a:off x="0" y="0"/>
          <a:ext cx="0" cy="0"/>
          <a:chOff x="0" y="0"/>
          <a:chExt cx="0" cy="0"/>
        </a:xfrm>
      </p:grpSpPr>
      <p:pic>
        <p:nvPicPr>
          <p:cNvPr id="2" name="Image 0" descr="Chat"/>
          <p:cNvPicPr>
            <a:picLocks noChangeAspect="1"/>
          </p:cNvPicPr>
          <p:nvPr/>
        </p:nvPicPr>
        <p:blipFill>
          <a:blip r:embed="rId3"/>
          <a:srcRect/>
          <a:stretch/>
        </p:blipFill>
        <p:spPr>
          <a:xfrm>
            <a:off x="812800" y="826691"/>
            <a:ext cx="203200" cy="203200"/>
          </a:xfrm>
          <a:prstGeom prst="rect">
            <a:avLst/>
          </a:prstGeom>
        </p:spPr>
      </p:pic>
      <p:sp>
        <p:nvSpPr>
          <p:cNvPr id="3" name="Text 0"/>
          <p:cNvSpPr/>
          <p:nvPr/>
        </p:nvSpPr>
        <p:spPr>
          <a:xfrm>
            <a:off x="1092200" y="812800"/>
            <a:ext cx="2187184"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8430A"/>
                </a:solidFill>
                <a:latin typeface="JetBrains Mono" pitchFamily="34" charset="0"/>
                <a:ea typeface="JetBrains Mono" pitchFamily="34" charset="-122"/>
                <a:cs typeface="JetBrains Mono" pitchFamily="34" charset="-120"/>
              </a:rPr>
              <a:t>MİNİ SINAV · 6 SORU</a:t>
            </a:r>
            <a:endParaRPr lang="en-US" sz="1300" dirty="0"/>
          </a:p>
        </p:txBody>
      </p:sp>
      <p:sp>
        <p:nvSpPr>
          <p:cNvPr id="4" name="Text 1"/>
          <p:cNvSpPr/>
          <p:nvPr/>
        </p:nvSpPr>
        <p:spPr>
          <a:xfrm>
            <a:off x="812800" y="1145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02C"/>
                </a:solidFill>
                <a:latin typeface="Space Grotesk" pitchFamily="34" charset="0"/>
                <a:ea typeface="Space Grotesk" pitchFamily="34" charset="-122"/>
                <a:cs typeface="Space Grotesk" pitchFamily="34" charset="-120"/>
              </a:rPr>
              <a:t>Kendini sına</a:t>
            </a:r>
            <a:endParaRPr lang="en-US" sz="3600" dirty="0"/>
          </a:p>
        </p:txBody>
      </p:sp>
      <p:sp>
        <p:nvSpPr>
          <p:cNvPr id="5" name="Shape 2"/>
          <p:cNvSpPr/>
          <p:nvPr/>
        </p:nvSpPr>
        <p:spPr>
          <a:xfrm>
            <a:off x="812800" y="1851521"/>
            <a:ext cx="10566400" cy="533400"/>
          </a:xfrm>
          <a:prstGeom prst="roundRect">
            <a:avLst>
              <a:gd name="adj" fmla="val 19048"/>
            </a:avLst>
          </a:prstGeom>
          <a:solidFill>
            <a:srgbClr val="FDFCF9"/>
          </a:solidFill>
          <a:ln/>
        </p:spPr>
      </p:sp>
      <p:sp>
        <p:nvSpPr>
          <p:cNvPr id="6" name="Text 3"/>
          <p:cNvSpPr/>
          <p:nvPr/>
        </p:nvSpPr>
        <p:spPr>
          <a:xfrm>
            <a:off x="1016000" y="1940421"/>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1</a:t>
            </a:r>
            <a:endParaRPr lang="en-US" sz="2000" dirty="0"/>
          </a:p>
        </p:txBody>
      </p:sp>
      <p:sp>
        <p:nvSpPr>
          <p:cNvPr id="7" name="Text 4"/>
          <p:cNvSpPr/>
          <p:nvPr/>
        </p:nvSpPr>
        <p:spPr>
          <a:xfrm>
            <a:off x="1524000" y="1984871"/>
            <a:ext cx="99415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git fetch ile git pull arasındaki fark nedir?</a:t>
            </a:r>
            <a:endParaRPr lang="en-US" sz="1500" dirty="0"/>
          </a:p>
        </p:txBody>
      </p:sp>
      <p:sp>
        <p:nvSpPr>
          <p:cNvPr id="8" name="Shape 5"/>
          <p:cNvSpPr/>
          <p:nvPr/>
        </p:nvSpPr>
        <p:spPr>
          <a:xfrm>
            <a:off x="812800" y="2486521"/>
            <a:ext cx="10566400" cy="533400"/>
          </a:xfrm>
          <a:prstGeom prst="roundRect">
            <a:avLst>
              <a:gd name="adj" fmla="val 19048"/>
            </a:avLst>
          </a:prstGeom>
          <a:solidFill>
            <a:srgbClr val="FDFCF9"/>
          </a:solidFill>
          <a:ln/>
        </p:spPr>
      </p:sp>
      <p:sp>
        <p:nvSpPr>
          <p:cNvPr id="9" name="Text 6"/>
          <p:cNvSpPr/>
          <p:nvPr/>
        </p:nvSpPr>
        <p:spPr>
          <a:xfrm>
            <a:off x="1016000" y="2575421"/>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2</a:t>
            </a:r>
            <a:endParaRPr lang="en-US" sz="2000" dirty="0"/>
          </a:p>
        </p:txBody>
      </p:sp>
      <p:sp>
        <p:nvSpPr>
          <p:cNvPr id="10" name="Text 7"/>
          <p:cNvSpPr/>
          <p:nvPr/>
        </p:nvSpPr>
        <p:spPr>
          <a:xfrm>
            <a:off x="1524000" y="2619871"/>
            <a:ext cx="99415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Fast-forward ne zaman olur? Yeni commit oluşur mu?</a:t>
            </a:r>
            <a:endParaRPr lang="en-US" sz="1500" dirty="0"/>
          </a:p>
        </p:txBody>
      </p:sp>
      <p:sp>
        <p:nvSpPr>
          <p:cNvPr id="11" name="Shape 8"/>
          <p:cNvSpPr/>
          <p:nvPr/>
        </p:nvSpPr>
        <p:spPr>
          <a:xfrm>
            <a:off x="812800" y="3121521"/>
            <a:ext cx="10566400" cy="533400"/>
          </a:xfrm>
          <a:prstGeom prst="roundRect">
            <a:avLst>
              <a:gd name="adj" fmla="val 19048"/>
            </a:avLst>
          </a:prstGeom>
          <a:solidFill>
            <a:srgbClr val="FDFCF9"/>
          </a:solidFill>
          <a:ln/>
        </p:spPr>
      </p:sp>
      <p:sp>
        <p:nvSpPr>
          <p:cNvPr id="12" name="Text 9"/>
          <p:cNvSpPr/>
          <p:nvPr/>
        </p:nvSpPr>
        <p:spPr>
          <a:xfrm>
            <a:off x="1016000" y="3210421"/>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3</a:t>
            </a:r>
            <a:endParaRPr lang="en-US" sz="2000" dirty="0"/>
          </a:p>
        </p:txBody>
      </p:sp>
      <p:sp>
        <p:nvSpPr>
          <p:cNvPr id="13" name="Text 10"/>
          <p:cNvSpPr/>
          <p:nvPr/>
        </p:nvSpPr>
        <p:spPr>
          <a:xfrm>
            <a:off x="1524000" y="3254871"/>
            <a:ext cx="99415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Merge commit'in kaç parent'ı vardır, neden?</a:t>
            </a:r>
            <a:endParaRPr lang="en-US" sz="1500" dirty="0"/>
          </a:p>
        </p:txBody>
      </p:sp>
      <p:sp>
        <p:nvSpPr>
          <p:cNvPr id="14" name="Shape 11"/>
          <p:cNvSpPr/>
          <p:nvPr/>
        </p:nvSpPr>
        <p:spPr>
          <a:xfrm>
            <a:off x="812800" y="3756521"/>
            <a:ext cx="10566400" cy="533400"/>
          </a:xfrm>
          <a:prstGeom prst="roundRect">
            <a:avLst>
              <a:gd name="adj" fmla="val 19048"/>
            </a:avLst>
          </a:prstGeom>
          <a:solidFill>
            <a:srgbClr val="FDFCF9"/>
          </a:solidFill>
          <a:ln/>
        </p:spPr>
      </p:sp>
      <p:sp>
        <p:nvSpPr>
          <p:cNvPr id="15" name="Text 12"/>
          <p:cNvSpPr/>
          <p:nvPr/>
        </p:nvSpPr>
        <p:spPr>
          <a:xfrm>
            <a:off x="1016000" y="3845421"/>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4</a:t>
            </a:r>
            <a:endParaRPr lang="en-US" sz="2000" dirty="0"/>
          </a:p>
        </p:txBody>
      </p:sp>
      <p:sp>
        <p:nvSpPr>
          <p:cNvPr id="16" name="Text 13"/>
          <p:cNvSpPr/>
          <p:nvPr/>
        </p:nvSpPr>
        <p:spPr>
          <a:xfrm>
            <a:off x="1524000" y="3889871"/>
            <a:ext cx="99415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Rebase sırasında --theirs kimin kodunu gösterir?</a:t>
            </a:r>
            <a:endParaRPr lang="en-US" sz="1500" dirty="0"/>
          </a:p>
        </p:txBody>
      </p:sp>
      <p:sp>
        <p:nvSpPr>
          <p:cNvPr id="17" name="Shape 14"/>
          <p:cNvSpPr/>
          <p:nvPr/>
        </p:nvSpPr>
        <p:spPr>
          <a:xfrm>
            <a:off x="812800" y="4391521"/>
            <a:ext cx="10566400" cy="533400"/>
          </a:xfrm>
          <a:prstGeom prst="roundRect">
            <a:avLst>
              <a:gd name="adj" fmla="val 19048"/>
            </a:avLst>
          </a:prstGeom>
          <a:solidFill>
            <a:srgbClr val="FDFCF9"/>
          </a:solidFill>
          <a:ln/>
        </p:spPr>
      </p:sp>
      <p:sp>
        <p:nvSpPr>
          <p:cNvPr id="18" name="Text 15"/>
          <p:cNvSpPr/>
          <p:nvPr/>
        </p:nvSpPr>
        <p:spPr>
          <a:xfrm>
            <a:off x="1016000" y="4480421"/>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5</a:t>
            </a:r>
            <a:endParaRPr lang="en-US" sz="2000" dirty="0"/>
          </a:p>
        </p:txBody>
      </p:sp>
      <p:sp>
        <p:nvSpPr>
          <p:cNvPr id="19" name="Text 16"/>
          <p:cNvSpPr/>
          <p:nvPr/>
        </p:nvSpPr>
        <p:spPr>
          <a:xfrm>
            <a:off x="1524000" y="4524871"/>
            <a:ext cx="99415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Paylaşılan dalda rebase neden yapılmaz?</a:t>
            </a:r>
            <a:endParaRPr lang="en-US" sz="1500" dirty="0"/>
          </a:p>
        </p:txBody>
      </p:sp>
      <p:sp>
        <p:nvSpPr>
          <p:cNvPr id="20" name="Shape 17"/>
          <p:cNvSpPr/>
          <p:nvPr/>
        </p:nvSpPr>
        <p:spPr>
          <a:xfrm>
            <a:off x="812800" y="5026521"/>
            <a:ext cx="10566400" cy="533400"/>
          </a:xfrm>
          <a:prstGeom prst="roundRect">
            <a:avLst>
              <a:gd name="adj" fmla="val 19048"/>
            </a:avLst>
          </a:prstGeom>
          <a:solidFill>
            <a:srgbClr val="FDFCF9"/>
          </a:solidFill>
          <a:ln/>
        </p:spPr>
      </p:sp>
      <p:sp>
        <p:nvSpPr>
          <p:cNvPr id="21" name="Text 18"/>
          <p:cNvSpPr/>
          <p:nvPr/>
        </p:nvSpPr>
        <p:spPr>
          <a:xfrm>
            <a:off x="1016000" y="5115421"/>
            <a:ext cx="4064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8430A"/>
                </a:solidFill>
                <a:latin typeface="JetBrains Mono" pitchFamily="34" charset="0"/>
                <a:ea typeface="JetBrains Mono" pitchFamily="34" charset="-122"/>
                <a:cs typeface="JetBrains Mono" pitchFamily="34" charset="-120"/>
              </a:rPr>
              <a:t>6</a:t>
            </a:r>
            <a:endParaRPr lang="en-US" sz="2000" dirty="0"/>
          </a:p>
        </p:txBody>
      </p:sp>
      <p:sp>
        <p:nvSpPr>
          <p:cNvPr id="22" name="Text 19"/>
          <p:cNvSpPr/>
          <p:nvPr/>
        </p:nvSpPr>
        <p:spPr>
          <a:xfrm>
            <a:off x="1524000" y="5159871"/>
            <a:ext cx="99415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C"/>
                </a:solidFill>
                <a:latin typeface="IBM Plex Sans" pitchFamily="34" charset="0"/>
                <a:ea typeface="IBM Plex Sans" pitchFamily="34" charset="-122"/>
                <a:cs typeface="IBM Plex Sans" pitchFamily="34" charset="-120"/>
              </a:rPr>
              <a:t>Push ettiğin hatalı bir commit'i nasıl geri alırsın?</a:t>
            </a:r>
            <a:endParaRPr lang="en-US" sz="1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6202C"/>
        </a:solidFill>
        <a:effectLst/>
      </p:bgPr>
    </p:bg>
    <p:spTree>
      <p:nvGrpSpPr>
        <p:cNvPr id="1" name=""/>
        <p:cNvGrpSpPr/>
        <p:nvPr/>
      </p:nvGrpSpPr>
      <p:grpSpPr>
        <a:xfrm>
          <a:off x="0" y="0"/>
          <a:ext cx="0" cy="0"/>
          <a:chOff x="0" y="0"/>
          <a:chExt cx="0" cy="0"/>
        </a:xfrm>
      </p:grpSpPr>
      <p:sp>
        <p:nvSpPr>
          <p:cNvPr id="2" name="Text 0"/>
          <p:cNvSpPr/>
          <p:nvPr/>
        </p:nvSpPr>
        <p:spPr>
          <a:xfrm>
            <a:off x="812800" y="193546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7A46B"/>
                </a:solidFill>
                <a:latin typeface="JetBrains Mono" pitchFamily="34" charset="0"/>
                <a:ea typeface="JetBrains Mono" pitchFamily="34" charset="-122"/>
                <a:cs typeface="JetBrains Mono" pitchFamily="34" charset="-120"/>
              </a:rPr>
              <a:t>KAPANIŞ</a:t>
            </a:r>
            <a:endParaRPr lang="en-US" sz="1300" dirty="0"/>
          </a:p>
        </p:txBody>
      </p:sp>
      <p:sp>
        <p:nvSpPr>
          <p:cNvPr id="3" name="Text 1"/>
          <p:cNvSpPr/>
          <p:nvPr/>
        </p:nvSpPr>
        <p:spPr>
          <a:xfrm>
            <a:off x="812800" y="2471341"/>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E"/>
                </a:solidFill>
                <a:latin typeface="Space Grotesk" pitchFamily="34" charset="0"/>
                <a:ea typeface="Space Grotesk" pitchFamily="34" charset="-122"/>
                <a:cs typeface="Space Grotesk" pitchFamily="34" charset="-120"/>
              </a:rPr>
              <a:t>Sorular?</a:t>
            </a:r>
            <a:endParaRPr lang="en-US" sz="6000" dirty="0"/>
          </a:p>
        </p:txBody>
      </p:sp>
      <p:sp>
        <p:nvSpPr>
          <p:cNvPr id="4" name="Text 2"/>
          <p:cNvSpPr/>
          <p:nvPr/>
        </p:nvSpPr>
        <p:spPr>
          <a:xfrm>
            <a:off x="812800" y="3576241"/>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8C4D1"/>
                </a:solidFill>
                <a:latin typeface="IBM Plex Sans" pitchFamily="34" charset="0"/>
                <a:ea typeface="IBM Plex Sans" pitchFamily="34" charset="-122"/>
                <a:cs typeface="IBM Plex Sans" pitchFamily="34" charset="-120"/>
              </a:rPr>
              <a:t>Git'i ezberlemeyin, çizin. Emin olamadığınız her an şu komutu yazın:</a:t>
            </a:r>
            <a:endParaRPr lang="en-US" sz="2000" dirty="0"/>
          </a:p>
        </p:txBody>
      </p:sp>
      <p:sp>
        <p:nvSpPr>
          <p:cNvPr id="5" name="Text 3"/>
          <p:cNvSpPr/>
          <p:nvPr/>
        </p:nvSpPr>
        <p:spPr>
          <a:xfrm>
            <a:off x="812800" y="4211241"/>
            <a:ext cx="5715000" cy="711200"/>
          </a:xfrm>
          <a:prstGeom prst="roundRect">
            <a:avLst>
              <a:gd name="adj" fmla="val 14286"/>
            </a:avLst>
          </a:prstGeom>
          <a:solidFill>
            <a:srgbClr val="F6F4EE"/>
          </a:solidFill>
          <a:ln/>
        </p:spPr>
        <p:txBody>
          <a:bodyPr wrap="square" lIns="224242" tIns="148042" rIns="68032" bIns="122642" rtlCol="0" anchor="t">
            <a:normAutofit/>
          </a:bodyPr>
          <a:lstStyle/>
          <a:p>
            <a:pPr marL="0" indent="0" algn="l">
              <a:lnSpc>
                <a:spcPts val="2800"/>
              </a:lnSpc>
              <a:buNone/>
            </a:pPr>
            <a:r>
              <a:rPr lang="en-US" sz="2000" b="1" dirty="0">
                <a:solidFill>
                  <a:srgbClr val="16202C"/>
                </a:solidFill>
                <a:latin typeface="JetBrains Mono" pitchFamily="34" charset="0"/>
                <a:ea typeface="JetBrains Mono" pitchFamily="34" charset="-122"/>
                <a:cs typeface="JetBrains Mono" pitchFamily="34" charset="-120"/>
              </a:rPr>
              <a:t>git log --oneline --graph --all</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12285</Words>
  <Application>Microsoft Macintosh PowerPoint</Application>
  <PresentationFormat>Widescreen</PresentationFormat>
  <Paragraphs>1345</Paragraphs>
  <Slides>81</Slides>
  <Notes>81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Calibri</vt:lpstr>
      <vt:lpstr>IBM Plex Sans</vt:lpstr>
      <vt:lpstr>JetBrains Mono</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Sıfırdan Ustalığa</dc:title>
  <dc:subject>PptxGenJS Presentation</dc:subject>
  <dc:creator>PptxGenJS</dc:creator>
  <cp:lastModifiedBy>Microsoft Office User</cp:lastModifiedBy>
  <cp:revision>1</cp:revision>
  <dcterms:created xsi:type="dcterms:W3CDTF">2026-09-30T17:03:03Z</dcterms:created>
  <dcterms:modified xsi:type="dcterms:W3CDTF">2026-09-30T19:02:10Z</dcterms:modified>
</cp:coreProperties>
</file>