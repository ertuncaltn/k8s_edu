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(5 dk). Kendinizi tanıtın, 12 katılımcıdan tek cümleyle Docker deneyimlerini söylemelerini isteyin (hiç / biraz / her gün). Bu cevaplar tempo ayarı için önemli. Materyalleri (docker-egitimi.zip) herkesin masaüstüne açtığından emin olun. Eğitimin kuralı: her kavramı slayttan sonra hemen kendi makinelerinde deneyecekler; lab dokümanları labs/ klasöründe, her lab slaydında hangi dosya olduğu yazıyor.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Akışı kısaca anlatın. Her modül aynı ritimde: önce 3-6 slaytlık kavram, sonra turuncu "UYGULAMA" slaydı gelince katılımcılar lab dokümanını açıp kendi makinelerinde uygular. Zaman sıkışırsa atlanabilecek bölümler README.md'de listeli (base image distroless kısmı, compose watch, sınıf registry'si). Günün sonunda 15 dk tekrar ve soru-cevap bırakın.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15 dakika. Herkes bu dört komutu çalıştırsın. "Cannot connect to the Docker daemon" alan varsa Docker Desktop kapalıdır. Kurum proxy'si varsa Settings &gt; Resources &gt; Proxies. Sorun yaşayan kişiyi çalışan bir komşusuyla eşleştirin, 11 kişiyi bekletmeyin. docker version çıktısındaki Client ve Server bölümlerini göstererek mimariyi anlatın: yazdığımız komut REST API ile Engine'e gidiyor. hello-world çıktısındaki 4 adımı birlikte okuyun: image yok -&gt; pull -&gt; container oluştur -&gt; çıktıyı istemciye akıt.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Katılımcılara sorun: son "bende çalışıyor, sunucuda çalışmıyor" vakası ne zamandı, sebebi neydi? Genellikle sürüm farkı, eksik sistem paketi, farklı konfigürasyon çıkar. Üç kavramı tanıtın; lab'da her birini ayrı ayrı deneyecekler. Bonus maddeyi vurgulayın: kurulum talimatı artık Wiki'de değil, versiyon kontrollü Dockerfile'da.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 yana karşılaştırın: VM'de her uygulama kendi işletim sistemini taşır, container'da çekirdek paylaşılır. Soru: "Linux container'ı Windows çekirdeğinde nasıl çalışıyor?" Cevap: Docker Desktop arka planda bir Linux VM (WSL 2 veya Apple Virtualization) kullanıyor. Sonuç olarak container'lar VM'den daha az izolasyon sağlar (aynı çekirdek) ama çok daha hafiftir; ikisi birbirinin alternatifi değil, çoğu zaman birlikte kullanılır (VM içinde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Container'ın iki yapı taşı. Namespace = container ne görebilir; cgroup = ne kadar kullanabilir. Lab 01 Bölüm A'daki her deney bunlardan birini gösteriyor: ps aux (PID), hostname (UTS), iki terminalde dosya yazma (MNT), --memory (cgroup). Lab'ı yaptırırken "bu hangi namespace?" diye sorun. Windows'ta satır sonundaki ters bölü (\) PowerShell'de çalışmaz; komutu tek satırda yazmalarını söyleyin (lab dokümanında tek satır olarak verildi).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01 Bölüm D'nin özeti. Kritik gösterim: container içinde index.html'i değiştirin, stop/start sonrası değişiklik duruyor; rm ile silip aynı image'dan yeniden oluşturunca kayboluyor. Buradan Lab 02'deki "yazılabilir katman" ve Lab 08'deki "volume" konularına köprü kurun. docker inspect ile tek alan okuma (--format "{{.State.Status}}") gösterilebilir.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süresince dolaşın. Bölüm C'de 10 container PowerShell ve bash için ayrı komutlarla verildi, Windows kullanıcılarına PowerShell versiyonunu hatırlatın. Beklenen soru: "container içinde apk add curl yaptım, tekrar girince yok" — cevap: --rm ile her seferinde yeni container, image değişmedi. Sonunda Kendin dene 3. soruyu sınıfça tartışın.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Nesne yönelimli programlama benzetmesi çoğu katılımcıya oturur: image = sınıf, container = nesne. Bir image'dan 10 container başlatınca image katmanları diskte 1 kez tutulur (copy-on-write); sadece her container'ın kendi yazılabilir katmanı ayrıdır. Bir sonraki slaytta katmanları görselleştireceğiz.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Şemayı alttan yukarı okuyun. ENV, CMD, EXPOSE gibi komutlar sadece metadata değiştirir, docker history'de 0B görünür. docker diff ile container'ın yazılabilir katmanını gösterin: A = eklendi, C = değişti, D = silindi. Soru: "Bir dosyayı alt katmanda ekleyip üst katmanda silersek image küçülür mü?" Hayır, dosya alt katmanda kalır. Bu Lab 04'teki .env sızıntısının da açıklaması.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cache'inin komut metnine baktığını özellikle vurgulayın. Örnek: RUN apt-get update tek başına bir satırda ise metin değişmediği için hep cache'ten gelir, sonraki RUN apt-get install eski listeyle çalışır. Çözüm: RUN apt-get update &amp;&amp; apt-get install -y ... &amp;&amp; rm -rf /var/lib/apt/lists/*. Cache'i bilerek kırmak için docker build --no-cache.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Eğitimin en önemli "aha" anlarından biri. Lab'da iki build'in süresini tahtaya yazdırın. Flask küçük olduğu için fark saniyeler; gerçek projelerde (npm install, mvn dependency:resolve, dotnet restore) dakikalar ve CI maliyeti. Aynı desen her dilde: önce bağımlılık tanım dosyası (package.json, pom.xml, go.mod, *.csproj), sonra bağımlılık indirme, en son kaynak kod.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komutunun sonundaki nokta (build context) en sık unutulan şey; hata mesajını birlikte okuyun. macOS'ta AirPlay 5000 portunu kullanıyor. Kendin dene 3 (RUN echo tarih) RUN cache'inin sonuca değil metne baktığını kanıtlar; mutlaka tartışın.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referans; hepsini tek tek anlatmayın. Sağdaki metadata direktifleri docker history'de 0B görünür, soldakiler katman üretir. En çok karıştırılan üç ikiliyi sonraki slaytlarda işleyeceğiz: COPY/ADD, CMD/ENTRYPOINT, shell/exec form. EXPOSE'un portu açmadığını şimdiden vurgulayın; -p olmadan erişim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latest tuzağını burada tanıtın, Lab 11'de tag stratejisinde tekrar dönecek. Digest sabitleme en güvenli yöntem ama güvenlik yamalarını da dondurur; bu yüzden Renovate/Dependabot gibi araçlarla digest'leri düzenli güncellemek yaygın pratik. Base image seçiminin kendisi (slim, alpine, distroless) Bölüm 6'nın konusu.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ornekler/03-direktifler içinde docker build -f Dockerfile.add-copy -t demo:addcopy . ve docker run --rm demo:addcopy. ADD'in "sihirli" otomatik açma davranışı sürpriz yaratır; Docker'ın resmi önerisi açıkça gerekmedikçe COPY. COPY --chown ayrı bir RUN chown yazmaktan iyidir çünkü ekstra katman ve dosyaların kopyası oluşmaz.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önce katılımcılara tahmin ettirin, sonra Dockerfile.cmd ve Dockerfile.entrypoint ile canlı gösterin. ENTRYPOINT'i ezmek için --entrypoint yalnızca çalıştırılabilir adını alır, argümanlar image adından sonra yazılır: docker run --rm --entrypoint sh demo:ping -c "echo ezildi". Pratik kural: container bir araç gibi davranacaksa ENTRYPOINT, bir uygulama çalıştırıyorsa ve debug için sh ile girilmesi gerekebilirse CMD.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inspect postgres:16-alpine --format "{{.Config.Entrypoint}} {{.Config.Cmd}}" ile resmi bir image'ın bu deseni nasıl kullandığını gösterebilirsiniz: ENTRYPOINT docker-entrypoint.sh, CMD postgres. Başlangıç betiği ortam değişkenlerini okuyup ilk kurulumu yapar, sonra exec "$@" ile CMD'yi PID 1 olarak başlatır.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docker build --no-cache --progress=plain -f Dockerfile.shell-exec -t demo:form . çıktısında exec form RUN satırının $SEHIR'i genişletmediğini gösterin. Asıl önemli satır SIGTERM: shell form'da sh sinyali uygulamaya iletmez, uygulama bağlantılarını kapatamaz ve 10 saniye sonra SIGKILL ile öldürülür. docker stop'un neden 10 saniye beklediğini soranlara bu cevaptır.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Dockerfile.tam-ornek'in kısaltılmış hali (addgroup satırı yer için çıkarıldı; tam dosyada var). Satır satır birlikte okuyun. Build: docker build -f Dockerfile.tam-ornek --build-arg UYGULAMA_SURUM=2.1.0 -t demo:tam . Çalıştır: docker run -d --name tam -p 8081:8080 demo:tam. Sonra whoami, pwd, docker inspect ile LABEL ve ENV'i, docker ps ile (healthy) durumunu doğrulatın. Soru: EXPOSE'u silersek -p 8081:8080 çalışır mı? Evet.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Kendin dene 1 (curl'ü container olarak paketlemek) ENTRYPOINT+CMD desenini pekiştirir; erken bitirenlere verin. Kurum ağında 8.8.8.8'e ping kapalı olabilir; o durumda ping hedefi olarak localhost veya bir iç IP kullandırın.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komutunun sonundaki noktanın ne anlama geldiğini burada netleştirin: "bu klasörü Engine'e gönder". Engine uzak bir makinede de olabilir (Docker context, CI runner), bu yüzden dosyalar gerçekten transfer edilir. Büyük context = yavaş build; context'teki değişen gereksiz dosyalar = sürekli kırılan cache; gizli dosyalar = sızıntı riski.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04'te katılımcılar dosyayı Docker ile üretip (dd) iki build'i karşılaştıracak; "transferring context" satırını grep/Select-String ile gösteriyoruz. Tersine yaklaşımı da anlatın: önce * ile her şeyi hariç tut, sonra !app.py !requirements.txt ile sadece gerekenleri dahil et. Birden fazla Dockerfile varsa Dockerfile.prod.dockerignore gibi dosyaya özel ignore kullanılabilir.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gerçek dünyada çok sık yaşanan bir güvenlik olayı: public registry'lerde taranan image'larda gerçek API anahtarları bulunuyor. Katılımcılara Bölüm 2'deki katman şemasını hatırlatıp neden silmenin işe yaramadığını onların açıklamasını isteyin. Doğru çözümler: .dockerignore, çalışma anında env/secret ile vermek, build sırasında gerekiyorsa RUN --mount=type=secret.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${PWD} hem PowerShell hem bash'te çalışır; cmd.exe kullanan varsa PowerShell'e geçirin. Windows'ta cp yerine Copy-Item (PowerShell'de cp alias'ı da çalışır). Temizlikte buyuk.bin'i silmeyi unutmasınlar, 200 MB yer kaplıyor.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Go'yu seçtik çünkü tek statik binary üretiyor ve fark çok net görünüyor; katılımcıların Go bilmesi gerekmiyor. Aynı prensip Java (JDK → JRE), .NET (SDK → aspnet runtime), React (node → nginx) için geçerli. İkinci FROM'un sıfırdan başladığını, ilk aşamadan hiçbir şeyin otomatik gelmediğini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Satır satır sağdaki açıklamalarla okuyun. Bölüm 2'deki cache kuralının burada da uygulandığına dikkat çekin (go.mod önce). --target build ile ara aşamayı build edip içine girerek derleme sorunlarını debug edebilirsiniz: docker build --target build -t merhaba:build-asamasi . ve docker run --rm merhaba:build-asamasi go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Değerler yaklaşık; katılımcılar docker images merhaba ile kendi sayılarını görecek. Onlardan pratik sonuçları saymalarını isteyin: CI/CD'de push süresi, Kubernetes'te yeni node'da pull süresi, registry maliyeti, güvenlik taraması. Soru: bir saldırgan uygulamadaki açıktan container'a sızarsa hangi image'da daha çok iş yapabilir? Kaynak kodunuz hangisinde duruyor?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referans; tam halleri labs/05-multi-stage-build.md dokümanında. Katılımcılara kendi projelerinin diliyle hangi base image çiftini kullanacaklarını sordurun. Ekranda satır kırılması için bazı image adları bölündü; dokümandaki tek satırlık versiyonları kullansınlar.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exec multi sh komutunun hata vermesi beklenen sonuç: "executable file not found". Katılımcılar bunu hata sanıp takılabilir; önceden söyleyin. scratch ile HTTPS isteği atan uygulamaların CA sertifikası olmadığı için çalışmayacağını vurgulayın; distroless/static bu yüzden daha güvenli tercih.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Boyutlar yaklaşık ve sürüme göre değişir; lab'da gerçek değerleri tabloya yazacaklar. "Varsayılan" satırı vurgulu: emin değilseniz -slim. Alpine'ın musl libc kullanması Python ve Node native paketlerinde derleme gerektirebilir, DNS ve performans davranışı farklı olabilir. Kurum içinde onaylı base image listesi varsa (örneğin kurumsal registry'de hardened image'lar) onun kullanılmasını önerin.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Asıl mesaj son satır: "minimal image debug edilemez" doğru değil. Doğru yaklaşım araçları production image'ına gömmek yerine ihtiyaç anında sidecar container veya docker debug ile bağlamak. Kubernetes'te karşılığı kubectl debug ve ephemeral container'lar. Sonraki slaytta üç yöntemi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Yöntem 1 her ortamda çalışır ve namespace kavramını (Bölüm 1) çok güzel pekiştirir: --network container:X ile aynı ağ namespace'ine giriyoruz, bu yüzden localhost hedef container'ın kendisi. /proc/1/root üzerinden hedefin dosya sistemini görmek için SYS_PTRACE yetkisi gerekiyor. docker debug'ın kullanılabilirliği Docker Desktop sürümü ve aboneliğe göre değişebilir; önceden kendi makinenizde deneyin.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Karar ağacını yukarıdan aşağı okuyun. Lab'da docker scout quickview ile full, slim ve distroless'ın kritik/yüksek açık sayılarını karşılaştıracaklar; sayılar ikna edici oluyor. Trivy açık kaynak alternatif, container olarak kurmadan çalıştırılabilir (komut lab dokümanında).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Build'ler arka arkaya çalışırken Dockerfile'ları yan yana yansıtıp farkları konuşun. Dockerfile.distroless'ta build aşaması python:3.11-slim, çünkü distroless/python3-debian12 içinde Python 3.11 var; sürümler eşleşmezse derlenmiş paketler uyumsuz olur. Bu da base image seçiminde dikkat edilecek bir detay olarak anlatılabilir. Zaman sıkışırsa distroless ve scout kısmı atlanabilir.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Veritabanı gibi servisleri geliştirme ortamında bile 127.0.0.1: önekiyle açmak iyi alışkanlık; aksi halde aynı ağdaki herkes bağlanabilir. docker ps --format "table {{.Names}}\t{{.Ports}}" ile port eşlemelerini tablo halinde gösterin. host sürücüsü Docker Desktop'ta sınırlı destekli; eğitimde kullanmıyoruz.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Eğitimin en kritik networking noktası. Container IP'leri her yeniden başlatmada değişebilir, IP ile iletişim kırılgan. Kullanıcı tanımlı ağda Docker'ın gömülü DNS sunucusu (127.0.0.11) container adlarını çözer. Lab'da önce varsayılan bridge'de başarısızlığı yaşatın, sonra kendi ağlarında çalıştığını görsünler; farkı yaşayarak öğrenmek kalıcı oluyor.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container'ı için -p kullanmadığımıza dikkat çekin: aynı ağdaki container'lar birbirinin tüm portlarına doğrudan erişir, -p sadece host'tan ve dış dünyadan erişim için. --network-alias ile bir container'a ek DNS adı verilebilir (örnek lab'da: backend). Container içinden host'taki bir servise erişim için localhost değil host.docker.internal kullanılır.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uygulama container'ı iki ağa birden üye; proxy ve veritabani farklı ağlarda olduğu için birbirini göremiyor, isim bile çözülmüyor. Soru: saldırgan proxy'yi ele geçirirse veritabanına doğrudan ulaşabilir mi? Hayır. Aynı tasarımı Bölüm 10'da Compose ile frontend/backend ağlarıyla ve final projesinde internal: true ile tekrar kuracağız.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Kurum ağlarında Docker'ın bridge subnet'i (172.17.0.0/16 vb.) kurum iç IP bloklarıyla çakışabilir; bir katılımcı iç kaynaklara erişemezse bunu kontrol edin (Docker Desktop &gt; Settings &gt; Resources &gt; Network). Temizlikte docker network prune -f kullanın.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sorunu hatırlatın: Lab 01'de container silinince değişiklikler kayboldu. Tabloda en önemli satır son satır. Windows ve macOS'ta bind mount performansı named volume'dan düşük olabilir; WSL 2 kullanan Windows kullanıcıları için proje dosyalarını WSL dosya sisteminde tutmak build ve dosya izleme hızını belirgin artırır.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Vurgulanacak prensip: container ile verinin yaşam döngüleri ayrılır. Postgres'i 16.3'ten 16.4'e güncellemek için container'ı silip yeni image ile açarız, veri volume'da kalır. Ancak majör sürüm geçişi (16 → 17) volume'u doğrudan açamaz, pg_dump veya pg_upgrade gerekir. Kendin dene 1: named volume ilk bağlandığında boşsa Docker image'daki içeriği volume'a kopyalar; bind mount bunu yapmaz.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Canlı demo yapın: sayfayı açın, editörde başlığı değiştirin, kaydedin, yenileyin. Katılımcılar da aynısını yapsın. Örtme uyarısı Node projelerinde node_modules klasöründe çok sık yaşanır: tüm proje bind mount edilince image'da kurulu node_modules görünmez olur. ${PWD} PowerShell ve bash'te çalışır; cmd.exe'de %cd%.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Dosya kopyası ile tutarlı yedek için veritabanını önce durdurun (lab'da docker stop pg-yeni). Canlı sistemlerde veritabanının kendi aracını tercih edin. Aynı "geçici container + iki mount" deseni volume'lar arası veri taşıma için de kullanılır. PowerShell'de &gt; yönlendirmesi UTF-16 dosya üretebilir; pg_dump için bash veya Git Bash önerin.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sık hata: postgres container'ı başladıktan hemen sonra psql çalıştırmak; veritabanı henüz hazır değil. 5 saniye beklemelerini söyleyin (bu, Compose'daki healthcheck konusuna güzel bir giriş). Temizlikte volume'ları silmeyi unutmasınlar.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09'da dört sekmeyi yan yana açtıracağız: aynı image, dört farklı renk ve mesaj. "Test'te çalıştı, prod'da çalışmadı" sorunlarının büyük kısmı her ortam için ayrı image build etmekten kaynaklanır. Doğru yaklaşım: bir kez build, aynı image'ı konfigürasyonla ortamdan ortama terfi ettirmek (promote).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Öncelik sırasını lab'da docker run --env-file test.env -e APP_ORTAM=ezildi ile test edecekler: APP_ORTAM -e'den, APP_MESAJ dosyadan gelir. --env-file içinde tırnak kullanılmaz; APP_MESAJ="Merhaba" yazılırsa tırnaklar da değerin parçası olur (Compose'un .env dosyası farklı davranır). -e APP_MESAJ (değersiz) host'taki aynı isimli değişkeni aktarır.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history --no-trunc env-demo:1.4.2 ile ARG değerlerinin history'de göründüğünü gösterin; şifre ARG ile verilseydi image'ı çeken herkes görürdü. Compose secrets örneği Bölüm 10'da (compose.secrets.yaml). Resmi image'ların çoğu _FILE son ekli değişkenleri destekler, örneğin POSTGRES_PASSWORD_FILE.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PowerShell'de sh -c içindeki \$ kaçışı farklı çalışır; dokümanda PowerShell için printenv'li alternatif komut var. Bu lab kısa; erken bitenlere Kendin dene 2'yi (ARG ile base image sürümünü dışarıdan vermek) önerin.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 yeni bir kavram getirmiyor: sabahtan beri öğrendiğimiz her docker run bayrağının YAML karşılığı var. Compose = önceki lab'ların bildirimsel hali. Bu komut dizisini ekipteki herkesin aynı şekilde hatırlaması ve çalıştırması gerçekçi değil; dosya ise git'te duruyor ve kod incelemesinden geçiyor.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mimariyi sonraki iki slaytta YAML olarak göreceğiz. Dikkat: web iki ağa birden üye (Bölüm 7'deki "uygulama" container'ı gibi), redis sadece backend'de ve host'a hiç port açmıyor. Lab'da bunu docker run --rm redis:7-alpine redis-cli -h host.docker.internal -p 6379 ping ile doğrulayacaklar: Connection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Slaytta yer için bazı alanlar kısaltıldı (dockerfile satırı, REDIS_PORT, develop/watch bloğu); tam dosya ornekler/10-compose/compose.yaml. Dosyada networks blok liste olarak yazılı (- frontend / - backend), [frontend, backend] akış formu aynı anlama gelir. En üste version: "3.8" yazmaya gerek yok, artık uyarı verir. Dosya adı compose.yaml önerilen, docker-compose.yml da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düzey networks ve volumes blokları kaynakları tanımlar, servis içindeki networks/volumes onları kullanır. Birden fazla servis aynı volume'u veya ağı paylaşabilir. docker compose config komutu tüm değişken yerleştirmeleri yapılmış son hali gösterir; YAML hatası ayıklamanın ilk adımı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tabloyu gösterirken sabahki lab'lara referans verin: -p Lab 07, -v Lab 08, -e Lab 09. ${X:?mesaj} söz dizimi zorunlu değişkenler için: değişken yoksa compose hata verip durur. $$ gerçek bir $ karakteri üretir; final projesinde postgres healthcheck'inde gerekecek.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saniyeler içinde başlar ama bağlantı kabul etmesi birkaç saniye daha sürer; Lab 08'de bunu yaşadılar. service_healthy olmadan web ilk istekte hata verebilir. Önemli uyarı: uygulamanın kendisi de yeniden deneme (retry) mantığına sahip olmalı, çünkü production'da (Kubernetes) depends_on diye bir şey yok. Final projesindeki app.py'de bu retry döngüsü var, gösterebilirsiniz.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 sonrası up -d yapınca sayacın kaldığı yerden devam ettiğini gösterin: volume korundu. down -v ile sıfırlanır; veritabanlı projelerde en sık veri kaybı sebebi. watch: web klasöründe .py değişince dosya container'a senkronlanır (sync), requirements.txt değişince image yeniden build edilir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Tarayıcıda http://localhost:8080 sayfasını yenilettirin: "cevap veren container" değişiyor, sayaç ortak çünkü hepsi aynı redis'i kullanıyor. nslookup web birden fazla IP döndürür, Compose DNS'i round-robin sağlar. Soru: web servisine ports: "8000:5000" ekleyip --scale web=3 yapsaydık ne olurdu? Port çakışması. Production'da bu işi Kubernetes Service veya Traefik gibi dinamik çözümler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uzun lab. Proxy bölümüne geçmeden önce Aşama 1'i docker compose down ile kapatmalarını hatırlatın, yoksa aynı proje adı (sayac) ve redis volume'u paylaşılır; bu aslında sayaç devam ettiği için güzel bir gösterim de olabilir. Kendin dene 1 (Redis Commander) görsel olarak tatmin edici, zaman varsa yaptırın.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Kritik ayrım: tag değişebilir bir etikettir, sürüm garantisi değildir. Aynı 1.0 tag'i bugün bir image'ı, yarın başka bir image'ı gösterebilir. Digest içeriğin hash'idir, asla değişmez. "Kesinlikle bu image çalışsın" diyorsanız digest kullanın; Kubernetes manifest'lerinde image: registry/app@sha256:... yaygın bir pratik.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Tag'ler ücretsizdir: aynı image'ı gösteren işaretçiler, diskte ek yer kaplamaz (lab'da IMAGE ID'lerin aynı olduğunu görecekler). latest'in sorunları: hangi sürümün çalıştığı bilinmez, "bir önceki latest" olmadığı için rollback yapılamaz. Harbor, ECR, ACR gibi registry'lerde tag immutability açılabilir.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tag yeni image oluşturmaz, var olana isim ekler. İkinci push'ta "Layer already exists" satırı: katmanlar zaten registry'de, sadece yeni tag kaydediliyor. Lab'da tag üzerine yazma tehlikesini de yaşatacağız: kodu değiştirip aynı 1.0.0 tag'iyle push etmek başarılı olur ve 1.0.0 artık farklı kod çalıştırır. Apple Silicon'da build edilen image amd64 sunucuda "exec format error" verir; buildx ile çoklu mimari.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Opsiyonel sınıf registry'si: registry'yi kendi makinenizde çalıştırın, katılımcılar Docker Desktop &gt; Settings &gt; Docker Engine JSON'una "insecure-registries": ["IP:5001"] ekleyip birbirlerinin image'larını çeksin. Sadece eğitim içindir (TLS yok); kurum firewall'u 5001'i engelleyebilir, önceden test edin. Docker Hub bölümü hesap gerektirir ve opsiyonel; kurum kodunu public repository'e push etmemeleri konusunda uyarın.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kişi = 6 grup. Uygulama kodu hazır, onlar sadece container'laştırıyor. Sık hatalar: DATABASE_URL'de host olarak localhost yazmak (doğrusu servis adı db); postgres healthcheck'inde $ yerine $$ kullanmamak; .dockerignore'u app/ yerine üst klasöre koymak (build context ./app); down -v ile veriyi silip kalıcılık çalışmıyor sanmak. Son 10 dakikada 2-3 gruba 3'er dakikalık demo yaptırın, sonra cozum/ klasörünü birlikte inceleyin.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projesinin değerlendirmesinden sonra bu listeyi birlikte geçin; her maddenin hangi bölümde işlendiğini katılımcılara sordurun (hızlı bir tekrar quiz'i olarak). Katılımcılar bu listeyi kendi projelerinin Dockerfile'larına uygulayarak eğitimi işe taşıyabilir.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eğitim boyunca açık tutulacak referans olarak tanıtın; hatta ilk gün sonunda da gösterebilirsiniz. En sık üçü eğitim ortamında: Docker Desktop kapalı, port çakışması, Docker Hub pull limiti. Pull limitine karşı katılımcıların önceden hazirlik/imajlari-indir betiğini çalıştırmış olması gerekiyor.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(15 dk). Değerlendirme formu varsa dağıtın. Katılımcılara birer cümleyle eğitimden işe ne taşıyacaklarını sorun. Temizlik: docker system df ile ne kadar yer kaplandığını gösterip docker system prune -a --volumes ile (dikkatle, kendi verileri yoksa) temizlemeyi önerin.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1.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slideLayout" Target="../slideLayouts/slideLayout1.xml"/><Relationship Id="rId7"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png"/><Relationship Id="rId9" Type="http://schemas.openxmlformats.org/officeDocument/2006/relationships/image" Target="../media/image-64-9.png"/><Relationship Id="rId10" Type="http://schemas.openxmlformats.org/officeDocument/2006/relationships/image" Target="../media/image-64-10.png"/><Relationship Id="rId11" Type="http://schemas.openxmlformats.org/officeDocument/2006/relationships/slideLayout" Target="../slideLayouts/slideLayout1.xml"/><Relationship Id="rId1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8636000" y="0"/>
            <a:ext cx="3556000" cy="6858000"/>
          </a:xfrm>
          <a:prstGeom prst="rect">
            <a:avLst/>
          </a:prstGeom>
          <a:gradFill rotWithShape="1">
            <a:gsLst>
              <a:gs pos="0">
                <a:srgbClr val="1D63ED"/>
              </a:gs>
              <a:gs pos="85000">
                <a:srgbClr val="0F1B2D"/>
              </a:gs>
            </a:gsLst>
            <a:lin ang="4200000" scaled="0"/>
          </a:gradFill>
          <a:ln/>
        </p:spPr>
      </p:sp>
      <p:sp>
        <p:nvSpPr>
          <p:cNvPr id="3" name="Text 1"/>
          <p:cNvSpPr/>
          <p:nvPr/>
        </p:nvSpPr>
        <p:spPr>
          <a:xfrm>
            <a:off x="812800" y="148848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7CC4FF"/>
                </a:solidFill>
                <a:latin typeface="IBM Plex Sans" pitchFamily="34" charset="0"/>
                <a:ea typeface="IBM Plex Sans" pitchFamily="34" charset="-122"/>
                <a:cs typeface="IBM Plex Sans" pitchFamily="34" charset="-120"/>
              </a:rPr>
              <a:t>UYGULAMALI EĞITIM · 2 GÜN</a:t>
            </a:r>
            <a:endParaRPr lang="en-US" sz="1400" dirty="0"/>
          </a:p>
        </p:txBody>
      </p:sp>
      <p:sp>
        <p:nvSpPr>
          <p:cNvPr id="4" name="Text 2"/>
          <p:cNvSpPr/>
          <p:nvPr/>
        </p:nvSpPr>
        <p:spPr>
          <a:xfrm>
            <a:off x="812800" y="194057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4F6F8"/>
                </a:solidFill>
                <a:latin typeface="IBM Plex Sans" pitchFamily="34" charset="0"/>
                <a:ea typeface="IBM Plex Sans" pitchFamily="34" charset="-122"/>
                <a:cs typeface="IBM Plex Sans" pitchFamily="34" charset="-120"/>
              </a:rPr>
              <a:t>Docker</a:t>
            </a:r>
            <a:endParaRPr lang="en-US" sz="6000" dirty="0"/>
          </a:p>
          <a:p>
            <a:pPr algn="l" indent="0" marL="0">
              <a:lnSpc>
                <a:spcPts val="6300"/>
              </a:lnSpc>
              <a:buNone/>
            </a:pPr>
            <a:r>
              <a:rPr lang="en-US" sz="6000" b="1" dirty="0">
                <a:solidFill>
                  <a:srgbClr val="F4F6F8"/>
                </a:solidFill>
                <a:latin typeface="IBM Plex Sans" pitchFamily="34" charset="0"/>
                <a:ea typeface="IBM Plex Sans" pitchFamily="34" charset="-122"/>
                <a:cs typeface="IBM Plex Sans" pitchFamily="34" charset="-120"/>
              </a:rPr>
              <a:t>Temelleri</a:t>
            </a:r>
            <a:endParaRPr lang="en-US" sz="6000" dirty="0"/>
          </a:p>
        </p:txBody>
      </p:sp>
      <p:sp>
        <p:nvSpPr>
          <p:cNvPr id="5" name="Text 3"/>
          <p:cNvSpPr/>
          <p:nvPr/>
        </p:nvSpPr>
        <p:spPr>
          <a:xfrm>
            <a:off x="812800" y="3743970"/>
            <a:ext cx="719455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8C6D9"/>
                </a:solidFill>
                <a:latin typeface="IBM Plex Sans" pitchFamily="34" charset="0"/>
                <a:ea typeface="IBM Plex Sans" pitchFamily="34" charset="-122"/>
                <a:cs typeface="IBM Plex Sans" pitchFamily="34" charset="-120"/>
              </a:rPr>
              <a:t>Container'dan Compose'a, image'dan registry'e: her kavramı Docker Desktop üzerinde deneyerek öğreniyoruz.</a:t>
            </a:r>
            <a:endParaRPr lang="en-US" sz="1800" dirty="0"/>
          </a:p>
        </p:txBody>
      </p:sp>
      <p:sp>
        <p:nvSpPr>
          <p:cNvPr id="6" name="Shape 4"/>
          <p:cNvSpPr/>
          <p:nvPr/>
        </p:nvSpPr>
        <p:spPr>
          <a:xfrm>
            <a:off x="812800" y="4587230"/>
            <a:ext cx="998538" cy="340320"/>
          </a:xfrm>
          <a:prstGeom prst="roundRect">
            <a:avLst>
              <a:gd name="adj" fmla="val 50000"/>
            </a:avLst>
          </a:prstGeom>
          <a:solidFill>
            <a:srgbClr val="1B2C45"/>
          </a:solidFill>
          <a:ln/>
        </p:spPr>
      </p:sp>
      <p:sp>
        <p:nvSpPr>
          <p:cNvPr id="7" name="Text 5"/>
          <p:cNvSpPr/>
          <p:nvPr/>
        </p:nvSpPr>
        <p:spPr>
          <a:xfrm>
            <a:off x="965200" y="4650730"/>
            <a:ext cx="7445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IBM Plex Sans" pitchFamily="34" charset="0"/>
                <a:ea typeface="IBM Plex Sans" pitchFamily="34" charset="-122"/>
                <a:cs typeface="IBM Plex Sans" pitchFamily="34" charset="-120"/>
              </a:rPr>
              <a:t>Dockerfile</a:t>
            </a:r>
            <a:endParaRPr lang="en-US" sz="1200" dirty="0"/>
          </a:p>
        </p:txBody>
      </p:sp>
      <p:sp>
        <p:nvSpPr>
          <p:cNvPr id="8" name="Shape 6"/>
          <p:cNvSpPr/>
          <p:nvPr/>
        </p:nvSpPr>
        <p:spPr>
          <a:xfrm>
            <a:off x="1912938" y="4587230"/>
            <a:ext cx="1117402" cy="340320"/>
          </a:xfrm>
          <a:prstGeom prst="roundRect">
            <a:avLst>
              <a:gd name="adj" fmla="val 50000"/>
            </a:avLst>
          </a:prstGeom>
          <a:solidFill>
            <a:srgbClr val="1B2C45"/>
          </a:solidFill>
          <a:ln/>
        </p:spPr>
      </p:sp>
      <p:sp>
        <p:nvSpPr>
          <p:cNvPr id="9" name="Text 7"/>
          <p:cNvSpPr/>
          <p:nvPr/>
        </p:nvSpPr>
        <p:spPr>
          <a:xfrm>
            <a:off x="2065337" y="4650730"/>
            <a:ext cx="8634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IBM Plex Sans" pitchFamily="34" charset="0"/>
                <a:ea typeface="IBM Plex Sans" pitchFamily="34" charset="-122"/>
                <a:cs typeface="IBM Plex Sans" pitchFamily="34" charset="-120"/>
              </a:rPr>
              <a:t>Layer cache</a:t>
            </a:r>
            <a:endParaRPr lang="en-US" sz="1200" dirty="0"/>
          </a:p>
        </p:txBody>
      </p:sp>
      <p:sp>
        <p:nvSpPr>
          <p:cNvPr id="10" name="Shape 8"/>
          <p:cNvSpPr/>
          <p:nvPr/>
        </p:nvSpPr>
        <p:spPr>
          <a:xfrm>
            <a:off x="3131939" y="4587230"/>
            <a:ext cx="1079450" cy="340320"/>
          </a:xfrm>
          <a:prstGeom prst="roundRect">
            <a:avLst>
              <a:gd name="adj" fmla="val 50000"/>
            </a:avLst>
          </a:prstGeom>
          <a:solidFill>
            <a:srgbClr val="1B2C45"/>
          </a:solidFill>
          <a:ln/>
        </p:spPr>
      </p:sp>
      <p:sp>
        <p:nvSpPr>
          <p:cNvPr id="11" name="Text 9"/>
          <p:cNvSpPr/>
          <p:nvPr/>
        </p:nvSpPr>
        <p:spPr>
          <a:xfrm>
            <a:off x="3284339" y="4650730"/>
            <a:ext cx="825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IBM Plex Sans" pitchFamily="34" charset="0"/>
                <a:ea typeface="IBM Plex Sans" pitchFamily="34" charset="-122"/>
                <a:cs typeface="IBM Plex Sans" pitchFamily="34" charset="-120"/>
              </a:rPr>
              <a:t>Multi-stage</a:t>
            </a:r>
            <a:endParaRPr lang="en-US" sz="1200" dirty="0"/>
          </a:p>
        </p:txBody>
      </p:sp>
      <p:sp>
        <p:nvSpPr>
          <p:cNvPr id="12" name="Shape 10"/>
          <p:cNvSpPr/>
          <p:nvPr/>
        </p:nvSpPr>
        <p:spPr>
          <a:xfrm>
            <a:off x="4312989" y="4587230"/>
            <a:ext cx="1092746" cy="340320"/>
          </a:xfrm>
          <a:prstGeom prst="roundRect">
            <a:avLst>
              <a:gd name="adj" fmla="val 50000"/>
            </a:avLst>
          </a:prstGeom>
          <a:solidFill>
            <a:srgbClr val="1B2C45"/>
          </a:solidFill>
          <a:ln/>
        </p:spPr>
      </p:sp>
      <p:sp>
        <p:nvSpPr>
          <p:cNvPr id="13" name="Text 11"/>
          <p:cNvSpPr/>
          <p:nvPr/>
        </p:nvSpPr>
        <p:spPr>
          <a:xfrm>
            <a:off x="4465389" y="4650730"/>
            <a:ext cx="8387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IBM Plex Sans" pitchFamily="34" charset="0"/>
                <a:ea typeface="IBM Plex Sans" pitchFamily="34" charset="-122"/>
                <a:cs typeface="IBM Plex Sans" pitchFamily="34" charset="-120"/>
              </a:rPr>
              <a:t>Networking</a:t>
            </a:r>
            <a:endParaRPr lang="en-US" sz="1200" dirty="0"/>
          </a:p>
        </p:txBody>
      </p:sp>
      <p:sp>
        <p:nvSpPr>
          <p:cNvPr id="14" name="Shape 12"/>
          <p:cNvSpPr/>
          <p:nvPr/>
        </p:nvSpPr>
        <p:spPr>
          <a:xfrm>
            <a:off x="5507335" y="4587230"/>
            <a:ext cx="823119" cy="340320"/>
          </a:xfrm>
          <a:prstGeom prst="roundRect">
            <a:avLst>
              <a:gd name="adj" fmla="val 50000"/>
            </a:avLst>
          </a:prstGeom>
          <a:solidFill>
            <a:srgbClr val="1B2C45"/>
          </a:solidFill>
          <a:ln/>
        </p:spPr>
      </p:sp>
      <p:sp>
        <p:nvSpPr>
          <p:cNvPr id="15" name="Text 13"/>
          <p:cNvSpPr/>
          <p:nvPr/>
        </p:nvSpPr>
        <p:spPr>
          <a:xfrm>
            <a:off x="5659735" y="4650730"/>
            <a:ext cx="569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IBM Plex Sans" pitchFamily="34" charset="0"/>
                <a:ea typeface="IBM Plex Sans" pitchFamily="34" charset="-122"/>
                <a:cs typeface="IBM Plex Sans" pitchFamily="34" charset="-120"/>
              </a:rPr>
              <a:t>Volume</a:t>
            </a:r>
            <a:endParaRPr lang="en-US" sz="1200" dirty="0"/>
          </a:p>
        </p:txBody>
      </p:sp>
      <p:sp>
        <p:nvSpPr>
          <p:cNvPr id="16" name="Shape 14"/>
          <p:cNvSpPr/>
          <p:nvPr/>
        </p:nvSpPr>
        <p:spPr>
          <a:xfrm>
            <a:off x="6432054" y="4587230"/>
            <a:ext cx="949474" cy="340320"/>
          </a:xfrm>
          <a:prstGeom prst="roundRect">
            <a:avLst>
              <a:gd name="adj" fmla="val 50000"/>
            </a:avLst>
          </a:prstGeom>
          <a:solidFill>
            <a:srgbClr val="1B2C45"/>
          </a:solidFill>
          <a:ln/>
        </p:spPr>
      </p:sp>
      <p:sp>
        <p:nvSpPr>
          <p:cNvPr id="17" name="Text 15"/>
          <p:cNvSpPr/>
          <p:nvPr/>
        </p:nvSpPr>
        <p:spPr>
          <a:xfrm>
            <a:off x="6584454" y="4650730"/>
            <a:ext cx="695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IBM Plex Sans" pitchFamily="34" charset="0"/>
                <a:ea typeface="IBM Plex Sans" pitchFamily="34" charset="-122"/>
                <a:cs typeface="IBM Plex Sans" pitchFamily="34" charset="-120"/>
              </a:rPr>
              <a:t>Compose</a:t>
            </a:r>
            <a:endParaRPr lang="en-US" sz="1200" dirty="0"/>
          </a:p>
        </p:txBody>
      </p:sp>
      <p:sp>
        <p:nvSpPr>
          <p:cNvPr id="18" name="Shape 16"/>
          <p:cNvSpPr/>
          <p:nvPr/>
        </p:nvSpPr>
        <p:spPr>
          <a:xfrm>
            <a:off x="812800" y="5029150"/>
            <a:ext cx="862459" cy="340320"/>
          </a:xfrm>
          <a:prstGeom prst="roundRect">
            <a:avLst>
              <a:gd name="adj" fmla="val 50000"/>
            </a:avLst>
          </a:prstGeom>
          <a:solidFill>
            <a:srgbClr val="1B2C45"/>
          </a:solidFill>
          <a:ln/>
        </p:spPr>
      </p:sp>
      <p:sp>
        <p:nvSpPr>
          <p:cNvPr id="19" name="Text 17"/>
          <p:cNvSpPr/>
          <p:nvPr/>
        </p:nvSpPr>
        <p:spPr>
          <a:xfrm>
            <a:off x="965200" y="5092650"/>
            <a:ext cx="608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IBM Plex Sans" pitchFamily="34" charset="0"/>
                <a:ea typeface="IBM Plex Sans" pitchFamily="34" charset="-122"/>
                <a:cs typeface="IBM Plex Sans" pitchFamily="34" charset="-120"/>
              </a:rPr>
              <a:t>Registry</a:t>
            </a:r>
            <a:endParaRPr lang="en-US" sz="12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B3"/>
                </a:solidFill>
                <a:latin typeface="IBM Plex Sans" pitchFamily="34" charset="0"/>
                <a:ea typeface="IBM Plex Sans" pitchFamily="34" charset="-122"/>
                <a:cs typeface="IBM Plex Sans" pitchFamily="34" charset="-120"/>
              </a:rPr>
              <a:t>Eğitmen: [Ad Soyad] · [Tarih] · Materyaller: docker-egitimi.zip (labs/ + ornekler/)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EĞITIM AKIŞI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İki gün, 12 modül, 12 uygulama</a:t>
            </a:r>
            <a:endParaRPr lang="en-US" sz="3200" dirty="0"/>
          </a:p>
        </p:txBody>
      </p:sp>
      <p:sp>
        <p:nvSpPr>
          <p:cNvPr id="4" name="Shape 2"/>
          <p:cNvSpPr/>
          <p:nvPr/>
        </p:nvSpPr>
        <p:spPr>
          <a:xfrm>
            <a:off x="815975" y="2004616"/>
            <a:ext cx="5149850" cy="2543721"/>
          </a:xfrm>
          <a:prstGeom prst="roundRect">
            <a:avLst>
              <a:gd name="adj" fmla="val 3869"/>
            </a:avLst>
          </a:prstGeom>
          <a:solidFill>
            <a:srgbClr val="FDFDFC"/>
          </a:solidFill>
          <a:ln w="6350">
            <a:solidFill>
              <a:srgbClr val="D9E0E8"/>
            </a:solidFill>
            <a:prstDash val="solid"/>
          </a:ln>
        </p:spPr>
      </p:sp>
      <p:sp>
        <p:nvSpPr>
          <p:cNvPr id="5" name="Text 3"/>
          <p:cNvSpPr/>
          <p:nvPr/>
        </p:nvSpPr>
        <p:spPr>
          <a:xfrm>
            <a:off x="1073150" y="2261791"/>
            <a:ext cx="477456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63ED"/>
                </a:solidFill>
                <a:latin typeface="IBM Plex Sans" pitchFamily="34" charset="0"/>
                <a:ea typeface="IBM Plex Sans" pitchFamily="34" charset="-122"/>
                <a:cs typeface="IBM Plex Sans" pitchFamily="34" charset="-120"/>
              </a:rPr>
              <a:t>1. Gün — Image dünyası</a:t>
            </a:r>
            <a:endParaRPr lang="en-US" sz="1800" dirty="0"/>
          </a:p>
        </p:txBody>
      </p:sp>
      <p:sp>
        <p:nvSpPr>
          <p:cNvPr id="6" name="Text 4"/>
          <p:cNvSpPr/>
          <p:nvPr/>
        </p:nvSpPr>
        <p:spPr>
          <a:xfrm>
            <a:off x="1073150" y="2637681"/>
            <a:ext cx="4774565" cy="167888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Container'ın çözdüğü sorun</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Image katmanları ve layer cache</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Dockerfile direktifleri</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.dockerignore ve build context</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Multi-stage build</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Base image seçimi</a:t>
            </a:r>
            <a:endParaRPr lang="en-US" sz="1400" dirty="0"/>
          </a:p>
        </p:txBody>
      </p:sp>
      <p:sp>
        <p:nvSpPr>
          <p:cNvPr id="7" name="Shape 5"/>
          <p:cNvSpPr/>
          <p:nvPr/>
        </p:nvSpPr>
        <p:spPr>
          <a:xfrm>
            <a:off x="6226175" y="2004616"/>
            <a:ext cx="5149850" cy="2543721"/>
          </a:xfrm>
          <a:prstGeom prst="roundRect">
            <a:avLst>
              <a:gd name="adj" fmla="val 3869"/>
            </a:avLst>
          </a:prstGeom>
          <a:solidFill>
            <a:srgbClr val="FDFDFC"/>
          </a:solidFill>
          <a:ln w="6350">
            <a:solidFill>
              <a:srgbClr val="D9E0E8"/>
            </a:solidFill>
            <a:prstDash val="solid"/>
          </a:ln>
        </p:spPr>
      </p:sp>
      <p:sp>
        <p:nvSpPr>
          <p:cNvPr id="8" name="Text 6"/>
          <p:cNvSpPr/>
          <p:nvPr/>
        </p:nvSpPr>
        <p:spPr>
          <a:xfrm>
            <a:off x="6483350" y="2261791"/>
            <a:ext cx="477456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63ED"/>
                </a:solidFill>
                <a:latin typeface="IBM Plex Sans" pitchFamily="34" charset="0"/>
                <a:ea typeface="IBM Plex Sans" pitchFamily="34" charset="-122"/>
                <a:cs typeface="IBM Plex Sans" pitchFamily="34" charset="-120"/>
              </a:rPr>
              <a:t>2. Gün — Çalışma zamanı</a:t>
            </a:r>
            <a:endParaRPr lang="en-US" sz="1800" dirty="0"/>
          </a:p>
        </p:txBody>
      </p:sp>
      <p:sp>
        <p:nvSpPr>
          <p:cNvPr id="9" name="Text 7"/>
          <p:cNvSpPr/>
          <p:nvPr/>
        </p:nvSpPr>
        <p:spPr>
          <a:xfrm>
            <a:off x="6483350" y="2637681"/>
            <a:ext cx="4774565" cy="167888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Networking ve port mapping</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Volume ve bind mount</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Environment variable ile konfigürasyon</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Docker Compose</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Image tagging ve registry</a:t>
            </a:r>
            <a:endParaRPr lang="en-US" sz="1400" dirty="0"/>
          </a:p>
          <a:p>
            <a:pPr algn="l" marL="213360" indent="-213360">
              <a:lnSpc>
                <a:spcPts val="217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Final projesi (ikili gruplar)</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Her modül: kavram (15–20 dk) → lab (25–40 dk) · Ayrıntılı saat planı: README.md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LAB 00 · ORTAM KONTROLÜ</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docker komutu sadece bir istemci</a:t>
            </a:r>
            <a:endParaRPr lang="en-US" sz="3200" dirty="0"/>
          </a:p>
        </p:txBody>
      </p:sp>
      <p:sp>
        <p:nvSpPr>
          <p:cNvPr id="4" name="Shape 2"/>
          <p:cNvSpPr/>
          <p:nvPr/>
        </p:nvSpPr>
        <p:spPr>
          <a:xfrm>
            <a:off x="819150" y="2101751"/>
            <a:ext cx="1638300" cy="779711"/>
          </a:xfrm>
          <a:prstGeom prst="roundRect">
            <a:avLst>
              <a:gd name="adj" fmla="val 12216"/>
            </a:avLst>
          </a:prstGeom>
          <a:solidFill>
            <a:srgbClr val="FDFDFC"/>
          </a:solidFill>
          <a:ln w="12700">
            <a:solidFill>
              <a:srgbClr val="1D63ED"/>
            </a:solidFill>
            <a:prstDash val="solid"/>
          </a:ln>
        </p:spPr>
      </p:sp>
      <p:sp>
        <p:nvSpPr>
          <p:cNvPr id="5" name="Text 3"/>
          <p:cNvSpPr/>
          <p:nvPr/>
        </p:nvSpPr>
        <p:spPr>
          <a:xfrm>
            <a:off x="1028700" y="2260501"/>
            <a:ext cx="1270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docker CLI</a:t>
            </a:r>
            <a:endParaRPr lang="en-US" sz="1400" dirty="0"/>
          </a:p>
        </p:txBody>
      </p:sp>
      <p:sp>
        <p:nvSpPr>
          <p:cNvPr id="6" name="Text 4"/>
          <p:cNvSpPr/>
          <p:nvPr/>
        </p:nvSpPr>
        <p:spPr>
          <a:xfrm>
            <a:off x="1028700" y="2509391"/>
            <a:ext cx="127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terminaliniz</a:t>
            </a:r>
            <a:endParaRPr lang="en-US" sz="1200" dirty="0"/>
          </a:p>
        </p:txBody>
      </p:sp>
      <p:pic>
        <p:nvPicPr>
          <p:cNvPr id="7" name="Image 0" descr="arrow-right">    </p:cNvPr>
          <p:cNvPicPr>
            <a:picLocks noChangeAspect="1"/>
          </p:cNvPicPr>
          <p:nvPr/>
        </p:nvPicPr>
        <p:blipFill>
          <a:blip r:embed="rId1"/>
          <a:srcRect l="0" r="0" t="0" b="0"/>
          <a:stretch/>
        </p:blipFill>
        <p:spPr>
          <a:xfrm>
            <a:off x="2616200" y="2339181"/>
            <a:ext cx="609600" cy="304800"/>
          </a:xfrm>
          <a:prstGeom prst="rect">
            <a:avLst/>
          </a:prstGeom>
        </p:spPr>
      </p:pic>
      <p:sp>
        <p:nvSpPr>
          <p:cNvPr id="8" name="Shape 5"/>
          <p:cNvSpPr/>
          <p:nvPr/>
        </p:nvSpPr>
        <p:spPr>
          <a:xfrm>
            <a:off x="3378200" y="2001441"/>
            <a:ext cx="2667000" cy="980331"/>
          </a:xfrm>
          <a:prstGeom prst="roundRect">
            <a:avLst>
              <a:gd name="adj" fmla="val 10364"/>
            </a:avLst>
          </a:prstGeom>
          <a:solidFill>
            <a:srgbClr val="0F1B2D"/>
          </a:solidFill>
          <a:ln/>
        </p:spPr>
      </p:sp>
      <p:sp>
        <p:nvSpPr>
          <p:cNvPr id="9" name="Text 6"/>
          <p:cNvSpPr/>
          <p:nvPr/>
        </p:nvSpPr>
        <p:spPr>
          <a:xfrm>
            <a:off x="3581400" y="2153841"/>
            <a:ext cx="232841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Docker Engine</a:t>
            </a:r>
            <a:endParaRPr lang="en-US" sz="1400" dirty="0"/>
          </a:p>
        </p:txBody>
      </p:sp>
      <p:sp>
        <p:nvSpPr>
          <p:cNvPr id="10" name="Text 7"/>
          <p:cNvSpPr/>
          <p:nvPr/>
        </p:nvSpPr>
        <p:spPr>
          <a:xfrm>
            <a:off x="3581400" y="2402731"/>
            <a:ext cx="23284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6D9"/>
                </a:solidFill>
                <a:latin typeface="IBM Plex Sans" pitchFamily="34" charset="0"/>
                <a:ea typeface="IBM Plex Sans" pitchFamily="34" charset="-122"/>
                <a:cs typeface="IBM Plex Sans" pitchFamily="34" charset="-120"/>
              </a:rPr>
              <a:t>image · container · network · volume</a:t>
            </a:r>
            <a:endParaRPr lang="en-US" sz="1200" dirty="0"/>
          </a:p>
        </p:txBody>
      </p:sp>
      <p:sp>
        <p:nvSpPr>
          <p:cNvPr id="11" name="Text 8"/>
          <p:cNvSpPr/>
          <p:nvPr/>
        </p:nvSpPr>
        <p:spPr>
          <a:xfrm>
            <a:off x="812800" y="3134171"/>
            <a:ext cx="5991098"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4536A"/>
                </a:solidFill>
                <a:latin typeface="IBM Plex Sans" pitchFamily="34" charset="0"/>
                <a:ea typeface="IBM Plex Sans" pitchFamily="34" charset="-122"/>
                <a:cs typeface="IBM Plex Sans" pitchFamily="34" charset="-120"/>
              </a:rPr>
              <a:t>Docker Desktop, Engine'i Windows ve macOS'ta küçük bir Linux sanal makinesinde çalıştırır. Container'lar Linux çekirdeği özelliklerini kullandığı için bu gerekir.</a:t>
            </a:r>
            <a:endParaRPr lang="en-US" sz="1400" dirty="0"/>
          </a:p>
        </p:txBody>
      </p:sp>
      <p:sp>
        <p:nvSpPr>
          <p:cNvPr id="12" name="Text 9"/>
          <p:cNvSpPr/>
          <p:nvPr/>
        </p:nvSpPr>
        <p:spPr>
          <a:xfrm>
            <a:off x="812800" y="4086671"/>
            <a:ext cx="599109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4536A"/>
                </a:solidFill>
                <a:latin typeface="IBM Plex Sans" pitchFamily="34" charset="0"/>
                <a:ea typeface="IBM Plex Sans" pitchFamily="34" charset="-122"/>
                <a:cs typeface="IBM Plex Sans" pitchFamily="34" charset="-120"/>
              </a:rPr>
              <a:t>Eski </a:t>
            </a:r>
            <a:r>
              <a:rPr lang="en-US" sz="1400" b="1" dirty="0">
                <a:solidFill>
                  <a:srgbClr val="44536A"/>
                </a:solidFill>
                <a:latin typeface="IBM Plex Sans" pitchFamily="34" charset="0"/>
                <a:ea typeface="IBM Plex Sans" pitchFamily="34" charset="-122"/>
                <a:cs typeface="IBM Plex Sans" pitchFamily="34" charset="-120"/>
              </a:rPr>
              <a:t>docker-compose</a:t>
            </a:r>
            <a:r>
              <a:rPr lang="en-US" sz="1400" dirty="0">
                <a:solidFill>
                  <a:srgbClr val="44536A"/>
                </a:solidFill>
                <a:latin typeface="IBM Plex Sans" pitchFamily="34" charset="0"/>
                <a:ea typeface="IBM Plex Sans" pitchFamily="34" charset="-122"/>
                <a:cs typeface="IBM Plex Sans" pitchFamily="34" charset="-120"/>
              </a:rPr>
              <a:t> yerine artık </a:t>
            </a:r>
            <a:r>
              <a:rPr lang="en-US" sz="1400" b="1" dirty="0">
                <a:solidFill>
                  <a:srgbClr val="44536A"/>
                </a:solidFill>
                <a:latin typeface="IBM Plex Sans" pitchFamily="34" charset="0"/>
                <a:ea typeface="IBM Plex Sans" pitchFamily="34" charset="-122"/>
                <a:cs typeface="IBM Plex Sans" pitchFamily="34" charset="-120"/>
              </a:rPr>
              <a:t>docker compose</a:t>
            </a:r>
            <a:r>
              <a:rPr lang="en-US" sz="1400" dirty="0">
                <a:solidFill>
                  <a:srgbClr val="44536A"/>
                </a:solidFill>
                <a:latin typeface="IBM Plex Sans" pitchFamily="34" charset="0"/>
                <a:ea typeface="IBM Plex Sans" pitchFamily="34" charset="-122"/>
                <a:cs typeface="IBM Plex Sans" pitchFamily="34" charset="-120"/>
              </a:rPr>
              <a:t> (boşluklu) kullanıyoruz.</a:t>
            </a:r>
            <a:endParaRPr lang="en-US" sz="1400" dirty="0"/>
          </a:p>
        </p:txBody>
      </p:sp>
      <p:sp>
        <p:nvSpPr>
          <p:cNvPr id="13" name="Shape 10"/>
          <p:cNvSpPr/>
          <p:nvPr/>
        </p:nvSpPr>
        <p:spPr>
          <a:xfrm>
            <a:off x="6934200" y="2001441"/>
            <a:ext cx="4445000" cy="3088531"/>
          </a:xfrm>
          <a:prstGeom prst="roundRect">
            <a:avLst>
              <a:gd name="adj" fmla="val 3290"/>
            </a:avLst>
          </a:prstGeom>
          <a:solidFill>
            <a:srgbClr val="0F1B2D"/>
          </a:solidFill>
          <a:ln/>
        </p:spPr>
      </p:sp>
      <p:sp>
        <p:nvSpPr>
          <p:cNvPr id="14" name="Text 11"/>
          <p:cNvSpPr/>
          <p:nvPr/>
        </p:nvSpPr>
        <p:spPr>
          <a:xfrm>
            <a:off x="7188200" y="2204641"/>
            <a:ext cx="4055110" cy="270753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Client + Server görünmeli</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version</a:t>
            </a:r>
            <a:endParaRPr lang="en-US" sz="1200" dirty="0"/>
          </a:p>
          <a:p>
            <a:pPr algn="l" indent="0" marL="0">
              <a:lnSpc>
                <a:spcPts val="1920"/>
              </a:lnSpc>
              <a:buNone/>
            </a:pP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v2.x veya üstü</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compose version</a:t>
            </a:r>
            <a:endParaRPr lang="en-US" sz="1200" dirty="0"/>
          </a:p>
          <a:p>
            <a:pPr algn="l" indent="0" marL="0">
              <a:lnSpc>
                <a:spcPts val="1920"/>
              </a:lnSpc>
              <a:buNone/>
            </a:pP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"Hello from Docker!"</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hello-world</a:t>
            </a:r>
            <a:endParaRPr lang="en-US" sz="1200" dirty="0"/>
          </a:p>
          <a:p>
            <a:pPr algn="l" indent="0" marL="0">
              <a:lnSpc>
                <a:spcPts val="1920"/>
              </a:lnSpc>
              <a:buNone/>
            </a:pP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disk kullanımı</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system df</a:t>
            </a:r>
            <a:endParaRPr lang="en-US" sz="12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labs/00-kurulum-ve-ortam.md · hazirlik/ortam-kontrol.sh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CC4FF"/>
                </a:solidFill>
                <a:latin typeface="IBM Plex Sans" pitchFamily="34" charset="0"/>
                <a:ea typeface="IBM Plex Sans" pitchFamily="34" charset="-122"/>
                <a:cs typeface="IBM Plex Sans" pitchFamily="34" charset="-120"/>
              </a:rPr>
              <a:t>BÖLÜM 1 · CONTAINER NEDEN VAR?</a:t>
            </a:r>
            <a:endParaRPr lang="en-US" sz="1200" dirty="0"/>
          </a:p>
        </p:txBody>
      </p:sp>
      <p:sp>
        <p:nvSpPr>
          <p:cNvPr id="3" name="Text 1"/>
          <p:cNvSpPr/>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4F6F8"/>
                </a:solidFill>
                <a:latin typeface="IBM Plex Sans" pitchFamily="34" charset="0"/>
                <a:ea typeface="IBM Plex Sans" pitchFamily="34" charset="-122"/>
                <a:cs typeface="IBM Plex Sans" pitchFamily="34" charset="-120"/>
              </a:rPr>
              <a:t>"Benim makinemde çalışıyordu."</a:t>
            </a:r>
            <a:endParaRPr lang="en-US" sz="3600" dirty="0"/>
          </a:p>
        </p:txBody>
      </p:sp>
      <p:sp>
        <p:nvSpPr>
          <p:cNvPr id="4" name="Shape 2"/>
          <p:cNvSpPr/>
          <p:nvPr/>
        </p:nvSpPr>
        <p:spPr>
          <a:xfrm>
            <a:off x="812800" y="2161480"/>
            <a:ext cx="3386634" cy="2298551"/>
          </a:xfrm>
          <a:prstGeom prst="roundRect">
            <a:avLst>
              <a:gd name="adj" fmla="val 4420"/>
            </a:avLst>
          </a:prstGeom>
          <a:solidFill>
            <a:srgbClr val="1B2C45"/>
          </a:solidFill>
          <a:ln/>
        </p:spPr>
      </p:sp>
      <p:pic>
        <p:nvPicPr>
          <p:cNvPr id="5" name="Image 0" descr="Lock">    </p:cNvPr>
          <p:cNvPicPr>
            <a:picLocks noChangeAspect="1"/>
          </p:cNvPicPr>
          <p:nvPr/>
        </p:nvPicPr>
        <p:blipFill>
          <a:blip r:embed="rId1"/>
          <a:srcRect l="0" r="0" t="0" b="0"/>
          <a:stretch/>
        </p:blipFill>
        <p:spPr>
          <a:xfrm>
            <a:off x="1066800" y="2415480"/>
            <a:ext cx="355600" cy="355600"/>
          </a:xfrm>
          <a:prstGeom prst="rect">
            <a:avLst/>
          </a:prstGeom>
        </p:spPr>
      </p:pic>
      <p:sp>
        <p:nvSpPr>
          <p:cNvPr id="6" name="Text 3"/>
          <p:cNvSpPr/>
          <p:nvPr/>
        </p:nvSpPr>
        <p:spPr>
          <a:xfrm>
            <a:off x="1066800" y="2872680"/>
            <a:ext cx="296499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6F8"/>
                </a:solidFill>
                <a:latin typeface="IBM Plex Sans" pitchFamily="34" charset="0"/>
                <a:ea typeface="IBM Plex Sans" pitchFamily="34" charset="-122"/>
                <a:cs typeface="IBM Plex Sans" pitchFamily="34" charset="-120"/>
              </a:rPr>
              <a:t>İzolasyon</a:t>
            </a:r>
            <a:endParaRPr lang="en-US" sz="1800" dirty="0"/>
          </a:p>
        </p:txBody>
      </p:sp>
      <p:sp>
        <p:nvSpPr>
          <p:cNvPr id="7" name="Text 4"/>
          <p:cNvSpPr/>
          <p:nvPr/>
        </p:nvSpPr>
        <p:spPr>
          <a:xfrm>
            <a:off x="1066800" y="3248571"/>
            <a:ext cx="2964993"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C6D9"/>
                </a:solidFill>
                <a:latin typeface="IBM Plex Sans" pitchFamily="34" charset="0"/>
                <a:ea typeface="IBM Plex Sans" pitchFamily="34" charset="-122"/>
                <a:cs typeface="IBM Plex Sans" pitchFamily="34" charset="-120"/>
              </a:rPr>
              <a:t>İki uygulama aynı kütüphanenin farklı sürümünü istiyor. Her container kendi dosya sistemini, process'lerini ve ağını görür.</a:t>
            </a:r>
            <a:endParaRPr lang="en-US" sz="1300" dirty="0"/>
          </a:p>
        </p:txBody>
      </p:sp>
      <p:sp>
        <p:nvSpPr>
          <p:cNvPr id="8" name="Shape 5"/>
          <p:cNvSpPr/>
          <p:nvPr/>
        </p:nvSpPr>
        <p:spPr>
          <a:xfrm>
            <a:off x="4402634" y="2161480"/>
            <a:ext cx="3386683" cy="2298551"/>
          </a:xfrm>
          <a:prstGeom prst="roundRect">
            <a:avLst>
              <a:gd name="adj" fmla="val 4420"/>
            </a:avLst>
          </a:prstGeom>
          <a:solidFill>
            <a:srgbClr val="1B2C45"/>
          </a:solidFill>
          <a:ln/>
        </p:spPr>
      </p:sp>
      <p:pic>
        <p:nvPicPr>
          <p:cNvPr id="9" name="Image 1" descr="PaperPlane">    </p:cNvPr>
          <p:cNvPicPr>
            <a:picLocks noChangeAspect="1"/>
          </p:cNvPicPr>
          <p:nvPr/>
        </p:nvPicPr>
        <p:blipFill>
          <a:blip r:embed="rId2"/>
          <a:srcRect l="0" r="0" t="0" b="0"/>
          <a:stretch/>
        </p:blipFill>
        <p:spPr>
          <a:xfrm>
            <a:off x="4656634" y="2415480"/>
            <a:ext cx="355600" cy="355600"/>
          </a:xfrm>
          <a:prstGeom prst="rect">
            <a:avLst/>
          </a:prstGeom>
        </p:spPr>
      </p:pic>
      <p:sp>
        <p:nvSpPr>
          <p:cNvPr id="10" name="Text 6"/>
          <p:cNvSpPr/>
          <p:nvPr/>
        </p:nvSpPr>
        <p:spPr>
          <a:xfrm>
            <a:off x="4656634" y="2872680"/>
            <a:ext cx="29650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6F8"/>
                </a:solidFill>
                <a:latin typeface="IBM Plex Sans" pitchFamily="34" charset="0"/>
                <a:ea typeface="IBM Plex Sans" pitchFamily="34" charset="-122"/>
                <a:cs typeface="IBM Plex Sans" pitchFamily="34" charset="-120"/>
              </a:rPr>
              <a:t>Taşınabilirlik</a:t>
            </a:r>
            <a:endParaRPr lang="en-US" sz="1800" dirty="0"/>
          </a:p>
        </p:txBody>
      </p:sp>
      <p:sp>
        <p:nvSpPr>
          <p:cNvPr id="11" name="Text 7"/>
          <p:cNvSpPr/>
          <p:nvPr/>
        </p:nvSpPr>
        <p:spPr>
          <a:xfrm>
            <a:off x="4656634" y="3248571"/>
            <a:ext cx="2965044"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C6D9"/>
                </a:solidFill>
                <a:latin typeface="IBM Plex Sans" pitchFamily="34" charset="0"/>
                <a:ea typeface="IBM Plex Sans" pitchFamily="34" charset="-122"/>
                <a:cs typeface="IBM Plex Sans" pitchFamily="34" charset="-120"/>
              </a:rPr>
              <a:t>Geliştiricide Python 3.12, sunucuda 3.8. Uygulama kendi runtime'ı ile paketlenir; aynı image her yerde aynı çalışır.</a:t>
            </a:r>
            <a:endParaRPr lang="en-US" sz="1300" dirty="0"/>
          </a:p>
        </p:txBody>
      </p:sp>
      <p:sp>
        <p:nvSpPr>
          <p:cNvPr id="12" name="Shape 8"/>
          <p:cNvSpPr/>
          <p:nvPr/>
        </p:nvSpPr>
        <p:spPr>
          <a:xfrm>
            <a:off x="7992517" y="2161480"/>
            <a:ext cx="3386634" cy="2298551"/>
          </a:xfrm>
          <a:prstGeom prst="roundRect">
            <a:avLst>
              <a:gd name="adj" fmla="val 4420"/>
            </a:avLst>
          </a:prstGeom>
          <a:solidFill>
            <a:srgbClr val="1B2C45"/>
          </a:solidFill>
          <a:ln/>
        </p:spPr>
      </p:sp>
      <p:pic>
        <p:nvPicPr>
          <p:cNvPr id="13" name="Image 2" descr="Lightning">    </p:cNvPr>
          <p:cNvPicPr>
            <a:picLocks noChangeAspect="1"/>
          </p:cNvPicPr>
          <p:nvPr/>
        </p:nvPicPr>
        <p:blipFill>
          <a:blip r:embed="rId3"/>
          <a:srcRect l="0" r="0" t="0" b="0"/>
          <a:stretch/>
        </p:blipFill>
        <p:spPr>
          <a:xfrm>
            <a:off x="8246517" y="2415480"/>
            <a:ext cx="355600" cy="355600"/>
          </a:xfrm>
          <a:prstGeom prst="rect">
            <a:avLst/>
          </a:prstGeom>
        </p:spPr>
      </p:pic>
      <p:sp>
        <p:nvSpPr>
          <p:cNvPr id="14" name="Text 9"/>
          <p:cNvSpPr/>
          <p:nvPr/>
        </p:nvSpPr>
        <p:spPr>
          <a:xfrm>
            <a:off x="8246517" y="2872680"/>
            <a:ext cx="296499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6F8"/>
                </a:solidFill>
                <a:latin typeface="IBM Plex Sans" pitchFamily="34" charset="0"/>
                <a:ea typeface="IBM Plex Sans" pitchFamily="34" charset="-122"/>
                <a:cs typeface="IBM Plex Sans" pitchFamily="34" charset="-120"/>
              </a:rPr>
              <a:t>Kaynak verimliliği</a:t>
            </a:r>
            <a:endParaRPr lang="en-US" sz="1800" dirty="0"/>
          </a:p>
        </p:txBody>
      </p:sp>
      <p:sp>
        <p:nvSpPr>
          <p:cNvPr id="15" name="Text 10"/>
          <p:cNvSpPr/>
          <p:nvPr/>
        </p:nvSpPr>
        <p:spPr>
          <a:xfrm>
            <a:off x="8246517" y="3248571"/>
            <a:ext cx="2964993"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C6D9"/>
                </a:solidFill>
                <a:latin typeface="IBM Plex Sans" pitchFamily="34" charset="0"/>
                <a:ea typeface="IBM Plex Sans" pitchFamily="34" charset="-122"/>
                <a:cs typeface="IBM Plex Sans" pitchFamily="34" charset="-120"/>
              </a:rPr>
              <a:t>VM başına GB'larca RAM ve dakikalık açılış yerine, çekirdeği paylaşan container'lar: MB'lar ve milisaniyeler.</a:t>
            </a:r>
            <a:endParaRPr lang="en-US" sz="13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B3"/>
                </a:solidFill>
                <a:latin typeface="IBM Plex Sans" pitchFamily="34" charset="0"/>
                <a:ea typeface="IBM Plex Sans" pitchFamily="34" charset="-122"/>
                <a:cs typeface="IBM Plex Sans" pitchFamily="34" charset="-120"/>
              </a:rPr>
              <a:t>Bonus: kurulum dokümanı yerine Dockerfile — kurulum kodda, tekrarlanabilir.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 · MIMARI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Sanal makine ve container</a:t>
            </a:r>
            <a:endParaRPr lang="en-US" sz="3200" dirty="0"/>
          </a:p>
        </p:txBody>
      </p:sp>
      <p:sp>
        <p:nvSpPr>
          <p:cNvPr id="4" name="Text 2"/>
          <p:cNvSpPr/>
          <p:nvPr/>
        </p:nvSpPr>
        <p:spPr>
          <a:xfrm>
            <a:off x="812800" y="2001441"/>
            <a:ext cx="51277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E6A7A"/>
                </a:solidFill>
                <a:latin typeface="IBM Plex Sans" pitchFamily="34" charset="0"/>
                <a:ea typeface="IBM Plex Sans" pitchFamily="34" charset="-122"/>
                <a:cs typeface="IBM Plex Sans" pitchFamily="34" charset="-120"/>
              </a:rPr>
              <a:t>Sanal makine</a:t>
            </a:r>
            <a:endParaRPr lang="en-US" sz="1600" dirty="0"/>
          </a:p>
        </p:txBody>
      </p:sp>
      <p:sp>
        <p:nvSpPr>
          <p:cNvPr id="5" name="Shape 3"/>
          <p:cNvSpPr/>
          <p:nvPr/>
        </p:nvSpPr>
        <p:spPr>
          <a:xfrm>
            <a:off x="812800" y="2296071"/>
            <a:ext cx="1625600" cy="792361"/>
          </a:xfrm>
          <a:prstGeom prst="roundRect">
            <a:avLst>
              <a:gd name="adj" fmla="val 6411"/>
            </a:avLst>
          </a:prstGeom>
          <a:solidFill>
            <a:srgbClr val="D6E4FA"/>
          </a:solidFill>
          <a:ln/>
        </p:spPr>
      </p:sp>
      <p:sp>
        <p:nvSpPr>
          <p:cNvPr id="6" name="Text 4"/>
          <p:cNvSpPr/>
          <p:nvPr/>
        </p:nvSpPr>
        <p:spPr>
          <a:xfrm>
            <a:off x="863600" y="2372271"/>
            <a:ext cx="1524000" cy="6653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App A</a:t>
            </a:r>
            <a:endParaRPr lang="en-US" sz="1200" dirty="0"/>
          </a:p>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Libs</a:t>
            </a:r>
            <a:endParaRPr lang="en-US" sz="1200" dirty="0"/>
          </a:p>
          <a:p>
            <a:pPr algn="ct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Guest OS</a:t>
            </a:r>
            <a:endParaRPr lang="en-US" sz="1200" dirty="0"/>
          </a:p>
        </p:txBody>
      </p:sp>
      <p:sp>
        <p:nvSpPr>
          <p:cNvPr id="7" name="Shape 5"/>
          <p:cNvSpPr/>
          <p:nvPr/>
        </p:nvSpPr>
        <p:spPr>
          <a:xfrm>
            <a:off x="2489200" y="2296071"/>
            <a:ext cx="1625600" cy="792361"/>
          </a:xfrm>
          <a:prstGeom prst="roundRect">
            <a:avLst>
              <a:gd name="adj" fmla="val 6411"/>
            </a:avLst>
          </a:prstGeom>
          <a:solidFill>
            <a:srgbClr val="D6E4FA"/>
          </a:solidFill>
          <a:ln/>
        </p:spPr>
      </p:sp>
      <p:sp>
        <p:nvSpPr>
          <p:cNvPr id="8" name="Text 6"/>
          <p:cNvSpPr/>
          <p:nvPr/>
        </p:nvSpPr>
        <p:spPr>
          <a:xfrm>
            <a:off x="2540000" y="2372271"/>
            <a:ext cx="1524000" cy="6653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App B</a:t>
            </a:r>
            <a:endParaRPr lang="en-US" sz="1200" dirty="0"/>
          </a:p>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Libs</a:t>
            </a:r>
            <a:endParaRPr lang="en-US" sz="1200" dirty="0"/>
          </a:p>
          <a:p>
            <a:pPr algn="ct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Guest OS</a:t>
            </a:r>
            <a:endParaRPr lang="en-US" sz="1200" dirty="0"/>
          </a:p>
        </p:txBody>
      </p:sp>
      <p:sp>
        <p:nvSpPr>
          <p:cNvPr id="9" name="Shape 7"/>
          <p:cNvSpPr/>
          <p:nvPr/>
        </p:nvSpPr>
        <p:spPr>
          <a:xfrm>
            <a:off x="4165600" y="2296071"/>
            <a:ext cx="1625600" cy="792361"/>
          </a:xfrm>
          <a:prstGeom prst="roundRect">
            <a:avLst>
              <a:gd name="adj" fmla="val 6411"/>
            </a:avLst>
          </a:prstGeom>
          <a:solidFill>
            <a:srgbClr val="D6E4FA"/>
          </a:solidFill>
          <a:ln/>
        </p:spPr>
      </p:sp>
      <p:sp>
        <p:nvSpPr>
          <p:cNvPr id="10" name="Text 8"/>
          <p:cNvSpPr/>
          <p:nvPr/>
        </p:nvSpPr>
        <p:spPr>
          <a:xfrm>
            <a:off x="4216400" y="2372271"/>
            <a:ext cx="1524000" cy="6653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App C</a:t>
            </a:r>
            <a:endParaRPr lang="en-US" sz="1200" dirty="0"/>
          </a:p>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Libs</a:t>
            </a:r>
            <a:endParaRPr lang="en-US" sz="1200" dirty="0"/>
          </a:p>
          <a:p>
            <a:pPr algn="ct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Guest OS</a:t>
            </a:r>
            <a:endParaRPr lang="en-US" sz="1200" dirty="0"/>
          </a:p>
        </p:txBody>
      </p:sp>
      <p:sp>
        <p:nvSpPr>
          <p:cNvPr id="11" name="Shape 9"/>
          <p:cNvSpPr/>
          <p:nvPr/>
        </p:nvSpPr>
        <p:spPr>
          <a:xfrm>
            <a:off x="812800" y="3139232"/>
            <a:ext cx="4978400" cy="408930"/>
          </a:xfrm>
          <a:prstGeom prst="roundRect">
            <a:avLst>
              <a:gd name="adj" fmla="val 12423"/>
            </a:avLst>
          </a:prstGeom>
          <a:solidFill>
            <a:srgbClr val="A9C4F0"/>
          </a:solidFill>
          <a:ln/>
        </p:spPr>
      </p:sp>
      <p:sp>
        <p:nvSpPr>
          <p:cNvPr id="12" name="Text 10"/>
          <p:cNvSpPr/>
          <p:nvPr/>
        </p:nvSpPr>
        <p:spPr>
          <a:xfrm>
            <a:off x="829691" y="3228132"/>
            <a:ext cx="4944618"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0F1B2D"/>
                </a:solidFill>
                <a:latin typeface="IBM Plex Sans" pitchFamily="34" charset="0"/>
                <a:ea typeface="IBM Plex Sans" pitchFamily="34" charset="-122"/>
                <a:cs typeface="IBM Plex Sans" pitchFamily="34" charset="-120"/>
              </a:rPr>
              <a:t>Hypervisor</a:t>
            </a:r>
            <a:endParaRPr lang="en-US" sz="1300" dirty="0"/>
          </a:p>
        </p:txBody>
      </p:sp>
      <p:sp>
        <p:nvSpPr>
          <p:cNvPr id="13" name="Shape 11"/>
          <p:cNvSpPr/>
          <p:nvPr/>
        </p:nvSpPr>
        <p:spPr>
          <a:xfrm>
            <a:off x="812800" y="3598962"/>
            <a:ext cx="4978400" cy="408930"/>
          </a:xfrm>
          <a:prstGeom prst="roundRect">
            <a:avLst>
              <a:gd name="adj" fmla="val 12423"/>
            </a:avLst>
          </a:prstGeom>
          <a:solidFill>
            <a:srgbClr val="5E6A7A"/>
          </a:solidFill>
          <a:ln/>
        </p:spPr>
      </p:sp>
      <p:sp>
        <p:nvSpPr>
          <p:cNvPr id="14" name="Text 12"/>
          <p:cNvSpPr/>
          <p:nvPr/>
        </p:nvSpPr>
        <p:spPr>
          <a:xfrm>
            <a:off x="829691" y="3687862"/>
            <a:ext cx="4944618"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F4F6F8"/>
                </a:solidFill>
                <a:latin typeface="IBM Plex Sans" pitchFamily="34" charset="0"/>
                <a:ea typeface="IBM Plex Sans" pitchFamily="34" charset="-122"/>
                <a:cs typeface="IBM Plex Sans" pitchFamily="34" charset="-120"/>
              </a:rPr>
              <a:t>Host OS</a:t>
            </a:r>
            <a:endParaRPr lang="en-US" sz="1300" dirty="0"/>
          </a:p>
        </p:txBody>
      </p:sp>
      <p:sp>
        <p:nvSpPr>
          <p:cNvPr id="15" name="Shape 13"/>
          <p:cNvSpPr/>
          <p:nvPr/>
        </p:nvSpPr>
        <p:spPr>
          <a:xfrm>
            <a:off x="812800" y="4058692"/>
            <a:ext cx="4978400" cy="408930"/>
          </a:xfrm>
          <a:prstGeom prst="roundRect">
            <a:avLst>
              <a:gd name="adj" fmla="val 12423"/>
            </a:avLst>
          </a:prstGeom>
          <a:solidFill>
            <a:srgbClr val="0F1B2D"/>
          </a:solidFill>
          <a:ln/>
        </p:spPr>
      </p:sp>
      <p:sp>
        <p:nvSpPr>
          <p:cNvPr id="16" name="Text 14"/>
          <p:cNvSpPr/>
          <p:nvPr/>
        </p:nvSpPr>
        <p:spPr>
          <a:xfrm>
            <a:off x="829691" y="4147592"/>
            <a:ext cx="4944618"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F4F6F8"/>
                </a:solidFill>
                <a:latin typeface="IBM Plex Sans" pitchFamily="34" charset="0"/>
                <a:ea typeface="IBM Plex Sans" pitchFamily="34" charset="-122"/>
                <a:cs typeface="IBM Plex Sans" pitchFamily="34" charset="-120"/>
              </a:rPr>
              <a:t>Donanım</a:t>
            </a:r>
            <a:endParaRPr lang="en-US" sz="1300" dirty="0"/>
          </a:p>
        </p:txBody>
      </p:sp>
      <p:sp>
        <p:nvSpPr>
          <p:cNvPr id="17" name="Text 15"/>
          <p:cNvSpPr/>
          <p:nvPr/>
        </p:nvSpPr>
        <p:spPr>
          <a:xfrm>
            <a:off x="6400800" y="2001441"/>
            <a:ext cx="51277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63ED"/>
                </a:solidFill>
                <a:latin typeface="IBM Plex Sans" pitchFamily="34" charset="0"/>
                <a:ea typeface="IBM Plex Sans" pitchFamily="34" charset="-122"/>
                <a:cs typeface="IBM Plex Sans" pitchFamily="34" charset="-120"/>
              </a:rPr>
              <a:t>Container</a:t>
            </a:r>
            <a:endParaRPr lang="en-US" sz="1600" dirty="0"/>
          </a:p>
        </p:txBody>
      </p:sp>
      <p:sp>
        <p:nvSpPr>
          <p:cNvPr id="18" name="Shape 16"/>
          <p:cNvSpPr/>
          <p:nvPr/>
        </p:nvSpPr>
        <p:spPr>
          <a:xfrm>
            <a:off x="6400800" y="2296071"/>
            <a:ext cx="1625600" cy="579041"/>
          </a:xfrm>
          <a:prstGeom prst="roundRect">
            <a:avLst>
              <a:gd name="adj" fmla="val 8773"/>
            </a:avLst>
          </a:prstGeom>
          <a:solidFill>
            <a:srgbClr val="D6E4FA"/>
          </a:solidFill>
          <a:ln/>
        </p:spPr>
      </p:sp>
      <p:sp>
        <p:nvSpPr>
          <p:cNvPr id="19" name="Text 17"/>
          <p:cNvSpPr/>
          <p:nvPr/>
        </p:nvSpPr>
        <p:spPr>
          <a:xfrm>
            <a:off x="6451600" y="2372271"/>
            <a:ext cx="15240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App A</a:t>
            </a:r>
            <a:endParaRPr lang="en-US" sz="1200" dirty="0"/>
          </a:p>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Libs</a:t>
            </a:r>
            <a:endParaRPr lang="en-US" sz="1200" dirty="0"/>
          </a:p>
        </p:txBody>
      </p:sp>
      <p:sp>
        <p:nvSpPr>
          <p:cNvPr id="20" name="Shape 18"/>
          <p:cNvSpPr/>
          <p:nvPr/>
        </p:nvSpPr>
        <p:spPr>
          <a:xfrm>
            <a:off x="8077200" y="2296071"/>
            <a:ext cx="1625600" cy="579041"/>
          </a:xfrm>
          <a:prstGeom prst="roundRect">
            <a:avLst>
              <a:gd name="adj" fmla="val 8773"/>
            </a:avLst>
          </a:prstGeom>
          <a:solidFill>
            <a:srgbClr val="D6E4FA"/>
          </a:solidFill>
          <a:ln/>
        </p:spPr>
      </p:sp>
      <p:sp>
        <p:nvSpPr>
          <p:cNvPr id="21" name="Text 19"/>
          <p:cNvSpPr/>
          <p:nvPr/>
        </p:nvSpPr>
        <p:spPr>
          <a:xfrm>
            <a:off x="8128000" y="2372271"/>
            <a:ext cx="15240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App B</a:t>
            </a:r>
            <a:endParaRPr lang="en-US" sz="1200" dirty="0"/>
          </a:p>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Libs</a:t>
            </a:r>
            <a:endParaRPr lang="en-US" sz="1200" dirty="0"/>
          </a:p>
        </p:txBody>
      </p:sp>
      <p:sp>
        <p:nvSpPr>
          <p:cNvPr id="22" name="Shape 20"/>
          <p:cNvSpPr/>
          <p:nvPr/>
        </p:nvSpPr>
        <p:spPr>
          <a:xfrm>
            <a:off x="9753600" y="2296071"/>
            <a:ext cx="1625600" cy="579041"/>
          </a:xfrm>
          <a:prstGeom prst="roundRect">
            <a:avLst>
              <a:gd name="adj" fmla="val 8773"/>
            </a:avLst>
          </a:prstGeom>
          <a:solidFill>
            <a:srgbClr val="D6E4FA"/>
          </a:solidFill>
          <a:ln/>
        </p:spPr>
      </p:sp>
      <p:sp>
        <p:nvSpPr>
          <p:cNvPr id="23" name="Text 21"/>
          <p:cNvSpPr/>
          <p:nvPr/>
        </p:nvSpPr>
        <p:spPr>
          <a:xfrm>
            <a:off x="9804400" y="2372271"/>
            <a:ext cx="15240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App C</a:t>
            </a:r>
            <a:endParaRPr lang="en-US" sz="1200" dirty="0"/>
          </a:p>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Libs</a:t>
            </a:r>
            <a:endParaRPr lang="en-US" sz="1200" dirty="0"/>
          </a:p>
        </p:txBody>
      </p:sp>
      <p:sp>
        <p:nvSpPr>
          <p:cNvPr id="24" name="Shape 22"/>
          <p:cNvSpPr/>
          <p:nvPr/>
        </p:nvSpPr>
        <p:spPr>
          <a:xfrm>
            <a:off x="6400800" y="2925911"/>
            <a:ext cx="4978400" cy="408930"/>
          </a:xfrm>
          <a:prstGeom prst="roundRect">
            <a:avLst>
              <a:gd name="adj" fmla="val 12423"/>
            </a:avLst>
          </a:prstGeom>
          <a:solidFill>
            <a:srgbClr val="1D63ED"/>
          </a:solidFill>
          <a:ln/>
        </p:spPr>
      </p:sp>
      <p:sp>
        <p:nvSpPr>
          <p:cNvPr id="25" name="Text 23"/>
          <p:cNvSpPr/>
          <p:nvPr/>
        </p:nvSpPr>
        <p:spPr>
          <a:xfrm>
            <a:off x="6417691" y="3014811"/>
            <a:ext cx="4944618"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F4F6F8"/>
                </a:solidFill>
                <a:latin typeface="IBM Plex Sans" pitchFamily="34" charset="0"/>
                <a:ea typeface="IBM Plex Sans" pitchFamily="34" charset="-122"/>
                <a:cs typeface="IBM Plex Sans" pitchFamily="34" charset="-120"/>
              </a:rPr>
              <a:t>Container runtime (Docker Engine)</a:t>
            </a:r>
            <a:endParaRPr lang="en-US" sz="1300" dirty="0"/>
          </a:p>
        </p:txBody>
      </p:sp>
      <p:sp>
        <p:nvSpPr>
          <p:cNvPr id="26" name="Shape 24"/>
          <p:cNvSpPr/>
          <p:nvPr/>
        </p:nvSpPr>
        <p:spPr>
          <a:xfrm>
            <a:off x="6400800" y="3385641"/>
            <a:ext cx="4978400" cy="408930"/>
          </a:xfrm>
          <a:prstGeom prst="roundRect">
            <a:avLst>
              <a:gd name="adj" fmla="val 12423"/>
            </a:avLst>
          </a:prstGeom>
          <a:solidFill>
            <a:srgbClr val="5E6A7A"/>
          </a:solidFill>
          <a:ln/>
        </p:spPr>
      </p:sp>
      <p:sp>
        <p:nvSpPr>
          <p:cNvPr id="27" name="Text 25"/>
          <p:cNvSpPr/>
          <p:nvPr/>
        </p:nvSpPr>
        <p:spPr>
          <a:xfrm>
            <a:off x="6417691" y="3474541"/>
            <a:ext cx="4944618"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F4F6F8"/>
                </a:solidFill>
                <a:latin typeface="IBM Plex Sans" pitchFamily="34" charset="0"/>
                <a:ea typeface="IBM Plex Sans" pitchFamily="34" charset="-122"/>
                <a:cs typeface="IBM Plex Sans" pitchFamily="34" charset="-120"/>
              </a:rPr>
              <a:t>Host OS — tek, paylaşılan çekirdek</a:t>
            </a:r>
            <a:endParaRPr lang="en-US" sz="1300" dirty="0"/>
          </a:p>
        </p:txBody>
      </p:sp>
      <p:sp>
        <p:nvSpPr>
          <p:cNvPr id="28" name="Shape 26"/>
          <p:cNvSpPr/>
          <p:nvPr/>
        </p:nvSpPr>
        <p:spPr>
          <a:xfrm>
            <a:off x="6400800" y="3845371"/>
            <a:ext cx="4978400" cy="408930"/>
          </a:xfrm>
          <a:prstGeom prst="roundRect">
            <a:avLst>
              <a:gd name="adj" fmla="val 12423"/>
            </a:avLst>
          </a:prstGeom>
          <a:solidFill>
            <a:srgbClr val="0F1B2D"/>
          </a:solidFill>
          <a:ln/>
        </p:spPr>
      </p:sp>
      <p:sp>
        <p:nvSpPr>
          <p:cNvPr id="29" name="Text 27"/>
          <p:cNvSpPr/>
          <p:nvPr/>
        </p:nvSpPr>
        <p:spPr>
          <a:xfrm>
            <a:off x="6417691" y="3934271"/>
            <a:ext cx="4944618"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F4F6F8"/>
                </a:solidFill>
                <a:latin typeface="IBM Plex Sans" pitchFamily="34" charset="0"/>
                <a:ea typeface="IBM Plex Sans" pitchFamily="34" charset="-122"/>
                <a:cs typeface="IBM Plex Sans" pitchFamily="34" charset="-120"/>
              </a:rPr>
              <a:t>Donanım</a:t>
            </a:r>
            <a:endParaRPr lang="en-US" sz="1300" dirty="0"/>
          </a:p>
        </p:txBody>
      </p:sp>
      <p:sp>
        <p:nvSpPr>
          <p:cNvPr id="30" name="Text 28"/>
          <p:cNvSpPr/>
          <p:nvPr/>
        </p:nvSpPr>
        <p:spPr>
          <a:xfrm>
            <a:off x="812800" y="472162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36A"/>
                </a:solidFill>
                <a:latin typeface="IBM Plex Sans" pitchFamily="34" charset="0"/>
                <a:ea typeface="IBM Plex Sans" pitchFamily="34" charset="-122"/>
                <a:cs typeface="IBM Plex Sans" pitchFamily="34" charset="-120"/>
              </a:rPr>
              <a:t>Container bir "hafif VM" değildir: izole edilmiş bir </a:t>
            </a:r>
            <a:r>
              <a:rPr lang="en-US" sz="1500" b="1" dirty="0">
                <a:solidFill>
                  <a:srgbClr val="44536A"/>
                </a:solidFill>
                <a:latin typeface="IBM Plex Sans" pitchFamily="34" charset="0"/>
                <a:ea typeface="IBM Plex Sans" pitchFamily="34" charset="-122"/>
                <a:cs typeface="IBM Plex Sans" pitchFamily="34" charset="-120"/>
              </a:rPr>
              <a:t>process</a:t>
            </a:r>
            <a:r>
              <a:rPr lang="en-US" sz="1500" dirty="0">
                <a:solidFill>
                  <a:srgbClr val="44536A"/>
                </a:solidFill>
                <a:latin typeface="IBM Plex Sans" pitchFamily="34" charset="0"/>
                <a:ea typeface="IBM Plex Sans" pitchFamily="34" charset="-122"/>
                <a:cs typeface="IBM Plex Sans" pitchFamily="34" charset="-120"/>
              </a:rPr>
              <a:t>'tir. Guest OS yok, açılış süresi milisaniyeler.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 · LINUX ALTYAPISI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Namespaces neyi görür, cgroups ne kadar kullanır</a:t>
            </a:r>
            <a:endParaRPr lang="en-US" sz="3200" dirty="0"/>
          </a:p>
        </p:txBody>
      </p:sp>
      <p:sp>
        <p:nvSpPr>
          <p:cNvPr id="4" name="Shape 2"/>
          <p:cNvSpPr/>
          <p:nvPr/>
        </p:nvSpPr>
        <p:spPr>
          <a:xfrm>
            <a:off x="815975" y="2004616"/>
            <a:ext cx="5149850" cy="3084264"/>
          </a:xfrm>
          <a:prstGeom prst="roundRect">
            <a:avLst>
              <a:gd name="adj" fmla="val 3191"/>
            </a:avLst>
          </a:prstGeom>
          <a:solidFill>
            <a:srgbClr val="FDFDFC"/>
          </a:solidFill>
          <a:ln w="6350">
            <a:solidFill>
              <a:srgbClr val="D9E0E8"/>
            </a:solidFill>
            <a:prstDash val="solid"/>
          </a:ln>
        </p:spPr>
      </p:sp>
      <p:sp>
        <p:nvSpPr>
          <p:cNvPr id="5" name="Text 3"/>
          <p:cNvSpPr/>
          <p:nvPr/>
        </p:nvSpPr>
        <p:spPr>
          <a:xfrm>
            <a:off x="1073150" y="2261791"/>
            <a:ext cx="477456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Namespaces → görünürlük</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85850" y="2675781"/>
          <a:ext cx="4622800" cy="2155924"/>
        </p:xfrm>
        <a:graphic>
          <a:graphicData uri="http://schemas.openxmlformats.org/drawingml/2006/table">
            <a:tbl>
              <a:tblPr/>
              <a:tblGrid>
                <a:gridCol w="1386840"/>
                <a:gridCol w="3235960"/>
              </a:tblGrid>
              <a:tr h="359321">
                <a:tc>
                  <a:txBody>
                    <a:bodyPr/>
                    <a:lstStyle/>
                    <a:p>
                      <a:pPr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Tür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BBBBBA"/>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BBBBBA"/>
                      </a:solidFill>
                      <a:prstDash val="solid"/>
                      <a:round/>
                      <a:headEnd type="none" w="med" len="med"/>
                      <a:tailEnd type="none" w="med" len="med"/>
                    </a:lnB>
                    <a:solidFill>
                      <a:srgbClr val="EAEAE9"/>
                    </a:solidFill>
                  </a:tcPr>
                </a:tc>
                <a:tc>
                  <a:txBody>
                    <a:bodyPr/>
                    <a:lstStyle/>
                    <a:p>
                      <a:pPr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İzole ettiği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BBA"/>
                      </a:solidFill>
                      <a:prstDash val="solid"/>
                      <a:round/>
                      <a:headEnd type="none" w="med" len="med"/>
                      <a:tailEnd type="none" w="med" len="med"/>
                    </a:lnL>
                    <a:lnR w="12700" cap="flat" cmpd="sng" algn="ctr">
                      <a:solidFill>
                        <a:srgbClr val="BBBBBA"/>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BBBBBA"/>
                      </a:solidFill>
                      <a:prstDash val="solid"/>
                      <a:round/>
                      <a:headEnd type="none" w="med" len="med"/>
                      <a:tailEnd type="none" w="med" len="med"/>
                    </a:lnB>
                    <a:solidFill>
                      <a:srgbClr val="EAEAE9"/>
                    </a:solidFill>
                  </a:tcPr>
                </a:tc>
              </a:tr>
              <a:tr h="359321">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PID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BBBBBA"/>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Process ağacı (app = PID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BBBBBA"/>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r>
              <a:tr h="359321">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NET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Ağ arayüzleri, IP, portlar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r>
              <a:tr h="359321">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MNT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Dosya sistemi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r>
              <a:tr h="359321">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UTS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Hostname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r>
              <a:tr h="359321">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USER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c>
                  <a:txBody>
                    <a:bodyPr/>
                    <a:lstStyle/>
                    <a:p>
                      <a:pPr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Kullanıcı ID eşlemesi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9"/>
                      </a:solidFill>
                      <a:prstDash val="solid"/>
                      <a:round/>
                      <a:headEnd type="none" w="med" len="med"/>
                      <a:tailEnd type="none" w="med" len="med"/>
                    </a:lnL>
                    <a:lnR w="12700" cap="flat" cmpd="sng" algn="ctr">
                      <a:solidFill>
                        <a:srgbClr val="CACAC9"/>
                      </a:solidFill>
                      <a:prstDash val="solid"/>
                      <a:round/>
                      <a:headEnd type="none" w="med" len="med"/>
                      <a:tailEnd type="none" w="med" len="med"/>
                    </a:lnR>
                    <a:lnT w="12700" cap="flat" cmpd="sng" algn="ctr">
                      <a:solidFill>
                        <a:srgbClr val="CACAC9"/>
                      </a:solidFill>
                      <a:prstDash val="solid"/>
                      <a:round/>
                      <a:headEnd type="none" w="med" len="med"/>
                      <a:tailEnd type="none" w="med" len="med"/>
                    </a:lnT>
                    <a:lnB w="12700" cap="flat" cmpd="sng" algn="ctr">
                      <a:solidFill>
                        <a:srgbClr val="CACAC9"/>
                      </a:solidFill>
                      <a:prstDash val="solid"/>
                      <a:round/>
                      <a:headEnd type="none" w="med" len="med"/>
                      <a:tailEnd type="none" w="med" len="med"/>
                    </a:lnB>
                  </a:tcPr>
                </a:tc>
              </a:tr>
            </a:tbl>
          </a:graphicData>
        </a:graphic>
      </p:graphicFrame>
      <p:sp>
        <p:nvSpPr>
          <p:cNvPr id="7" name="Shape 4"/>
          <p:cNvSpPr/>
          <p:nvPr/>
        </p:nvSpPr>
        <p:spPr>
          <a:xfrm>
            <a:off x="6226175" y="2004616"/>
            <a:ext cx="5149850" cy="3084264"/>
          </a:xfrm>
          <a:prstGeom prst="roundRect">
            <a:avLst>
              <a:gd name="adj" fmla="val 3191"/>
            </a:avLst>
          </a:prstGeom>
          <a:solidFill>
            <a:srgbClr val="FDFDFC"/>
          </a:solidFill>
          <a:ln w="6350">
            <a:solidFill>
              <a:srgbClr val="D9E0E8"/>
            </a:solidFill>
            <a:prstDash val="solid"/>
          </a:ln>
        </p:spPr>
      </p:sp>
      <p:sp>
        <p:nvSpPr>
          <p:cNvPr id="8" name="Text 5"/>
          <p:cNvSpPr/>
          <p:nvPr/>
        </p:nvSpPr>
        <p:spPr>
          <a:xfrm>
            <a:off x="6483350" y="2261791"/>
            <a:ext cx="477456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cgroups → kaynak limiti</a:t>
            </a:r>
            <a:endParaRPr lang="en-US" sz="1800" dirty="0"/>
          </a:p>
        </p:txBody>
      </p:sp>
      <p:sp>
        <p:nvSpPr>
          <p:cNvPr id="9" name="Shape 6"/>
          <p:cNvSpPr/>
          <p:nvPr/>
        </p:nvSpPr>
        <p:spPr>
          <a:xfrm>
            <a:off x="6483350" y="2663081"/>
            <a:ext cx="4635500" cy="1523950"/>
          </a:xfrm>
          <a:prstGeom prst="roundRect">
            <a:avLst>
              <a:gd name="adj" fmla="val 5000"/>
            </a:avLst>
          </a:prstGeom>
          <a:solidFill>
            <a:srgbClr val="0F1B2D"/>
          </a:solidFill>
          <a:ln/>
        </p:spPr>
      </p:sp>
      <p:sp>
        <p:nvSpPr>
          <p:cNvPr id="10" name="Text 7"/>
          <p:cNvSpPr/>
          <p:nvPr/>
        </p:nvSpPr>
        <p:spPr>
          <a:xfrm>
            <a:off x="6686550" y="2815481"/>
            <a:ext cx="4355973" cy="124455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-d --name sinirli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--memory 64m --cpus 0.5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nginx:1.27-alpine</a:t>
            </a:r>
            <a:endParaRPr lang="en-US" sz="1200" dirty="0"/>
          </a:p>
          <a:p>
            <a:pPr algn="l" indent="0" marL="0">
              <a:lnSpc>
                <a:spcPts val="1920"/>
              </a:lnSpc>
              <a:buNone/>
            </a:pP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stats --no-stream sinirli</a:t>
            </a:r>
            <a:endParaRPr lang="en-US" sz="1200" dirty="0"/>
          </a:p>
        </p:txBody>
      </p:sp>
      <p:sp>
        <p:nvSpPr>
          <p:cNvPr id="11" name="Text 8"/>
          <p:cNvSpPr/>
          <p:nvPr/>
        </p:nvSpPr>
        <p:spPr>
          <a:xfrm>
            <a:off x="6483350" y="4314031"/>
            <a:ext cx="4774565"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4536A"/>
                </a:solidFill>
                <a:latin typeface="IBM Plex Sans" pitchFamily="34" charset="0"/>
                <a:ea typeface="IBM Plex Sans" pitchFamily="34" charset="-122"/>
                <a:cs typeface="IBM Plex Sans" pitchFamily="34" charset="-120"/>
              </a:rPr>
              <a:t>Production'da her container'a bellek limiti verin: bir sızıntı host'taki tüm servisleri etkileyebilir.</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Deney: docker run --rm alpine:3.20 ps aux → sadece 1 process, PID 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 · YAŞAM DÖNGÜSÜ</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Bir container'ın hayatı</a:t>
            </a:r>
            <a:endParaRPr lang="en-US" sz="3200" dirty="0"/>
          </a:p>
        </p:txBody>
      </p:sp>
      <p:sp>
        <p:nvSpPr>
          <p:cNvPr id="4" name="Shape 2"/>
          <p:cNvSpPr/>
          <p:nvPr/>
        </p:nvSpPr>
        <p:spPr>
          <a:xfrm>
            <a:off x="812800" y="2001441"/>
            <a:ext cx="1008211" cy="502890"/>
          </a:xfrm>
          <a:prstGeom prst="roundRect">
            <a:avLst>
              <a:gd name="adj" fmla="val 15152"/>
            </a:avLst>
          </a:prstGeom>
          <a:solidFill>
            <a:srgbClr val="D6E4FA"/>
          </a:solidFill>
          <a:ln/>
        </p:spPr>
      </p:sp>
      <p:sp>
        <p:nvSpPr>
          <p:cNvPr id="5" name="Text 3"/>
          <p:cNvSpPr/>
          <p:nvPr/>
        </p:nvSpPr>
        <p:spPr>
          <a:xfrm>
            <a:off x="990600" y="2128441"/>
            <a:ext cx="7034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Created</a:t>
            </a:r>
            <a:endParaRPr lang="en-US" sz="1400" dirty="0"/>
          </a:p>
        </p:txBody>
      </p:sp>
      <p:sp>
        <p:nvSpPr>
          <p:cNvPr id="6" name="Text 4"/>
          <p:cNvSpPr/>
          <p:nvPr/>
        </p:nvSpPr>
        <p:spPr>
          <a:xfrm>
            <a:off x="2075011" y="2006501"/>
            <a:ext cx="508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3ED"/>
                </a:solidFill>
                <a:latin typeface="JetBrains Mono" pitchFamily="34" charset="0"/>
                <a:ea typeface="JetBrains Mono" pitchFamily="34" charset="-122"/>
                <a:cs typeface="JetBrains Mono" pitchFamily="34" charset="-120"/>
              </a:rPr>
              <a:t>start</a:t>
            </a:r>
            <a:endParaRPr lang="en-US" sz="1200" dirty="0"/>
          </a:p>
        </p:txBody>
      </p:sp>
      <p:pic>
        <p:nvPicPr>
          <p:cNvPr id="7" name="Image 0" descr="arrow-right">    </p:cNvPr>
          <p:cNvPicPr>
            <a:picLocks noChangeAspect="1"/>
          </p:cNvPicPr>
          <p:nvPr/>
        </p:nvPicPr>
        <p:blipFill>
          <a:blip r:embed="rId1"/>
          <a:srcRect l="0" r="0" t="0" b="0"/>
          <a:stretch/>
        </p:blipFill>
        <p:spPr>
          <a:xfrm>
            <a:off x="1922611" y="2245221"/>
            <a:ext cx="762000" cy="254000"/>
          </a:xfrm>
          <a:prstGeom prst="rect">
            <a:avLst/>
          </a:prstGeom>
        </p:spPr>
      </p:pic>
      <p:sp>
        <p:nvSpPr>
          <p:cNvPr id="8" name="Shape 5"/>
          <p:cNvSpPr/>
          <p:nvPr/>
        </p:nvSpPr>
        <p:spPr>
          <a:xfrm>
            <a:off x="2786211" y="2001441"/>
            <a:ext cx="1037530" cy="502890"/>
          </a:xfrm>
          <a:prstGeom prst="roundRect">
            <a:avLst>
              <a:gd name="adj" fmla="val 15152"/>
            </a:avLst>
          </a:prstGeom>
          <a:solidFill>
            <a:srgbClr val="1D63ED"/>
          </a:solidFill>
          <a:ln/>
        </p:spPr>
      </p:sp>
      <p:sp>
        <p:nvSpPr>
          <p:cNvPr id="9" name="Text 6"/>
          <p:cNvSpPr/>
          <p:nvPr/>
        </p:nvSpPr>
        <p:spPr>
          <a:xfrm>
            <a:off x="2964011" y="2128441"/>
            <a:ext cx="73273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Running</a:t>
            </a:r>
            <a:endParaRPr lang="en-US" sz="1400" dirty="0"/>
          </a:p>
        </p:txBody>
      </p:sp>
      <p:sp>
        <p:nvSpPr>
          <p:cNvPr id="10" name="Text 7"/>
          <p:cNvSpPr/>
          <p:nvPr/>
        </p:nvSpPr>
        <p:spPr>
          <a:xfrm>
            <a:off x="3925342" y="2006501"/>
            <a:ext cx="1056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3ED"/>
                </a:solidFill>
                <a:latin typeface="JetBrains Mono" pitchFamily="34" charset="0"/>
                <a:ea typeface="JetBrains Mono" pitchFamily="34" charset="-122"/>
                <a:cs typeface="JetBrains Mono" pitchFamily="34" charset="-120"/>
              </a:rPr>
              <a:t>stop / kill</a:t>
            </a:r>
            <a:endParaRPr lang="en-US" sz="1200" dirty="0"/>
          </a:p>
        </p:txBody>
      </p:sp>
      <p:pic>
        <p:nvPicPr>
          <p:cNvPr id="11" name="Image 1" descr="arrow-right">    </p:cNvPr>
          <p:cNvPicPr>
            <a:picLocks noChangeAspect="1"/>
          </p:cNvPicPr>
          <p:nvPr/>
        </p:nvPicPr>
        <p:blipFill>
          <a:blip r:embed="rId2"/>
          <a:srcRect l="0" r="0" t="0" b="0"/>
          <a:stretch/>
        </p:blipFill>
        <p:spPr>
          <a:xfrm>
            <a:off x="4047232" y="2245221"/>
            <a:ext cx="762000" cy="254000"/>
          </a:xfrm>
          <a:prstGeom prst="rect">
            <a:avLst/>
          </a:prstGeom>
        </p:spPr>
      </p:pic>
      <p:sp>
        <p:nvSpPr>
          <p:cNvPr id="12" name="Shape 8"/>
          <p:cNvSpPr/>
          <p:nvPr/>
        </p:nvSpPr>
        <p:spPr>
          <a:xfrm>
            <a:off x="5032772" y="2001441"/>
            <a:ext cx="879624" cy="502890"/>
          </a:xfrm>
          <a:prstGeom prst="roundRect">
            <a:avLst>
              <a:gd name="adj" fmla="val 15152"/>
            </a:avLst>
          </a:prstGeom>
          <a:solidFill>
            <a:srgbClr val="D6E4FA"/>
          </a:solidFill>
          <a:ln/>
        </p:spPr>
      </p:sp>
      <p:sp>
        <p:nvSpPr>
          <p:cNvPr id="13" name="Text 9"/>
          <p:cNvSpPr/>
          <p:nvPr/>
        </p:nvSpPr>
        <p:spPr>
          <a:xfrm>
            <a:off x="5210572" y="2128441"/>
            <a:ext cx="57482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Exited</a:t>
            </a:r>
            <a:endParaRPr lang="en-US" sz="1400" dirty="0"/>
          </a:p>
        </p:txBody>
      </p:sp>
      <p:sp>
        <p:nvSpPr>
          <p:cNvPr id="14" name="Text 10"/>
          <p:cNvSpPr/>
          <p:nvPr/>
        </p:nvSpPr>
        <p:spPr>
          <a:xfrm>
            <a:off x="6303516" y="200650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40A"/>
                </a:solidFill>
                <a:latin typeface="JetBrains Mono" pitchFamily="34" charset="0"/>
                <a:ea typeface="JetBrains Mono" pitchFamily="34" charset="-122"/>
                <a:cs typeface="JetBrains Mono" pitchFamily="34" charset="-120"/>
              </a:rPr>
              <a:t>rm</a:t>
            </a:r>
            <a:endParaRPr lang="en-US" sz="1200" dirty="0"/>
          </a:p>
        </p:txBody>
      </p:sp>
      <p:pic>
        <p:nvPicPr>
          <p:cNvPr id="15" name="Image 2" descr="arrow-right">    </p:cNvPr>
          <p:cNvPicPr>
            <a:picLocks noChangeAspect="1"/>
          </p:cNvPicPr>
          <p:nvPr/>
        </p:nvPicPr>
        <p:blipFill>
          <a:blip r:embed="rId3"/>
          <a:srcRect l="0" r="0" t="0" b="0"/>
          <a:stretch/>
        </p:blipFill>
        <p:spPr>
          <a:xfrm>
            <a:off x="6013996" y="2245221"/>
            <a:ext cx="762000" cy="254000"/>
          </a:xfrm>
          <a:prstGeom prst="rect">
            <a:avLst/>
          </a:prstGeom>
        </p:spPr>
      </p:pic>
      <p:sp>
        <p:nvSpPr>
          <p:cNvPr id="16" name="Shape 11"/>
          <p:cNvSpPr/>
          <p:nvPr/>
        </p:nvSpPr>
        <p:spPr>
          <a:xfrm>
            <a:off x="6877596" y="2001441"/>
            <a:ext cx="874564" cy="502890"/>
          </a:xfrm>
          <a:prstGeom prst="roundRect">
            <a:avLst>
              <a:gd name="adj" fmla="val 15152"/>
            </a:avLst>
          </a:prstGeom>
          <a:solidFill>
            <a:srgbClr val="5E6A7A"/>
          </a:solidFill>
          <a:ln/>
        </p:spPr>
      </p:sp>
      <p:sp>
        <p:nvSpPr>
          <p:cNvPr id="17" name="Text 12"/>
          <p:cNvSpPr/>
          <p:nvPr/>
        </p:nvSpPr>
        <p:spPr>
          <a:xfrm>
            <a:off x="7055396" y="2128441"/>
            <a:ext cx="56976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Silindi</a:t>
            </a:r>
            <a:endParaRPr lang="en-US" sz="1400" dirty="0"/>
          </a:p>
        </p:txBody>
      </p:sp>
      <p:sp>
        <p:nvSpPr>
          <p:cNvPr id="18" name="Shape 13"/>
          <p:cNvSpPr/>
          <p:nvPr/>
        </p:nvSpPr>
        <p:spPr>
          <a:xfrm>
            <a:off x="812800" y="2758331"/>
            <a:ext cx="7010400" cy="2113211"/>
          </a:xfrm>
          <a:prstGeom prst="roundRect">
            <a:avLst>
              <a:gd name="adj" fmla="val 4808"/>
            </a:avLst>
          </a:prstGeom>
          <a:solidFill>
            <a:srgbClr val="0F1B2D"/>
          </a:solidFill>
          <a:ln/>
        </p:spPr>
      </p:sp>
      <p:sp>
        <p:nvSpPr>
          <p:cNvPr id="19" name="Text 14"/>
          <p:cNvSpPr/>
          <p:nvPr/>
        </p:nvSpPr>
        <p:spPr>
          <a:xfrm>
            <a:off x="1066800" y="2961531"/>
            <a:ext cx="6697472"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-d --name websunucu -p 8080:80 nginx:1.27-alpine</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ps</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logs -f websunucu</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exec -it websunucu sh</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stop websunucu  </a:t>
            </a:r>
            <a:r>
              <a:rPr lang="en-US" sz="1200" dirty="0">
                <a:solidFill>
                  <a:srgbClr val="8A9BB3"/>
                </a:solidFill>
                <a:latin typeface="JetBrains Mono" pitchFamily="34" charset="0"/>
                <a:ea typeface="JetBrains Mono" pitchFamily="34" charset="-122"/>
                <a:cs typeface="JetBrains Mono" pitchFamily="34" charset="-120"/>
              </a:rPr>
              <a:t># veri korunur</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start websunucu</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rm -f websunucu  </a:t>
            </a:r>
            <a:r>
              <a:rPr lang="en-US" sz="1200" dirty="0">
                <a:solidFill>
                  <a:srgbClr val="FFB86B"/>
                </a:solidFill>
                <a:latin typeface="JetBrains Mono" pitchFamily="34" charset="0"/>
                <a:ea typeface="JetBrains Mono" pitchFamily="34" charset="-122"/>
                <a:cs typeface="JetBrains Mono" pitchFamily="34" charset="-120"/>
              </a:rPr>
              <a:t># yazılabilir katman silinir</a:t>
            </a:r>
            <a:endParaRPr lang="en-US" sz="1200" dirty="0"/>
          </a:p>
        </p:txBody>
      </p:sp>
      <p:sp>
        <p:nvSpPr>
          <p:cNvPr id="20" name="Text 15"/>
          <p:cNvSpPr/>
          <p:nvPr/>
        </p:nvSpPr>
        <p:spPr>
          <a:xfrm>
            <a:off x="8077200" y="2758331"/>
            <a:ext cx="340106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4536A"/>
                </a:solidFill>
                <a:latin typeface="IBM Plex Sans" pitchFamily="34" charset="0"/>
                <a:ea typeface="IBM Plex Sans" pitchFamily="34" charset="-122"/>
                <a:cs typeface="IBM Plex Sans" pitchFamily="34" charset="-120"/>
              </a:rPr>
              <a:t>run</a:t>
            </a:r>
            <a:r>
              <a:rPr lang="en-US" sz="1400" dirty="0">
                <a:solidFill>
                  <a:srgbClr val="44536A"/>
                </a:solidFill>
                <a:latin typeface="IBM Plex Sans" pitchFamily="34" charset="0"/>
                <a:ea typeface="IBM Plex Sans" pitchFamily="34" charset="-122"/>
                <a:cs typeface="IBM Plex Sans" pitchFamily="34" charset="-120"/>
              </a:rPr>
              <a:t> = create + start</a:t>
            </a:r>
            <a:endParaRPr lang="en-US" sz="1400" dirty="0"/>
          </a:p>
        </p:txBody>
      </p:sp>
      <p:sp>
        <p:nvSpPr>
          <p:cNvPr id="21" name="Text 16"/>
          <p:cNvSpPr/>
          <p:nvPr/>
        </p:nvSpPr>
        <p:spPr>
          <a:xfrm>
            <a:off x="8077200" y="3117701"/>
            <a:ext cx="340106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4536A"/>
                </a:solidFill>
                <a:latin typeface="IBM Plex Sans" pitchFamily="34" charset="0"/>
                <a:ea typeface="IBM Plex Sans" pitchFamily="34" charset="-122"/>
                <a:cs typeface="IBM Plex Sans" pitchFamily="34" charset="-120"/>
              </a:rPr>
              <a:t>--rm</a:t>
            </a:r>
            <a:r>
              <a:rPr lang="en-US" sz="1400" dirty="0">
                <a:solidFill>
                  <a:srgbClr val="44536A"/>
                </a:solidFill>
                <a:latin typeface="IBM Plex Sans" pitchFamily="34" charset="0"/>
                <a:ea typeface="IBM Plex Sans" pitchFamily="34" charset="-122"/>
                <a:cs typeface="IBM Plex Sans" pitchFamily="34" charset="-120"/>
              </a:rPr>
              <a:t>: durunca otomatik sil, denemeler için ideal</a:t>
            </a:r>
            <a:endParaRPr lang="en-US" sz="1400" dirty="0"/>
          </a:p>
        </p:txBody>
      </p:sp>
      <p:sp>
        <p:nvSpPr>
          <p:cNvPr id="22" name="Text 17"/>
          <p:cNvSpPr/>
          <p:nvPr/>
        </p:nvSpPr>
        <p:spPr>
          <a:xfrm>
            <a:off x="8077200" y="3734842"/>
            <a:ext cx="340106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4536A"/>
                </a:solidFill>
                <a:latin typeface="IBM Plex Sans" pitchFamily="34" charset="0"/>
                <a:ea typeface="IBM Plex Sans" pitchFamily="34" charset="-122"/>
                <a:cs typeface="IBM Plex Sans" pitchFamily="34" charset="-120"/>
              </a:rPr>
              <a:t>-d</a:t>
            </a:r>
            <a:r>
              <a:rPr lang="en-US" sz="1400" dirty="0">
                <a:solidFill>
                  <a:srgbClr val="44536A"/>
                </a:solidFill>
                <a:latin typeface="IBM Plex Sans" pitchFamily="34" charset="0"/>
                <a:ea typeface="IBM Plex Sans" pitchFamily="34" charset="-122"/>
                <a:cs typeface="IBM Plex Sans" pitchFamily="34" charset="-120"/>
              </a:rPr>
              <a:t>: arka plan · </a:t>
            </a:r>
            <a:r>
              <a:rPr lang="en-US" sz="1400" b="1" dirty="0">
                <a:solidFill>
                  <a:srgbClr val="44536A"/>
                </a:solidFill>
                <a:latin typeface="IBM Plex Sans" pitchFamily="34" charset="0"/>
                <a:ea typeface="IBM Plex Sans" pitchFamily="34" charset="-122"/>
                <a:cs typeface="IBM Plex Sans" pitchFamily="34" charset="-120"/>
              </a:rPr>
              <a:t>-it</a:t>
            </a:r>
            <a:r>
              <a:rPr lang="en-US" sz="1400" dirty="0">
                <a:solidFill>
                  <a:srgbClr val="44536A"/>
                </a:solidFill>
                <a:latin typeface="IBM Plex Sans" pitchFamily="34" charset="0"/>
                <a:ea typeface="IBM Plex Sans" pitchFamily="34" charset="-122"/>
                <a:cs typeface="IBM Plex Sans" pitchFamily="34" charset="-120"/>
              </a:rPr>
              <a:t>: etkileşimli terminal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01 · 45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Container'ın çözdüğü sorunu deneyin</a:t>
            </a:r>
            <a:endParaRPr lang="en-US" sz="3200" dirty="0"/>
          </a:p>
        </p:txBody>
      </p:sp>
      <p:sp>
        <p:nvSpPr>
          <p:cNvPr id="4" name="Text 2"/>
          <p:cNvSpPr/>
          <p:nvPr/>
        </p:nvSpPr>
        <p:spPr>
          <a:xfrm>
            <a:off x="812800" y="2001441"/>
            <a:ext cx="55986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598668" cy="1127720"/>
          </a:xfrm>
          <a:prstGeom prst="rect">
            <a:avLst/>
          </a:prstGeom>
          <a:noFill/>
          <a:ln/>
        </p:spPr>
        <p:txBody>
          <a:bodyPr wrap="square" lIns="0" tIns="0" rIns="0" bIns="0" rtlCol="0" anchor="t">
            <a:normAutofit/>
          </a:bodyPr>
          <a:lstStyle/>
          <a:p>
            <a:pPr algn="l" marL="213360" indent="-175768">
              <a:lnSpc>
                <a:spcPts val="2170"/>
              </a:lnSpc>
              <a:buSzPct val="100000"/>
              <a:buChar char="•"/>
            </a:pPr>
            <a:r>
              <a:rPr lang="en-US" sz="1400" dirty="0">
                <a:solidFill>
                  <a:srgbClr val="5A4632"/>
                </a:solidFill>
                <a:latin typeface="IBM Plex Sans" pitchFamily="34" charset="0"/>
                <a:ea typeface="IBM Plex Sans" pitchFamily="34" charset="-122"/>
                <a:cs typeface="IBM Plex Sans" pitchFamily="34" charset="-120"/>
              </a:rPr>
              <a:t>A — İzolasyon: ps, hostname, iki terminalde dosya, --memory</a:t>
            </a:r>
            <a:endParaRPr lang="en-US" sz="1400" dirty="0"/>
          </a:p>
          <a:p>
            <a:pPr algn="l" marL="213360" indent="-175768">
              <a:lnSpc>
                <a:spcPts val="2170"/>
              </a:lnSpc>
              <a:buSzPct val="100000"/>
              <a:buChar char="•"/>
            </a:pPr>
            <a:r>
              <a:rPr lang="en-US" sz="1400" dirty="0">
                <a:solidFill>
                  <a:srgbClr val="5A4632"/>
                </a:solidFill>
                <a:latin typeface="IBM Plex Sans" pitchFamily="34" charset="0"/>
                <a:ea typeface="IBM Plex Sans" pitchFamily="34" charset="-122"/>
                <a:cs typeface="IBM Plex Sans" pitchFamily="34" charset="-120"/>
              </a:rPr>
              <a:t>B — Taşınabilirlik: Python 3.11 ve 3.12 yan yana</a:t>
            </a:r>
            <a:endParaRPr lang="en-US" sz="1400" dirty="0"/>
          </a:p>
          <a:p>
            <a:pPr algn="l" marL="213360" indent="-175768">
              <a:lnSpc>
                <a:spcPts val="2170"/>
              </a:lnSpc>
              <a:buSzPct val="100000"/>
              <a:buChar char="•"/>
            </a:pPr>
            <a:r>
              <a:rPr lang="en-US" sz="1400" dirty="0">
                <a:solidFill>
                  <a:srgbClr val="5A4632"/>
                </a:solidFill>
                <a:latin typeface="IBM Plex Sans" pitchFamily="34" charset="0"/>
                <a:ea typeface="IBM Plex Sans" pitchFamily="34" charset="-122"/>
                <a:cs typeface="IBM Plex Sans" pitchFamily="34" charset="-120"/>
              </a:rPr>
              <a:t>C — Verimlilik: açılış süresi, 10 nginx ve docker stats</a:t>
            </a:r>
            <a:endParaRPr lang="en-US" sz="1400" dirty="0"/>
          </a:p>
          <a:p>
            <a:pPr algn="l" marL="213360" indent="-175768">
              <a:lnSpc>
                <a:spcPts val="2170"/>
              </a:lnSpc>
              <a:buSzPct val="100000"/>
              <a:buChar char="•"/>
            </a:pPr>
            <a:r>
              <a:rPr lang="en-US" sz="1400" dirty="0">
                <a:solidFill>
                  <a:srgbClr val="5A4632"/>
                </a:solidFill>
                <a:latin typeface="IBM Plex Sans" pitchFamily="34" charset="0"/>
                <a:ea typeface="IBM Plex Sans" pitchFamily="34" charset="-122"/>
                <a:cs typeface="IBM Plex Sans" pitchFamily="34" charset="-120"/>
              </a:rPr>
              <a:t>D — Yaşam döngüsü: run → exec → stop → rm</a:t>
            </a:r>
            <a:endParaRPr lang="en-US" sz="1400" dirty="0"/>
          </a:p>
        </p:txBody>
      </p:sp>
      <p:sp>
        <p:nvSpPr>
          <p:cNvPr id="6" name="Shape 4"/>
          <p:cNvSpPr/>
          <p:nvPr/>
        </p:nvSpPr>
        <p:spPr>
          <a:xfrm>
            <a:off x="6553200" y="2001441"/>
            <a:ext cx="4826000" cy="2357041"/>
          </a:xfrm>
          <a:prstGeom prst="roundRect">
            <a:avLst>
              <a:gd name="adj" fmla="val 4310"/>
            </a:avLst>
          </a:prstGeom>
          <a:solidFill>
            <a:srgbClr val="2A1D0F"/>
          </a:solidFill>
          <a:ln/>
        </p:spPr>
      </p:sp>
      <p:sp>
        <p:nvSpPr>
          <p:cNvPr id="7" name="Text 5"/>
          <p:cNvSpPr/>
          <p:nvPr/>
        </p:nvSpPr>
        <p:spPr>
          <a:xfrm>
            <a:off x="6807200" y="2204641"/>
            <a:ext cx="4447540" cy="19760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--rm alpine:3.20 ps aux</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--rm python:3.11-slim python --version</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--rm python:3.12-slim python --version</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websunucu -p 8080:80 nginx:1.27-alpine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exec -it websunucu sh</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labs/01-container-neden.md · Temizlik adımını atlamayın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CC4FF"/>
                </a:solidFill>
                <a:latin typeface="IBM Plex Sans" pitchFamily="34" charset="0"/>
                <a:ea typeface="IBM Plex Sans" pitchFamily="34" charset="-122"/>
                <a:cs typeface="IBM Plex Sans" pitchFamily="34" charset="-120"/>
              </a:rPr>
              <a:t>BÖLÜM 2 · IMAGE VE KATMANLAR</a:t>
            </a:r>
            <a:endParaRPr lang="en-US" sz="1200" dirty="0"/>
          </a:p>
        </p:txBody>
      </p:sp>
      <p:sp>
        <p:nvSpPr>
          <p:cNvPr id="3" name="Text 1"/>
          <p:cNvSpPr/>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4F6F8"/>
                </a:solidFill>
                <a:latin typeface="IBM Plex Sans" pitchFamily="34" charset="0"/>
                <a:ea typeface="IBM Plex Sans" pitchFamily="34" charset="-122"/>
                <a:cs typeface="IBM Plex Sans" pitchFamily="34" charset="-120"/>
              </a:rPr>
              <a:t>Image bir şablon, container onun çalışan örneği</a:t>
            </a:r>
            <a:endParaRPr lang="en-US" sz="3600" dirty="0"/>
          </a:p>
        </p:txBody>
      </p:sp>
      <p:sp>
        <p:nvSpPr>
          <p:cNvPr id="4" name="Shape 2"/>
          <p:cNvSpPr/>
          <p:nvPr/>
        </p:nvSpPr>
        <p:spPr>
          <a:xfrm>
            <a:off x="812800" y="2161480"/>
            <a:ext cx="5156200" cy="2016720"/>
          </a:xfrm>
          <a:prstGeom prst="roundRect">
            <a:avLst>
              <a:gd name="adj" fmla="val 5038"/>
            </a:avLst>
          </a:prstGeom>
          <a:solidFill>
            <a:srgbClr val="1B2C45"/>
          </a:solidFill>
          <a:ln/>
        </p:spPr>
      </p:sp>
      <p:sp>
        <p:nvSpPr>
          <p:cNvPr id="5" name="Text 3"/>
          <p:cNvSpPr/>
          <p:nvPr/>
        </p:nvSpPr>
        <p:spPr>
          <a:xfrm>
            <a:off x="1066800" y="241548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7CC4FF"/>
                </a:solidFill>
                <a:latin typeface="IBM Plex Sans" pitchFamily="34" charset="0"/>
                <a:ea typeface="IBM Plex Sans" pitchFamily="34" charset="-122"/>
                <a:cs typeface="IBM Plex Sans" pitchFamily="34" charset="-120"/>
              </a:rPr>
              <a:t>Image</a:t>
            </a:r>
            <a:endParaRPr lang="en-US" sz="2000" dirty="0"/>
          </a:p>
        </p:txBody>
      </p:sp>
      <p:sp>
        <p:nvSpPr>
          <p:cNvPr id="6" name="Text 4"/>
          <p:cNvSpPr/>
          <p:nvPr/>
        </p:nvSpPr>
        <p:spPr>
          <a:xfrm>
            <a:off x="1066800" y="2821880"/>
            <a:ext cx="4787646" cy="1127720"/>
          </a:xfrm>
          <a:prstGeom prst="rect">
            <a:avLst/>
          </a:prstGeom>
          <a:noFill/>
          <a:ln/>
        </p:spPr>
        <p:txBody>
          <a:bodyPr wrap="square" lIns="0" tIns="0" rIns="0" bIns="0" rtlCol="0" anchor="t">
            <a:normAutofit/>
          </a:bodyPr>
          <a:lstStyle/>
          <a:p>
            <a:pPr algn="l" marL="213360" indent="-175768">
              <a:lnSpc>
                <a:spcPts val="2170"/>
              </a:lnSpc>
              <a:buSzPct val="100000"/>
              <a:buChar char="•"/>
            </a:pPr>
            <a:r>
              <a:rPr lang="en-US" sz="1400" dirty="0">
                <a:solidFill>
                  <a:srgbClr val="B8C6D9"/>
                </a:solidFill>
                <a:latin typeface="IBM Plex Sans" pitchFamily="34" charset="0"/>
                <a:ea typeface="IBM Plex Sans" pitchFamily="34" charset="-122"/>
                <a:cs typeface="IBM Plex Sans" pitchFamily="34" charset="-120"/>
              </a:rPr>
              <a:t>Salt okunur katmanlar yığını</a:t>
            </a:r>
            <a:endParaRPr lang="en-US" sz="1400" dirty="0"/>
          </a:p>
          <a:p>
            <a:pPr algn="l" marL="213360" indent="-175768">
              <a:lnSpc>
                <a:spcPts val="2170"/>
              </a:lnSpc>
              <a:buSzPct val="100000"/>
              <a:buChar char="•"/>
            </a:pPr>
            <a:r>
              <a:rPr lang="en-US" sz="1400" dirty="0">
                <a:solidFill>
                  <a:srgbClr val="B8C6D9"/>
                </a:solidFill>
                <a:latin typeface="IBM Plex Sans" pitchFamily="34" charset="0"/>
                <a:ea typeface="IBM Plex Sans" pitchFamily="34" charset="-122"/>
                <a:cs typeface="IBM Plex Sans" pitchFamily="34" charset="-120"/>
              </a:rPr>
              <a:t>Dockerfile ile build edilir</a:t>
            </a:r>
            <a:endParaRPr lang="en-US" sz="1400" dirty="0"/>
          </a:p>
          <a:p>
            <a:pPr algn="l" marL="213360" indent="-175768">
              <a:lnSpc>
                <a:spcPts val="2170"/>
              </a:lnSpc>
              <a:buSzPct val="100000"/>
              <a:buChar char="•"/>
            </a:pPr>
            <a:r>
              <a:rPr lang="en-US" sz="1400" dirty="0">
                <a:solidFill>
                  <a:srgbClr val="B8C6D9"/>
                </a:solidFill>
                <a:latin typeface="IBM Plex Sans" pitchFamily="34" charset="0"/>
                <a:ea typeface="IBM Plex Sans" pitchFamily="34" charset="-122"/>
                <a:cs typeface="IBM Plex Sans" pitchFamily="34" charset="-120"/>
              </a:rPr>
              <a:t>Registry'de saklanır, paylaşılır</a:t>
            </a:r>
            <a:endParaRPr lang="en-US" sz="1400" dirty="0"/>
          </a:p>
          <a:p>
            <a:pPr algn="l" marL="213360" indent="-175768">
              <a:lnSpc>
                <a:spcPts val="2170"/>
              </a:lnSpc>
              <a:buSzPct val="100000"/>
              <a:buChar char="•"/>
            </a:pPr>
            <a:r>
              <a:rPr lang="en-US" sz="1400" dirty="0">
                <a:solidFill>
                  <a:srgbClr val="B8C6D9"/>
                </a:solidFill>
                <a:latin typeface="IBM Plex Sans" pitchFamily="34" charset="0"/>
                <a:ea typeface="IBM Plex Sans" pitchFamily="34" charset="-122"/>
                <a:cs typeface="IBM Plex Sans" pitchFamily="34" charset="-120"/>
              </a:rPr>
              <a:t>Sınıf gibi: bir kez tanımlanır</a:t>
            </a:r>
            <a:endParaRPr lang="en-US" sz="1400" dirty="0"/>
          </a:p>
        </p:txBody>
      </p:sp>
      <p:sp>
        <p:nvSpPr>
          <p:cNvPr id="7" name="Shape 5"/>
          <p:cNvSpPr/>
          <p:nvPr/>
        </p:nvSpPr>
        <p:spPr>
          <a:xfrm>
            <a:off x="6223000" y="2161480"/>
            <a:ext cx="5156200" cy="2016720"/>
          </a:xfrm>
          <a:prstGeom prst="roundRect">
            <a:avLst>
              <a:gd name="adj" fmla="val 5038"/>
            </a:avLst>
          </a:prstGeom>
          <a:solidFill>
            <a:srgbClr val="1B2C45"/>
          </a:solidFill>
          <a:ln/>
        </p:spPr>
      </p:sp>
      <p:sp>
        <p:nvSpPr>
          <p:cNvPr id="8" name="Text 6"/>
          <p:cNvSpPr/>
          <p:nvPr/>
        </p:nvSpPr>
        <p:spPr>
          <a:xfrm>
            <a:off x="6477000" y="241548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B86B"/>
                </a:solidFill>
                <a:latin typeface="IBM Plex Sans" pitchFamily="34" charset="0"/>
                <a:ea typeface="IBM Plex Sans" pitchFamily="34" charset="-122"/>
                <a:cs typeface="IBM Plex Sans" pitchFamily="34" charset="-120"/>
              </a:rPr>
              <a:t>Container</a:t>
            </a:r>
            <a:endParaRPr lang="en-US" sz="2000" dirty="0"/>
          </a:p>
        </p:txBody>
      </p:sp>
      <p:sp>
        <p:nvSpPr>
          <p:cNvPr id="9" name="Text 7"/>
          <p:cNvSpPr/>
          <p:nvPr/>
        </p:nvSpPr>
        <p:spPr>
          <a:xfrm>
            <a:off x="6477000" y="2821880"/>
            <a:ext cx="4787646" cy="1127720"/>
          </a:xfrm>
          <a:prstGeom prst="rect">
            <a:avLst/>
          </a:prstGeom>
          <a:noFill/>
          <a:ln/>
        </p:spPr>
        <p:txBody>
          <a:bodyPr wrap="square" lIns="0" tIns="0" rIns="0" bIns="0" rtlCol="0" anchor="t">
            <a:normAutofit/>
          </a:bodyPr>
          <a:lstStyle/>
          <a:p>
            <a:pPr algn="l" marL="213360" indent="-175768">
              <a:lnSpc>
                <a:spcPts val="2170"/>
              </a:lnSpc>
              <a:buSzPct val="100000"/>
              <a:buChar char="•"/>
            </a:pPr>
            <a:r>
              <a:rPr lang="en-US" sz="1400" dirty="0">
                <a:solidFill>
                  <a:srgbClr val="B8C6D9"/>
                </a:solidFill>
                <a:latin typeface="IBM Plex Sans" pitchFamily="34" charset="0"/>
                <a:ea typeface="IBM Plex Sans" pitchFamily="34" charset="-122"/>
                <a:cs typeface="IBM Plex Sans" pitchFamily="34" charset="-120"/>
              </a:rPr>
              <a:t>Image + ince yazılabilir katman</a:t>
            </a:r>
            <a:endParaRPr lang="en-US" sz="1400" dirty="0"/>
          </a:p>
          <a:p>
            <a:pPr algn="l" marL="213360" indent="-175768">
              <a:lnSpc>
                <a:spcPts val="2170"/>
              </a:lnSpc>
              <a:buSzPct val="100000"/>
              <a:buChar char="•"/>
            </a:pPr>
            <a:r>
              <a:rPr lang="en-US" sz="1400" dirty="0">
                <a:solidFill>
                  <a:srgbClr val="B8C6D9"/>
                </a:solidFill>
                <a:latin typeface="IBM Plex Sans" pitchFamily="34" charset="0"/>
                <a:ea typeface="IBM Plex Sans" pitchFamily="34" charset="-122"/>
                <a:cs typeface="IBM Plex Sans" pitchFamily="34" charset="-120"/>
              </a:rPr>
              <a:t>docker run ile oluşturulur</a:t>
            </a:r>
            <a:endParaRPr lang="en-US" sz="1400" dirty="0"/>
          </a:p>
          <a:p>
            <a:pPr algn="l" marL="213360" indent="-175768">
              <a:lnSpc>
                <a:spcPts val="2170"/>
              </a:lnSpc>
              <a:buSzPct val="100000"/>
              <a:buChar char="•"/>
            </a:pPr>
            <a:r>
              <a:rPr lang="en-US" sz="1400" dirty="0">
                <a:solidFill>
                  <a:srgbClr val="B8C6D9"/>
                </a:solidFill>
                <a:latin typeface="IBM Plex Sans" pitchFamily="34" charset="0"/>
                <a:ea typeface="IBM Plex Sans" pitchFamily="34" charset="-122"/>
                <a:cs typeface="IBM Plex Sans" pitchFamily="34" charset="-120"/>
              </a:rPr>
              <a:t>Silinince yazılabilir katman gider</a:t>
            </a:r>
            <a:endParaRPr lang="en-US" sz="1400" dirty="0"/>
          </a:p>
          <a:p>
            <a:pPr algn="l" marL="213360" indent="-175768">
              <a:lnSpc>
                <a:spcPts val="2170"/>
              </a:lnSpc>
              <a:buSzPct val="100000"/>
              <a:buChar char="•"/>
            </a:pPr>
            <a:r>
              <a:rPr lang="en-US" sz="1400" dirty="0">
                <a:solidFill>
                  <a:srgbClr val="B8C6D9"/>
                </a:solidFill>
                <a:latin typeface="IBM Plex Sans" pitchFamily="34" charset="0"/>
                <a:ea typeface="IBM Plex Sans" pitchFamily="34" charset="-122"/>
                <a:cs typeface="IBM Plex Sans" pitchFamily="34" charset="-120"/>
              </a:rPr>
              <a:t>Nesne gibi: bir image'dan çok sayıda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2 · KATMAN YAPISI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Her RUN, COPY ve ADD yeni bir katman</a:t>
            </a:r>
            <a:endParaRPr lang="en-US" sz="3200" dirty="0"/>
          </a:p>
        </p:txBody>
      </p:sp>
      <p:sp>
        <p:nvSpPr>
          <p:cNvPr id="4" name="Shape 2"/>
          <p:cNvSpPr/>
          <p:nvPr/>
        </p:nvSpPr>
        <p:spPr>
          <a:xfrm>
            <a:off x="819150" y="2007791"/>
            <a:ext cx="5702300" cy="421630"/>
          </a:xfrm>
          <a:prstGeom prst="roundRect">
            <a:avLst>
              <a:gd name="adj" fmla="val 10542"/>
            </a:avLst>
          </a:prstGeom>
          <a:solidFill>
            <a:srgbClr val="FFE3C2"/>
          </a:solidFill>
          <a:ln w="12700">
            <a:solidFill>
              <a:srgbClr val="B4540A"/>
            </a:solidFill>
            <a:prstDash val="dash"/>
          </a:ln>
        </p:spPr>
      </p:sp>
      <p:sp>
        <p:nvSpPr>
          <p:cNvPr id="5" name="Text 3"/>
          <p:cNvSpPr/>
          <p:nvPr/>
        </p:nvSpPr>
        <p:spPr>
          <a:xfrm>
            <a:off x="977900" y="2103041"/>
            <a:ext cx="554634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1D0F"/>
                </a:solidFill>
                <a:latin typeface="IBM Plex Sans" pitchFamily="34" charset="0"/>
                <a:ea typeface="IBM Plex Sans" pitchFamily="34" charset="-122"/>
                <a:cs typeface="IBM Plex Sans" pitchFamily="34" charset="-120"/>
              </a:rPr>
              <a:t>Yazılabilir katman</a:t>
            </a:r>
            <a:r>
              <a:rPr lang="en-US" sz="1300" dirty="0">
                <a:solidFill>
                  <a:srgbClr val="2A1D0F"/>
                </a:solidFill>
                <a:latin typeface="IBM Plex Sans" pitchFamily="34" charset="0"/>
                <a:ea typeface="IBM Plex Sans" pitchFamily="34" charset="-122"/>
                <a:cs typeface="IBM Plex Sans" pitchFamily="34" charset="-120"/>
              </a:rPr>
              <a:t> — container'a özel, docker rm ile silinir</a:t>
            </a:r>
            <a:endParaRPr lang="en-US" sz="1300" dirty="0"/>
          </a:p>
        </p:txBody>
      </p:sp>
      <p:sp>
        <p:nvSpPr>
          <p:cNvPr id="6" name="Shape 4"/>
          <p:cNvSpPr/>
          <p:nvPr/>
        </p:nvSpPr>
        <p:spPr>
          <a:xfrm>
            <a:off x="812800" y="2473871"/>
            <a:ext cx="5715000" cy="391120"/>
          </a:xfrm>
          <a:prstGeom prst="roundRect">
            <a:avLst>
              <a:gd name="adj" fmla="val 12988"/>
            </a:avLst>
          </a:prstGeom>
          <a:solidFill>
            <a:srgbClr val="1D63ED"/>
          </a:solidFill>
          <a:ln/>
        </p:spPr>
      </p:sp>
      <p:sp>
        <p:nvSpPr>
          <p:cNvPr id="7" name="Text 5"/>
          <p:cNvSpPr/>
          <p:nvPr/>
        </p:nvSpPr>
        <p:spPr>
          <a:xfrm>
            <a:off x="965200" y="2562771"/>
            <a:ext cx="5572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8"/>
                </a:solidFill>
                <a:latin typeface="JetBrains Mono" pitchFamily="34" charset="0"/>
                <a:ea typeface="JetBrains Mono" pitchFamily="34" charset="-122"/>
                <a:cs typeface="JetBrains Mono" pitchFamily="34" charset="-120"/>
              </a:rPr>
              <a:t>COPY . .                    # app.py</a:t>
            </a:r>
            <a:endParaRPr lang="en-US" sz="1200" dirty="0"/>
          </a:p>
        </p:txBody>
      </p:sp>
      <p:sp>
        <p:nvSpPr>
          <p:cNvPr id="8" name="Shape 6"/>
          <p:cNvSpPr/>
          <p:nvPr/>
        </p:nvSpPr>
        <p:spPr>
          <a:xfrm>
            <a:off x="812800" y="2903091"/>
            <a:ext cx="5715000" cy="391120"/>
          </a:xfrm>
          <a:prstGeom prst="roundRect">
            <a:avLst>
              <a:gd name="adj" fmla="val 12988"/>
            </a:avLst>
          </a:prstGeom>
          <a:solidFill>
            <a:srgbClr val="3A7BF0"/>
          </a:solidFill>
          <a:ln/>
        </p:spPr>
      </p:sp>
      <p:sp>
        <p:nvSpPr>
          <p:cNvPr id="9" name="Text 7"/>
          <p:cNvSpPr/>
          <p:nvPr/>
        </p:nvSpPr>
        <p:spPr>
          <a:xfrm>
            <a:off x="965200" y="2991991"/>
            <a:ext cx="5572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8"/>
                </a:solidFill>
                <a:latin typeface="JetBrains Mono" pitchFamily="34" charset="0"/>
                <a:ea typeface="JetBrains Mono" pitchFamily="34" charset="-122"/>
                <a:cs typeface="JetBrains Mono" pitchFamily="34" charset="-120"/>
              </a:rPr>
              <a:t>RUN pip install -r requirements.txt</a:t>
            </a:r>
            <a:endParaRPr lang="en-US" sz="1200" dirty="0"/>
          </a:p>
        </p:txBody>
      </p:sp>
      <p:sp>
        <p:nvSpPr>
          <p:cNvPr id="10" name="Shape 8"/>
          <p:cNvSpPr/>
          <p:nvPr/>
        </p:nvSpPr>
        <p:spPr>
          <a:xfrm>
            <a:off x="812800" y="3332311"/>
            <a:ext cx="5715000" cy="391120"/>
          </a:xfrm>
          <a:prstGeom prst="roundRect">
            <a:avLst>
              <a:gd name="adj" fmla="val 12988"/>
            </a:avLst>
          </a:prstGeom>
          <a:solidFill>
            <a:srgbClr val="6A9BF3"/>
          </a:solidFill>
          <a:ln/>
        </p:spPr>
      </p:sp>
      <p:sp>
        <p:nvSpPr>
          <p:cNvPr id="11" name="Text 9"/>
          <p:cNvSpPr/>
          <p:nvPr/>
        </p:nvSpPr>
        <p:spPr>
          <a:xfrm>
            <a:off x="965200" y="3421211"/>
            <a:ext cx="5572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B2D"/>
                </a:solidFill>
                <a:latin typeface="JetBrains Mono" pitchFamily="34" charset="0"/>
                <a:ea typeface="JetBrains Mono" pitchFamily="34" charset="-122"/>
                <a:cs typeface="JetBrains Mono" pitchFamily="34" charset="-120"/>
              </a:rPr>
              <a:t>COPY requirements.txt .</a:t>
            </a:r>
            <a:endParaRPr lang="en-US" sz="1200" dirty="0"/>
          </a:p>
        </p:txBody>
      </p:sp>
      <p:sp>
        <p:nvSpPr>
          <p:cNvPr id="12" name="Shape 10"/>
          <p:cNvSpPr/>
          <p:nvPr/>
        </p:nvSpPr>
        <p:spPr>
          <a:xfrm>
            <a:off x="812800" y="3761532"/>
            <a:ext cx="5715000" cy="391120"/>
          </a:xfrm>
          <a:prstGeom prst="roundRect">
            <a:avLst>
              <a:gd name="adj" fmla="val 12988"/>
            </a:avLst>
          </a:prstGeom>
          <a:solidFill>
            <a:srgbClr val="A9C4F0"/>
          </a:solidFill>
          <a:ln/>
        </p:spPr>
      </p:sp>
      <p:sp>
        <p:nvSpPr>
          <p:cNvPr id="13" name="Text 11"/>
          <p:cNvSpPr/>
          <p:nvPr/>
        </p:nvSpPr>
        <p:spPr>
          <a:xfrm>
            <a:off x="965200" y="3850432"/>
            <a:ext cx="5572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B2D"/>
                </a:solidFill>
                <a:latin typeface="JetBrains Mono" pitchFamily="34" charset="0"/>
                <a:ea typeface="JetBrains Mono" pitchFamily="34" charset="-122"/>
                <a:cs typeface="JetBrains Mono" pitchFamily="34" charset="-120"/>
              </a:rPr>
              <a:t>WORKDIR /app</a:t>
            </a:r>
            <a:endParaRPr lang="en-US" sz="1200" dirty="0"/>
          </a:p>
        </p:txBody>
      </p:sp>
      <p:sp>
        <p:nvSpPr>
          <p:cNvPr id="14" name="Shape 12"/>
          <p:cNvSpPr/>
          <p:nvPr/>
        </p:nvSpPr>
        <p:spPr>
          <a:xfrm>
            <a:off x="812800" y="4190752"/>
            <a:ext cx="5715000" cy="391120"/>
          </a:xfrm>
          <a:prstGeom prst="roundRect">
            <a:avLst>
              <a:gd name="adj" fmla="val 12988"/>
            </a:avLst>
          </a:prstGeom>
          <a:solidFill>
            <a:srgbClr val="D6E4FA"/>
          </a:solidFill>
          <a:ln/>
        </p:spPr>
      </p:sp>
      <p:sp>
        <p:nvSpPr>
          <p:cNvPr id="15" name="Text 13"/>
          <p:cNvSpPr/>
          <p:nvPr/>
        </p:nvSpPr>
        <p:spPr>
          <a:xfrm>
            <a:off x="965200" y="4279652"/>
            <a:ext cx="5572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B2D"/>
                </a:solidFill>
                <a:latin typeface="JetBrains Mono" pitchFamily="34" charset="0"/>
                <a:ea typeface="JetBrains Mono" pitchFamily="34" charset="-122"/>
                <a:cs typeface="JetBrains Mono" pitchFamily="34" charset="-120"/>
              </a:rPr>
              <a:t>FROM python:3.12-slim  # ~5 katman</a:t>
            </a:r>
            <a:endParaRPr lang="en-US" sz="1200" dirty="0"/>
          </a:p>
        </p:txBody>
      </p:sp>
      <p:sp>
        <p:nvSpPr>
          <p:cNvPr id="16" name="Text 14"/>
          <p:cNvSpPr/>
          <p:nvPr/>
        </p:nvSpPr>
        <p:spPr>
          <a:xfrm>
            <a:off x="6934200" y="2494806"/>
            <a:ext cx="457835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Katmanlar </a:t>
            </a:r>
            <a:r>
              <a:rPr lang="en-US" sz="1400" b="1" dirty="0">
                <a:solidFill>
                  <a:srgbClr val="44536A"/>
                </a:solidFill>
                <a:latin typeface="IBM Plex Sans" pitchFamily="34" charset="0"/>
                <a:ea typeface="IBM Plex Sans" pitchFamily="34" charset="-122"/>
                <a:cs typeface="IBM Plex Sans" pitchFamily="34" charset="-120"/>
              </a:rPr>
              <a:t>salt okunur</a:t>
            </a:r>
            <a:r>
              <a:rPr lang="en-US" sz="1400" dirty="0">
                <a:solidFill>
                  <a:srgbClr val="44536A"/>
                </a:solidFill>
                <a:latin typeface="IBM Plex Sans" pitchFamily="34" charset="0"/>
                <a:ea typeface="IBM Plex Sans" pitchFamily="34" charset="-122"/>
                <a:cs typeface="IBM Plex Sans" pitchFamily="34" charset="-120"/>
              </a:rPr>
              <a:t> ve içerik hash'i (sha256) ile tanımlanır.</a:t>
            </a:r>
            <a:endParaRPr lang="en-US" sz="1400" dirty="0"/>
          </a:p>
        </p:txBody>
      </p:sp>
      <p:sp>
        <p:nvSpPr>
          <p:cNvPr id="17" name="Text 15"/>
          <p:cNvSpPr/>
          <p:nvPr/>
        </p:nvSpPr>
        <p:spPr>
          <a:xfrm>
            <a:off x="6934200" y="3162746"/>
            <a:ext cx="457835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Bir katman değişirse, </a:t>
            </a:r>
            <a:r>
              <a:rPr lang="en-US" sz="1400" b="1" dirty="0">
                <a:solidFill>
                  <a:srgbClr val="44536A"/>
                </a:solidFill>
                <a:latin typeface="IBM Plex Sans" pitchFamily="34" charset="0"/>
                <a:ea typeface="IBM Plex Sans" pitchFamily="34" charset="-122"/>
                <a:cs typeface="IBM Plex Sans" pitchFamily="34" charset="-120"/>
              </a:rPr>
              <a:t>o katman ve üstündeki her şey</a:t>
            </a:r>
            <a:r>
              <a:rPr lang="en-US" sz="1400" dirty="0">
                <a:solidFill>
                  <a:srgbClr val="44536A"/>
                </a:solidFill>
                <a:latin typeface="IBM Plex Sans" pitchFamily="34" charset="0"/>
                <a:ea typeface="IBM Plex Sans" pitchFamily="34" charset="-122"/>
                <a:cs typeface="IBM Plex Sans" pitchFamily="34" charset="-120"/>
              </a:rPr>
              <a:t> yeniden oluşturulur.</a:t>
            </a:r>
            <a:endParaRPr lang="en-US" sz="1400" dirty="0"/>
          </a:p>
        </p:txBody>
      </p:sp>
      <p:sp>
        <p:nvSpPr>
          <p:cNvPr id="18" name="Text 16"/>
          <p:cNvSpPr/>
          <p:nvPr/>
        </p:nvSpPr>
        <p:spPr>
          <a:xfrm>
            <a:off x="6934200" y="3830687"/>
            <a:ext cx="457835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Aynı base'i kullanan image'lar alt katmanları </a:t>
            </a:r>
            <a:r>
              <a:rPr lang="en-US" sz="1400" b="1" dirty="0">
                <a:solidFill>
                  <a:srgbClr val="44536A"/>
                </a:solidFill>
                <a:latin typeface="IBM Plex Sans" pitchFamily="34" charset="0"/>
                <a:ea typeface="IBM Plex Sans" pitchFamily="34" charset="-122"/>
                <a:cs typeface="IBM Plex Sans" pitchFamily="34" charset="-120"/>
              </a:rPr>
              <a:t>paylaşır</a:t>
            </a:r>
            <a:r>
              <a:rPr lang="en-US" sz="1400" dirty="0">
                <a:solidFill>
                  <a:srgbClr val="44536A"/>
                </a:solidFill>
                <a:latin typeface="IBM Plex Sans" pitchFamily="34" charset="0"/>
                <a:ea typeface="IBM Plex Sans" pitchFamily="34" charset="-122"/>
                <a:cs typeface="IBM Plex Sans" pitchFamily="34" charset="-120"/>
              </a:rPr>
              <a:t>.</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İnceleyin: docker history python:3.12-slim · docker diff &lt;container&gt;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2 · LAYER CACHE</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Cache ne zaman kırılır?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10553700" cy="1930053"/>
        </p:xfrm>
        <a:graphic>
          <a:graphicData uri="http://schemas.openxmlformats.org/drawingml/2006/table">
            <a:tbl>
              <a:tblPr/>
              <a:tblGrid>
                <a:gridCol w="2532888"/>
                <a:gridCol w="8020812"/>
              </a:tblGrid>
              <a:tr h="386011">
                <a:tc>
                  <a:txBody>
                    <a:bodyPr/>
                    <a:lstStyle/>
                    <a:p>
                      <a:pPr indent="0" marL="0">
                        <a:lnSpc>
                          <a:spcPts val="1960"/>
                        </a:lnSpc>
                        <a:buNone/>
                      </a:pPr>
                      <a:r>
                        <a:rPr lang="en-US" sz="1400" b="1" dirty="0">
                          <a:solidFill>
                            <a:srgbClr val="1B2A3D"/>
                          </a:solidFill>
                          <a:latin typeface="IBM Plex Sans" pitchFamily="34" charset="0"/>
                          <a:ea typeface="IBM Plex Sans" pitchFamily="34" charset="-122"/>
                          <a:cs typeface="IBM Plex Sans" pitchFamily="34" charset="-120"/>
                        </a:rPr>
                        <a:t>Komut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960"/>
                        </a:lnSpc>
                        <a:buNone/>
                      </a:pPr>
                      <a:r>
                        <a:rPr lang="en-US" sz="1400" b="1" dirty="0">
                          <a:solidFill>
                            <a:srgbClr val="1B2A3D"/>
                          </a:solidFill>
                          <a:latin typeface="IBM Plex Sans" pitchFamily="34" charset="0"/>
                          <a:ea typeface="IBM Plex Sans" pitchFamily="34" charset="-122"/>
                          <a:cs typeface="IBM Plex Sans" pitchFamily="34" charset="-120"/>
                        </a:rPr>
                        <a:t>Cache geçersiz olur, eğer…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86011">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FROM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Base image değiştiyse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Komut metni değiştiyse — dış dünyadaki değişikliği bilmez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COPY / ADD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Kopyalanan dosyaların içeriği değiştiyse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Hepsi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Kendinden önceki bir katman yeniden oluşturulduysa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5" name="Shape 2"/>
          <p:cNvSpPr/>
          <p:nvPr/>
        </p:nvSpPr>
        <p:spPr>
          <a:xfrm>
            <a:off x="812800" y="4198193"/>
            <a:ext cx="10566400" cy="660400"/>
          </a:xfrm>
          <a:prstGeom prst="rect">
            <a:avLst/>
          </a:prstGeom>
          <a:solidFill>
            <a:srgbClr val="FFF6E9"/>
          </a:solidFill>
          <a:ln/>
        </p:spPr>
      </p:sp>
      <p:sp>
        <p:nvSpPr>
          <p:cNvPr id="6" name="Shape 3"/>
          <p:cNvSpPr/>
          <p:nvPr/>
        </p:nvSpPr>
        <p:spPr>
          <a:xfrm>
            <a:off x="831850" y="4198193"/>
            <a:ext cx="0" cy="660400"/>
          </a:xfrm>
          <a:prstGeom prst="line">
            <a:avLst/>
          </a:prstGeom>
          <a:noFill/>
          <a:ln w="38100">
            <a:solidFill>
              <a:srgbClr val="B4540A"/>
            </a:solidFill>
            <a:prstDash val="solid"/>
          </a:ln>
        </p:spPr>
      </p:sp>
      <p:pic>
        <p:nvPicPr>
          <p:cNvPr id="7" name="Image 0" descr="Warning">    </p:cNvPr>
          <p:cNvPicPr>
            <a:picLocks noChangeAspect="1"/>
          </p:cNvPicPr>
          <p:nvPr/>
        </p:nvPicPr>
        <p:blipFill>
          <a:blip r:embed="rId1"/>
          <a:srcRect l="0" r="0" t="0" b="0"/>
          <a:stretch/>
        </p:blipFill>
        <p:spPr>
          <a:xfrm>
            <a:off x="1079500" y="4375993"/>
            <a:ext cx="304800" cy="304800"/>
          </a:xfrm>
          <a:prstGeom prst="rect">
            <a:avLst/>
          </a:prstGeom>
        </p:spPr>
      </p:pic>
      <p:sp>
        <p:nvSpPr>
          <p:cNvPr id="8" name="Text 4"/>
          <p:cNvSpPr/>
          <p:nvPr/>
        </p:nvSpPr>
        <p:spPr>
          <a:xfrm>
            <a:off x="1536700" y="4399508"/>
            <a:ext cx="9290678"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A1D0F"/>
                </a:solidFill>
                <a:latin typeface="IBM Plex Sans" pitchFamily="34" charset="0"/>
                <a:ea typeface="IBM Plex Sans" pitchFamily="34" charset="-122"/>
                <a:cs typeface="IBM Plex Sans" pitchFamily="34" charset="-120"/>
              </a:rPr>
              <a:t>apt-get update</a:t>
            </a:r>
            <a:r>
              <a:rPr lang="en-US" sz="1400" dirty="0">
                <a:solidFill>
                  <a:srgbClr val="2A1D0F"/>
                </a:solidFill>
                <a:latin typeface="IBM Plex Sans" pitchFamily="34" charset="0"/>
                <a:ea typeface="IBM Plex Sans" pitchFamily="34" charset="-122"/>
                <a:cs typeface="IBM Plex Sans" pitchFamily="34" charset="-120"/>
              </a:rPr>
              <a:t> ile </a:t>
            </a:r>
            <a:r>
              <a:rPr lang="en-US" sz="1400" b="1" dirty="0">
                <a:solidFill>
                  <a:srgbClr val="2A1D0F"/>
                </a:solidFill>
                <a:latin typeface="IBM Plex Sans" pitchFamily="34" charset="0"/>
                <a:ea typeface="IBM Plex Sans" pitchFamily="34" charset="-122"/>
                <a:cs typeface="IBM Plex Sans" pitchFamily="34" charset="-120"/>
              </a:rPr>
              <a:t>install</a:t>
            </a:r>
            <a:r>
              <a:rPr lang="en-US" sz="1400" dirty="0">
                <a:solidFill>
                  <a:srgbClr val="2A1D0F"/>
                </a:solidFill>
                <a:latin typeface="IBM Plex Sans" pitchFamily="34" charset="0"/>
                <a:ea typeface="IBM Plex Sans" pitchFamily="34" charset="-122"/>
                <a:cs typeface="IBM Plex Sans" pitchFamily="34" charset="-120"/>
              </a:rPr>
              <a:t> her zaman aynı RUN satırında olmalı; ayrı satırda paket listesi haftalarca cache'ten gelir.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2 · SIRALAMA</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Az değişen üste, sık değişen alta</a:t>
            </a:r>
            <a:endParaRPr lang="en-US" sz="3200" dirty="0"/>
          </a:p>
        </p:txBody>
      </p:sp>
      <p:sp>
        <p:nvSpPr>
          <p:cNvPr id="4" name="Text 2"/>
          <p:cNvSpPr/>
          <p:nvPr/>
        </p:nvSpPr>
        <p:spPr>
          <a:xfrm>
            <a:off x="812800" y="2001441"/>
            <a:ext cx="531088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540A"/>
                </a:solidFill>
                <a:latin typeface="IBM Plex Sans" pitchFamily="34" charset="0"/>
                <a:ea typeface="IBM Plex Sans" pitchFamily="34" charset="-122"/>
                <a:cs typeface="IBM Plex Sans" pitchFamily="34" charset="-120"/>
              </a:rPr>
              <a:t>Kötü — her kod değişikliği pip install'u tetikler</a:t>
            </a:r>
            <a:endParaRPr lang="en-US" sz="1400" dirty="0"/>
          </a:p>
        </p:txBody>
      </p:sp>
      <p:sp>
        <p:nvSpPr>
          <p:cNvPr id="5" name="Shape 3"/>
          <p:cNvSpPr/>
          <p:nvPr/>
        </p:nvSpPr>
        <p:spPr>
          <a:xfrm>
            <a:off x="812800" y="2351931"/>
            <a:ext cx="5156200" cy="1869380"/>
          </a:xfrm>
          <a:prstGeom prst="roundRect">
            <a:avLst>
              <a:gd name="adj" fmla="val 5435"/>
            </a:avLst>
          </a:prstGeom>
          <a:solidFill>
            <a:srgbClr val="0F1B2D"/>
          </a:solidFill>
          <a:ln/>
        </p:spPr>
      </p:sp>
      <p:sp>
        <p:nvSpPr>
          <p:cNvPr id="6" name="Text 4"/>
          <p:cNvSpPr/>
          <p:nvPr/>
        </p:nvSpPr>
        <p:spPr>
          <a:xfrm>
            <a:off x="1041400" y="2555131"/>
            <a:ext cx="4839970" cy="14883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FROM python:3.12-slim</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WORKDIR /app</a:t>
            </a:r>
            <a:endParaRPr lang="en-US" sz="1200" dirty="0"/>
          </a:p>
          <a:p>
            <a:pPr algn="l" indent="0" marL="0">
              <a:lnSpc>
                <a:spcPts val="1920"/>
              </a:lnSpc>
              <a:buNone/>
            </a:pPr>
            <a:r>
              <a:rPr lang="en-US" sz="1200" dirty="0">
                <a:solidFill>
                  <a:srgbClr val="FFB86B"/>
                </a:solidFill>
                <a:latin typeface="JetBrains Mono" pitchFamily="34" charset="0"/>
                <a:ea typeface="JetBrains Mono" pitchFamily="34" charset="-122"/>
                <a:cs typeface="JetBrains Mono" pitchFamily="34" charset="-120"/>
              </a:rPr>
              <a:t>COPY .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RUN pip install --no-cache-dir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-r requirements.txt</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CMD ["python", "app.py"]</a:t>
            </a:r>
            <a:endParaRPr lang="en-US" sz="1200" dirty="0"/>
          </a:p>
        </p:txBody>
      </p:sp>
      <p:sp>
        <p:nvSpPr>
          <p:cNvPr id="7" name="Text 5"/>
          <p:cNvSpPr/>
          <p:nvPr/>
        </p:nvSpPr>
        <p:spPr>
          <a:xfrm>
            <a:off x="6223000" y="2001441"/>
            <a:ext cx="531088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63ED"/>
                </a:solidFill>
                <a:latin typeface="IBM Plex Sans" pitchFamily="34" charset="0"/>
                <a:ea typeface="IBM Plex Sans" pitchFamily="34" charset="-122"/>
                <a:cs typeface="IBM Plex Sans" pitchFamily="34" charset="-120"/>
              </a:rPr>
              <a:t>İyi — bağımlılık katmanı cache'ten gelir</a:t>
            </a:r>
            <a:endParaRPr lang="en-US" sz="1400" dirty="0"/>
          </a:p>
        </p:txBody>
      </p:sp>
      <p:sp>
        <p:nvSpPr>
          <p:cNvPr id="8" name="Shape 6"/>
          <p:cNvSpPr/>
          <p:nvPr/>
        </p:nvSpPr>
        <p:spPr>
          <a:xfrm>
            <a:off x="6223000" y="2351931"/>
            <a:ext cx="5156200" cy="2113211"/>
          </a:xfrm>
          <a:prstGeom prst="roundRect">
            <a:avLst>
              <a:gd name="adj" fmla="val 4808"/>
            </a:avLst>
          </a:prstGeom>
          <a:solidFill>
            <a:srgbClr val="0F1B2D"/>
          </a:solidFill>
          <a:ln/>
        </p:spPr>
      </p:sp>
      <p:sp>
        <p:nvSpPr>
          <p:cNvPr id="9" name="Text 7"/>
          <p:cNvSpPr/>
          <p:nvPr/>
        </p:nvSpPr>
        <p:spPr>
          <a:xfrm>
            <a:off x="6451600" y="2555131"/>
            <a:ext cx="4839970"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FROM python:3.12-slim</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WORKDIR /app</a:t>
            </a:r>
            <a:endParaRPr lang="en-US" sz="1200" dirty="0"/>
          </a:p>
          <a:p>
            <a:pPr algn="l" indent="0" marL="0">
              <a:lnSpc>
                <a:spcPts val="1920"/>
              </a:lnSpc>
              <a:buNone/>
            </a:pPr>
            <a:r>
              <a:rPr lang="en-US" sz="1200" dirty="0">
                <a:solidFill>
                  <a:srgbClr val="7CC4FF"/>
                </a:solidFill>
                <a:latin typeface="JetBrains Mono" pitchFamily="34" charset="0"/>
                <a:ea typeface="JetBrains Mono" pitchFamily="34" charset="-122"/>
                <a:cs typeface="JetBrains Mono" pitchFamily="34" charset="-120"/>
              </a:rPr>
              <a:t>COPY requirements.txt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RUN pip install --no-cache-dir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-r requirements.txt</a:t>
            </a:r>
            <a:endParaRPr lang="en-US" sz="1200" dirty="0"/>
          </a:p>
          <a:p>
            <a:pPr algn="l" indent="0" marL="0">
              <a:lnSpc>
                <a:spcPts val="1920"/>
              </a:lnSpc>
              <a:buNone/>
            </a:pPr>
            <a:r>
              <a:rPr lang="en-US" sz="1200" dirty="0">
                <a:solidFill>
                  <a:srgbClr val="7CC4FF"/>
                </a:solidFill>
                <a:latin typeface="JetBrains Mono" pitchFamily="34" charset="0"/>
                <a:ea typeface="JetBrains Mono" pitchFamily="34" charset="-122"/>
                <a:cs typeface="JetBrains Mono" pitchFamily="34" charset="-120"/>
              </a:rPr>
              <a:t>COPY .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CMD ["python", "app.py"]</a:t>
            </a:r>
            <a:endParaRPr lang="en-US" sz="1200" dirty="0"/>
          </a:p>
        </p:txBody>
      </p:sp>
      <p:sp>
        <p:nvSpPr>
          <p:cNvPr id="10" name="Text 8"/>
          <p:cNvSpPr/>
          <p:nvPr/>
        </p:nvSpPr>
        <p:spPr>
          <a:xfrm>
            <a:off x="812800" y="47191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36A"/>
                </a:solidFill>
                <a:latin typeface="JetBrains Mono" pitchFamily="34" charset="0"/>
                <a:ea typeface="JetBrains Mono" pitchFamily="34" charset="-122"/>
                <a:cs typeface="JetBrains Mono" pitchFamily="34" charset="-120"/>
              </a:rPr>
              <a:t>=&gt; CACHED [4/5] RUN pip install --no-cache-dir -r requirements.txt</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ornekler/02-layer-cache: Dockerfile.kotu ve Dockerfile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02 · 60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Cache'i ölçün: kötü ve iyi Dockerfile</a:t>
            </a:r>
            <a:endParaRPr lang="en-US" sz="3200" dirty="0"/>
          </a:p>
        </p:txBody>
      </p:sp>
      <p:sp>
        <p:nvSpPr>
          <p:cNvPr id="4" name="Text 2"/>
          <p:cNvSpPr/>
          <p:nvPr/>
        </p:nvSpPr>
        <p:spPr>
          <a:xfrm>
            <a:off x="812800" y="2001441"/>
            <a:ext cx="55986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598668" cy="140330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docker history ile katmanları inceleyin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Dockerfile.kotu ile build, app.py'yi değiştirin, tekrar build</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İyi Dockerfile ile aynısını yapın, CACHED satırlarını sayın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docker diff ile yazılabilir katmanı görün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docker system df -v ile paylaşılan boyuta bakın</a:t>
            </a:r>
            <a:endParaRPr lang="en-US" sz="1400" dirty="0"/>
          </a:p>
        </p:txBody>
      </p:sp>
      <p:sp>
        <p:nvSpPr>
          <p:cNvPr id="6" name="Shape 4"/>
          <p:cNvSpPr/>
          <p:nvPr/>
        </p:nvSpPr>
        <p:spPr>
          <a:xfrm>
            <a:off x="6553200" y="2001441"/>
            <a:ext cx="4826000" cy="2113211"/>
          </a:xfrm>
          <a:prstGeom prst="roundRect">
            <a:avLst>
              <a:gd name="adj" fmla="val 4808"/>
            </a:avLst>
          </a:prstGeom>
          <a:solidFill>
            <a:srgbClr val="2A1D0F"/>
          </a:solidFill>
          <a:ln/>
        </p:spPr>
      </p:sp>
      <p:sp>
        <p:nvSpPr>
          <p:cNvPr id="7" name="Text 5"/>
          <p:cNvSpPr/>
          <p:nvPr/>
        </p:nvSpPr>
        <p:spPr>
          <a:xfrm>
            <a:off x="6807200" y="2204641"/>
            <a:ext cx="4447540"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ornekler/02-layer-cache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Dockerfile.kotu -t cache-demo:kotu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-t cache-demo:iyi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cache-app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-p 5000:5000 cache-demo:iyi</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diff cache-app</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labs/02-image-ve-layer-cache.md · macOS'ta 5000 doluysa -p 5050:5000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3 · DOCKERFILE DIREKTIFLERI</a:t>
            </a:r>
            <a:endParaRPr lang="en-US" sz="1200" dirty="0"/>
          </a:p>
        </p:txBody>
      </p:sp>
      <p:sp>
        <p:nvSpPr>
          <p:cNvPr id="3" name="Text 1"/>
          <p:cNvSpPr/>
          <p:nvPr/>
        </p:nvSpPr>
        <p:spPr>
          <a:xfrm>
            <a:off x="812800" y="1229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On dört direktif, iki grup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5143500" cy="1796604"/>
        </p:xfrm>
        <a:graphic>
          <a:graphicData uri="http://schemas.openxmlformats.org/drawingml/2006/table">
            <a:tbl>
              <a:tblPr/>
              <a:tblGrid>
                <a:gridCol w="1645920"/>
                <a:gridCol w="3497580"/>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Katman üretir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Ne yapar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Build sırasında komut çalıştırır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Context'ten dosya kopyalar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ADD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COPY + tar açma + URL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FROM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Base image (başlangıç)</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5700" y="1912541"/>
          <a:ext cx="5143500" cy="3233886"/>
        </p:xfrm>
        <a:graphic>
          <a:graphicData uri="http://schemas.openxmlformats.org/drawingml/2006/table">
            <a:tbl>
              <a:tblPr/>
              <a:tblGrid>
                <a:gridCol w="1851660"/>
                <a:gridCol w="3291840"/>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Metadata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Ne yapar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WORKDIR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Çalışma dizini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ENV / ARG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Runtime / build değişkeni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EXPOSE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Portu belgeler, açmaz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USER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Çalışan kullanıcı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LABEL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Sahip, sürüm, kaynak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CMD / ENTRYPOINT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Ne çalışacak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HEALTHCHECK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Sağlık kontrolü</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VOLUME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Anonim volume noktası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3 · FROM</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Base image sürümünü sabitleyin</a:t>
            </a:r>
            <a:endParaRPr lang="en-US" sz="3200" dirty="0"/>
          </a:p>
        </p:txBody>
      </p:sp>
      <p:sp>
        <p:nvSpPr>
          <p:cNvPr id="4" name="Shape 2"/>
          <p:cNvSpPr/>
          <p:nvPr/>
        </p:nvSpPr>
        <p:spPr>
          <a:xfrm>
            <a:off x="812800" y="2001441"/>
            <a:ext cx="10566400" cy="1348680"/>
          </a:xfrm>
          <a:prstGeom prst="roundRect">
            <a:avLst>
              <a:gd name="adj" fmla="val 7533"/>
            </a:avLst>
          </a:prstGeom>
          <a:solidFill>
            <a:srgbClr val="0F1B2D"/>
          </a:solidFill>
          <a:ln/>
        </p:spPr>
      </p:sp>
      <p:sp>
        <p:nvSpPr>
          <p:cNvPr id="5" name="Text 3"/>
          <p:cNvSpPr/>
          <p:nvPr/>
        </p:nvSpPr>
        <p:spPr>
          <a:xfrm>
            <a:off x="1092200" y="2230041"/>
            <a:ext cx="10307828" cy="916880"/>
          </a:xfrm>
          <a:prstGeom prst="rect">
            <a:avLst/>
          </a:prstGeom>
          <a:noFill/>
          <a:ln/>
        </p:spPr>
        <p:txBody>
          <a:bodyPr wrap="square" lIns="0" tIns="0" rIns="0" bIns="0" rtlCol="0" anchor="t">
            <a:normAutofit/>
          </a:bodyPr>
          <a:lstStyle/>
          <a:p>
            <a:pPr algn="l" indent="0" marL="0">
              <a:lnSpc>
                <a:spcPts val="2340"/>
              </a:lnSpc>
              <a:buNone/>
            </a:pPr>
            <a:r>
              <a:rPr lang="en-US" sz="1300" dirty="0">
                <a:solidFill>
                  <a:srgbClr val="FFB86B"/>
                </a:solidFill>
                <a:latin typeface="JetBrains Mono" pitchFamily="34" charset="0"/>
                <a:ea typeface="JetBrains Mono" pitchFamily="34" charset="-122"/>
                <a:cs typeface="JetBrains Mono" pitchFamily="34" charset="-120"/>
              </a:rPr>
              <a:t>FROM python:latest</a:t>
            </a:r>
            <a:r>
              <a:rPr lang="en-US" sz="1300" dirty="0">
                <a:solidFill>
                  <a:srgbClr val="D6E2F0"/>
                </a:solidFill>
                <a:latin typeface="JetBrains Mono" pitchFamily="34" charset="0"/>
                <a:ea typeface="JetBrains Mono" pitchFamily="34" charset="-122"/>
                <a:cs typeface="JetBrains Mono" pitchFamily="34" charset="-120"/>
              </a:rPr>
              <a:t>                </a:t>
            </a:r>
            <a:r>
              <a:rPr lang="en-US" sz="1300" dirty="0">
                <a:solidFill>
                  <a:srgbClr val="8A9BB3"/>
                </a:solidFill>
                <a:latin typeface="JetBrains Mono" pitchFamily="34" charset="0"/>
                <a:ea typeface="JetBrains Mono" pitchFamily="34" charset="-122"/>
                <a:cs typeface="JetBrains Mono" pitchFamily="34" charset="-120"/>
              </a:rPr>
              <a:t># ✗ yarın farklı Python gelebilir</a:t>
            </a:r>
            <a:endParaRPr lang="en-US" sz="1300" dirty="0"/>
          </a:p>
          <a:p>
            <a:pPr algn="l" indent="0" marL="0">
              <a:lnSpc>
                <a:spcPts val="2340"/>
              </a:lnSpc>
              <a:buNone/>
            </a:pPr>
            <a:r>
              <a:rPr lang="en-US" sz="1300" dirty="0">
                <a:solidFill>
                  <a:srgbClr val="7CC4FF"/>
                </a:solidFill>
                <a:latin typeface="JetBrains Mono" pitchFamily="34" charset="0"/>
                <a:ea typeface="JetBrains Mono" pitchFamily="34" charset="-122"/>
                <a:cs typeface="JetBrains Mono" pitchFamily="34" charset="-120"/>
              </a:rPr>
              <a:t>FROM python:3.12-slim</a:t>
            </a:r>
            <a:r>
              <a:rPr lang="en-US" sz="1300" dirty="0">
                <a:solidFill>
                  <a:srgbClr val="D6E2F0"/>
                </a:solidFill>
                <a:latin typeface="JetBrains Mono" pitchFamily="34" charset="0"/>
                <a:ea typeface="JetBrains Mono" pitchFamily="34" charset="-122"/>
                <a:cs typeface="JetBrains Mono" pitchFamily="34" charset="-120"/>
              </a:rPr>
              <a:t>             </a:t>
            </a:r>
            <a:r>
              <a:rPr lang="en-US" sz="1300" dirty="0">
                <a:solidFill>
                  <a:srgbClr val="8A9BB3"/>
                </a:solidFill>
                <a:latin typeface="JetBrains Mono" pitchFamily="34" charset="0"/>
                <a:ea typeface="JetBrains Mono" pitchFamily="34" charset="-122"/>
                <a:cs typeface="JetBrains Mono" pitchFamily="34" charset="-120"/>
              </a:rPr>
              <a:t># ✓ sürüm ve varyant belli</a:t>
            </a:r>
            <a:endParaRPr lang="en-US" sz="1300" dirty="0"/>
          </a:p>
          <a:p>
            <a:pPr algn="l" indent="0" marL="0">
              <a:lnSpc>
                <a:spcPts val="2340"/>
              </a:lnSpc>
              <a:buNone/>
            </a:pPr>
            <a:r>
              <a:rPr lang="en-US" sz="1300" dirty="0">
                <a:solidFill>
                  <a:srgbClr val="7CC4FF"/>
                </a:solidFill>
                <a:latin typeface="JetBrains Mono" pitchFamily="34" charset="0"/>
                <a:ea typeface="JetBrains Mono" pitchFamily="34" charset="-122"/>
                <a:cs typeface="JetBrains Mono" pitchFamily="34" charset="-120"/>
              </a:rPr>
              <a:t>FROM python:3.12-slim@sha256:…</a:t>
            </a:r>
            <a:r>
              <a:rPr lang="en-US" sz="1300" dirty="0">
                <a:solidFill>
                  <a:srgbClr val="D6E2F0"/>
                </a:solidFill>
                <a:latin typeface="JetBrains Mono" pitchFamily="34" charset="0"/>
                <a:ea typeface="JetBrains Mono" pitchFamily="34" charset="-122"/>
                <a:cs typeface="JetBrains Mono" pitchFamily="34" charset="-120"/>
              </a:rPr>
              <a:t>    </a:t>
            </a:r>
            <a:r>
              <a:rPr lang="en-US" sz="1300" dirty="0">
                <a:solidFill>
                  <a:srgbClr val="8A9BB3"/>
                </a:solidFill>
                <a:latin typeface="JetBrains Mono" pitchFamily="34" charset="0"/>
                <a:ea typeface="JetBrains Mono" pitchFamily="34" charset="-122"/>
                <a:cs typeface="JetBrains Mono" pitchFamily="34" charset="-120"/>
              </a:rPr>
              <a:t># ✓✓ içerik birebir sabit</a:t>
            </a:r>
            <a:endParaRPr lang="en-US" sz="1300" dirty="0"/>
          </a:p>
        </p:txBody>
      </p:sp>
      <p:sp>
        <p:nvSpPr>
          <p:cNvPr id="6" name="Shape 4"/>
          <p:cNvSpPr/>
          <p:nvPr/>
        </p:nvSpPr>
        <p:spPr>
          <a:xfrm>
            <a:off x="815975" y="3607296"/>
            <a:ext cx="5175250" cy="928291"/>
          </a:xfrm>
          <a:prstGeom prst="roundRect">
            <a:avLst>
              <a:gd name="adj" fmla="val 10603"/>
            </a:avLst>
          </a:prstGeom>
          <a:solidFill>
            <a:srgbClr val="FDFDFC"/>
          </a:solidFill>
          <a:ln w="6350">
            <a:solidFill>
              <a:srgbClr val="D9E0E8"/>
            </a:solidFill>
            <a:prstDash val="solid"/>
          </a:ln>
        </p:spPr>
      </p:sp>
      <p:sp>
        <p:nvSpPr>
          <p:cNvPr id="7" name="Text 5"/>
          <p:cNvSpPr/>
          <p:nvPr/>
        </p:nvSpPr>
        <p:spPr>
          <a:xfrm>
            <a:off x="1022350" y="3813671"/>
            <a:ext cx="4905375"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4536A"/>
                </a:solidFill>
                <a:latin typeface="IBM Plex Sans" pitchFamily="34" charset="0"/>
                <a:ea typeface="IBM Plex Sans" pitchFamily="34" charset="-122"/>
                <a:cs typeface="IBM Plex Sans" pitchFamily="34" charset="-120"/>
              </a:rPr>
              <a:t>latest</a:t>
            </a:r>
            <a:r>
              <a:rPr lang="en-US" sz="1400" dirty="0">
                <a:solidFill>
                  <a:srgbClr val="44536A"/>
                </a:solidFill>
                <a:latin typeface="IBM Plex Sans" pitchFamily="34" charset="0"/>
                <a:ea typeface="IBM Plex Sans" pitchFamily="34" charset="-122"/>
                <a:cs typeface="IBM Plex Sans" pitchFamily="34" charset="-120"/>
              </a:rPr>
              <a:t> "en yeni" demek değildir; tag verilmediğinde kullanılan varsayılan isimdir.</a:t>
            </a:r>
            <a:endParaRPr lang="en-US" sz="1400" dirty="0"/>
          </a:p>
        </p:txBody>
      </p:sp>
      <p:sp>
        <p:nvSpPr>
          <p:cNvPr id="8" name="Shape 6"/>
          <p:cNvSpPr/>
          <p:nvPr/>
        </p:nvSpPr>
        <p:spPr>
          <a:xfrm>
            <a:off x="6200775" y="3607296"/>
            <a:ext cx="5175250" cy="928291"/>
          </a:xfrm>
          <a:prstGeom prst="roundRect">
            <a:avLst>
              <a:gd name="adj" fmla="val 10603"/>
            </a:avLst>
          </a:prstGeom>
          <a:solidFill>
            <a:srgbClr val="FDFDFC"/>
          </a:solidFill>
          <a:ln w="6350">
            <a:solidFill>
              <a:srgbClr val="D9E0E8"/>
            </a:solidFill>
            <a:prstDash val="solid"/>
          </a:ln>
        </p:spPr>
      </p:sp>
      <p:sp>
        <p:nvSpPr>
          <p:cNvPr id="9" name="Text 7"/>
          <p:cNvSpPr/>
          <p:nvPr/>
        </p:nvSpPr>
        <p:spPr>
          <a:xfrm>
            <a:off x="6407150" y="3813671"/>
            <a:ext cx="4905375"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Tekrarlanabilir build: aynı Dockerfile altı ay sonra da aynı image'ı üretmeli.</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3 · COPY VE ADD</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Varsayılan COPY, ADD sadece tar için</a:t>
            </a:r>
            <a:endParaRPr lang="en-US" sz="3200" dirty="0"/>
          </a:p>
        </p:txBody>
      </p:sp>
      <p:sp>
        <p:nvSpPr>
          <p:cNvPr id="4" name="Shape 2"/>
          <p:cNvSpPr/>
          <p:nvPr/>
        </p:nvSpPr>
        <p:spPr>
          <a:xfrm>
            <a:off x="812800" y="2001441"/>
            <a:ext cx="5486400" cy="894060"/>
          </a:xfrm>
          <a:prstGeom prst="roundRect">
            <a:avLst>
              <a:gd name="adj" fmla="val 11364"/>
            </a:avLst>
          </a:prstGeom>
          <a:solidFill>
            <a:srgbClr val="0F1B2D"/>
          </a:solidFill>
          <a:ln/>
        </p:spPr>
      </p:sp>
      <p:sp>
        <p:nvSpPr>
          <p:cNvPr id="5" name="Text 3"/>
          <p:cNvSpPr/>
          <p:nvPr/>
        </p:nvSpPr>
        <p:spPr>
          <a:xfrm>
            <a:off x="1041400" y="2204641"/>
            <a:ext cx="5180076" cy="51306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COPY arsiv.tar.gz /demo/copy/</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ADD  arsiv.tar.gz /demo/add/</a:t>
            </a:r>
            <a:endParaRPr lang="en-US" sz="1200" dirty="0"/>
          </a:p>
        </p:txBody>
      </p:sp>
      <p:sp>
        <p:nvSpPr>
          <p:cNvPr id="6" name="Shape 4"/>
          <p:cNvSpPr/>
          <p:nvPr/>
        </p:nvSpPr>
        <p:spPr>
          <a:xfrm>
            <a:off x="812800" y="2997101"/>
            <a:ext cx="5486400" cy="1625550"/>
          </a:xfrm>
          <a:prstGeom prst="roundRect">
            <a:avLst>
              <a:gd name="adj" fmla="val 6250"/>
            </a:avLst>
          </a:prstGeom>
          <a:solidFill>
            <a:srgbClr val="0F1B2D"/>
          </a:solidFill>
          <a:ln/>
        </p:spPr>
      </p:sp>
      <p:sp>
        <p:nvSpPr>
          <p:cNvPr id="7" name="Text 5"/>
          <p:cNvSpPr/>
          <p:nvPr/>
        </p:nvSpPr>
        <p:spPr>
          <a:xfrm>
            <a:off x="1041400" y="3200301"/>
            <a:ext cx="5180076" cy="124455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COPY ile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arsiv.tar.gz</a:t>
            </a: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ADD ile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ornek-klasor/benioku.txt</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ornek-klasor/not.txt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65900" y="2014141"/>
          <a:ext cx="4813300" cy="2155924"/>
        </p:xfrm>
        <a:graphic>
          <a:graphicData uri="http://schemas.openxmlformats.org/drawingml/2006/table">
            <a:tbl>
              <a:tblPr/>
              <a:tblGrid>
                <a:gridCol w="2647315"/>
                <a:gridCol w="2165985"/>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Durum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Tercih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Dosya / klasör kopyalama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Yerel tar'ı image'da açmak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ADD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URL'den indirmek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RUN curl + checksum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Sahipliği ayarlamak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COPY --chown=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Başka aşamadan almak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COPY --from=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3 · CMD VE ENTRYPOINT</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CMD yerine geçer, ENTRYPOINT'e eklenir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10553700" cy="1437283"/>
        </p:xfrm>
        <a:graphic>
          <a:graphicData uri="http://schemas.openxmlformats.org/drawingml/2006/table">
            <a:tbl>
              <a:tblPr/>
              <a:tblGrid>
                <a:gridCol w="3166110"/>
                <a:gridCol w="3166110"/>
                <a:gridCol w="4221480"/>
              </a:tblGrid>
              <a:tr h="359321">
                <a:tc>
                  <a:txBody>
                    <a:bodyPr/>
                    <a:lstStyle/>
                    <a:p>
                      <a:pPr indent="0" marL="0">
                        <a:lnSpc>
                          <a:spcPts val="1820"/>
                        </a:lnSpc>
                        <a:buNone/>
                      </a:pPr>
                      <a:r>
                        <a:rPr lang="en-US" sz="1300" b="1" dirty="0">
                          <a:solidFill>
                            <a:srgbClr val="1B2A3D"/>
                          </a:solidFill>
                          <a:latin typeface="JetBrains Mono" pitchFamily="34" charset="0"/>
                          <a:ea typeface="JetBrains Mono" pitchFamily="34" charset="-122"/>
                          <a:cs typeface="JetBrains Mono" pitchFamily="34" charset="-120"/>
                        </a:rPr>
                        <a:t>Dockerfile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JetBrains Mono" pitchFamily="34" charset="0"/>
                          <a:ea typeface="JetBrains Mono" pitchFamily="34" charset="-122"/>
                          <a:cs typeface="JetBrains Mono" pitchFamily="34" charset="-120"/>
                        </a:rPr>
                        <a:t>docker run IMG</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JetBrains Mono" pitchFamily="34" charset="0"/>
                          <a:ea typeface="JetBrains Mono" pitchFamily="34" charset="-122"/>
                          <a:cs typeface="JetBrains Mono" pitchFamily="34" charset="-120"/>
                        </a:rPr>
                        <a:t>docker run IMG arg1 arg2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CMD [c]</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c</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arg1 arg2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ENTRYPOINT [e]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e arg1 arg2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ENTRYPOINT [e] + CMD [c]</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e c</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JetBrains Mono" pitchFamily="34" charset="0"/>
                          <a:ea typeface="JetBrains Mono" pitchFamily="34" charset="-122"/>
                          <a:cs typeface="JetBrains Mono" pitchFamily="34" charset="-120"/>
                        </a:rPr>
                        <a:t>e arg1 arg2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5" name="Shape 2"/>
          <p:cNvSpPr/>
          <p:nvPr/>
        </p:nvSpPr>
        <p:spPr>
          <a:xfrm>
            <a:off x="815975" y="3708598"/>
            <a:ext cx="5175250" cy="1186111"/>
          </a:xfrm>
          <a:prstGeom prst="roundRect">
            <a:avLst>
              <a:gd name="adj" fmla="val 8298"/>
            </a:avLst>
          </a:prstGeom>
          <a:solidFill>
            <a:srgbClr val="FDFDFC"/>
          </a:solidFill>
          <a:ln w="6350">
            <a:solidFill>
              <a:srgbClr val="D9E0E8"/>
            </a:solidFill>
            <a:prstDash val="solid"/>
          </a:ln>
        </p:spPr>
      </p:sp>
      <p:sp>
        <p:nvSpPr>
          <p:cNvPr id="6" name="Text 3"/>
          <p:cNvSpPr/>
          <p:nvPr/>
        </p:nvSpPr>
        <p:spPr>
          <a:xfrm>
            <a:off x="1022350" y="3914973"/>
            <a:ext cx="49053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CMD</a:t>
            </a:r>
            <a:endParaRPr lang="en-US" sz="1600" dirty="0"/>
          </a:p>
        </p:txBody>
      </p:sp>
      <p:sp>
        <p:nvSpPr>
          <p:cNvPr id="7" name="Text 4"/>
          <p:cNvSpPr/>
          <p:nvPr/>
        </p:nvSpPr>
        <p:spPr>
          <a:xfrm>
            <a:off x="1022350" y="4209604"/>
            <a:ext cx="4905375"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4536A"/>
                </a:solidFill>
                <a:latin typeface="IBM Plex Sans" pitchFamily="34" charset="0"/>
                <a:ea typeface="IBM Plex Sans" pitchFamily="34" charset="-122"/>
                <a:cs typeface="IBM Plex Sans" pitchFamily="34" charset="-120"/>
              </a:rPr>
              <a:t>Ezilebilir varsayılan komut. docker run demo:cmd ls / → ls çalışır.</a:t>
            </a:r>
            <a:endParaRPr lang="en-US" sz="1300" dirty="0"/>
          </a:p>
        </p:txBody>
      </p:sp>
      <p:sp>
        <p:nvSpPr>
          <p:cNvPr id="8" name="Shape 5"/>
          <p:cNvSpPr/>
          <p:nvPr/>
        </p:nvSpPr>
        <p:spPr>
          <a:xfrm>
            <a:off x="6200775" y="3708598"/>
            <a:ext cx="5175250" cy="1186111"/>
          </a:xfrm>
          <a:prstGeom prst="roundRect">
            <a:avLst>
              <a:gd name="adj" fmla="val 8298"/>
            </a:avLst>
          </a:prstGeom>
          <a:solidFill>
            <a:srgbClr val="FDFDFC"/>
          </a:solidFill>
          <a:ln w="6350">
            <a:solidFill>
              <a:srgbClr val="D9E0E8"/>
            </a:solidFill>
            <a:prstDash val="solid"/>
          </a:ln>
        </p:spPr>
      </p:sp>
      <p:sp>
        <p:nvSpPr>
          <p:cNvPr id="9" name="Text 6"/>
          <p:cNvSpPr/>
          <p:nvPr/>
        </p:nvSpPr>
        <p:spPr>
          <a:xfrm>
            <a:off x="6407150" y="3914973"/>
            <a:ext cx="49053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ENTRYPOINT</a:t>
            </a:r>
            <a:endParaRPr lang="en-US" sz="1600" dirty="0"/>
          </a:p>
        </p:txBody>
      </p:sp>
      <p:sp>
        <p:nvSpPr>
          <p:cNvPr id="10" name="Text 7"/>
          <p:cNvSpPr/>
          <p:nvPr/>
        </p:nvSpPr>
        <p:spPr>
          <a:xfrm>
            <a:off x="6407150" y="4209604"/>
            <a:ext cx="4905375"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4536A"/>
                </a:solidFill>
                <a:latin typeface="IBM Plex Sans" pitchFamily="34" charset="0"/>
                <a:ea typeface="IBM Plex Sans" pitchFamily="34" charset="-122"/>
                <a:cs typeface="IBM Plex Sans" pitchFamily="34" charset="-120"/>
              </a:rPr>
              <a:t>Sabit program. docker run demo:ep ls / → "Merhaba ls /" yazar.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3 · EN YAYGIN DESEN</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ENTRYPOINT program, CMD varsayılan argüman</a:t>
            </a:r>
            <a:endParaRPr lang="en-US" sz="3200" dirty="0"/>
          </a:p>
        </p:txBody>
      </p:sp>
      <p:sp>
        <p:nvSpPr>
          <p:cNvPr id="4" name="Shape 2"/>
          <p:cNvSpPr/>
          <p:nvPr/>
        </p:nvSpPr>
        <p:spPr>
          <a:xfrm>
            <a:off x="812800" y="2001441"/>
            <a:ext cx="5156200" cy="1625550"/>
          </a:xfrm>
          <a:prstGeom prst="roundRect">
            <a:avLst>
              <a:gd name="adj" fmla="val 6250"/>
            </a:avLst>
          </a:prstGeom>
          <a:solidFill>
            <a:srgbClr val="0F1B2D"/>
          </a:solidFill>
          <a:ln/>
        </p:spPr>
      </p:sp>
      <p:sp>
        <p:nvSpPr>
          <p:cNvPr id="5" name="Text 3"/>
          <p:cNvSpPr/>
          <p:nvPr/>
        </p:nvSpPr>
        <p:spPr>
          <a:xfrm>
            <a:off x="1066800" y="2204641"/>
            <a:ext cx="4787646" cy="100072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Dockerfile.ikisi</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FROM alpine:3.20</a:t>
            </a:r>
            <a:endParaRPr lang="en-US" sz="1200" dirty="0"/>
          </a:p>
          <a:p>
            <a:pPr algn="l" indent="0" marL="0">
              <a:lnSpc>
                <a:spcPts val="1920"/>
              </a:lnSpc>
              <a:buNone/>
            </a:pPr>
            <a:r>
              <a:rPr lang="en-US" sz="1200" dirty="0">
                <a:solidFill>
                  <a:srgbClr val="7CC4FF"/>
                </a:solidFill>
                <a:latin typeface="JetBrains Mono" pitchFamily="34" charset="0"/>
                <a:ea typeface="JetBrains Mono" pitchFamily="34" charset="-122"/>
                <a:cs typeface="JetBrains Mono" pitchFamily="34" charset="-120"/>
              </a:rPr>
              <a:t>ENTRYPOINT ["ping", "-c", "3"]</a:t>
            </a:r>
            <a:endParaRPr lang="en-US" sz="1200" dirty="0"/>
          </a:p>
          <a:p>
            <a:pPr algn="l" indent="0" marL="0">
              <a:lnSpc>
                <a:spcPts val="1920"/>
              </a:lnSpc>
              <a:buNone/>
            </a:pPr>
            <a:r>
              <a:rPr lang="en-US" sz="1200" dirty="0">
                <a:solidFill>
                  <a:srgbClr val="FFB86B"/>
                </a:solidFill>
                <a:latin typeface="JetBrains Mono" pitchFamily="34" charset="0"/>
                <a:ea typeface="JetBrains Mono" pitchFamily="34" charset="-122"/>
                <a:cs typeface="JetBrains Mono" pitchFamily="34" charset="-120"/>
              </a:rPr>
              <a:t>CMD ["localhost"]</a:t>
            </a:r>
            <a:endParaRPr lang="en-US" sz="1200" dirty="0"/>
          </a:p>
        </p:txBody>
      </p:sp>
      <p:sp>
        <p:nvSpPr>
          <p:cNvPr id="6" name="Shape 4"/>
          <p:cNvSpPr/>
          <p:nvPr/>
        </p:nvSpPr>
        <p:spPr>
          <a:xfrm>
            <a:off x="6223000" y="2001441"/>
            <a:ext cx="5156200" cy="1625550"/>
          </a:xfrm>
          <a:prstGeom prst="roundRect">
            <a:avLst>
              <a:gd name="adj" fmla="val 6250"/>
            </a:avLst>
          </a:prstGeom>
          <a:solidFill>
            <a:srgbClr val="0F1B2D"/>
          </a:solidFill>
          <a:ln/>
        </p:spPr>
      </p:sp>
      <p:sp>
        <p:nvSpPr>
          <p:cNvPr id="7" name="Text 5"/>
          <p:cNvSpPr/>
          <p:nvPr/>
        </p:nvSpPr>
        <p:spPr>
          <a:xfrm>
            <a:off x="6477000" y="2204641"/>
            <a:ext cx="4787646" cy="124455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--rm demo:ping</a:t>
            </a: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ping -c 3 localhost</a:t>
            </a:r>
            <a:endParaRPr lang="en-US" sz="1200" dirty="0"/>
          </a:p>
          <a:p>
            <a:pPr algn="l" indent="0" marL="0">
              <a:lnSpc>
                <a:spcPts val="1920"/>
              </a:lnSpc>
              <a:buNone/>
            </a:pP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--rm demo:ping 8.8.8.8</a:t>
            </a: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ping -c 3 8.8.8.8</a:t>
            </a:r>
            <a:endParaRPr lang="en-US" sz="1200" dirty="0"/>
          </a:p>
        </p:txBody>
      </p:sp>
      <p:sp>
        <p:nvSpPr>
          <p:cNvPr id="8" name="Text 6"/>
          <p:cNvSpPr/>
          <p:nvPr/>
        </p:nvSpPr>
        <p:spPr>
          <a:xfrm>
            <a:off x="812800" y="388099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4536A"/>
                </a:solidFill>
                <a:latin typeface="IBM Plex Sans" pitchFamily="34" charset="0"/>
                <a:ea typeface="IBM Plex Sans" pitchFamily="34" charset="-122"/>
                <a:cs typeface="IBM Plex Sans" pitchFamily="34" charset="-120"/>
              </a:rPr>
              <a:t>Resmi image'lar da böyle çalışır: nginx, postgres, redis → ENTRYPOINT bir başlangıç betiği, CMD asıl süreç.</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3 · SHELL FORM VE EXEC FORM</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CMD ve ENTRYPOINT'te her zaman exec form</a:t>
            </a:r>
            <a:endParaRPr lang="en-US" sz="3200" dirty="0"/>
          </a:p>
        </p:txBody>
      </p:sp>
      <p:sp>
        <p:nvSpPr>
          <p:cNvPr id="4" name="Shape 2"/>
          <p:cNvSpPr/>
          <p:nvPr/>
        </p:nvSpPr>
        <p:spPr>
          <a:xfrm>
            <a:off x="812800" y="2001441"/>
            <a:ext cx="10566400" cy="843260"/>
          </a:xfrm>
          <a:prstGeom prst="roundRect">
            <a:avLst>
              <a:gd name="adj" fmla="val 12048"/>
            </a:avLst>
          </a:prstGeom>
          <a:solidFill>
            <a:srgbClr val="0F1B2D"/>
          </a:solidFill>
          <a:ln/>
        </p:spPr>
      </p:sp>
      <p:sp>
        <p:nvSpPr>
          <p:cNvPr id="5" name="Text 3"/>
          <p:cNvSpPr/>
          <p:nvPr/>
        </p:nvSpPr>
        <p:spPr>
          <a:xfrm>
            <a:off x="1066800" y="2179241"/>
            <a:ext cx="10360152" cy="51306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CMD python app.py         </a:t>
            </a:r>
            <a:r>
              <a:rPr lang="en-US" sz="1200" dirty="0">
                <a:solidFill>
                  <a:srgbClr val="8A9BB3"/>
                </a:solidFill>
                <a:latin typeface="JetBrains Mono" pitchFamily="34" charset="0"/>
                <a:ea typeface="JetBrains Mono" pitchFamily="34" charset="-122"/>
                <a:cs typeface="JetBrains Mono" pitchFamily="34" charset="-120"/>
              </a:rPr>
              <a:t># shell form → /bin/sh -c "python app.py"</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CMD ["python", "app.py"]  </a:t>
            </a:r>
            <a:r>
              <a:rPr lang="en-US" sz="1200" dirty="0">
                <a:solidFill>
                  <a:srgbClr val="8A9BB3"/>
                </a:solidFill>
                <a:latin typeface="JetBrains Mono" pitchFamily="34" charset="0"/>
                <a:ea typeface="JetBrains Mono" pitchFamily="34" charset="-122"/>
                <a:cs typeface="JetBrains Mono" pitchFamily="34" charset="-120"/>
              </a:rPr>
              <a:t># exec form  → doğrudan python çalışır</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3111401"/>
          <a:ext cx="10553700" cy="1796604"/>
        </p:xfrm>
        <a:graphic>
          <a:graphicData uri="http://schemas.openxmlformats.org/drawingml/2006/table">
            <a:tbl>
              <a:tblPr/>
              <a:tblGrid>
                <a:gridCol w="5487924"/>
                <a:gridCol w="2532888"/>
                <a:gridCol w="2532888"/>
              </a:tblGrid>
              <a:tr h="35932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Shell 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Exec 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$DEGISKEN genişletme, pipe, &amp;&amp;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Yok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PID 1 kim?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/bin/sh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Uygulama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docker stop'un SIGTERM'i uygulamaya ulaşır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Genelde hayır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Evet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Shell'siz image'da (distroless) çalışır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Hayır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Evet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3 · HEPSI BIR ARADA</a:t>
            </a:r>
            <a:endParaRPr lang="en-US" sz="1200" dirty="0"/>
          </a:p>
        </p:txBody>
      </p:sp>
      <p:sp>
        <p:nvSpPr>
          <p:cNvPr id="3" name="Text 1"/>
          <p:cNvSpPr/>
          <p:nvPr/>
        </p:nvSpPr>
        <p:spPr>
          <a:xfrm>
            <a:off x="812800" y="1229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Açıklamalı tam örnek</a:t>
            </a:r>
            <a:endParaRPr lang="en-US" sz="3200" dirty="0"/>
          </a:p>
        </p:txBody>
      </p:sp>
      <p:sp>
        <p:nvSpPr>
          <p:cNvPr id="4" name="Shape 2"/>
          <p:cNvSpPr/>
          <p:nvPr/>
        </p:nvSpPr>
        <p:spPr>
          <a:xfrm>
            <a:off x="812800" y="1899841"/>
            <a:ext cx="10566400" cy="3556000"/>
          </a:xfrm>
          <a:prstGeom prst="roundRect">
            <a:avLst>
              <a:gd name="adj" fmla="val 2857"/>
            </a:avLst>
          </a:prstGeom>
          <a:solidFill>
            <a:srgbClr val="0F1B2D"/>
          </a:solidFill>
          <a:ln/>
        </p:spPr>
      </p:sp>
      <p:sp>
        <p:nvSpPr>
          <p:cNvPr id="5" name="Text 3"/>
          <p:cNvSpPr/>
          <p:nvPr/>
        </p:nvSpPr>
        <p:spPr>
          <a:xfrm>
            <a:off x="1066800" y="2077641"/>
            <a:ext cx="10360152" cy="3225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ARG ALPINE_SURUM=3.20</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FROM alpine:${ALPINE_SURUM}</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ARG UYGULAMA_SURUM=1.0.0                         </a:t>
            </a:r>
            <a:r>
              <a:rPr lang="en-US" sz="1200" dirty="0">
                <a:solidFill>
                  <a:srgbClr val="8A9BB3"/>
                </a:solidFill>
                <a:latin typeface="JetBrains Mono" pitchFamily="34" charset="0"/>
                <a:ea typeface="JetBrains Mono" pitchFamily="34" charset="-122"/>
                <a:cs typeface="JetBrains Mono" pitchFamily="34" charset="-120"/>
              </a:rPr>
              <a:t># FROM'dan sonra yeniden tanımla</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LABEL org.opencontainers.image.version="${UYGULAMA_SURUM}"</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ENV UYGULAMA_SURUM=${UYGULAMA_SURUM} PORT=8080</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apk add --no-cache busybox-extras curl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&amp;&amp; adduser -S -G uygulama uygulama          </a:t>
            </a:r>
            <a:r>
              <a:rPr lang="en-US" sz="1200" dirty="0">
                <a:solidFill>
                  <a:srgbClr val="8A9BB3"/>
                </a:solidFill>
                <a:latin typeface="JetBrains Mono" pitchFamily="34" charset="0"/>
                <a:ea typeface="JetBrains Mono" pitchFamily="34" charset="-122"/>
                <a:cs typeface="JetBrains Mono" pitchFamily="34" charset="-120"/>
              </a:rPr>
              <a:t># tek RUN = tek katman</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WORKDIR /srv/www</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--chown=uygulama:uygulama ornek-klasor/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EXPOSE 8080                                     </a:t>
            </a:r>
            <a:r>
              <a:rPr lang="en-US" sz="1200" dirty="0">
                <a:solidFill>
                  <a:srgbClr val="8A9BB3"/>
                </a:solidFill>
                <a:latin typeface="JetBrains Mono" pitchFamily="34" charset="0"/>
                <a:ea typeface="JetBrains Mono" pitchFamily="34" charset="-122"/>
                <a:cs typeface="JetBrains Mono" pitchFamily="34" charset="-120"/>
              </a:rPr>
              <a:t># sadece belge</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USER uygulama                                   </a:t>
            </a:r>
            <a:r>
              <a:rPr lang="en-US" sz="1200" dirty="0">
                <a:solidFill>
                  <a:srgbClr val="8A9BB3"/>
                </a:solidFill>
                <a:latin typeface="JetBrains Mono" pitchFamily="34" charset="0"/>
                <a:ea typeface="JetBrains Mono" pitchFamily="34" charset="-122"/>
                <a:cs typeface="JetBrains Mono" pitchFamily="34" charset="-120"/>
              </a:rPr>
              <a:t># root değil</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HEALTHCHECK --interval=10s CMD curl -fs http://localhost:${PORT}/ || exit 1</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ENTRYPOINT ["busybox-extras", "httpd", "-f", "-v"]</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CMD ["-p", "8080", "-h", "/srv/www"]</a:t>
            </a:r>
            <a:endParaRPr lang="en-US" sz="12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Özet; tam dosya: ornekler/03-direktifler/Dockerfile.tam-ornek</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03 · 60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Direktifleri tek tek deneyin</a:t>
            </a:r>
            <a:endParaRPr lang="en-US" sz="3200" dirty="0"/>
          </a:p>
        </p:txBody>
      </p:sp>
      <p:sp>
        <p:nvSpPr>
          <p:cNvPr id="4" name="Text 2"/>
          <p:cNvSpPr/>
          <p:nvPr/>
        </p:nvSpPr>
        <p:spPr>
          <a:xfrm>
            <a:off x="812800" y="2001441"/>
            <a:ext cx="546785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467858" cy="140330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COPY ve ADD farkını arşivle görün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CMD, ENTRYPOINT ve ikisi birlikte</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--entrypoint ile ezme</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Shell ve exec form çıktısı</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Tam örneği build edip inspect ile doğrulayın</a:t>
            </a:r>
            <a:endParaRPr lang="en-US" sz="1400" dirty="0"/>
          </a:p>
        </p:txBody>
      </p:sp>
      <p:sp>
        <p:nvSpPr>
          <p:cNvPr id="6" name="Shape 4"/>
          <p:cNvSpPr/>
          <p:nvPr/>
        </p:nvSpPr>
        <p:spPr>
          <a:xfrm>
            <a:off x="6426200" y="2001441"/>
            <a:ext cx="4953000" cy="2357041"/>
          </a:xfrm>
          <a:prstGeom prst="roundRect">
            <a:avLst>
              <a:gd name="adj" fmla="val 4310"/>
            </a:avLst>
          </a:prstGeom>
          <a:solidFill>
            <a:srgbClr val="2A1D0F"/>
          </a:solidFill>
          <a:ln/>
        </p:spPr>
      </p:sp>
      <p:sp>
        <p:nvSpPr>
          <p:cNvPr id="7" name="Text 5"/>
          <p:cNvSpPr/>
          <p:nvPr/>
        </p:nvSpPr>
        <p:spPr>
          <a:xfrm>
            <a:off x="6680200" y="2204641"/>
            <a:ext cx="4578350" cy="19760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ornekler/03-direktifler</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Dockerfile.cmd -t demo:cmd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--rm demo:cmd ls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Dockerfile.entrypoint -t demo:ep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--rm demo:ep ls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Dockerfile.ikisi -t demo:ping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--rm demo:ping 8.8.8.8</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labs/03-dockerfile-direktifleri.md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4 · .DOCKERIGNORE</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docker build . klasördeki her şeyi gönderir</a:t>
            </a:r>
            <a:endParaRPr lang="en-US" sz="3200" dirty="0"/>
          </a:p>
        </p:txBody>
      </p:sp>
      <p:sp>
        <p:nvSpPr>
          <p:cNvPr id="4" name="Shape 2"/>
          <p:cNvSpPr/>
          <p:nvPr/>
        </p:nvSpPr>
        <p:spPr>
          <a:xfrm>
            <a:off x="815975" y="2004616"/>
            <a:ext cx="3930650" cy="2089051"/>
          </a:xfrm>
          <a:prstGeom prst="roundRect">
            <a:avLst>
              <a:gd name="adj" fmla="val 4711"/>
            </a:avLst>
          </a:prstGeom>
          <a:solidFill>
            <a:srgbClr val="FDFDFC"/>
          </a:solidFill>
          <a:ln w="6350">
            <a:solidFill>
              <a:srgbClr val="D9E0E8"/>
            </a:solidFill>
            <a:prstDash val="solid"/>
          </a:ln>
        </p:spPr>
      </p:sp>
      <p:sp>
        <p:nvSpPr>
          <p:cNvPr id="5" name="Text 3"/>
          <p:cNvSpPr/>
          <p:nvPr/>
        </p:nvSpPr>
        <p:spPr>
          <a:xfrm>
            <a:off x="1073150" y="2210991"/>
            <a:ext cx="35187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A7A"/>
                </a:solidFill>
                <a:latin typeface="IBM Plex Sans" pitchFamily="34" charset="0"/>
                <a:ea typeface="IBM Plex Sans" pitchFamily="34" charset="-122"/>
                <a:cs typeface="IBM Plex Sans" pitchFamily="34" charset="-120"/>
              </a:rPr>
              <a:t>Sizin klasörünüz</a:t>
            </a:r>
            <a:endParaRPr lang="en-US" sz="1200" dirty="0"/>
          </a:p>
        </p:txBody>
      </p:sp>
      <p:sp>
        <p:nvSpPr>
          <p:cNvPr id="6" name="Text 4"/>
          <p:cNvSpPr/>
          <p:nvPr/>
        </p:nvSpPr>
        <p:spPr>
          <a:xfrm>
            <a:off x="1073150" y="2424311"/>
            <a:ext cx="3518789" cy="14883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B2A3D"/>
                </a:solidFill>
                <a:latin typeface="JetBrains Mono" pitchFamily="34" charset="0"/>
                <a:ea typeface="JetBrains Mono" pitchFamily="34" charset="-122"/>
                <a:cs typeface="JetBrains Mono" pitchFamily="34" charset="-120"/>
              </a:rPr>
              <a:t>app.py</a:t>
            </a:r>
            <a:endParaRPr lang="en-US" sz="1200" dirty="0"/>
          </a:p>
          <a:p>
            <a:pPr algn="l" indent="0" marL="0">
              <a:lnSpc>
                <a:spcPts val="1920"/>
              </a:lnSpc>
              <a:buNone/>
            </a:pPr>
            <a:r>
              <a:rPr lang="en-US" sz="1200" dirty="0">
                <a:solidFill>
                  <a:srgbClr val="1B2A3D"/>
                </a:solidFill>
                <a:latin typeface="JetBrains Mono" pitchFamily="34" charset="0"/>
                <a:ea typeface="JetBrains Mono" pitchFamily="34" charset="-122"/>
                <a:cs typeface="JetBrains Mono" pitchFamily="34" charset="-120"/>
              </a:rPr>
              <a:t>requirements.txt</a:t>
            </a:r>
            <a:endParaRPr lang="en-US" sz="1200" dirty="0"/>
          </a:p>
          <a:p>
            <a:pPr algn="l" indent="0" marL="0">
              <a:lnSpc>
                <a:spcPts val="1920"/>
              </a:lnSpc>
              <a:buNone/>
            </a:pPr>
            <a:r>
              <a:rPr lang="en-US" sz="1200" dirty="0">
                <a:solidFill>
                  <a:srgbClr val="B4540A"/>
                </a:solidFill>
                <a:latin typeface="JetBrains Mono" pitchFamily="34" charset="0"/>
                <a:ea typeface="JetBrains Mono" pitchFamily="34" charset="-122"/>
                <a:cs typeface="JetBrains Mono" pitchFamily="34" charset="-120"/>
              </a:rPr>
              <a:t>.env          ← şifreler</a:t>
            </a:r>
            <a:endParaRPr lang="en-US" sz="1200" dirty="0"/>
          </a:p>
          <a:p>
            <a:pPr algn="l" indent="0" marL="0">
              <a:lnSpc>
                <a:spcPts val="1920"/>
              </a:lnSpc>
              <a:buNone/>
            </a:pPr>
            <a:r>
              <a:rPr lang="en-US" sz="1200" dirty="0">
                <a:solidFill>
                  <a:srgbClr val="B4540A"/>
                </a:solidFill>
                <a:latin typeface="JetBrains Mono" pitchFamily="34" charset="0"/>
                <a:ea typeface="JetBrains Mono" pitchFamily="34" charset="-122"/>
                <a:cs typeface="JetBrains Mono" pitchFamily="34" charset="-120"/>
              </a:rPr>
              <a:t>.git/         ← tüm geçmiş</a:t>
            </a:r>
            <a:endParaRPr lang="en-US" sz="1200" dirty="0"/>
          </a:p>
          <a:p>
            <a:pPr algn="l" indent="0" marL="0">
              <a:lnSpc>
                <a:spcPts val="1920"/>
              </a:lnSpc>
              <a:buNone/>
            </a:pPr>
            <a:r>
              <a:rPr lang="en-US" sz="1200" dirty="0">
                <a:solidFill>
                  <a:srgbClr val="B4540A"/>
                </a:solidFill>
                <a:latin typeface="JetBrains Mono" pitchFamily="34" charset="0"/>
                <a:ea typeface="JetBrains Mono" pitchFamily="34" charset="-122"/>
                <a:cs typeface="JetBrains Mono" pitchFamily="34" charset="-120"/>
              </a:rPr>
              <a:t>logs/</a:t>
            </a:r>
            <a:endParaRPr lang="en-US" sz="1200" dirty="0"/>
          </a:p>
          <a:p>
            <a:pPr algn="l" indent="0" marL="0">
              <a:lnSpc>
                <a:spcPts val="1920"/>
              </a:lnSpc>
              <a:buNone/>
            </a:pPr>
            <a:r>
              <a:rPr lang="en-US" sz="1200" dirty="0">
                <a:solidFill>
                  <a:srgbClr val="B4540A"/>
                </a:solidFill>
                <a:latin typeface="JetBrains Mono" pitchFamily="34" charset="0"/>
                <a:ea typeface="JetBrains Mono" pitchFamily="34" charset="-122"/>
                <a:cs typeface="JetBrains Mono" pitchFamily="34" charset="-120"/>
              </a:rPr>
              <a:t>buyuk.bin     ← 200 MB</a:t>
            </a:r>
            <a:endParaRPr lang="en-US" sz="1200" dirty="0"/>
          </a:p>
        </p:txBody>
      </p:sp>
      <p:sp>
        <p:nvSpPr>
          <p:cNvPr id="7" name="Text 5"/>
          <p:cNvSpPr/>
          <p:nvPr/>
        </p:nvSpPr>
        <p:spPr>
          <a:xfrm>
            <a:off x="5014962" y="2739281"/>
            <a:ext cx="94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3ED"/>
                </a:solidFill>
                <a:latin typeface="IBM Plex Sans" pitchFamily="34" charset="0"/>
                <a:ea typeface="IBM Plex Sans" pitchFamily="34" charset="-122"/>
                <a:cs typeface="IBM Plex Sans" pitchFamily="34" charset="-120"/>
              </a:rPr>
              <a:t>build context</a:t>
            </a:r>
            <a:endParaRPr lang="en-US" sz="1200" dirty="0"/>
          </a:p>
        </p:txBody>
      </p:sp>
      <p:pic>
        <p:nvPicPr>
          <p:cNvPr id="8" name="Image 0" descr="arrow-right">    </p:cNvPr>
          <p:cNvPicPr>
            <a:picLocks noChangeAspect="1"/>
          </p:cNvPicPr>
          <p:nvPr/>
        </p:nvPicPr>
        <p:blipFill>
          <a:blip r:embed="rId1"/>
          <a:srcRect l="0" r="0" t="0" b="0"/>
          <a:stretch/>
        </p:blipFill>
        <p:spPr>
          <a:xfrm>
            <a:off x="4953000" y="3003401"/>
            <a:ext cx="1016000" cy="355600"/>
          </a:xfrm>
          <a:prstGeom prst="rect">
            <a:avLst/>
          </a:prstGeom>
        </p:spPr>
      </p:pic>
      <p:sp>
        <p:nvSpPr>
          <p:cNvPr id="9" name="Shape 6"/>
          <p:cNvSpPr/>
          <p:nvPr/>
        </p:nvSpPr>
        <p:spPr>
          <a:xfrm>
            <a:off x="6172200" y="2563713"/>
            <a:ext cx="5207000" cy="970855"/>
          </a:xfrm>
          <a:prstGeom prst="roundRect">
            <a:avLst>
              <a:gd name="adj" fmla="val 10465"/>
            </a:avLst>
          </a:prstGeom>
          <a:solidFill>
            <a:srgbClr val="0F1B2D"/>
          </a:solidFill>
          <a:ln/>
        </p:spPr>
      </p:sp>
      <p:sp>
        <p:nvSpPr>
          <p:cNvPr id="10" name="Text 7"/>
          <p:cNvSpPr/>
          <p:nvPr/>
        </p:nvSpPr>
        <p:spPr>
          <a:xfrm>
            <a:off x="6426200" y="2766913"/>
            <a:ext cx="48399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Docker Engine (BuildKit)</a:t>
            </a:r>
            <a:endParaRPr lang="en-US" sz="1400" dirty="0"/>
          </a:p>
        </p:txBody>
      </p:sp>
      <p:sp>
        <p:nvSpPr>
          <p:cNvPr id="11" name="Text 8"/>
          <p:cNvSpPr/>
          <p:nvPr/>
        </p:nvSpPr>
        <p:spPr>
          <a:xfrm>
            <a:off x="6426200" y="3092004"/>
            <a:ext cx="483997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C6D9"/>
                </a:solidFill>
                <a:latin typeface="IBM Plex Sans" pitchFamily="34" charset="0"/>
                <a:ea typeface="IBM Plex Sans" pitchFamily="34" charset="-122"/>
                <a:cs typeface="IBM Plex Sans" pitchFamily="34" charset="-120"/>
              </a:rPr>
              <a:t>Gönderilen her şey </a:t>
            </a:r>
            <a:r>
              <a:rPr lang="en-US" sz="1300" b="1" dirty="0">
                <a:solidFill>
                  <a:srgbClr val="B8C6D9"/>
                </a:solidFill>
                <a:latin typeface="IBM Plex Sans" pitchFamily="34" charset="0"/>
                <a:ea typeface="IBM Plex Sans" pitchFamily="34" charset="-122"/>
                <a:cs typeface="IBM Plex Sans" pitchFamily="34" charset="-120"/>
              </a:rPr>
              <a:t>COPY . .</a:t>
            </a:r>
            <a:r>
              <a:rPr lang="en-US" sz="1300" dirty="0">
                <a:solidFill>
                  <a:srgbClr val="B8C6D9"/>
                </a:solidFill>
                <a:latin typeface="IBM Plex Sans" pitchFamily="34" charset="0"/>
                <a:ea typeface="IBM Plex Sans" pitchFamily="34" charset="-122"/>
                <a:cs typeface="IBM Plex Sans" pitchFamily="34" charset="-120"/>
              </a:rPr>
              <a:t> ile image'a girebilir.</a:t>
            </a:r>
            <a:endParaRPr lang="en-US" sz="1300" dirty="0"/>
          </a:p>
        </p:txBody>
      </p:sp>
      <p:sp>
        <p:nvSpPr>
          <p:cNvPr id="12" name="Text 9"/>
          <p:cNvSpPr/>
          <p:nvPr/>
        </p:nvSpPr>
        <p:spPr>
          <a:xfrm>
            <a:off x="812800" y="43508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4536A"/>
                </a:solidFill>
                <a:latin typeface="IBM Plex Sans" pitchFamily="34" charset="0"/>
                <a:ea typeface="IBM Plex Sans" pitchFamily="34" charset="-122"/>
                <a:cs typeface="IBM Plex Sans" pitchFamily="34" charset="-120"/>
              </a:rPr>
              <a:t>.dockerignore: context'e </a:t>
            </a:r>
            <a:r>
              <a:rPr lang="en-US" sz="1500" b="1" dirty="0">
                <a:solidFill>
                  <a:srgbClr val="44536A"/>
                </a:solidFill>
                <a:latin typeface="IBM Plex Sans" pitchFamily="34" charset="0"/>
                <a:ea typeface="IBM Plex Sans" pitchFamily="34" charset="-122"/>
                <a:cs typeface="IBM Plex Sans" pitchFamily="34" charset="-120"/>
              </a:rPr>
              <a:t>gönderilmeyecek</a:t>
            </a:r>
            <a:r>
              <a:rPr lang="en-US" sz="1500" dirty="0">
                <a:solidFill>
                  <a:srgbClr val="44536A"/>
                </a:solidFill>
                <a:latin typeface="IBM Plex Sans" pitchFamily="34" charset="0"/>
                <a:ea typeface="IBM Plex Sans" pitchFamily="34" charset="-122"/>
                <a:cs typeface="IBM Plex Sans" pitchFamily="34" charset="-120"/>
              </a:rPr>
              <a:t> dosyalar. Söz dizimi .gitignore'a benzer.</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4 · ETKI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Daha küçük context, daha hızlı build</a:t>
            </a:r>
            <a:endParaRPr lang="en-US" sz="3200" dirty="0"/>
          </a:p>
        </p:txBody>
      </p:sp>
      <p:sp>
        <p:nvSpPr>
          <p:cNvPr id="4" name="Shape 2"/>
          <p:cNvSpPr/>
          <p:nvPr/>
        </p:nvSpPr>
        <p:spPr>
          <a:xfrm>
            <a:off x="812800" y="2001441"/>
            <a:ext cx="4318000" cy="3240683"/>
          </a:xfrm>
          <a:prstGeom prst="roundRect">
            <a:avLst>
              <a:gd name="adj" fmla="val 3135"/>
            </a:avLst>
          </a:prstGeom>
          <a:solidFill>
            <a:srgbClr val="0F1B2D"/>
          </a:solidFill>
          <a:ln/>
        </p:spPr>
      </p:sp>
      <p:sp>
        <p:nvSpPr>
          <p:cNvPr id="5" name="Text 3"/>
          <p:cNvSpPr/>
          <p:nvPr/>
        </p:nvSpPr>
        <p:spPr>
          <a:xfrm>
            <a:off x="1066800" y="2204641"/>
            <a:ext cx="3924300" cy="2859683"/>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8A9BB3"/>
                </a:solidFill>
                <a:latin typeface="JetBrains Mono" pitchFamily="34" charset="0"/>
                <a:ea typeface="JetBrains Mono" pitchFamily="34" charset="-122"/>
                <a:cs typeface="JetBrains Mono" pitchFamily="34" charset="-120"/>
              </a:rPr>
              <a:t># .dockerignore</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.git</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.env</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.env.*</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*.pem</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*.key</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*.bin</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logs/</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__pycache__/</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.venv/</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Dockerfile*</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compose*.yaml</a:t>
            </a:r>
            <a:endParaRPr lang="en-US" sz="1200" dirty="0"/>
          </a:p>
        </p:txBody>
      </p:sp>
      <p:sp>
        <p:nvSpPr>
          <p:cNvPr id="6" name="Shape 4"/>
          <p:cNvSpPr/>
          <p:nvPr/>
        </p:nvSpPr>
        <p:spPr>
          <a:xfrm>
            <a:off x="5438775" y="2004616"/>
            <a:ext cx="2889250" cy="1073100"/>
          </a:xfrm>
          <a:prstGeom prst="roundRect">
            <a:avLst>
              <a:gd name="adj" fmla="val 9172"/>
            </a:avLst>
          </a:prstGeom>
          <a:solidFill>
            <a:srgbClr val="FDFDFC"/>
          </a:solidFill>
          <a:ln w="6350">
            <a:solidFill>
              <a:srgbClr val="D9E0E8"/>
            </a:solidFill>
            <a:prstDash val="solid"/>
          </a:ln>
        </p:spPr>
      </p:sp>
      <p:sp>
        <p:nvSpPr>
          <p:cNvPr id="7" name="Text 5"/>
          <p:cNvSpPr/>
          <p:nvPr/>
        </p:nvSpPr>
        <p:spPr>
          <a:xfrm>
            <a:off x="5619750" y="218559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Context — yok</a:t>
            </a:r>
            <a:endParaRPr lang="en-US" sz="1200" dirty="0"/>
          </a:p>
        </p:txBody>
      </p:sp>
      <p:sp>
        <p:nvSpPr>
          <p:cNvPr id="8" name="Text 6"/>
          <p:cNvSpPr/>
          <p:nvPr/>
        </p:nvSpPr>
        <p:spPr>
          <a:xfrm>
            <a:off x="5619750" y="2398911"/>
            <a:ext cx="260311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540A"/>
                </a:solidFill>
                <a:latin typeface="IBM Plex Sans" pitchFamily="34" charset="0"/>
                <a:ea typeface="IBM Plex Sans" pitchFamily="34" charset="-122"/>
                <a:cs typeface="IBM Plex Sans" pitchFamily="34" charset="-120"/>
              </a:rPr>
              <a:t>~210 MB</a:t>
            </a:r>
            <a:endParaRPr lang="en-US" sz="2800" dirty="0"/>
          </a:p>
        </p:txBody>
      </p:sp>
      <p:sp>
        <p:nvSpPr>
          <p:cNvPr id="9" name="Shape 7"/>
          <p:cNvSpPr/>
          <p:nvPr/>
        </p:nvSpPr>
        <p:spPr>
          <a:xfrm>
            <a:off x="8486775" y="2004616"/>
            <a:ext cx="2889250" cy="1073100"/>
          </a:xfrm>
          <a:prstGeom prst="roundRect">
            <a:avLst>
              <a:gd name="adj" fmla="val 9172"/>
            </a:avLst>
          </a:prstGeom>
          <a:solidFill>
            <a:srgbClr val="FDFDFC"/>
          </a:solidFill>
          <a:ln w="6350">
            <a:solidFill>
              <a:srgbClr val="D9E0E8"/>
            </a:solidFill>
            <a:prstDash val="solid"/>
          </a:ln>
        </p:spPr>
      </p:sp>
      <p:sp>
        <p:nvSpPr>
          <p:cNvPr id="10" name="Text 8"/>
          <p:cNvSpPr/>
          <p:nvPr/>
        </p:nvSpPr>
        <p:spPr>
          <a:xfrm>
            <a:off x="8667750" y="218559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Context — var</a:t>
            </a:r>
            <a:endParaRPr lang="en-US" sz="1200" dirty="0"/>
          </a:p>
        </p:txBody>
      </p:sp>
      <p:sp>
        <p:nvSpPr>
          <p:cNvPr id="11" name="Text 9"/>
          <p:cNvSpPr/>
          <p:nvPr/>
        </p:nvSpPr>
        <p:spPr>
          <a:xfrm>
            <a:off x="8667750" y="2398911"/>
            <a:ext cx="260311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D63ED"/>
                </a:solidFill>
                <a:latin typeface="IBM Plex Sans" pitchFamily="34" charset="0"/>
                <a:ea typeface="IBM Plex Sans" pitchFamily="34" charset="-122"/>
                <a:cs typeface="IBM Plex Sans" pitchFamily="34" charset="-120"/>
              </a:rPr>
              <a:t>birkaç KB</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48300" y="3245991"/>
          <a:ext cx="5930900" cy="1437283"/>
        </p:xfrm>
        <a:graphic>
          <a:graphicData uri="http://schemas.openxmlformats.org/drawingml/2006/table">
            <a:tbl>
              <a:tblPr/>
              <a:tblGrid>
                <a:gridCol w="2372360"/>
                <a:gridCol w="3558540"/>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Kural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Anlamı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*.log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Kökteki .log dosyaları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**/*.log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Tüm alt klasörlerde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!logs/.gitkeep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Hariç tutulanı geri 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Değerler Lab 04 deneyinden (200 MB'lık buyuk.bin ile) — kendi ölçümünüzü tabloya yazın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B4540A"/>
        </a:solidFill>
      </p:bgPr>
    </p:bg>
    <p:spTree>
      <p:nvGrpSpPr>
        <p:cNvPr id="1" name=""/>
        <p:cNvGrpSpPr/>
        <p:nvPr/>
      </p:nvGrpSpPr>
      <p:grpSpPr>
        <a:xfrm>
          <a:off x="0" y="0"/>
          <a:ext cx="0" cy="0"/>
          <a:chOff x="0" y="0"/>
          <a:chExt cx="0" cy="0"/>
        </a:xfrm>
      </p:grpSpPr>
      <p:sp>
        <p:nvSpPr>
          <p:cNvPr id="2" name="Text 0"/>
          <p:cNvSpPr/>
          <p:nvPr/>
        </p:nvSpPr>
        <p:spPr>
          <a:xfrm>
            <a:off x="812800" y="155331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E3C2"/>
                </a:solidFill>
                <a:latin typeface="IBM Plex Sans" pitchFamily="34" charset="0"/>
                <a:ea typeface="IBM Plex Sans" pitchFamily="34" charset="-122"/>
                <a:cs typeface="IBM Plex Sans" pitchFamily="34" charset="-120"/>
              </a:rPr>
              <a:t>BÖLÜM 4 · GÜVENLIK</a:t>
            </a:r>
            <a:endParaRPr lang="en-US" sz="1200" dirty="0"/>
          </a:p>
        </p:txBody>
      </p:sp>
      <p:sp>
        <p:nvSpPr>
          <p:cNvPr id="3" name="Text 1"/>
          <p:cNvSpPr/>
          <p:nvPr/>
        </p:nvSpPr>
        <p:spPr>
          <a:xfrm>
            <a:off x="812800" y="2020639"/>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FF6E9"/>
                </a:solidFill>
                <a:latin typeface="IBM Plex Sans" pitchFamily="34" charset="0"/>
                <a:ea typeface="IBM Plex Sans" pitchFamily="34" charset="-122"/>
                <a:cs typeface="IBM Plex Sans" pitchFamily="34" charset="-120"/>
              </a:rPr>
              <a:t>RUN rm .env</a:t>
            </a:r>
            <a:endParaRPr lang="en-US" sz="4400" dirty="0"/>
          </a:p>
          <a:p>
            <a:pPr algn="l" indent="0" marL="0">
              <a:lnSpc>
                <a:spcPts val="4840"/>
              </a:lnSpc>
              <a:buNone/>
            </a:pPr>
            <a:r>
              <a:rPr lang="en-US" sz="4400" b="1" dirty="0">
                <a:solidFill>
                  <a:srgbClr val="FFF6E9"/>
                </a:solidFill>
                <a:latin typeface="IBM Plex Sans" pitchFamily="34" charset="0"/>
                <a:ea typeface="IBM Plex Sans" pitchFamily="34" charset="-122"/>
                <a:cs typeface="IBM Plex Sans" pitchFamily="34" charset="-120"/>
              </a:rPr>
              <a:t>işe yaramaz.</a:t>
            </a:r>
            <a:endParaRPr lang="en-US" sz="4400" dirty="0"/>
          </a:p>
        </p:txBody>
      </p:sp>
      <p:sp>
        <p:nvSpPr>
          <p:cNvPr id="4" name="Text 2"/>
          <p:cNvSpPr/>
          <p:nvPr/>
        </p:nvSpPr>
        <p:spPr>
          <a:xfrm>
            <a:off x="812800" y="3503960"/>
            <a:ext cx="9156700" cy="68828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FFE3C2"/>
                </a:solidFill>
                <a:latin typeface="IBM Plex Sans" pitchFamily="34" charset="0"/>
                <a:ea typeface="IBM Plex Sans" pitchFamily="34" charset="-122"/>
                <a:cs typeface="IBM Plex Sans" pitchFamily="34" charset="-120"/>
              </a:rPr>
              <a:t>Dosya, COPY'nin oluşturduğu alt katmanda durmaya devam eder. Image'ı çekebilen herkes docker save ile çıkarabilir. Gizli bilgi image'a hiç girmemeli.</a:t>
            </a:r>
            <a:endParaRPr lang="en-US" sz="1800" dirty="0"/>
          </a:p>
        </p:txBody>
      </p:sp>
      <p:sp>
        <p:nvSpPr>
          <p:cNvPr id="5" name="Shape 3"/>
          <p:cNvSpPr/>
          <p:nvPr/>
        </p:nvSpPr>
        <p:spPr>
          <a:xfrm>
            <a:off x="812800" y="4420840"/>
            <a:ext cx="6985000" cy="883841"/>
          </a:xfrm>
          <a:prstGeom prst="roundRect">
            <a:avLst>
              <a:gd name="adj" fmla="val 11495"/>
            </a:avLst>
          </a:prstGeom>
          <a:solidFill>
            <a:srgbClr val="2A1D0F"/>
          </a:solidFill>
          <a:ln/>
        </p:spPr>
      </p:sp>
      <p:sp>
        <p:nvSpPr>
          <p:cNvPr id="6" name="Text 4"/>
          <p:cNvSpPr/>
          <p:nvPr/>
        </p:nvSpPr>
        <p:spPr>
          <a:xfrm>
            <a:off x="1066800" y="4598640"/>
            <a:ext cx="6671310"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F5E6D3"/>
                </a:solidFill>
                <a:latin typeface="JetBrains Mono" pitchFamily="34" charset="0"/>
                <a:ea typeface="JetBrains Mono" pitchFamily="34" charset="-122"/>
                <a:cs typeface="JetBrains Mono" pitchFamily="34" charset="-120"/>
              </a:rPr>
              <a:t>docker run --rm ignore-demo:yok cat /app/.env</a:t>
            </a:r>
            <a:endParaRPr lang="en-US" sz="1300" dirty="0"/>
          </a:p>
          <a:p>
            <a:pPr algn="l" indent="0" marL="0">
              <a:lnSpc>
                <a:spcPts val="2080"/>
              </a:lnSpc>
              <a:buNone/>
            </a:pPr>
            <a:r>
              <a:rPr lang="en-US" sz="1300" dirty="0">
                <a:solidFill>
                  <a:srgbClr val="FFB86B"/>
                </a:solidFill>
                <a:latin typeface="JetBrains Mono" pitchFamily="34" charset="0"/>
                <a:ea typeface="JetBrains Mono" pitchFamily="34" charset="-122"/>
                <a:cs typeface="JetBrains Mono" pitchFamily="34" charset="-120"/>
              </a:rPr>
              <a:t>DB_SIFRE=CokGizliSifre123</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04 · 30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.dockerignore olmadan ve olarak build</a:t>
            </a:r>
            <a:endParaRPr lang="en-US" sz="3200" dirty="0"/>
          </a:p>
        </p:txBody>
      </p:sp>
      <p:sp>
        <p:nvSpPr>
          <p:cNvPr id="4" name="Text 2"/>
          <p:cNvSpPr/>
          <p:nvPr/>
        </p:nvSpPr>
        <p:spPr>
          <a:xfrm>
            <a:off x="812800" y="2001441"/>
            <a:ext cx="52062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206238" cy="140330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200 MB'lık dosya üretin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Ignore'suz build: context boyutu</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Image içinden .env'i okuyun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.dockerignore.hazir → .dockerignore</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Tekrar build, karşılaştırma tablosu</a:t>
            </a:r>
            <a:endParaRPr lang="en-US" sz="1400" dirty="0"/>
          </a:p>
        </p:txBody>
      </p:sp>
      <p:sp>
        <p:nvSpPr>
          <p:cNvPr id="6" name="Shape 4"/>
          <p:cNvSpPr/>
          <p:nvPr/>
        </p:nvSpPr>
        <p:spPr>
          <a:xfrm>
            <a:off x="6172200" y="2001441"/>
            <a:ext cx="5207000" cy="2113211"/>
          </a:xfrm>
          <a:prstGeom prst="roundRect">
            <a:avLst>
              <a:gd name="adj" fmla="val 4808"/>
            </a:avLst>
          </a:prstGeom>
          <a:solidFill>
            <a:srgbClr val="2A1D0F"/>
          </a:solidFill>
          <a:ln/>
        </p:spPr>
      </p:sp>
      <p:sp>
        <p:nvSpPr>
          <p:cNvPr id="7" name="Text 5"/>
          <p:cNvSpPr/>
          <p:nvPr/>
        </p:nvSpPr>
        <p:spPr>
          <a:xfrm>
            <a:off x="6426200" y="2204641"/>
            <a:ext cx="4839970"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ornekler/04-dockerignore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--rm -v "${PWD}:/w" alpine:3.20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dd if=/dev/zero of=/w/buyuk.bin bs=1M count=200</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--progress=plain -t ignore-demo:yok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--rm ignore-demo:yok cat /app/.env</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cp .dockerignore.hazir .dockerignore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--progress=plain -t ignore-demo:var .</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labs/04-dockerignore.md · PowerShell komutları dokümanda ayrıca verildi</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5 · MULTI-STAGE BUILD</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Derlemek için SDK gerekir, çalıştırmak için gerekmez</a:t>
            </a:r>
            <a:endParaRPr lang="en-US" sz="3200" dirty="0"/>
          </a:p>
        </p:txBody>
      </p:sp>
      <p:sp>
        <p:nvSpPr>
          <p:cNvPr id="4" name="Shape 2"/>
          <p:cNvSpPr/>
          <p:nvPr/>
        </p:nvSpPr>
        <p:spPr>
          <a:xfrm>
            <a:off x="812800" y="2001441"/>
            <a:ext cx="4302770" cy="1728391"/>
          </a:xfrm>
          <a:prstGeom prst="roundRect">
            <a:avLst>
              <a:gd name="adj" fmla="val 5878"/>
            </a:avLst>
          </a:prstGeom>
          <a:solidFill>
            <a:srgbClr val="D6E4FA"/>
          </a:solidFill>
          <a:ln/>
        </p:spPr>
      </p:sp>
      <p:sp>
        <p:nvSpPr>
          <p:cNvPr id="5" name="Text 3"/>
          <p:cNvSpPr/>
          <p:nvPr/>
        </p:nvSpPr>
        <p:spPr>
          <a:xfrm>
            <a:off x="1066800" y="2204641"/>
            <a:ext cx="39086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3ED"/>
                </a:solidFill>
                <a:latin typeface="IBM Plex Sans" pitchFamily="34" charset="0"/>
                <a:ea typeface="IBM Plex Sans" pitchFamily="34" charset="-122"/>
                <a:cs typeface="IBM Plex Sans" pitchFamily="34" charset="-120"/>
              </a:rPr>
              <a:t>AŞAMA 1 · build</a:t>
            </a:r>
            <a:endParaRPr lang="en-US" sz="1200" dirty="0"/>
          </a:p>
        </p:txBody>
      </p:sp>
      <p:sp>
        <p:nvSpPr>
          <p:cNvPr id="6" name="Text 4"/>
          <p:cNvSpPr/>
          <p:nvPr/>
        </p:nvSpPr>
        <p:spPr>
          <a:xfrm>
            <a:off x="1066800" y="2494161"/>
            <a:ext cx="39086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B2D"/>
                </a:solidFill>
                <a:latin typeface="JetBrains Mono" pitchFamily="34" charset="0"/>
                <a:ea typeface="JetBrains Mono" pitchFamily="34" charset="-122"/>
                <a:cs typeface="JetBrains Mono" pitchFamily="34" charset="-120"/>
              </a:rPr>
              <a:t>golang:1.23-alpine</a:t>
            </a:r>
            <a:endParaRPr lang="en-US" sz="1200" dirty="0"/>
          </a:p>
        </p:txBody>
      </p:sp>
      <p:sp>
        <p:nvSpPr>
          <p:cNvPr id="7" name="Text 5"/>
          <p:cNvSpPr/>
          <p:nvPr/>
        </p:nvSpPr>
        <p:spPr>
          <a:xfrm>
            <a:off x="1066800" y="2783681"/>
            <a:ext cx="3908613" cy="768350"/>
          </a:xfrm>
          <a:prstGeom prst="rect">
            <a:avLst/>
          </a:prstGeom>
          <a:noFill/>
          <a:ln/>
        </p:spPr>
        <p:txBody>
          <a:bodyPr wrap="square" lIns="0" tIns="0" rIns="0" bIns="0" rtlCol="0" anchor="t">
            <a:normAutofit/>
          </a:bodyPr>
          <a:lstStyle/>
          <a:p>
            <a:pPr algn="l" marL="198120" indent="-168656">
              <a:lnSpc>
                <a:spcPts val="1950"/>
              </a:lnSpc>
              <a:buSzPct val="100000"/>
              <a:buChar char="•"/>
            </a:pPr>
            <a:r>
              <a:rPr lang="en-US" sz="1300" dirty="0">
                <a:solidFill>
                  <a:srgbClr val="44536A"/>
                </a:solidFill>
                <a:latin typeface="IBM Plex Sans" pitchFamily="34" charset="0"/>
                <a:ea typeface="IBM Plex Sans" pitchFamily="34" charset="-122"/>
                <a:cs typeface="IBM Plex Sans" pitchFamily="34" charset="-120"/>
              </a:rPr>
              <a:t>derleyici ve araçlar</a:t>
            </a:r>
            <a:endParaRPr lang="en-US" sz="1300" dirty="0"/>
          </a:p>
          <a:p>
            <a:pPr algn="l" marL="198120" indent="-168656">
              <a:lnSpc>
                <a:spcPts val="1950"/>
              </a:lnSpc>
              <a:buSzPct val="100000"/>
              <a:buChar char="•"/>
            </a:pPr>
            <a:r>
              <a:rPr lang="en-US" sz="1300" dirty="0">
                <a:solidFill>
                  <a:srgbClr val="44536A"/>
                </a:solidFill>
                <a:latin typeface="IBM Plex Sans" pitchFamily="34" charset="0"/>
                <a:ea typeface="IBM Plex Sans" pitchFamily="34" charset="-122"/>
                <a:cs typeface="IBM Plex Sans" pitchFamily="34" charset="-120"/>
              </a:rPr>
              <a:t>kaynak kod, modül cache</a:t>
            </a:r>
            <a:endParaRPr lang="en-US" sz="1300" dirty="0"/>
          </a:p>
          <a:p>
            <a:pPr algn="l" marL="198120" indent="-168656">
              <a:lnSpc>
                <a:spcPts val="1950"/>
              </a:lnSpc>
              <a:buSzPct val="100000"/>
              <a:buChar char="•"/>
            </a:pPr>
            <a:r>
              <a:rPr lang="en-US" sz="1300" dirty="0">
                <a:solidFill>
                  <a:srgbClr val="44536A"/>
                </a:solidFill>
                <a:latin typeface="IBM Plex Sans" pitchFamily="34" charset="0"/>
                <a:ea typeface="IBM Plex Sans" pitchFamily="34" charset="-122"/>
                <a:cs typeface="IBM Plex Sans" pitchFamily="34" charset="-120"/>
              </a:rPr>
              <a:t>çıktı: tek bir binary</a:t>
            </a:r>
            <a:endParaRPr lang="en-US" sz="1300" dirty="0"/>
          </a:p>
        </p:txBody>
      </p:sp>
      <p:sp>
        <p:nvSpPr>
          <p:cNvPr id="8" name="Text 6"/>
          <p:cNvSpPr/>
          <p:nvPr/>
        </p:nvSpPr>
        <p:spPr>
          <a:xfrm>
            <a:off x="5318770" y="2555776"/>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3ED"/>
                </a:solidFill>
                <a:latin typeface="JetBrains Mono" pitchFamily="34" charset="0"/>
                <a:ea typeface="JetBrains Mono" pitchFamily="34" charset="-122"/>
                <a:cs typeface="JetBrains Mono" pitchFamily="34" charset="-120"/>
              </a:rPr>
              <a:t>COPY --from=build</a:t>
            </a:r>
            <a:endParaRPr lang="en-US" sz="1200" dirty="0"/>
          </a:p>
        </p:txBody>
      </p:sp>
      <p:pic>
        <p:nvPicPr>
          <p:cNvPr id="9" name="Image 0" descr="arrow-right">    </p:cNvPr>
          <p:cNvPicPr>
            <a:picLocks noChangeAspect="1"/>
          </p:cNvPicPr>
          <p:nvPr/>
        </p:nvPicPr>
        <p:blipFill>
          <a:blip r:embed="rId1"/>
          <a:srcRect l="0" r="0" t="0" b="0"/>
          <a:stretch/>
        </p:blipFill>
        <p:spPr>
          <a:xfrm>
            <a:off x="5588000" y="2819896"/>
            <a:ext cx="1016000" cy="355600"/>
          </a:xfrm>
          <a:prstGeom prst="rect">
            <a:avLst/>
          </a:prstGeom>
        </p:spPr>
      </p:pic>
      <p:sp>
        <p:nvSpPr>
          <p:cNvPr id="10" name="Shape 7"/>
          <p:cNvSpPr/>
          <p:nvPr/>
        </p:nvSpPr>
        <p:spPr>
          <a:xfrm>
            <a:off x="7076430" y="2001441"/>
            <a:ext cx="4302770" cy="1728391"/>
          </a:xfrm>
          <a:prstGeom prst="roundRect">
            <a:avLst>
              <a:gd name="adj" fmla="val 5878"/>
            </a:avLst>
          </a:prstGeom>
          <a:solidFill>
            <a:srgbClr val="0F1B2D"/>
          </a:solidFill>
          <a:ln/>
        </p:spPr>
      </p:sp>
      <p:sp>
        <p:nvSpPr>
          <p:cNvPr id="11" name="Text 8"/>
          <p:cNvSpPr/>
          <p:nvPr/>
        </p:nvSpPr>
        <p:spPr>
          <a:xfrm>
            <a:off x="7330430" y="2204641"/>
            <a:ext cx="39086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CC4FF"/>
                </a:solidFill>
                <a:latin typeface="IBM Plex Sans" pitchFamily="34" charset="0"/>
                <a:ea typeface="IBM Plex Sans" pitchFamily="34" charset="-122"/>
                <a:cs typeface="IBM Plex Sans" pitchFamily="34" charset="-120"/>
              </a:rPr>
              <a:t>AŞAMA 2 · runtime</a:t>
            </a:r>
            <a:endParaRPr lang="en-US" sz="1200" dirty="0"/>
          </a:p>
        </p:txBody>
      </p:sp>
      <p:sp>
        <p:nvSpPr>
          <p:cNvPr id="12" name="Text 9"/>
          <p:cNvSpPr/>
          <p:nvPr/>
        </p:nvSpPr>
        <p:spPr>
          <a:xfrm>
            <a:off x="7330430" y="2494161"/>
            <a:ext cx="39086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8"/>
                </a:solidFill>
                <a:latin typeface="JetBrains Mono" pitchFamily="34" charset="0"/>
                <a:ea typeface="JetBrains Mono" pitchFamily="34" charset="-122"/>
                <a:cs typeface="JetBrains Mono" pitchFamily="34" charset="-120"/>
              </a:rPr>
              <a:t>distroless/static</a:t>
            </a:r>
            <a:endParaRPr lang="en-US" sz="1200" dirty="0"/>
          </a:p>
        </p:txBody>
      </p:sp>
      <p:sp>
        <p:nvSpPr>
          <p:cNvPr id="13" name="Text 10"/>
          <p:cNvSpPr/>
          <p:nvPr/>
        </p:nvSpPr>
        <p:spPr>
          <a:xfrm>
            <a:off x="7330430" y="2783681"/>
            <a:ext cx="3908613" cy="768350"/>
          </a:xfrm>
          <a:prstGeom prst="rect">
            <a:avLst/>
          </a:prstGeom>
          <a:noFill/>
          <a:ln/>
        </p:spPr>
        <p:txBody>
          <a:bodyPr wrap="square" lIns="0" tIns="0" rIns="0" bIns="0" rtlCol="0" anchor="t">
            <a:normAutofit/>
          </a:bodyPr>
          <a:lstStyle/>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sadece binary</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shell yok, paket yöneticisi yok</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root olmayan kullanıcı</a:t>
            </a:r>
            <a:endParaRPr lang="en-US" sz="1300" dirty="0"/>
          </a:p>
        </p:txBody>
      </p:sp>
      <p:sp>
        <p:nvSpPr>
          <p:cNvPr id="14" name="Text 11"/>
          <p:cNvSpPr/>
          <p:nvPr/>
        </p:nvSpPr>
        <p:spPr>
          <a:xfrm>
            <a:off x="812800" y="398383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4536A"/>
                </a:solidFill>
                <a:latin typeface="IBM Plex Sans" pitchFamily="34" charset="0"/>
                <a:ea typeface="IBM Plex Sans" pitchFamily="34" charset="-122"/>
                <a:cs typeface="IBM Plex Sans" pitchFamily="34" charset="-120"/>
              </a:rPr>
              <a:t>Sadece </a:t>
            </a:r>
            <a:r>
              <a:rPr lang="en-US" sz="1500" b="1" dirty="0">
                <a:solidFill>
                  <a:srgbClr val="44536A"/>
                </a:solidFill>
                <a:latin typeface="IBM Plex Sans" pitchFamily="34" charset="0"/>
                <a:ea typeface="IBM Plex Sans" pitchFamily="34" charset="-122"/>
                <a:cs typeface="IBM Plex Sans" pitchFamily="34" charset="-120"/>
              </a:rPr>
              <a:t>son aşama</a:t>
            </a:r>
            <a:r>
              <a:rPr lang="en-US" sz="1500" dirty="0">
                <a:solidFill>
                  <a:srgbClr val="44536A"/>
                </a:solidFill>
                <a:latin typeface="IBM Plex Sans" pitchFamily="34" charset="0"/>
                <a:ea typeface="IBM Plex Sans" pitchFamily="34" charset="-122"/>
                <a:cs typeface="IBM Plex Sans" pitchFamily="34" charset="-120"/>
              </a:rPr>
              <a:t> image olarak kaydedilir. Önceki aşamalar build cache'te kalır, dağıtılmaz.</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5 · DOCKERFILE</a:t>
            </a:r>
            <a:endParaRPr lang="en-US" sz="1200" dirty="0"/>
          </a:p>
        </p:txBody>
      </p:sp>
      <p:sp>
        <p:nvSpPr>
          <p:cNvPr id="3" name="Text 1"/>
          <p:cNvSpPr/>
          <p:nvPr/>
        </p:nvSpPr>
        <p:spPr>
          <a:xfrm>
            <a:off x="812800" y="1229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İki FROM, bir COPY --from</a:t>
            </a:r>
            <a:endParaRPr lang="en-US" sz="3200" dirty="0"/>
          </a:p>
        </p:txBody>
      </p:sp>
      <p:sp>
        <p:nvSpPr>
          <p:cNvPr id="4" name="Shape 2"/>
          <p:cNvSpPr/>
          <p:nvPr/>
        </p:nvSpPr>
        <p:spPr>
          <a:xfrm>
            <a:off x="812800" y="1899841"/>
            <a:ext cx="6604000" cy="3556000"/>
          </a:xfrm>
          <a:prstGeom prst="roundRect">
            <a:avLst>
              <a:gd name="adj" fmla="val 2857"/>
            </a:avLst>
          </a:prstGeom>
          <a:solidFill>
            <a:srgbClr val="0F1B2D"/>
          </a:solidFill>
          <a:ln/>
        </p:spPr>
      </p:sp>
      <p:sp>
        <p:nvSpPr>
          <p:cNvPr id="5" name="Text 3"/>
          <p:cNvSpPr/>
          <p:nvPr/>
        </p:nvSpPr>
        <p:spPr>
          <a:xfrm>
            <a:off x="1066800" y="2077641"/>
            <a:ext cx="6278880" cy="3225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A9BB3"/>
                </a:solidFill>
                <a:latin typeface="JetBrains Mono" pitchFamily="34" charset="0"/>
                <a:ea typeface="JetBrains Mono" pitchFamily="34" charset="-122"/>
                <a:cs typeface="JetBrains Mono" pitchFamily="34" charset="-120"/>
              </a:rPr>
              <a:t># ---------- Aşama 1: build ----------</a:t>
            </a:r>
            <a:endParaRPr lang="en-US" sz="1200" dirty="0"/>
          </a:p>
          <a:p>
            <a:pPr algn="l" indent="0" marL="0">
              <a:lnSpc>
                <a:spcPts val="1800"/>
              </a:lnSpc>
              <a:buNone/>
            </a:pPr>
            <a:r>
              <a:rPr lang="en-US" sz="1200" dirty="0">
                <a:solidFill>
                  <a:srgbClr val="7CC4FF"/>
                </a:solidFill>
                <a:latin typeface="JetBrains Mono" pitchFamily="34" charset="0"/>
                <a:ea typeface="JetBrains Mono" pitchFamily="34" charset="-122"/>
                <a:cs typeface="JetBrains Mono" pitchFamily="34" charset="-120"/>
              </a:rPr>
              <a:t>FROM golang:1.23-alpine AS build</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WORKDIR /src</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go.mod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go mod download</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CGO_ENABLED=0 GOOS=linux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go build -ldflags="-s -w" -o /out/merhaba .</a:t>
            </a:r>
            <a:endParaRPr lang="en-US" sz="1200" dirty="0"/>
          </a:p>
          <a:p>
            <a:pPr algn="l" indent="0" marL="0">
              <a:lnSpc>
                <a:spcPts val="1800"/>
              </a:lnSpc>
              <a:buNone/>
            </a:pPr>
            <a:endParaRPr lang="en-US" sz="1200" dirty="0"/>
          </a:p>
          <a:p>
            <a:pPr algn="l" indent="0" marL="0">
              <a:lnSpc>
                <a:spcPts val="1800"/>
              </a:lnSpc>
              <a:buNone/>
            </a:pPr>
            <a:r>
              <a:rPr lang="en-US" sz="1200" dirty="0">
                <a:solidFill>
                  <a:srgbClr val="8A9BB3"/>
                </a:solidFill>
                <a:latin typeface="JetBrains Mono" pitchFamily="34" charset="0"/>
                <a:ea typeface="JetBrains Mono" pitchFamily="34" charset="-122"/>
                <a:cs typeface="JetBrains Mono" pitchFamily="34" charset="-120"/>
              </a:rPr>
              <a:t># ---------- Aşama 2: runtime ----------</a:t>
            </a:r>
            <a:endParaRPr lang="en-US" sz="1200" dirty="0"/>
          </a:p>
          <a:p>
            <a:pPr algn="l" indent="0" marL="0">
              <a:lnSpc>
                <a:spcPts val="1800"/>
              </a:lnSpc>
              <a:buNone/>
            </a:pPr>
            <a:r>
              <a:rPr lang="en-US" sz="1200" dirty="0">
                <a:solidFill>
                  <a:srgbClr val="7CC4FF"/>
                </a:solidFill>
                <a:latin typeface="JetBrains Mono" pitchFamily="34" charset="0"/>
                <a:ea typeface="JetBrains Mono" pitchFamily="34" charset="-122"/>
                <a:cs typeface="JetBrains Mono" pitchFamily="34" charset="-120"/>
              </a:rPr>
              <a:t>FROM gcr.io/distroless/static-debian12:nonroot</a:t>
            </a:r>
            <a:endParaRPr lang="en-US" sz="1200" dirty="0"/>
          </a:p>
          <a:p>
            <a:pPr algn="l" indent="0" marL="0">
              <a:lnSpc>
                <a:spcPts val="1800"/>
              </a:lnSpc>
              <a:buNone/>
            </a:pPr>
            <a:r>
              <a:rPr lang="en-US" sz="1200" dirty="0">
                <a:solidFill>
                  <a:srgbClr val="FFB86B"/>
                </a:solidFill>
                <a:latin typeface="JetBrains Mono" pitchFamily="34" charset="0"/>
                <a:ea typeface="JetBrains Mono" pitchFamily="34" charset="-122"/>
                <a:cs typeface="JetBrains Mono" pitchFamily="34" charset="-120"/>
              </a:rPr>
              <a:t>COPY --from=build /out/merhaba /merhaba</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USER nonroot:nonroot</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ENTRYPOINT ["/merhaba"]</a:t>
            </a:r>
            <a:endParaRPr lang="en-US" sz="1200" dirty="0"/>
          </a:p>
        </p:txBody>
      </p:sp>
      <p:sp>
        <p:nvSpPr>
          <p:cNvPr id="6" name="Text 4"/>
          <p:cNvSpPr/>
          <p:nvPr/>
        </p:nvSpPr>
        <p:spPr>
          <a:xfrm>
            <a:off x="7670800" y="1899841"/>
            <a:ext cx="3819652" cy="26476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4536A"/>
                </a:solidFill>
                <a:latin typeface="IBM Plex Sans" pitchFamily="34" charset="0"/>
                <a:ea typeface="IBM Plex Sans" pitchFamily="34" charset="-122"/>
                <a:cs typeface="IBM Plex Sans" pitchFamily="34" charset="-120"/>
              </a:rPr>
              <a:t>AS build</a:t>
            </a:r>
            <a:r>
              <a:rPr lang="en-US" sz="1300" dirty="0">
                <a:solidFill>
                  <a:srgbClr val="44536A"/>
                </a:solidFill>
                <a:latin typeface="IBM Plex Sans" pitchFamily="34" charset="0"/>
                <a:ea typeface="IBM Plex Sans" pitchFamily="34" charset="-122"/>
                <a:cs typeface="IBM Plex Sans" pitchFamily="34" charset="-120"/>
              </a:rPr>
              <a:t> — aşamaya isim</a:t>
            </a:r>
            <a:endParaRPr lang="en-US" sz="1300" dirty="0"/>
          </a:p>
        </p:txBody>
      </p:sp>
      <p:sp>
        <p:nvSpPr>
          <p:cNvPr id="7" name="Text 5"/>
          <p:cNvSpPr/>
          <p:nvPr/>
        </p:nvSpPr>
        <p:spPr>
          <a:xfrm>
            <a:off x="7670800" y="2266206"/>
            <a:ext cx="3819652" cy="26476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4536A"/>
                </a:solidFill>
                <a:latin typeface="IBM Plex Sans" pitchFamily="34" charset="0"/>
                <a:ea typeface="IBM Plex Sans" pitchFamily="34" charset="-122"/>
                <a:cs typeface="IBM Plex Sans" pitchFamily="34" charset="-120"/>
              </a:rPr>
              <a:t>go mod download</a:t>
            </a:r>
            <a:r>
              <a:rPr lang="en-US" sz="1300" dirty="0">
                <a:solidFill>
                  <a:srgbClr val="44536A"/>
                </a:solidFill>
                <a:latin typeface="IBM Plex Sans" pitchFamily="34" charset="0"/>
                <a:ea typeface="IBM Plex Sans" pitchFamily="34" charset="-122"/>
                <a:cs typeface="IBM Plex Sans" pitchFamily="34" charset="-120"/>
              </a:rPr>
              <a:t> ayrı katman → cache</a:t>
            </a:r>
            <a:endParaRPr lang="en-US" sz="1300" dirty="0"/>
          </a:p>
        </p:txBody>
      </p:sp>
      <p:sp>
        <p:nvSpPr>
          <p:cNvPr id="8" name="Text 6"/>
          <p:cNvSpPr/>
          <p:nvPr/>
        </p:nvSpPr>
        <p:spPr>
          <a:xfrm>
            <a:off x="7670800" y="2632571"/>
            <a:ext cx="3819652" cy="26476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4536A"/>
                </a:solidFill>
                <a:latin typeface="IBM Plex Sans" pitchFamily="34" charset="0"/>
                <a:ea typeface="IBM Plex Sans" pitchFamily="34" charset="-122"/>
                <a:cs typeface="IBM Plex Sans" pitchFamily="34" charset="-120"/>
              </a:rPr>
              <a:t>CGO_ENABLED=0</a:t>
            </a:r>
            <a:r>
              <a:rPr lang="en-US" sz="1300" dirty="0">
                <a:solidFill>
                  <a:srgbClr val="44536A"/>
                </a:solidFill>
                <a:latin typeface="IBM Plex Sans" pitchFamily="34" charset="0"/>
                <a:ea typeface="IBM Plex Sans" pitchFamily="34" charset="-122"/>
                <a:cs typeface="IBM Plex Sans" pitchFamily="34" charset="-120"/>
              </a:rPr>
              <a:t> — statik binary, libc gerekmez</a:t>
            </a:r>
            <a:endParaRPr lang="en-US" sz="1300" dirty="0"/>
          </a:p>
        </p:txBody>
      </p:sp>
      <p:sp>
        <p:nvSpPr>
          <p:cNvPr id="9" name="Text 7"/>
          <p:cNvSpPr/>
          <p:nvPr/>
        </p:nvSpPr>
        <p:spPr>
          <a:xfrm>
            <a:off x="7670800" y="2998936"/>
            <a:ext cx="3819652" cy="26476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4536A"/>
                </a:solidFill>
                <a:latin typeface="IBM Plex Sans" pitchFamily="34" charset="0"/>
                <a:ea typeface="IBM Plex Sans" pitchFamily="34" charset="-122"/>
                <a:cs typeface="IBM Plex Sans" pitchFamily="34" charset="-120"/>
              </a:rPr>
              <a:t>-s -w</a:t>
            </a:r>
            <a:r>
              <a:rPr lang="en-US" sz="1300" dirty="0">
                <a:solidFill>
                  <a:srgbClr val="44536A"/>
                </a:solidFill>
                <a:latin typeface="IBM Plex Sans" pitchFamily="34" charset="0"/>
                <a:ea typeface="IBM Plex Sans" pitchFamily="34" charset="-122"/>
                <a:cs typeface="IBM Plex Sans" pitchFamily="34" charset="-120"/>
              </a:rPr>
              <a:t> — debug sembolleri çıkar</a:t>
            </a:r>
            <a:endParaRPr lang="en-US" sz="1300" dirty="0"/>
          </a:p>
        </p:txBody>
      </p:sp>
      <p:sp>
        <p:nvSpPr>
          <p:cNvPr id="10" name="Text 8"/>
          <p:cNvSpPr/>
          <p:nvPr/>
        </p:nvSpPr>
        <p:spPr>
          <a:xfrm>
            <a:off x="7670800" y="3365302"/>
            <a:ext cx="3819652" cy="26476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4536A"/>
                </a:solidFill>
                <a:latin typeface="IBM Plex Sans" pitchFamily="34" charset="0"/>
                <a:ea typeface="IBM Plex Sans" pitchFamily="34" charset="-122"/>
                <a:cs typeface="IBM Plex Sans" pitchFamily="34" charset="-120"/>
              </a:rPr>
              <a:t>--target build</a:t>
            </a:r>
            <a:r>
              <a:rPr lang="en-US" sz="1300" dirty="0">
                <a:solidFill>
                  <a:srgbClr val="44536A"/>
                </a:solidFill>
                <a:latin typeface="IBM Plex Sans" pitchFamily="34" charset="0"/>
                <a:ea typeface="IBM Plex Sans" pitchFamily="34" charset="-122"/>
                <a:cs typeface="IBM Plex Sans" pitchFamily="34" charset="-120"/>
              </a:rPr>
              <a:t> ile ara aşamayı build edebilirsiniz</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CC4FF"/>
                </a:solidFill>
                <a:latin typeface="IBM Plex Sans" pitchFamily="34" charset="0"/>
                <a:ea typeface="IBM Plex Sans" pitchFamily="34" charset="-122"/>
                <a:cs typeface="IBM Plex Sans" pitchFamily="34" charset="-120"/>
              </a:rPr>
              <a:t>BÖLÜM 5 · SONUÇ</a:t>
            </a:r>
            <a:endParaRPr lang="en-US" sz="1200" dirty="0"/>
          </a:p>
        </p:txBody>
      </p:sp>
      <p:sp>
        <p:nvSpPr>
          <p:cNvPr id="3" name="Text 1"/>
          <p:cNvSpPr/>
          <p:nvPr/>
        </p:nvSpPr>
        <p:spPr>
          <a:xfrm>
            <a:off x="812800" y="1330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4F6F8"/>
                </a:solidFill>
                <a:latin typeface="IBM Plex Sans" pitchFamily="34" charset="0"/>
                <a:ea typeface="IBM Plex Sans" pitchFamily="34" charset="-122"/>
                <a:cs typeface="IBM Plex Sans" pitchFamily="34" charset="-120"/>
              </a:rPr>
              <a:t>Aynı uygulama, iki image</a:t>
            </a:r>
            <a:endParaRPr lang="en-US" sz="3200" dirty="0"/>
          </a:p>
        </p:txBody>
      </p:sp>
      <p:sp>
        <p:nvSpPr>
          <p:cNvPr id="4" name="Shape 2"/>
          <p:cNvSpPr/>
          <p:nvPr/>
        </p:nvSpPr>
        <p:spPr>
          <a:xfrm>
            <a:off x="812800" y="2103041"/>
            <a:ext cx="5156200" cy="2012900"/>
          </a:xfrm>
          <a:prstGeom prst="roundRect">
            <a:avLst>
              <a:gd name="adj" fmla="val 5047"/>
            </a:avLst>
          </a:prstGeom>
          <a:solidFill>
            <a:srgbClr val="1B2C45"/>
          </a:solidFill>
          <a:ln/>
        </p:spPr>
      </p:sp>
      <p:sp>
        <p:nvSpPr>
          <p:cNvPr id="5" name="Text 3"/>
          <p:cNvSpPr/>
          <p:nvPr/>
        </p:nvSpPr>
        <p:spPr>
          <a:xfrm>
            <a:off x="1117600" y="2407841"/>
            <a:ext cx="468299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6D9"/>
                </a:solidFill>
                <a:latin typeface="JetBrains Mono" pitchFamily="34" charset="0"/>
                <a:ea typeface="JetBrains Mono" pitchFamily="34" charset="-122"/>
                <a:cs typeface="JetBrains Mono" pitchFamily="34" charset="-120"/>
              </a:rPr>
              <a:t>merhaba:tek</a:t>
            </a:r>
            <a:endParaRPr lang="en-US" sz="1300" dirty="0"/>
          </a:p>
        </p:txBody>
      </p:sp>
      <p:sp>
        <p:nvSpPr>
          <p:cNvPr id="6" name="Text 4"/>
          <p:cNvSpPr/>
          <p:nvPr/>
        </p:nvSpPr>
        <p:spPr>
          <a:xfrm>
            <a:off x="1117600" y="2715171"/>
            <a:ext cx="468299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B86B"/>
                </a:solidFill>
                <a:latin typeface="IBM Plex Sans" pitchFamily="34" charset="0"/>
                <a:ea typeface="IBM Plex Sans" pitchFamily="34" charset="-122"/>
                <a:cs typeface="IBM Plex Sans" pitchFamily="34" charset="-120"/>
              </a:rPr>
              <a:t>~850 MB</a:t>
            </a:r>
            <a:endParaRPr lang="en-US" sz="6000" dirty="0"/>
          </a:p>
        </p:txBody>
      </p:sp>
      <p:sp>
        <p:nvSpPr>
          <p:cNvPr id="7" name="Text 5"/>
          <p:cNvSpPr/>
          <p:nvPr/>
        </p:nvSpPr>
        <p:spPr>
          <a:xfrm>
            <a:off x="1117600" y="3553371"/>
            <a:ext cx="4682998"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C6D9"/>
                </a:solidFill>
                <a:latin typeface="IBM Plex Sans" pitchFamily="34" charset="0"/>
                <a:ea typeface="IBM Plex Sans" pitchFamily="34" charset="-122"/>
                <a:cs typeface="IBM Plex Sans" pitchFamily="34" charset="-120"/>
              </a:rPr>
              <a:t>Derleyici, git, shell, kaynak kod içinde</a:t>
            </a:r>
            <a:endParaRPr lang="en-US" sz="1400" dirty="0"/>
          </a:p>
        </p:txBody>
      </p:sp>
      <p:sp>
        <p:nvSpPr>
          <p:cNvPr id="8" name="Shape 6"/>
          <p:cNvSpPr/>
          <p:nvPr/>
        </p:nvSpPr>
        <p:spPr>
          <a:xfrm>
            <a:off x="6223000" y="2103041"/>
            <a:ext cx="5156200" cy="2012900"/>
          </a:xfrm>
          <a:prstGeom prst="roundRect">
            <a:avLst>
              <a:gd name="adj" fmla="val 5047"/>
            </a:avLst>
          </a:prstGeom>
          <a:solidFill>
            <a:srgbClr val="1B2C45"/>
          </a:solidFill>
          <a:ln/>
        </p:spPr>
      </p:sp>
      <p:sp>
        <p:nvSpPr>
          <p:cNvPr id="9" name="Text 7"/>
          <p:cNvSpPr/>
          <p:nvPr/>
        </p:nvSpPr>
        <p:spPr>
          <a:xfrm>
            <a:off x="6527800" y="2407841"/>
            <a:ext cx="468299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6D9"/>
                </a:solidFill>
                <a:latin typeface="JetBrains Mono" pitchFamily="34" charset="0"/>
                <a:ea typeface="JetBrains Mono" pitchFamily="34" charset="-122"/>
                <a:cs typeface="JetBrains Mono" pitchFamily="34" charset="-120"/>
              </a:rPr>
              <a:t>merhaba:multi</a:t>
            </a:r>
            <a:endParaRPr lang="en-US" sz="1300" dirty="0"/>
          </a:p>
        </p:txBody>
      </p:sp>
      <p:sp>
        <p:nvSpPr>
          <p:cNvPr id="10" name="Text 8"/>
          <p:cNvSpPr/>
          <p:nvPr/>
        </p:nvSpPr>
        <p:spPr>
          <a:xfrm>
            <a:off x="6527800" y="2715171"/>
            <a:ext cx="468299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7CC4FF"/>
                </a:solidFill>
                <a:latin typeface="IBM Plex Sans" pitchFamily="34" charset="0"/>
                <a:ea typeface="IBM Plex Sans" pitchFamily="34" charset="-122"/>
                <a:cs typeface="IBM Plex Sans" pitchFamily="34" charset="-120"/>
              </a:rPr>
              <a:t>~10 MB</a:t>
            </a:r>
            <a:endParaRPr lang="en-US" sz="6000" dirty="0"/>
          </a:p>
        </p:txBody>
      </p:sp>
      <p:sp>
        <p:nvSpPr>
          <p:cNvPr id="11" name="Text 9"/>
          <p:cNvSpPr/>
          <p:nvPr/>
        </p:nvSpPr>
        <p:spPr>
          <a:xfrm>
            <a:off x="6527800" y="3553371"/>
            <a:ext cx="4682998"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C6D9"/>
                </a:solidFill>
                <a:latin typeface="IBM Plex Sans" pitchFamily="34" charset="0"/>
                <a:ea typeface="IBM Plex Sans" pitchFamily="34" charset="-122"/>
                <a:cs typeface="IBM Plex Sans" pitchFamily="34" charset="-120"/>
              </a:rPr>
              <a:t>Sadece binary; docker exec sh bile çalışmaz</a:t>
            </a:r>
            <a:endParaRPr lang="en-US" sz="1400" dirty="0"/>
          </a:p>
        </p:txBody>
      </p:sp>
      <p:sp>
        <p:nvSpPr>
          <p:cNvPr id="12" name="Text 10"/>
          <p:cNvSpPr/>
          <p:nvPr/>
        </p:nvSpPr>
        <p:spPr>
          <a:xfrm>
            <a:off x="812800" y="44207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8C6D9"/>
                </a:solidFill>
                <a:latin typeface="IBM Plex Sans" pitchFamily="34" charset="0"/>
                <a:ea typeface="IBM Plex Sans" pitchFamily="34" charset="-122"/>
                <a:cs typeface="IBM Plex Sans" pitchFamily="34" charset="-120"/>
              </a:rPr>
              <a:t>Kazanç: daha hızlı push/pull ve pod açılışı, daha az depolama, çok daha az CVE.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5 · HER DILDE AYNI DESEN</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Bağımlılık, kaynak, derleme, sadece çıktı</a:t>
            </a:r>
            <a:endParaRPr lang="en-US" sz="3200" dirty="0"/>
          </a:p>
        </p:txBody>
      </p:sp>
      <p:sp>
        <p:nvSpPr>
          <p:cNvPr id="4" name="Text 2"/>
          <p:cNvSpPr/>
          <p:nvPr/>
        </p:nvSpPr>
        <p:spPr>
          <a:xfrm>
            <a:off x="812800" y="2001441"/>
            <a:ext cx="3523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Node / React → nginx</a:t>
            </a:r>
            <a:endParaRPr lang="en-US" sz="1600" dirty="0"/>
          </a:p>
        </p:txBody>
      </p:sp>
      <p:sp>
        <p:nvSpPr>
          <p:cNvPr id="5" name="Shape 3"/>
          <p:cNvSpPr/>
          <p:nvPr/>
        </p:nvSpPr>
        <p:spPr>
          <a:xfrm>
            <a:off x="812800" y="2321471"/>
            <a:ext cx="3420517" cy="2819400"/>
          </a:xfrm>
          <a:prstGeom prst="roundRect">
            <a:avLst>
              <a:gd name="adj" fmla="val 2703"/>
            </a:avLst>
          </a:prstGeom>
          <a:solidFill>
            <a:srgbClr val="0F1B2D"/>
          </a:solidFill>
          <a:ln/>
        </p:spPr>
      </p:sp>
      <p:sp>
        <p:nvSpPr>
          <p:cNvPr id="6" name="Text 4"/>
          <p:cNvSpPr/>
          <p:nvPr/>
        </p:nvSpPr>
        <p:spPr>
          <a:xfrm>
            <a:off x="990600" y="2473871"/>
            <a:ext cx="3156864"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FROM node:20-alpine</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AS build</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package*.json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npm ci</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npm run build</a:t>
            </a:r>
            <a:endParaRPr lang="en-US" sz="1200" dirty="0"/>
          </a:p>
          <a:p>
            <a:pPr algn="l" indent="0" marL="0">
              <a:lnSpc>
                <a:spcPts val="1800"/>
              </a:lnSpc>
              <a:buNone/>
            </a:pP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FROM nginx:1.27-alpine</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--from=build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/app/dist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/usr/share/nginx/html</a:t>
            </a:r>
            <a:endParaRPr lang="en-US" sz="1200" dirty="0"/>
          </a:p>
        </p:txBody>
      </p:sp>
      <p:sp>
        <p:nvSpPr>
          <p:cNvPr id="7" name="Text 5"/>
          <p:cNvSpPr/>
          <p:nvPr/>
        </p:nvSpPr>
        <p:spPr>
          <a:xfrm>
            <a:off x="4385717" y="2001441"/>
            <a:ext cx="3523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Java / Maven → JRE</a:t>
            </a:r>
            <a:endParaRPr lang="en-US" sz="1600" dirty="0"/>
          </a:p>
        </p:txBody>
      </p:sp>
      <p:sp>
        <p:nvSpPr>
          <p:cNvPr id="8" name="Shape 6"/>
          <p:cNvSpPr/>
          <p:nvPr/>
        </p:nvSpPr>
        <p:spPr>
          <a:xfrm>
            <a:off x="4385717" y="2321471"/>
            <a:ext cx="3420517" cy="2819400"/>
          </a:xfrm>
          <a:prstGeom prst="roundRect">
            <a:avLst>
              <a:gd name="adj" fmla="val 2703"/>
            </a:avLst>
          </a:prstGeom>
          <a:solidFill>
            <a:srgbClr val="0F1B2D"/>
          </a:solidFill>
          <a:ln/>
        </p:spPr>
      </p:sp>
      <p:sp>
        <p:nvSpPr>
          <p:cNvPr id="9" name="Text 7"/>
          <p:cNvSpPr/>
          <p:nvPr/>
        </p:nvSpPr>
        <p:spPr>
          <a:xfrm>
            <a:off x="4563517" y="2473871"/>
            <a:ext cx="3156864"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FROM maven:3.9-eclipse-</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temurin-21 AS build</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pom.xml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mvn dependency:\</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go-offline</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src ./src</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mvn package</a:t>
            </a:r>
            <a:endParaRPr lang="en-US" sz="1200" dirty="0"/>
          </a:p>
          <a:p>
            <a:pPr algn="l" indent="0" marL="0">
              <a:lnSpc>
                <a:spcPts val="1800"/>
              </a:lnSpc>
              <a:buNone/>
            </a:pP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FROM eclipse-temurin:</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21-jre-alpine</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--from=build ...</a:t>
            </a:r>
            <a:endParaRPr lang="en-US" sz="1200" dirty="0"/>
          </a:p>
        </p:txBody>
      </p:sp>
      <p:sp>
        <p:nvSpPr>
          <p:cNvPr id="10" name="Text 8"/>
          <p:cNvSpPr/>
          <p:nvPr/>
        </p:nvSpPr>
        <p:spPr>
          <a:xfrm>
            <a:off x="7958634" y="2001441"/>
            <a:ext cx="35231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.NET → aspnet</a:t>
            </a:r>
            <a:endParaRPr lang="en-US" sz="1600" dirty="0"/>
          </a:p>
        </p:txBody>
      </p:sp>
      <p:sp>
        <p:nvSpPr>
          <p:cNvPr id="11" name="Shape 9"/>
          <p:cNvSpPr/>
          <p:nvPr/>
        </p:nvSpPr>
        <p:spPr>
          <a:xfrm>
            <a:off x="7958634" y="2321471"/>
            <a:ext cx="3420566" cy="2819400"/>
          </a:xfrm>
          <a:prstGeom prst="roundRect">
            <a:avLst>
              <a:gd name="adj" fmla="val 2703"/>
            </a:avLst>
          </a:prstGeom>
          <a:solidFill>
            <a:srgbClr val="0F1B2D"/>
          </a:solidFill>
          <a:ln/>
        </p:spPr>
      </p:sp>
      <p:sp>
        <p:nvSpPr>
          <p:cNvPr id="12" name="Text 10"/>
          <p:cNvSpPr/>
          <p:nvPr/>
        </p:nvSpPr>
        <p:spPr>
          <a:xfrm>
            <a:off x="8136434" y="2473871"/>
            <a:ext cx="3156915"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FROM mcr.microsoft.com/</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dotnet/sdk:8.0 AS build</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*.csproj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dotnet restore</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RUN dotnet publish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-c Release -o /out</a:t>
            </a:r>
            <a:endParaRPr lang="en-US" sz="1200" dirty="0"/>
          </a:p>
          <a:p>
            <a:pPr algn="l" indent="0" marL="0">
              <a:lnSpc>
                <a:spcPts val="1800"/>
              </a:lnSpc>
              <a:buNone/>
            </a:pP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FROM mcr.microsoft.com/</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dotnet/aspnet:8.0</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COPY --from=build /out .</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05 · 60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Tek aşama ile multi-stage'i karşılaştırın</a:t>
            </a:r>
            <a:endParaRPr lang="en-US" sz="3200" dirty="0"/>
          </a:p>
        </p:txBody>
      </p:sp>
      <p:sp>
        <p:nvSpPr>
          <p:cNvPr id="4" name="Text 2"/>
          <p:cNvSpPr/>
          <p:nvPr/>
        </p:nvSpPr>
        <p:spPr>
          <a:xfrm>
            <a:off x="812800" y="2001441"/>
            <a:ext cx="49446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4944618" cy="140330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İki image'ı build edip çalıştırın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docker images ile boyutları yazın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İki container'a exec ile girmeyi deneyin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--target build ile ara aşama</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scratch ile en uç nokta</a:t>
            </a:r>
            <a:endParaRPr lang="en-US" sz="1400" dirty="0"/>
          </a:p>
        </p:txBody>
      </p:sp>
      <p:sp>
        <p:nvSpPr>
          <p:cNvPr id="6" name="Shape 4"/>
          <p:cNvSpPr/>
          <p:nvPr/>
        </p:nvSpPr>
        <p:spPr>
          <a:xfrm>
            <a:off x="5918200" y="2001441"/>
            <a:ext cx="5461000" cy="2113211"/>
          </a:xfrm>
          <a:prstGeom prst="roundRect">
            <a:avLst>
              <a:gd name="adj" fmla="val 4808"/>
            </a:avLst>
          </a:prstGeom>
          <a:solidFill>
            <a:srgbClr val="2A1D0F"/>
          </a:solidFill>
          <a:ln/>
        </p:spPr>
      </p:sp>
      <p:sp>
        <p:nvSpPr>
          <p:cNvPr id="7" name="Text 5"/>
          <p:cNvSpPr/>
          <p:nvPr/>
        </p:nvSpPr>
        <p:spPr>
          <a:xfrm>
            <a:off x="6172200" y="2204641"/>
            <a:ext cx="5101590"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ornekler/05-multi-stage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Dockerfile.tek-asama -t merhaba:tek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-t merhaba:multi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tek -p 8080:8080 merhaba:tek</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multi -p 8081:8080 merhaba:multi</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images merhaba</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exec multi sh</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labs/05-multi-stage-build.md</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6 · BASE IMAGE SEÇIMI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Beş varyant, beş farklı ödünleşim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10553700" cy="2155924"/>
        </p:xfrm>
        <a:graphic>
          <a:graphicData uri="http://schemas.openxmlformats.org/drawingml/2006/table">
            <a:tbl>
              <a:tblPr/>
              <a:tblGrid>
                <a:gridCol w="1583055"/>
                <a:gridCol w="2955036"/>
                <a:gridCol w="1160907"/>
                <a:gridCol w="2743962"/>
                <a:gridCol w="2110740"/>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Varyant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Örnek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Boyut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İçinde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Ne zaman?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Full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python:3.12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~1 GB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Debian + gcc + git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Build aşaması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Slim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python:3.12-slim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~130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Minimal Debian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Varsayılan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Alpine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python:3.12-alpine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~50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musl libc, busybox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Test edildiyse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Distroless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distroless/python3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~50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Sadece runtime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Güvenlik öncelikli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Scratch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scratch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Hiçbir şey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Statik binary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5" name="Text 2"/>
          <p:cNvSpPr/>
          <p:nvPr/>
        </p:nvSpPr>
        <p:spPr>
          <a:xfrm>
            <a:off x="812800" y="4424065"/>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Kriterler: güvenilir kaynak · bakım sıklığı · boyut · CVE sayısı · glibc/musl uyumu · debug ihtiyacı · amd64 + arm64 desteği · sabit tag</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6 · DENGE</a:t>
            </a:r>
            <a:endParaRPr lang="en-US" sz="1200" dirty="0"/>
          </a:p>
        </p:txBody>
      </p:sp>
      <p:sp>
        <p:nvSpPr>
          <p:cNvPr id="3" name="Text 1"/>
          <p:cNvSpPr/>
          <p:nvPr/>
        </p:nvSpPr>
        <p:spPr>
          <a:xfrm>
            <a:off x="812800" y="1330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Minimal image ile debug kolaylığı</a:t>
            </a:r>
            <a:endParaRPr lang="en-US" sz="3200" dirty="0"/>
          </a:p>
        </p:txBody>
      </p:sp>
      <p:sp>
        <p:nvSpPr>
          <p:cNvPr id="4" name="Text 2"/>
          <p:cNvSpPr/>
          <p:nvPr/>
        </p:nvSpPr>
        <p:spPr>
          <a:xfrm>
            <a:off x="812800" y="2103041"/>
            <a:ext cx="152990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540A"/>
                </a:solidFill>
                <a:latin typeface="IBM Plex Sans" pitchFamily="34" charset="0"/>
                <a:ea typeface="IBM Plex Sans" pitchFamily="34" charset="-122"/>
                <a:cs typeface="IBM Plex Sans" pitchFamily="34" charset="-120"/>
              </a:rPr>
              <a:t>← Debug kolaylığı</a:t>
            </a:r>
            <a:endParaRPr lang="en-US" sz="1400" dirty="0"/>
          </a:p>
        </p:txBody>
      </p:sp>
      <p:sp>
        <p:nvSpPr>
          <p:cNvPr id="5" name="Text 3"/>
          <p:cNvSpPr/>
          <p:nvPr/>
        </p:nvSpPr>
        <p:spPr>
          <a:xfrm>
            <a:off x="9401522" y="2103041"/>
            <a:ext cx="203700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63ED"/>
                </a:solidFill>
                <a:latin typeface="IBM Plex Sans" pitchFamily="34" charset="0"/>
                <a:ea typeface="IBM Plex Sans" pitchFamily="34" charset="-122"/>
                <a:cs typeface="IBM Plex Sans" pitchFamily="34" charset="-120"/>
              </a:rPr>
              <a:t>Güvenlik ve küçüklük →</a:t>
            </a:r>
            <a:endParaRPr lang="en-US" sz="1400" dirty="0"/>
          </a:p>
        </p:txBody>
      </p:sp>
      <p:sp>
        <p:nvSpPr>
          <p:cNvPr id="6" name="Shape 4"/>
          <p:cNvSpPr/>
          <p:nvPr/>
        </p:nvSpPr>
        <p:spPr>
          <a:xfrm>
            <a:off x="812800" y="2453531"/>
            <a:ext cx="10566400" cy="152400"/>
          </a:xfrm>
          <a:prstGeom prst="roundRect">
            <a:avLst>
              <a:gd name="adj" fmla="val 50000"/>
            </a:avLst>
          </a:prstGeom>
          <a:gradFill rotWithShape="1">
            <a:gsLst>
              <a:gs pos="0">
                <a:srgbClr val="F2A65A"/>
              </a:gs>
              <a:gs pos="50000">
                <a:srgbClr val="D6E4FA"/>
              </a:gs>
              <a:gs pos="100000">
                <a:srgbClr val="1D63ED"/>
              </a:gs>
            </a:gsLst>
            <a:lin ang="0" scaled="0"/>
          </a:gradFill>
          <a:ln/>
        </p:spPr>
      </p:sp>
      <p:sp>
        <p:nvSpPr>
          <p:cNvPr id="7" name="Text 5"/>
          <p:cNvSpPr/>
          <p:nvPr/>
        </p:nvSpPr>
        <p:spPr>
          <a:xfrm>
            <a:off x="812800" y="2707531"/>
            <a:ext cx="4775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JetBrains Mono" pitchFamily="34" charset="0"/>
                <a:ea typeface="JetBrains Mono" pitchFamily="34" charset="-122"/>
                <a:cs typeface="JetBrains Mono" pitchFamily="34" charset="-120"/>
              </a:rPr>
              <a:t>full</a:t>
            </a:r>
            <a:endParaRPr lang="en-US" sz="1400" dirty="0"/>
          </a:p>
        </p:txBody>
      </p:sp>
      <p:sp>
        <p:nvSpPr>
          <p:cNvPr id="8" name="Text 6"/>
          <p:cNvSpPr/>
          <p:nvPr/>
        </p:nvSpPr>
        <p:spPr>
          <a:xfrm>
            <a:off x="3054350" y="2707531"/>
            <a:ext cx="4775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JetBrains Mono" pitchFamily="34" charset="0"/>
                <a:ea typeface="JetBrains Mono" pitchFamily="34" charset="-122"/>
                <a:cs typeface="JetBrains Mono" pitchFamily="34" charset="-120"/>
              </a:rPr>
              <a:t>slim</a:t>
            </a:r>
            <a:endParaRPr lang="en-US" sz="1400" dirty="0"/>
          </a:p>
        </p:txBody>
      </p:sp>
      <p:sp>
        <p:nvSpPr>
          <p:cNvPr id="9" name="Text 7"/>
          <p:cNvSpPr/>
          <p:nvPr/>
        </p:nvSpPr>
        <p:spPr>
          <a:xfrm>
            <a:off x="5295900" y="2707531"/>
            <a:ext cx="6909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JetBrains Mono" pitchFamily="34" charset="0"/>
                <a:ea typeface="JetBrains Mono" pitchFamily="34" charset="-122"/>
                <a:cs typeface="JetBrains Mono" pitchFamily="34" charset="-120"/>
              </a:rPr>
              <a:t>alpine</a:t>
            </a:r>
            <a:endParaRPr lang="en-US" sz="1400" dirty="0"/>
          </a:p>
        </p:txBody>
      </p:sp>
      <p:sp>
        <p:nvSpPr>
          <p:cNvPr id="10" name="Text 8"/>
          <p:cNvSpPr/>
          <p:nvPr/>
        </p:nvSpPr>
        <p:spPr>
          <a:xfrm>
            <a:off x="7750820" y="2707531"/>
            <a:ext cx="1117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JetBrains Mono" pitchFamily="34" charset="0"/>
                <a:ea typeface="JetBrains Mono" pitchFamily="34" charset="-122"/>
                <a:cs typeface="JetBrains Mono" pitchFamily="34" charset="-120"/>
              </a:rPr>
              <a:t>distroless</a:t>
            </a:r>
            <a:endParaRPr lang="en-US" sz="1400" dirty="0"/>
          </a:p>
        </p:txBody>
      </p:sp>
      <p:sp>
        <p:nvSpPr>
          <p:cNvPr id="11" name="Text 9"/>
          <p:cNvSpPr/>
          <p:nvPr/>
        </p:nvSpPr>
        <p:spPr>
          <a:xfrm>
            <a:off x="10632430" y="2707531"/>
            <a:ext cx="79757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JetBrains Mono" pitchFamily="34" charset="0"/>
                <a:ea typeface="JetBrains Mono" pitchFamily="34" charset="-122"/>
                <a:cs typeface="JetBrains Mono" pitchFamily="34" charset="-120"/>
              </a:rPr>
              <a:t>scratch</a:t>
            </a:r>
            <a:endParaRPr lang="en-US" sz="1400" dirty="0"/>
          </a:p>
        </p:txBody>
      </p:sp>
      <p:sp>
        <p:nvSpPr>
          <p:cNvPr id="12" name="Shape 10"/>
          <p:cNvSpPr/>
          <p:nvPr/>
        </p:nvSpPr>
        <p:spPr>
          <a:xfrm>
            <a:off x="815975" y="3264396"/>
            <a:ext cx="5175250" cy="928291"/>
          </a:xfrm>
          <a:prstGeom prst="roundRect">
            <a:avLst>
              <a:gd name="adj" fmla="val 10603"/>
            </a:avLst>
          </a:prstGeom>
          <a:solidFill>
            <a:srgbClr val="FDFDFC"/>
          </a:solidFill>
          <a:ln w="6350">
            <a:solidFill>
              <a:srgbClr val="D9E0E8"/>
            </a:solidFill>
            <a:prstDash val="solid"/>
          </a:ln>
        </p:spPr>
      </p:sp>
      <p:sp>
        <p:nvSpPr>
          <p:cNvPr id="13" name="Text 11"/>
          <p:cNvSpPr/>
          <p:nvPr/>
        </p:nvSpPr>
        <p:spPr>
          <a:xfrm>
            <a:off x="1022350" y="3470771"/>
            <a:ext cx="4905375"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Solda: shell, apt, curl, gcc var. Çok sayıda CVE, büyük boyut.</a:t>
            </a:r>
            <a:endParaRPr lang="en-US" sz="1400" dirty="0"/>
          </a:p>
        </p:txBody>
      </p:sp>
      <p:sp>
        <p:nvSpPr>
          <p:cNvPr id="14" name="Shape 12"/>
          <p:cNvSpPr/>
          <p:nvPr/>
        </p:nvSpPr>
        <p:spPr>
          <a:xfrm>
            <a:off x="6200775" y="3264396"/>
            <a:ext cx="5175250" cy="928291"/>
          </a:xfrm>
          <a:prstGeom prst="roundRect">
            <a:avLst>
              <a:gd name="adj" fmla="val 10603"/>
            </a:avLst>
          </a:prstGeom>
          <a:solidFill>
            <a:srgbClr val="FDFDFC"/>
          </a:solidFill>
          <a:ln w="6350">
            <a:solidFill>
              <a:srgbClr val="D9E0E8"/>
            </a:solidFill>
            <a:prstDash val="solid"/>
          </a:ln>
        </p:spPr>
      </p:sp>
      <p:sp>
        <p:nvSpPr>
          <p:cNvPr id="15" name="Text 13"/>
          <p:cNvSpPr/>
          <p:nvPr/>
        </p:nvSpPr>
        <p:spPr>
          <a:xfrm>
            <a:off x="6407150" y="3470771"/>
            <a:ext cx="4905375"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Sağda: neredeyse hiçbir şey yok. Çok az CVE, ama exec ile içeri giremezsiniz.</a:t>
            </a:r>
            <a:endParaRPr lang="en-US" sz="1400" dirty="0"/>
          </a:p>
        </p:txBody>
      </p:sp>
      <p:sp>
        <p:nvSpPr>
          <p:cNvPr id="16" name="Text 14"/>
          <p:cNvSpPr/>
          <p:nvPr/>
        </p:nvSpPr>
        <p:spPr>
          <a:xfrm>
            <a:off x="812800" y="450066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Çözüm: debug araçlarını image'a koymayın, ihtiyaç anında dışarıdan bağlayın.</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6 · SHELL'SIZ CONTAINER'I DEBUG ETMEK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Üç yöntem</a:t>
            </a:r>
            <a:endParaRPr lang="en-US" sz="3200" dirty="0"/>
          </a:p>
        </p:txBody>
      </p:sp>
      <p:sp>
        <p:nvSpPr>
          <p:cNvPr id="4" name="Text 2"/>
          <p:cNvSpPr/>
          <p:nvPr/>
        </p:nvSpPr>
        <p:spPr>
          <a:xfrm>
            <a:off x="812800" y="2223691"/>
            <a:ext cx="23545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1 · Debug sidecar</a:t>
            </a:r>
            <a:endParaRPr lang="en-US" sz="1500" dirty="0"/>
          </a:p>
        </p:txBody>
      </p:sp>
      <p:sp>
        <p:nvSpPr>
          <p:cNvPr id="5" name="Shape 3"/>
          <p:cNvSpPr/>
          <p:nvPr/>
        </p:nvSpPr>
        <p:spPr>
          <a:xfrm>
            <a:off x="3302000" y="2001441"/>
            <a:ext cx="8077200" cy="711200"/>
          </a:xfrm>
          <a:prstGeom prst="roundRect">
            <a:avLst>
              <a:gd name="adj" fmla="val 10714"/>
            </a:avLst>
          </a:prstGeom>
          <a:solidFill>
            <a:srgbClr val="0F1B2D"/>
          </a:solidFill>
          <a:ln/>
        </p:spPr>
      </p:sp>
      <p:sp>
        <p:nvSpPr>
          <p:cNvPr id="6" name="Text 4"/>
          <p:cNvSpPr/>
          <p:nvPr/>
        </p:nvSpPr>
        <p:spPr>
          <a:xfrm>
            <a:off x="3505200" y="2128441"/>
            <a:ext cx="790092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docker run --rm -it --network container:b-distroless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--pid container:b-distroless --cap-add SYS_PTRACE nicolaka/netshoot</a:t>
            </a:r>
            <a:endParaRPr lang="en-US" sz="1200" dirty="0"/>
          </a:p>
        </p:txBody>
      </p:sp>
      <p:sp>
        <p:nvSpPr>
          <p:cNvPr id="7" name="Text 5"/>
          <p:cNvSpPr/>
          <p:nvPr/>
        </p:nvSpPr>
        <p:spPr>
          <a:xfrm>
            <a:off x="812800" y="2972991"/>
            <a:ext cx="23545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2 · docker debug</a:t>
            </a:r>
            <a:endParaRPr lang="en-US" sz="1500" dirty="0"/>
          </a:p>
        </p:txBody>
      </p:sp>
      <p:sp>
        <p:nvSpPr>
          <p:cNvPr id="8" name="Shape 6"/>
          <p:cNvSpPr/>
          <p:nvPr/>
        </p:nvSpPr>
        <p:spPr>
          <a:xfrm>
            <a:off x="3302000" y="2865041"/>
            <a:ext cx="8077200" cy="482600"/>
          </a:xfrm>
          <a:prstGeom prst="roundRect">
            <a:avLst>
              <a:gd name="adj" fmla="val 15789"/>
            </a:avLst>
          </a:prstGeom>
          <a:solidFill>
            <a:srgbClr val="0F1B2D"/>
          </a:solidFill>
          <a:ln/>
        </p:spPr>
      </p:sp>
      <p:sp>
        <p:nvSpPr>
          <p:cNvPr id="9" name="Text 7"/>
          <p:cNvSpPr/>
          <p:nvPr/>
        </p:nvSpPr>
        <p:spPr>
          <a:xfrm>
            <a:off x="3505200" y="2992041"/>
            <a:ext cx="790092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docker debug b-distroless  </a:t>
            </a:r>
            <a:r>
              <a:rPr lang="en-US" sz="1200" dirty="0">
                <a:solidFill>
                  <a:srgbClr val="8A9BB3"/>
                </a:solidFill>
                <a:latin typeface="JetBrains Mono" pitchFamily="34" charset="0"/>
                <a:ea typeface="JetBrains Mono" pitchFamily="34" charset="-122"/>
                <a:cs typeface="JetBrains Mono" pitchFamily="34" charset="-120"/>
              </a:rPr>
              <a:t># Docker Desktop, sürüme bağlı</a:t>
            </a:r>
            <a:endParaRPr lang="en-US" sz="1200" dirty="0"/>
          </a:p>
        </p:txBody>
      </p:sp>
      <p:sp>
        <p:nvSpPr>
          <p:cNvPr id="10" name="Text 8"/>
          <p:cNvSpPr/>
          <p:nvPr/>
        </p:nvSpPr>
        <p:spPr>
          <a:xfrm>
            <a:off x="812800" y="3607991"/>
            <a:ext cx="23545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3 · :debug varyantı</a:t>
            </a:r>
            <a:endParaRPr lang="en-US" sz="1500" dirty="0"/>
          </a:p>
        </p:txBody>
      </p:sp>
      <p:sp>
        <p:nvSpPr>
          <p:cNvPr id="11" name="Shape 9"/>
          <p:cNvSpPr/>
          <p:nvPr/>
        </p:nvSpPr>
        <p:spPr>
          <a:xfrm>
            <a:off x="3302000" y="3500041"/>
            <a:ext cx="8077200" cy="482600"/>
          </a:xfrm>
          <a:prstGeom prst="roundRect">
            <a:avLst>
              <a:gd name="adj" fmla="val 15789"/>
            </a:avLst>
          </a:prstGeom>
          <a:solidFill>
            <a:srgbClr val="0F1B2D"/>
          </a:solidFill>
          <a:ln/>
        </p:spPr>
      </p:sp>
      <p:sp>
        <p:nvSpPr>
          <p:cNvPr id="12" name="Text 10"/>
          <p:cNvSpPr/>
          <p:nvPr/>
        </p:nvSpPr>
        <p:spPr>
          <a:xfrm>
            <a:off x="3505200" y="3627041"/>
            <a:ext cx="790092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FROM gcr.io/distroless/python3-debian12:debug  </a:t>
            </a:r>
            <a:r>
              <a:rPr lang="en-US" sz="1200" dirty="0">
                <a:solidFill>
                  <a:srgbClr val="8A9BB3"/>
                </a:solidFill>
                <a:latin typeface="JetBrains Mono" pitchFamily="34" charset="0"/>
                <a:ea typeface="JetBrains Mono" pitchFamily="34" charset="-122"/>
                <a:cs typeface="JetBrains Mono" pitchFamily="34" charset="-120"/>
              </a:rPr>
              <a:t># busybox shell</a:t>
            </a:r>
            <a:endParaRPr lang="en-US" sz="1200" dirty="0"/>
          </a:p>
        </p:txBody>
      </p:sp>
      <p:sp>
        <p:nvSpPr>
          <p:cNvPr id="13" name="Text 11"/>
          <p:cNvSpPr/>
          <p:nvPr/>
        </p:nvSpPr>
        <p:spPr>
          <a:xfrm>
            <a:off x="812800" y="4236641"/>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Sidecar aynı ağ ve process namespace'ini paylaşır: </a:t>
            </a:r>
            <a:r>
              <a:rPr lang="en-US" sz="1400" b="1" dirty="0">
                <a:solidFill>
                  <a:srgbClr val="44536A"/>
                </a:solidFill>
                <a:latin typeface="IBM Plex Sans" pitchFamily="34" charset="0"/>
                <a:ea typeface="IBM Plex Sans" pitchFamily="34" charset="-122"/>
                <a:cs typeface="IBM Plex Sans" pitchFamily="34" charset="-120"/>
              </a:rPr>
              <a:t>curl localhost:5000</a:t>
            </a:r>
            <a:r>
              <a:rPr lang="en-US" sz="1400" dirty="0">
                <a:solidFill>
                  <a:srgbClr val="44536A"/>
                </a:solidFill>
                <a:latin typeface="IBM Plex Sans" pitchFamily="34" charset="0"/>
                <a:ea typeface="IBM Plex Sans" pitchFamily="34" charset="-122"/>
                <a:cs typeface="IBM Plex Sans" pitchFamily="34" charset="-120"/>
              </a:rPr>
              <a:t>, </a:t>
            </a:r>
            <a:r>
              <a:rPr lang="en-US" sz="1400" b="1" dirty="0">
                <a:solidFill>
                  <a:srgbClr val="44536A"/>
                </a:solidFill>
                <a:latin typeface="IBM Plex Sans" pitchFamily="34" charset="0"/>
                <a:ea typeface="IBM Plex Sans" pitchFamily="34" charset="-122"/>
                <a:cs typeface="IBM Plex Sans" pitchFamily="34" charset="-120"/>
              </a:rPr>
              <a:t>ps aux</a:t>
            </a:r>
            <a:r>
              <a:rPr lang="en-US" sz="1400" dirty="0">
                <a:solidFill>
                  <a:srgbClr val="44536A"/>
                </a:solidFill>
                <a:latin typeface="IBM Plex Sans" pitchFamily="34" charset="0"/>
                <a:ea typeface="IBM Plex Sans" pitchFamily="34" charset="-122"/>
                <a:cs typeface="IBM Plex Sans" pitchFamily="34" charset="-120"/>
              </a:rPr>
              <a:t>, </a:t>
            </a:r>
            <a:r>
              <a:rPr lang="en-US" sz="1400" b="1" dirty="0">
                <a:solidFill>
                  <a:srgbClr val="44536A"/>
                </a:solidFill>
                <a:latin typeface="IBM Plex Sans" pitchFamily="34" charset="0"/>
                <a:ea typeface="IBM Plex Sans" pitchFamily="34" charset="-122"/>
                <a:cs typeface="IBM Plex Sans" pitchFamily="34" charset="-120"/>
              </a:rPr>
              <a:t>ls /proc/1/root/app</a:t>
            </a:r>
            <a:r>
              <a:rPr lang="en-US" sz="1400" dirty="0">
                <a:solidFill>
                  <a:srgbClr val="44536A"/>
                </a:solidFill>
                <a:latin typeface="IBM Plex Sans" pitchFamily="34" charset="0"/>
                <a:ea typeface="IBM Plex Sans" pitchFamily="34" charset="-122"/>
                <a:cs typeface="IBM Plex Sans" pitchFamily="34" charset="-120"/>
              </a:rPr>
              <a:t> çalışır.</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6 · KARAR</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Hangi base image?</a:t>
            </a:r>
            <a:endParaRPr lang="en-US" sz="3200" dirty="0"/>
          </a:p>
        </p:txBody>
      </p:sp>
      <p:sp>
        <p:nvSpPr>
          <p:cNvPr id="4" name="Shape 2"/>
          <p:cNvSpPr/>
          <p:nvPr/>
        </p:nvSpPr>
        <p:spPr>
          <a:xfrm>
            <a:off x="812800" y="2001441"/>
            <a:ext cx="3937000" cy="502890"/>
          </a:xfrm>
          <a:prstGeom prst="roundRect">
            <a:avLst>
              <a:gd name="adj" fmla="val 15152"/>
            </a:avLst>
          </a:prstGeom>
          <a:solidFill>
            <a:srgbClr val="D6E4FA"/>
          </a:solidFill>
          <a:ln/>
        </p:spPr>
      </p:sp>
      <p:sp>
        <p:nvSpPr>
          <p:cNvPr id="5" name="Text 3"/>
          <p:cNvSpPr/>
          <p:nvPr/>
        </p:nvSpPr>
        <p:spPr>
          <a:xfrm>
            <a:off x="990600" y="2128441"/>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Statik binary mi? (Go, Rust)</a:t>
            </a:r>
            <a:endParaRPr lang="en-US" sz="1400" dirty="0"/>
          </a:p>
        </p:txBody>
      </p:sp>
      <p:pic>
        <p:nvPicPr>
          <p:cNvPr id="6" name="Image 0" descr="arrow-right">    </p:cNvPr>
          <p:cNvPicPr>
            <a:picLocks noChangeAspect="1"/>
          </p:cNvPicPr>
          <p:nvPr/>
        </p:nvPicPr>
        <p:blipFill>
          <a:blip r:embed="rId1"/>
          <a:srcRect l="0" r="0" t="0" b="0"/>
          <a:stretch/>
        </p:blipFill>
        <p:spPr>
          <a:xfrm>
            <a:off x="4902200" y="2138561"/>
            <a:ext cx="508000" cy="228600"/>
          </a:xfrm>
          <a:prstGeom prst="rect">
            <a:avLst/>
          </a:prstGeom>
        </p:spPr>
      </p:pic>
      <p:sp>
        <p:nvSpPr>
          <p:cNvPr id="7" name="Shape 4"/>
          <p:cNvSpPr/>
          <p:nvPr/>
        </p:nvSpPr>
        <p:spPr>
          <a:xfrm>
            <a:off x="5562600" y="2001441"/>
            <a:ext cx="5816600" cy="502890"/>
          </a:xfrm>
          <a:prstGeom prst="roundRect">
            <a:avLst>
              <a:gd name="adj" fmla="val 15152"/>
            </a:avLst>
          </a:prstGeom>
          <a:solidFill>
            <a:srgbClr val="1D63ED"/>
          </a:solidFill>
          <a:ln/>
        </p:spPr>
      </p:sp>
      <p:sp>
        <p:nvSpPr>
          <p:cNvPr id="8" name="Text 5"/>
          <p:cNvSpPr/>
          <p:nvPr/>
        </p:nvSpPr>
        <p:spPr>
          <a:xfrm>
            <a:off x="5740400" y="2128441"/>
            <a:ext cx="562483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6F8"/>
                </a:solidFill>
                <a:latin typeface="IBM Plex Sans" pitchFamily="34" charset="0"/>
                <a:ea typeface="IBM Plex Sans" pitchFamily="34" charset="-122"/>
                <a:cs typeface="IBM Plex Sans" pitchFamily="34" charset="-120"/>
              </a:rPr>
              <a:t>Evet → distroless/static (veya scratch)</a:t>
            </a:r>
            <a:endParaRPr lang="en-US" sz="1400" dirty="0"/>
          </a:p>
        </p:txBody>
      </p:sp>
      <p:sp>
        <p:nvSpPr>
          <p:cNvPr id="9" name="Shape 6"/>
          <p:cNvSpPr/>
          <p:nvPr/>
        </p:nvSpPr>
        <p:spPr>
          <a:xfrm>
            <a:off x="812800" y="2631331"/>
            <a:ext cx="3937000" cy="751780"/>
          </a:xfrm>
          <a:prstGeom prst="roundRect">
            <a:avLst>
              <a:gd name="adj" fmla="val 10136"/>
            </a:avLst>
          </a:prstGeom>
          <a:solidFill>
            <a:srgbClr val="D6E4FA"/>
          </a:solidFill>
          <a:ln/>
        </p:spPr>
      </p:sp>
      <p:sp>
        <p:nvSpPr>
          <p:cNvPr id="10" name="Text 7"/>
          <p:cNvSpPr/>
          <p:nvPr/>
        </p:nvSpPr>
        <p:spPr>
          <a:xfrm>
            <a:off x="990600" y="2758331"/>
            <a:ext cx="368884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Güvenlik ekibi minimal image şart koşuyor mu?</a:t>
            </a:r>
            <a:endParaRPr lang="en-US" sz="1400" dirty="0"/>
          </a:p>
        </p:txBody>
      </p:sp>
      <p:pic>
        <p:nvPicPr>
          <p:cNvPr id="11" name="Image 1" descr="arrow-right">    </p:cNvPr>
          <p:cNvPicPr>
            <a:picLocks noChangeAspect="1"/>
          </p:cNvPicPr>
          <p:nvPr/>
        </p:nvPicPr>
        <p:blipFill>
          <a:blip r:embed="rId2"/>
          <a:srcRect l="0" r="0" t="0" b="0"/>
          <a:stretch/>
        </p:blipFill>
        <p:spPr>
          <a:xfrm>
            <a:off x="4902200" y="2892921"/>
            <a:ext cx="508000" cy="228600"/>
          </a:xfrm>
          <a:prstGeom prst="rect">
            <a:avLst/>
          </a:prstGeom>
        </p:spPr>
      </p:pic>
      <p:sp>
        <p:nvSpPr>
          <p:cNvPr id="12" name="Shape 8"/>
          <p:cNvSpPr/>
          <p:nvPr/>
        </p:nvSpPr>
        <p:spPr>
          <a:xfrm>
            <a:off x="5562600" y="2755751"/>
            <a:ext cx="5816600" cy="502890"/>
          </a:xfrm>
          <a:prstGeom prst="roundRect">
            <a:avLst>
              <a:gd name="adj" fmla="val 15152"/>
            </a:avLst>
          </a:prstGeom>
          <a:solidFill>
            <a:srgbClr val="1D63ED"/>
          </a:solidFill>
          <a:ln/>
        </p:spPr>
      </p:sp>
      <p:sp>
        <p:nvSpPr>
          <p:cNvPr id="13" name="Text 9"/>
          <p:cNvSpPr/>
          <p:nvPr/>
        </p:nvSpPr>
        <p:spPr>
          <a:xfrm>
            <a:off x="5740400" y="2882751"/>
            <a:ext cx="562483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6F8"/>
                </a:solidFill>
                <a:latin typeface="IBM Plex Sans" pitchFamily="34" charset="0"/>
                <a:ea typeface="IBM Plex Sans" pitchFamily="34" charset="-122"/>
                <a:cs typeface="IBM Plex Sans" pitchFamily="34" charset="-120"/>
              </a:rPr>
              <a:t>Evet → distroless + debug sidecar</a:t>
            </a:r>
            <a:endParaRPr lang="en-US" sz="1400" dirty="0"/>
          </a:p>
        </p:txBody>
      </p:sp>
      <p:sp>
        <p:nvSpPr>
          <p:cNvPr id="14" name="Shape 10"/>
          <p:cNvSpPr/>
          <p:nvPr/>
        </p:nvSpPr>
        <p:spPr>
          <a:xfrm>
            <a:off x="812800" y="3510111"/>
            <a:ext cx="3937000" cy="502890"/>
          </a:xfrm>
          <a:prstGeom prst="roundRect">
            <a:avLst>
              <a:gd name="adj" fmla="val 15152"/>
            </a:avLst>
          </a:prstGeom>
          <a:solidFill>
            <a:srgbClr val="D6E4FA"/>
          </a:solidFill>
          <a:ln/>
        </p:spPr>
      </p:sp>
      <p:sp>
        <p:nvSpPr>
          <p:cNvPr id="15" name="Text 11"/>
          <p:cNvSpPr/>
          <p:nvPr/>
        </p:nvSpPr>
        <p:spPr>
          <a:xfrm>
            <a:off x="990600" y="3637111"/>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Hiçbiri değilse</a:t>
            </a:r>
            <a:endParaRPr lang="en-US" sz="1400" dirty="0"/>
          </a:p>
        </p:txBody>
      </p:sp>
      <p:pic>
        <p:nvPicPr>
          <p:cNvPr id="16" name="Image 2" descr="arrow-right">    </p:cNvPr>
          <p:cNvPicPr>
            <a:picLocks noChangeAspect="1"/>
          </p:cNvPicPr>
          <p:nvPr/>
        </p:nvPicPr>
        <p:blipFill>
          <a:blip r:embed="rId3"/>
          <a:srcRect l="0" r="0" t="0" b="0"/>
          <a:stretch/>
        </p:blipFill>
        <p:spPr>
          <a:xfrm>
            <a:off x="4902200" y="3647232"/>
            <a:ext cx="508000" cy="228600"/>
          </a:xfrm>
          <a:prstGeom prst="rect">
            <a:avLst/>
          </a:prstGeom>
        </p:spPr>
      </p:pic>
      <p:sp>
        <p:nvSpPr>
          <p:cNvPr id="17" name="Shape 12"/>
          <p:cNvSpPr/>
          <p:nvPr/>
        </p:nvSpPr>
        <p:spPr>
          <a:xfrm>
            <a:off x="5562600" y="3510111"/>
            <a:ext cx="5816600" cy="502890"/>
          </a:xfrm>
          <a:prstGeom prst="roundRect">
            <a:avLst>
              <a:gd name="adj" fmla="val 15152"/>
            </a:avLst>
          </a:prstGeom>
          <a:solidFill>
            <a:srgbClr val="0F1B2D"/>
          </a:solidFill>
          <a:ln/>
        </p:spPr>
      </p:sp>
      <p:sp>
        <p:nvSpPr>
          <p:cNvPr id="18" name="Text 13"/>
          <p:cNvSpPr/>
          <p:nvPr/>
        </p:nvSpPr>
        <p:spPr>
          <a:xfrm>
            <a:off x="5740400" y="3637111"/>
            <a:ext cx="562483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6F8"/>
                </a:solidFill>
                <a:latin typeface="IBM Plex Sans" pitchFamily="34" charset="0"/>
                <a:ea typeface="IBM Plex Sans" pitchFamily="34" charset="-122"/>
                <a:cs typeface="IBM Plex Sans" pitchFamily="34" charset="-120"/>
              </a:rPr>
              <a:t>-slim · çoğu durumda doğru cevap</a:t>
            </a:r>
            <a:endParaRPr lang="en-US" sz="1400" dirty="0"/>
          </a:p>
        </p:txBody>
      </p:sp>
      <p:sp>
        <p:nvSpPr>
          <p:cNvPr id="19" name="Shape 14"/>
          <p:cNvSpPr/>
          <p:nvPr/>
        </p:nvSpPr>
        <p:spPr>
          <a:xfrm>
            <a:off x="812800" y="4146352"/>
            <a:ext cx="3937000" cy="502890"/>
          </a:xfrm>
          <a:prstGeom prst="roundRect">
            <a:avLst>
              <a:gd name="adj" fmla="val 15152"/>
            </a:avLst>
          </a:prstGeom>
          <a:solidFill>
            <a:srgbClr val="D6E4FA"/>
          </a:solidFill>
          <a:ln/>
        </p:spPr>
      </p:sp>
      <p:sp>
        <p:nvSpPr>
          <p:cNvPr id="20" name="Text 15"/>
          <p:cNvSpPr/>
          <p:nvPr/>
        </p:nvSpPr>
        <p:spPr>
          <a:xfrm>
            <a:off x="990600" y="4273352"/>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Build aşaması için</a:t>
            </a:r>
            <a:endParaRPr lang="en-US" sz="1400" dirty="0"/>
          </a:p>
        </p:txBody>
      </p:sp>
      <p:pic>
        <p:nvPicPr>
          <p:cNvPr id="21" name="Image 3" descr="arrow-right">    </p:cNvPr>
          <p:cNvPicPr>
            <a:picLocks noChangeAspect="1"/>
          </p:cNvPicPr>
          <p:nvPr/>
        </p:nvPicPr>
        <p:blipFill>
          <a:blip r:embed="rId4"/>
          <a:srcRect l="0" r="0" t="0" b="0"/>
          <a:stretch/>
        </p:blipFill>
        <p:spPr>
          <a:xfrm>
            <a:off x="4902200" y="4283472"/>
            <a:ext cx="508000" cy="228600"/>
          </a:xfrm>
          <a:prstGeom prst="rect">
            <a:avLst/>
          </a:prstGeom>
        </p:spPr>
      </p:pic>
      <p:sp>
        <p:nvSpPr>
          <p:cNvPr id="22" name="Shape 16"/>
          <p:cNvSpPr/>
          <p:nvPr/>
        </p:nvSpPr>
        <p:spPr>
          <a:xfrm>
            <a:off x="5565775" y="4143177"/>
            <a:ext cx="5810250" cy="509240"/>
          </a:xfrm>
          <a:prstGeom prst="roundRect">
            <a:avLst>
              <a:gd name="adj" fmla="val 14340"/>
            </a:avLst>
          </a:prstGeom>
          <a:solidFill>
            <a:srgbClr val="FDFDFC"/>
          </a:solidFill>
          <a:ln w="6350">
            <a:solidFill>
              <a:srgbClr val="D9E0E8"/>
            </a:solidFill>
            <a:prstDash val="solid"/>
          </a:ln>
        </p:spPr>
      </p:sp>
      <p:sp>
        <p:nvSpPr>
          <p:cNvPr id="23" name="Text 17"/>
          <p:cNvSpPr/>
          <p:nvPr/>
        </p:nvSpPr>
        <p:spPr>
          <a:xfrm>
            <a:off x="5746750" y="4273352"/>
            <a:ext cx="561174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Full / SDK image — multi-stage ile ayrılır</a:t>
            </a:r>
            <a:endParaRPr lang="en-US" sz="1400" dirty="0"/>
          </a:p>
        </p:txBody>
      </p:sp>
      <p:sp>
        <p:nvSpPr>
          <p:cNvPr id="24" name="Text 18"/>
          <p:cNvSpPr/>
          <p:nvPr/>
        </p:nvSpPr>
        <p:spPr>
          <a:xfrm>
            <a:off x="812800" y="4909592"/>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Tarama: </a:t>
            </a:r>
            <a:r>
              <a:rPr lang="en-US" sz="1400" b="1" dirty="0">
                <a:solidFill>
                  <a:srgbClr val="44536A"/>
                </a:solidFill>
                <a:latin typeface="IBM Plex Sans" pitchFamily="34" charset="0"/>
                <a:ea typeface="IBM Plex Sans" pitchFamily="34" charset="-122"/>
                <a:cs typeface="IBM Plex Sans" pitchFamily="34" charset="-120"/>
              </a:rPr>
              <a:t>docker scout quickview IMAGE</a:t>
            </a:r>
            <a:r>
              <a:rPr lang="en-US" sz="1400" dirty="0">
                <a:solidFill>
                  <a:srgbClr val="44536A"/>
                </a:solidFill>
                <a:latin typeface="IBM Plex Sans" pitchFamily="34" charset="0"/>
                <a:ea typeface="IBM Plex Sans" pitchFamily="34" charset="-122"/>
                <a:cs typeface="IBM Plex Sans" pitchFamily="34" charset="-120"/>
              </a:rPr>
              <a:t> veya Trivy. Alpine'ı ancak uygulamanızı onunla test ettiyseniz seçin.</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06 · 45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Aynı uygulama, dört base image</a:t>
            </a:r>
            <a:endParaRPr lang="en-US" sz="3200" dirty="0"/>
          </a:p>
        </p:txBody>
      </p:sp>
      <p:sp>
        <p:nvSpPr>
          <p:cNvPr id="4" name="Text 2"/>
          <p:cNvSpPr/>
          <p:nvPr/>
        </p:nvSpPr>
        <p:spPr>
          <a:xfrm>
            <a:off x="812800" y="2001441"/>
            <a:ext cx="49446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4944618" cy="167888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full, slim, alpine, distroless build</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Boyut tablosunu doldurun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Dördünü 5001–5004'te çalıştırın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exec ile debug kolaylığını test edin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Sidecar ile distroless'ı debug edin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docker scout ile tarayın</a:t>
            </a:r>
            <a:endParaRPr lang="en-US" sz="1400" dirty="0"/>
          </a:p>
        </p:txBody>
      </p:sp>
      <p:sp>
        <p:nvSpPr>
          <p:cNvPr id="6" name="Shape 4"/>
          <p:cNvSpPr/>
          <p:nvPr/>
        </p:nvSpPr>
        <p:spPr>
          <a:xfrm>
            <a:off x="5918200" y="2001441"/>
            <a:ext cx="5461000" cy="2600871"/>
          </a:xfrm>
          <a:prstGeom prst="roundRect">
            <a:avLst>
              <a:gd name="adj" fmla="val 3906"/>
            </a:avLst>
          </a:prstGeom>
          <a:solidFill>
            <a:srgbClr val="2A1D0F"/>
          </a:solidFill>
          <a:ln/>
        </p:spPr>
      </p:sp>
      <p:sp>
        <p:nvSpPr>
          <p:cNvPr id="7" name="Text 5"/>
          <p:cNvSpPr/>
          <p:nvPr/>
        </p:nvSpPr>
        <p:spPr>
          <a:xfrm>
            <a:off x="6172200" y="2204641"/>
            <a:ext cx="5101590" cy="221987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ornekler/06-base-image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Dockerfile.full -t base-demo:full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Dockerfile.slim -t base-demo:slim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Dockerfile.alpine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-t base-demo:alpine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-f Dockerfile.distroless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-t base-demo:distroless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images base-demo</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scout quickview base-demo:slim</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labs/06-base-image-secimi.md</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7 · NETWORKING</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Port mapping: -p HOST:CONTAINER</a:t>
            </a:r>
            <a:endParaRPr lang="en-US" sz="3200" dirty="0"/>
          </a:p>
        </p:txBody>
      </p:sp>
      <p:sp>
        <p:nvSpPr>
          <p:cNvPr id="4" name="Shape 2"/>
          <p:cNvSpPr/>
          <p:nvPr/>
        </p:nvSpPr>
        <p:spPr>
          <a:xfrm>
            <a:off x="812800" y="2001441"/>
            <a:ext cx="5740400" cy="2844701"/>
          </a:xfrm>
          <a:prstGeom prst="roundRect">
            <a:avLst>
              <a:gd name="adj" fmla="val 3572"/>
            </a:avLst>
          </a:prstGeom>
          <a:solidFill>
            <a:srgbClr val="0F1B2D"/>
          </a:solidFill>
          <a:ln/>
        </p:spPr>
      </p:sp>
      <p:sp>
        <p:nvSpPr>
          <p:cNvPr id="5" name="Text 3"/>
          <p:cNvSpPr/>
          <p:nvPr/>
        </p:nvSpPr>
        <p:spPr>
          <a:xfrm>
            <a:off x="1066800" y="2204641"/>
            <a:ext cx="5389372" cy="246370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tüm arayüzler (0.0.0.0)</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-p 8080:80</a:t>
            </a: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sadece bu makineden</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-p 127.0.0.1:8082:80</a:t>
            </a: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host portunu Docker seçsin</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-p 80</a:t>
            </a:r>
            <a:endParaRPr lang="en-US" sz="1200" dirty="0"/>
          </a:p>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EXPOSE edilen tüm portlar</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-P</a:t>
            </a:r>
            <a:endParaRPr lang="en-US" sz="1200" dirty="0"/>
          </a:p>
          <a:p>
            <a:pPr algn="l" indent="0" marL="0">
              <a:lnSpc>
                <a:spcPts val="1920"/>
              </a:lnSpc>
              <a:buNone/>
            </a:pP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port web1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19900" y="2014141"/>
          <a:ext cx="4559300" cy="1796604"/>
        </p:xfrm>
        <a:graphic>
          <a:graphicData uri="http://schemas.openxmlformats.org/drawingml/2006/table">
            <a:tbl>
              <a:tblPr/>
              <a:tblGrid>
                <a:gridCol w="1185418"/>
                <a:gridCol w="3373882"/>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Sürücü</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Açıklama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bridge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Varsayılan, sanal switch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Host ağı, izolasyon yok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none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Sadece loopback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overlay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Çok host (Swarm)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7" name="Shape 4"/>
          <p:cNvSpPr/>
          <p:nvPr/>
        </p:nvSpPr>
        <p:spPr>
          <a:xfrm>
            <a:off x="6807200" y="3963144"/>
            <a:ext cx="4572000" cy="783530"/>
          </a:xfrm>
          <a:prstGeom prst="rect">
            <a:avLst/>
          </a:prstGeom>
          <a:solidFill>
            <a:srgbClr val="FFF6E9"/>
          </a:solidFill>
          <a:ln/>
        </p:spPr>
      </p:sp>
      <p:sp>
        <p:nvSpPr>
          <p:cNvPr id="8" name="Shape 5"/>
          <p:cNvSpPr/>
          <p:nvPr/>
        </p:nvSpPr>
        <p:spPr>
          <a:xfrm>
            <a:off x="6826250" y="3963144"/>
            <a:ext cx="0" cy="783530"/>
          </a:xfrm>
          <a:prstGeom prst="line">
            <a:avLst/>
          </a:prstGeom>
          <a:noFill/>
          <a:ln w="38100">
            <a:solidFill>
              <a:srgbClr val="B4540A"/>
            </a:solidFill>
            <a:prstDash val="solid"/>
          </a:ln>
        </p:spPr>
      </p:sp>
      <p:sp>
        <p:nvSpPr>
          <p:cNvPr id="9" name="Text 6"/>
          <p:cNvSpPr/>
          <p:nvPr/>
        </p:nvSpPr>
        <p:spPr>
          <a:xfrm>
            <a:off x="7023100" y="4115544"/>
            <a:ext cx="4303649"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A1D0F"/>
                </a:solidFill>
                <a:latin typeface="IBM Plex Sans" pitchFamily="34" charset="0"/>
                <a:ea typeface="IBM Plex Sans" pitchFamily="34" charset="-122"/>
                <a:cs typeface="IBM Plex Sans" pitchFamily="34" charset="-120"/>
              </a:rPr>
              <a:t>İki container içeride aynı portu (80) kullanabilir, host'ta aynı portu kullanamaz: </a:t>
            </a:r>
            <a:r>
              <a:rPr lang="en-US" sz="1300" b="1" dirty="0">
                <a:solidFill>
                  <a:srgbClr val="2A1D0F"/>
                </a:solidFill>
                <a:latin typeface="IBM Plex Sans" pitchFamily="34" charset="0"/>
                <a:ea typeface="IBM Plex Sans" pitchFamily="34" charset="-122"/>
                <a:cs typeface="IBM Plex Sans" pitchFamily="34" charset="-120"/>
              </a:rPr>
              <a:t>port is already allocated</a:t>
            </a:r>
            <a:r>
              <a:rPr lang="en-US" sz="1300" dirty="0">
                <a:solidFill>
                  <a:srgbClr val="2A1D0F"/>
                </a:solidFill>
                <a:latin typeface="IBM Plex Sans" pitchFamily="34" charset="0"/>
                <a:ea typeface="IBM Plex Sans" pitchFamily="34" charset="-122"/>
                <a:cs typeface="IBM Plex Sans" pitchFamily="34" charset="-120"/>
              </a:rPr>
              <a: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D63ED"/>
        </a:solidFill>
      </p:bgPr>
    </p:bg>
    <p:spTree>
      <p:nvGrpSpPr>
        <p:cNvPr id="1" name=""/>
        <p:cNvGrpSpPr/>
        <p:nvPr/>
      </p:nvGrpSpPr>
      <p:grpSpPr>
        <a:xfrm>
          <a:off x="0" y="0"/>
          <a:ext cx="0" cy="0"/>
          <a:chOff x="0" y="0"/>
          <a:chExt cx="0" cy="0"/>
        </a:xfrm>
      </p:grpSpPr>
      <p:sp>
        <p:nvSpPr>
          <p:cNvPr id="2" name="Text 0"/>
          <p:cNvSpPr/>
          <p:nvPr/>
        </p:nvSpPr>
        <p:spPr>
          <a:xfrm>
            <a:off x="812800" y="1632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4F6F8"/>
                </a:solidFill>
                <a:latin typeface="IBM Plex Sans" pitchFamily="34" charset="0"/>
                <a:ea typeface="IBM Plex Sans" pitchFamily="34" charset="-122"/>
                <a:cs typeface="IBM Plex Sans" pitchFamily="34" charset="-120"/>
              </a:rPr>
              <a:t>BÖLÜM 7 · EN ÖNEMLI KURAL</a:t>
            </a:r>
            <a:endParaRPr lang="en-US" sz="1200" dirty="0"/>
          </a:p>
        </p:txBody>
      </p:sp>
      <p:sp>
        <p:nvSpPr>
          <p:cNvPr id="3" name="Text 1"/>
          <p:cNvSpPr/>
          <p:nvPr/>
        </p:nvSpPr>
        <p:spPr>
          <a:xfrm>
            <a:off x="812800" y="209932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4F6F8"/>
                </a:solidFill>
                <a:latin typeface="IBM Plex Sans" pitchFamily="34" charset="0"/>
                <a:ea typeface="IBM Plex Sans" pitchFamily="34" charset="-122"/>
                <a:cs typeface="IBM Plex Sans" pitchFamily="34" charset="-120"/>
              </a:rPr>
              <a:t>Varsayılan bridge ağında</a:t>
            </a:r>
            <a:endParaRPr lang="en-US" sz="4400" dirty="0"/>
          </a:p>
          <a:p>
            <a:pPr algn="l" indent="0" marL="0">
              <a:lnSpc>
                <a:spcPts val="4840"/>
              </a:lnSpc>
              <a:buNone/>
            </a:pPr>
            <a:r>
              <a:rPr lang="en-US" sz="4400" b="1" dirty="0">
                <a:solidFill>
                  <a:srgbClr val="F4F6F8"/>
                </a:solidFill>
                <a:latin typeface="IBM Plex Sans" pitchFamily="34" charset="0"/>
                <a:ea typeface="IBM Plex Sans" pitchFamily="34" charset="-122"/>
                <a:cs typeface="IBM Plex Sans" pitchFamily="34" charset="-120"/>
              </a:rPr>
              <a:t>isimle çözümleme yok.</a:t>
            </a:r>
            <a:endParaRPr lang="en-US" sz="4400" dirty="0"/>
          </a:p>
        </p:txBody>
      </p:sp>
      <p:sp>
        <p:nvSpPr>
          <p:cNvPr id="4" name="Shape 2"/>
          <p:cNvSpPr/>
          <p:nvPr/>
        </p:nvSpPr>
        <p:spPr>
          <a:xfrm>
            <a:off x="812800" y="3582640"/>
            <a:ext cx="5181600" cy="1087090"/>
          </a:xfrm>
          <a:prstGeom prst="roundRect">
            <a:avLst>
              <a:gd name="adj" fmla="val 9346"/>
            </a:avLst>
          </a:prstGeom>
          <a:solidFill>
            <a:srgbClr val="0F1B2D"/>
          </a:solidFill>
          <a:ln/>
        </p:spPr>
      </p:sp>
      <p:sp>
        <p:nvSpPr>
          <p:cNvPr id="5" name="Text 3"/>
          <p:cNvSpPr/>
          <p:nvPr/>
        </p:nvSpPr>
        <p:spPr>
          <a:xfrm>
            <a:off x="1041400" y="3760440"/>
            <a:ext cx="4866132"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varsayılan bridge</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exec kutu-a ping kutu-b</a:t>
            </a:r>
            <a:endParaRPr lang="en-US" sz="1200" dirty="0"/>
          </a:p>
          <a:p>
            <a:pPr algn="l" indent="0" marL="0">
              <a:lnSpc>
                <a:spcPts val="1920"/>
              </a:lnSpc>
              <a:buNone/>
            </a:pPr>
            <a:r>
              <a:rPr lang="en-US" sz="1200" dirty="0">
                <a:solidFill>
                  <a:srgbClr val="FFB86B"/>
                </a:solidFill>
                <a:latin typeface="JetBrains Mono" pitchFamily="34" charset="0"/>
                <a:ea typeface="JetBrains Mono" pitchFamily="34" charset="-122"/>
                <a:cs typeface="JetBrains Mono" pitchFamily="34" charset="-120"/>
              </a:rPr>
              <a:t>ping: bad address 'kutu-b'</a:t>
            </a:r>
            <a:endParaRPr lang="en-US" sz="1200" dirty="0"/>
          </a:p>
        </p:txBody>
      </p:sp>
      <p:sp>
        <p:nvSpPr>
          <p:cNvPr id="6" name="Shape 4"/>
          <p:cNvSpPr/>
          <p:nvPr/>
        </p:nvSpPr>
        <p:spPr>
          <a:xfrm>
            <a:off x="6197600" y="3582640"/>
            <a:ext cx="5181600" cy="1087090"/>
          </a:xfrm>
          <a:prstGeom prst="roundRect">
            <a:avLst>
              <a:gd name="adj" fmla="val 9346"/>
            </a:avLst>
          </a:prstGeom>
          <a:solidFill>
            <a:srgbClr val="0F1B2D"/>
          </a:solidFill>
          <a:ln/>
        </p:spPr>
      </p:sp>
      <p:sp>
        <p:nvSpPr>
          <p:cNvPr id="7" name="Text 5"/>
          <p:cNvSpPr/>
          <p:nvPr/>
        </p:nvSpPr>
        <p:spPr>
          <a:xfrm>
            <a:off x="6426200" y="3760440"/>
            <a:ext cx="4866132"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A9BB3"/>
                </a:solidFill>
                <a:latin typeface="JetBrains Mono" pitchFamily="34" charset="0"/>
                <a:ea typeface="JetBrains Mono" pitchFamily="34" charset="-122"/>
                <a:cs typeface="JetBrains Mono" pitchFamily="34" charset="-120"/>
              </a:rPr>
              <a:t># docker network create egitim-net</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exec istemci ping api</a:t>
            </a:r>
            <a:endParaRPr lang="en-US" sz="1200" dirty="0"/>
          </a:p>
          <a:p>
            <a:pPr algn="l" indent="0" marL="0">
              <a:lnSpc>
                <a:spcPts val="1920"/>
              </a:lnSpc>
              <a:buNone/>
            </a:pPr>
            <a:r>
              <a:rPr lang="en-US" sz="1200" dirty="0">
                <a:solidFill>
                  <a:srgbClr val="7CC4FF"/>
                </a:solidFill>
                <a:latin typeface="JetBrains Mono" pitchFamily="34" charset="0"/>
                <a:ea typeface="JetBrains Mono" pitchFamily="34" charset="-122"/>
                <a:cs typeface="JetBrains Mono" pitchFamily="34" charset="-120"/>
              </a:rPr>
              <a:t>64 bytes from 172.20.0.2 …</a:t>
            </a:r>
            <a:endParaRPr lang="en-US" sz="1200" dirty="0"/>
          </a:p>
        </p:txBody>
      </p:sp>
      <p:sp>
        <p:nvSpPr>
          <p:cNvPr id="8" name="Text 6"/>
          <p:cNvSpPr/>
          <p:nvPr/>
        </p:nvSpPr>
        <p:spPr>
          <a:xfrm>
            <a:off x="812800" y="492373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4F6F8"/>
                </a:solidFill>
                <a:latin typeface="IBM Plex Sans" pitchFamily="34" charset="0"/>
                <a:ea typeface="IBM Plex Sans" pitchFamily="34" charset="-122"/>
                <a:cs typeface="IBM Plex Sans" pitchFamily="34" charset="-120"/>
              </a:rPr>
              <a:t>Her zaman kendi ağınızı oluşturun. Compose bunu sizin yerinize yapar.</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7 · CONTAINER-TO-CONTAINER</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Kullanıcı tanımlı bridge network</a:t>
            </a:r>
            <a:endParaRPr lang="en-US" sz="3200" dirty="0"/>
          </a:p>
        </p:txBody>
      </p:sp>
      <p:sp>
        <p:nvSpPr>
          <p:cNvPr id="4" name="Shape 2"/>
          <p:cNvSpPr/>
          <p:nvPr/>
        </p:nvSpPr>
        <p:spPr>
          <a:xfrm>
            <a:off x="819150" y="2007791"/>
            <a:ext cx="4813300" cy="2781300"/>
          </a:xfrm>
          <a:prstGeom prst="roundRect">
            <a:avLst>
              <a:gd name="adj" fmla="val 3425"/>
            </a:avLst>
          </a:prstGeom>
          <a:solidFill>
            <a:srgbClr val="E3ECFB"/>
          </a:solidFill>
          <a:ln w="12700">
            <a:solidFill>
              <a:srgbClr val="1D63ED"/>
            </a:solidFill>
            <a:prstDash val="dash"/>
          </a:ln>
        </p:spPr>
      </p:sp>
      <p:sp>
        <p:nvSpPr>
          <p:cNvPr id="5" name="Text 3"/>
          <p:cNvSpPr/>
          <p:nvPr/>
        </p:nvSpPr>
        <p:spPr>
          <a:xfrm>
            <a:off x="1016000" y="2153841"/>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3ED"/>
                </a:solidFill>
                <a:latin typeface="JetBrains Mono" pitchFamily="34" charset="0"/>
                <a:ea typeface="JetBrains Mono" pitchFamily="34" charset="-122"/>
                <a:cs typeface="JetBrains Mono" pitchFamily="34" charset="-120"/>
              </a:rPr>
              <a:t>egitim-net · 172.20.0.0/16</a:t>
            </a:r>
            <a:endParaRPr lang="en-US" sz="1200" dirty="0"/>
          </a:p>
        </p:txBody>
      </p:sp>
      <p:sp>
        <p:nvSpPr>
          <p:cNvPr id="6" name="Shape 4"/>
          <p:cNvSpPr/>
          <p:nvPr/>
        </p:nvSpPr>
        <p:spPr>
          <a:xfrm>
            <a:off x="1117600" y="2890441"/>
            <a:ext cx="1397000" cy="1143000"/>
          </a:xfrm>
          <a:prstGeom prst="roundRect">
            <a:avLst>
              <a:gd name="adj" fmla="val 8889"/>
            </a:avLst>
          </a:prstGeom>
          <a:solidFill>
            <a:srgbClr val="0F1B2D"/>
          </a:solidFill>
          <a:ln/>
        </p:spPr>
      </p:sp>
      <p:sp>
        <p:nvSpPr>
          <p:cNvPr id="7" name="Text 5"/>
          <p:cNvSpPr/>
          <p:nvPr/>
        </p:nvSpPr>
        <p:spPr>
          <a:xfrm>
            <a:off x="1092200" y="3080941"/>
            <a:ext cx="1447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6F8"/>
                </a:solidFill>
                <a:latin typeface="IBM Plex Sans" pitchFamily="34" charset="0"/>
                <a:ea typeface="IBM Plex Sans" pitchFamily="34" charset="-122"/>
                <a:cs typeface="IBM Plex Sans" pitchFamily="34" charset="-120"/>
              </a:rPr>
              <a:t>istemci</a:t>
            </a:r>
            <a:endParaRPr lang="en-US" sz="1500" dirty="0"/>
          </a:p>
        </p:txBody>
      </p:sp>
      <p:sp>
        <p:nvSpPr>
          <p:cNvPr id="8" name="Text 6"/>
          <p:cNvSpPr/>
          <p:nvPr/>
        </p:nvSpPr>
        <p:spPr>
          <a:xfrm>
            <a:off x="1092200" y="3461941"/>
            <a:ext cx="1447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8C6D9"/>
                </a:solidFill>
                <a:latin typeface="JetBrains Mono" pitchFamily="34" charset="0"/>
                <a:ea typeface="JetBrains Mono" pitchFamily="34" charset="-122"/>
                <a:cs typeface="JetBrains Mono" pitchFamily="34" charset="-120"/>
              </a:rPr>
              <a:t>172.20.0.3</a:t>
            </a:r>
            <a:endParaRPr lang="en-US" sz="1200" dirty="0"/>
          </a:p>
        </p:txBody>
      </p:sp>
      <p:sp>
        <p:nvSpPr>
          <p:cNvPr id="9" name="Shape 7"/>
          <p:cNvSpPr/>
          <p:nvPr/>
        </p:nvSpPr>
        <p:spPr>
          <a:xfrm>
            <a:off x="3937000" y="2890441"/>
            <a:ext cx="1397000" cy="1143000"/>
          </a:xfrm>
          <a:prstGeom prst="roundRect">
            <a:avLst>
              <a:gd name="adj" fmla="val 8889"/>
            </a:avLst>
          </a:prstGeom>
          <a:solidFill>
            <a:srgbClr val="0F1B2D"/>
          </a:solidFill>
          <a:ln/>
        </p:spPr>
      </p:sp>
      <p:sp>
        <p:nvSpPr>
          <p:cNvPr id="10" name="Text 8"/>
          <p:cNvSpPr/>
          <p:nvPr/>
        </p:nvSpPr>
        <p:spPr>
          <a:xfrm>
            <a:off x="3911600" y="3080941"/>
            <a:ext cx="1447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6F8"/>
                </a:solidFill>
                <a:latin typeface="IBM Plex Sans" pitchFamily="34" charset="0"/>
                <a:ea typeface="IBM Plex Sans" pitchFamily="34" charset="-122"/>
                <a:cs typeface="IBM Plex Sans" pitchFamily="34" charset="-120"/>
              </a:rPr>
              <a:t>api :80</a:t>
            </a:r>
            <a:endParaRPr lang="en-US" sz="1500" dirty="0"/>
          </a:p>
        </p:txBody>
      </p:sp>
      <p:sp>
        <p:nvSpPr>
          <p:cNvPr id="11" name="Text 9"/>
          <p:cNvSpPr/>
          <p:nvPr/>
        </p:nvSpPr>
        <p:spPr>
          <a:xfrm>
            <a:off x="3911600" y="3461941"/>
            <a:ext cx="1447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8C6D9"/>
                </a:solidFill>
                <a:latin typeface="JetBrains Mono" pitchFamily="34" charset="0"/>
                <a:ea typeface="JetBrains Mono" pitchFamily="34" charset="-122"/>
                <a:cs typeface="JetBrains Mono" pitchFamily="34" charset="-120"/>
              </a:rPr>
              <a:t>172.20.0.2</a:t>
            </a:r>
            <a:endParaRPr lang="en-US" sz="1200" dirty="0"/>
          </a:p>
        </p:txBody>
      </p:sp>
      <p:pic>
        <p:nvPicPr>
          <p:cNvPr id="12" name="Image 0" descr="connector">    </p:cNvPr>
          <p:cNvPicPr>
            <a:picLocks noChangeAspect="1"/>
          </p:cNvPicPr>
          <p:nvPr/>
        </p:nvPicPr>
        <p:blipFill>
          <a:blip r:embed="rId1"/>
          <a:srcRect l="0" r="0" t="0" b="0"/>
          <a:stretch/>
        </p:blipFill>
        <p:spPr>
          <a:xfrm>
            <a:off x="2451100" y="3398441"/>
            <a:ext cx="1549400" cy="127000"/>
          </a:xfrm>
          <a:prstGeom prst="rect">
            <a:avLst/>
          </a:prstGeom>
        </p:spPr>
      </p:pic>
      <p:sp>
        <p:nvSpPr>
          <p:cNvPr id="13" name="Text 10"/>
          <p:cNvSpPr/>
          <p:nvPr/>
        </p:nvSpPr>
        <p:spPr>
          <a:xfrm>
            <a:off x="2489200" y="3652441"/>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F1B2D"/>
                </a:solidFill>
                <a:latin typeface="JetBrains Mono" pitchFamily="34" charset="0"/>
                <a:ea typeface="JetBrains Mono" pitchFamily="34" charset="-122"/>
                <a:cs typeface="JetBrains Mono" pitchFamily="34" charset="-120"/>
              </a:rPr>
              <a:t>http://api</a:t>
            </a:r>
            <a:endParaRPr lang="en-US" sz="1200" dirty="0"/>
          </a:p>
        </p:txBody>
      </p:sp>
      <p:sp>
        <p:nvSpPr>
          <p:cNvPr id="14" name="Text 11"/>
          <p:cNvSpPr/>
          <p:nvPr/>
        </p:nvSpPr>
        <p:spPr>
          <a:xfrm>
            <a:off x="1016000" y="428744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36A"/>
                </a:solidFill>
                <a:latin typeface="IBM Plex Sans" pitchFamily="34" charset="0"/>
                <a:ea typeface="IBM Plex Sans" pitchFamily="34" charset="-122"/>
                <a:cs typeface="IBM Plex Sans" pitchFamily="34" charset="-120"/>
              </a:rPr>
              <a:t>DNS: 127.0.0.11 · -p gerekmez</a:t>
            </a:r>
            <a:endParaRPr lang="en-US" sz="1200" dirty="0"/>
          </a:p>
        </p:txBody>
      </p:sp>
      <p:sp>
        <p:nvSpPr>
          <p:cNvPr id="15" name="Shape 12"/>
          <p:cNvSpPr/>
          <p:nvPr/>
        </p:nvSpPr>
        <p:spPr>
          <a:xfrm>
            <a:off x="5943600" y="2097980"/>
            <a:ext cx="5435600" cy="2600871"/>
          </a:xfrm>
          <a:prstGeom prst="roundRect">
            <a:avLst>
              <a:gd name="adj" fmla="val 3906"/>
            </a:avLst>
          </a:prstGeom>
          <a:solidFill>
            <a:srgbClr val="0F1B2D"/>
          </a:solidFill>
          <a:ln/>
        </p:spPr>
      </p:sp>
      <p:sp>
        <p:nvSpPr>
          <p:cNvPr id="16" name="Text 13"/>
          <p:cNvSpPr/>
          <p:nvPr/>
        </p:nvSpPr>
        <p:spPr>
          <a:xfrm>
            <a:off x="6197600" y="2301180"/>
            <a:ext cx="5075428" cy="221987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network create egitim-net</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-d --name api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--network egitim-net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nginx:1.27-alpine</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-d --name istemci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--network egitim-net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alpine:3.20 sleep 3600</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exec istemci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wget -qO- http://api</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7 · AĞ IZOLASYONU</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Proxy veritabanına ulaşamamalı</a:t>
            </a:r>
            <a:endParaRPr lang="en-US" sz="3200" dirty="0"/>
          </a:p>
        </p:txBody>
      </p:sp>
      <p:sp>
        <p:nvSpPr>
          <p:cNvPr id="4" name="Shape 2"/>
          <p:cNvSpPr/>
          <p:nvPr/>
        </p:nvSpPr>
        <p:spPr>
          <a:xfrm>
            <a:off x="819150" y="2007791"/>
            <a:ext cx="5194300" cy="1236911"/>
          </a:xfrm>
          <a:prstGeom prst="roundRect">
            <a:avLst>
              <a:gd name="adj" fmla="val 7701"/>
            </a:avLst>
          </a:prstGeom>
          <a:noFill/>
          <a:ln w="12700">
            <a:solidFill>
              <a:srgbClr val="1D63ED"/>
            </a:solidFill>
            <a:prstDash val="dash"/>
          </a:ln>
        </p:spPr>
      </p:sp>
      <p:sp>
        <p:nvSpPr>
          <p:cNvPr id="5" name="Text 3"/>
          <p:cNvSpPr/>
          <p:nvPr/>
        </p:nvSpPr>
        <p:spPr>
          <a:xfrm>
            <a:off x="1003300" y="2191941"/>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3ED"/>
                </a:solidFill>
                <a:latin typeface="IBM Plex Sans" pitchFamily="34" charset="0"/>
                <a:ea typeface="IBM Plex Sans" pitchFamily="34" charset="-122"/>
                <a:cs typeface="IBM Plex Sans" pitchFamily="34" charset="-120"/>
              </a:rPr>
              <a:t>on-yuz (frontend)</a:t>
            </a:r>
            <a:endParaRPr lang="en-US" sz="1200" dirty="0"/>
          </a:p>
        </p:txBody>
      </p:sp>
      <p:sp>
        <p:nvSpPr>
          <p:cNvPr id="6" name="Shape 4"/>
          <p:cNvSpPr/>
          <p:nvPr/>
        </p:nvSpPr>
        <p:spPr>
          <a:xfrm>
            <a:off x="1003300" y="2506861"/>
            <a:ext cx="2362200" cy="553690"/>
          </a:xfrm>
          <a:prstGeom prst="roundRect">
            <a:avLst>
              <a:gd name="adj" fmla="val 13762"/>
            </a:avLst>
          </a:prstGeom>
          <a:solidFill>
            <a:srgbClr val="5E6A7A"/>
          </a:solidFill>
          <a:ln/>
        </p:spPr>
      </p:sp>
      <p:sp>
        <p:nvSpPr>
          <p:cNvPr id="7" name="Text 5"/>
          <p:cNvSpPr/>
          <p:nvPr/>
        </p:nvSpPr>
        <p:spPr>
          <a:xfrm>
            <a:off x="1124839" y="2659261"/>
            <a:ext cx="2119122"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proxy</a:t>
            </a:r>
            <a:endParaRPr lang="en-US" sz="1400" dirty="0"/>
          </a:p>
        </p:txBody>
      </p:sp>
      <p:sp>
        <p:nvSpPr>
          <p:cNvPr id="8" name="Shape 6"/>
          <p:cNvSpPr/>
          <p:nvPr/>
        </p:nvSpPr>
        <p:spPr>
          <a:xfrm>
            <a:off x="3467100" y="2506861"/>
            <a:ext cx="2362200" cy="553690"/>
          </a:xfrm>
          <a:prstGeom prst="roundRect">
            <a:avLst>
              <a:gd name="adj" fmla="val 13762"/>
            </a:avLst>
          </a:prstGeom>
          <a:solidFill>
            <a:srgbClr val="0F1B2D"/>
          </a:solidFill>
          <a:ln/>
        </p:spPr>
      </p:sp>
      <p:sp>
        <p:nvSpPr>
          <p:cNvPr id="9" name="Text 7"/>
          <p:cNvSpPr/>
          <p:nvPr/>
        </p:nvSpPr>
        <p:spPr>
          <a:xfrm>
            <a:off x="3588639" y="2659261"/>
            <a:ext cx="2119122"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uygulama</a:t>
            </a:r>
            <a:endParaRPr lang="en-US" sz="1400" dirty="0"/>
          </a:p>
        </p:txBody>
      </p:sp>
      <p:sp>
        <p:nvSpPr>
          <p:cNvPr id="10" name="Shape 8"/>
          <p:cNvSpPr/>
          <p:nvPr/>
        </p:nvSpPr>
        <p:spPr>
          <a:xfrm>
            <a:off x="6178550" y="2007791"/>
            <a:ext cx="5194300" cy="1236911"/>
          </a:xfrm>
          <a:prstGeom prst="roundRect">
            <a:avLst>
              <a:gd name="adj" fmla="val 7701"/>
            </a:avLst>
          </a:prstGeom>
          <a:noFill/>
          <a:ln w="12700">
            <a:solidFill>
              <a:srgbClr val="B4540A"/>
            </a:solidFill>
            <a:prstDash val="dash"/>
          </a:ln>
        </p:spPr>
      </p:sp>
      <p:sp>
        <p:nvSpPr>
          <p:cNvPr id="11" name="Text 9"/>
          <p:cNvSpPr/>
          <p:nvPr/>
        </p:nvSpPr>
        <p:spPr>
          <a:xfrm>
            <a:off x="6362700" y="2191941"/>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40A"/>
                </a:solidFill>
                <a:latin typeface="IBM Plex Sans" pitchFamily="34" charset="0"/>
                <a:ea typeface="IBM Plex Sans" pitchFamily="34" charset="-122"/>
                <a:cs typeface="IBM Plex Sans" pitchFamily="34" charset="-120"/>
              </a:rPr>
              <a:t>arka-yuz (backend)</a:t>
            </a:r>
            <a:endParaRPr lang="en-US" sz="1200" dirty="0"/>
          </a:p>
        </p:txBody>
      </p:sp>
      <p:sp>
        <p:nvSpPr>
          <p:cNvPr id="12" name="Shape 10"/>
          <p:cNvSpPr/>
          <p:nvPr/>
        </p:nvSpPr>
        <p:spPr>
          <a:xfrm>
            <a:off x="6362700" y="2506861"/>
            <a:ext cx="2362200" cy="553690"/>
          </a:xfrm>
          <a:prstGeom prst="roundRect">
            <a:avLst>
              <a:gd name="adj" fmla="val 13762"/>
            </a:avLst>
          </a:prstGeom>
          <a:solidFill>
            <a:srgbClr val="0F1B2D"/>
          </a:solidFill>
          <a:ln/>
        </p:spPr>
      </p:sp>
      <p:sp>
        <p:nvSpPr>
          <p:cNvPr id="13" name="Text 11"/>
          <p:cNvSpPr/>
          <p:nvPr/>
        </p:nvSpPr>
        <p:spPr>
          <a:xfrm>
            <a:off x="6484239" y="2659261"/>
            <a:ext cx="2119122"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uygulama</a:t>
            </a:r>
            <a:endParaRPr lang="en-US" sz="1400" dirty="0"/>
          </a:p>
        </p:txBody>
      </p:sp>
      <p:sp>
        <p:nvSpPr>
          <p:cNvPr id="14" name="Shape 12"/>
          <p:cNvSpPr/>
          <p:nvPr/>
        </p:nvSpPr>
        <p:spPr>
          <a:xfrm>
            <a:off x="8826500" y="2506861"/>
            <a:ext cx="2362200" cy="553690"/>
          </a:xfrm>
          <a:prstGeom prst="roundRect">
            <a:avLst>
              <a:gd name="adj" fmla="val 13762"/>
            </a:avLst>
          </a:prstGeom>
          <a:solidFill>
            <a:srgbClr val="5E6A7A"/>
          </a:solidFill>
          <a:ln/>
        </p:spPr>
      </p:sp>
      <p:sp>
        <p:nvSpPr>
          <p:cNvPr id="15" name="Text 13"/>
          <p:cNvSpPr/>
          <p:nvPr/>
        </p:nvSpPr>
        <p:spPr>
          <a:xfrm>
            <a:off x="8948039" y="2659261"/>
            <a:ext cx="2119122"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veritabani</a:t>
            </a:r>
            <a:endParaRPr lang="en-US" sz="1400" dirty="0"/>
          </a:p>
        </p:txBody>
      </p:sp>
      <p:sp>
        <p:nvSpPr>
          <p:cNvPr id="16" name="Shape 14"/>
          <p:cNvSpPr/>
          <p:nvPr/>
        </p:nvSpPr>
        <p:spPr>
          <a:xfrm>
            <a:off x="812800" y="3505051"/>
            <a:ext cx="10566400" cy="1087090"/>
          </a:xfrm>
          <a:prstGeom prst="roundRect">
            <a:avLst>
              <a:gd name="adj" fmla="val 9346"/>
            </a:avLst>
          </a:prstGeom>
          <a:solidFill>
            <a:srgbClr val="0F1B2D"/>
          </a:solidFill>
          <a:ln/>
        </p:spPr>
      </p:sp>
      <p:sp>
        <p:nvSpPr>
          <p:cNvPr id="17" name="Text 15"/>
          <p:cNvSpPr/>
          <p:nvPr/>
        </p:nvSpPr>
        <p:spPr>
          <a:xfrm>
            <a:off x="1066800" y="3682851"/>
            <a:ext cx="10360152"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network connect on-yuz uygulama                 </a:t>
            </a:r>
            <a:r>
              <a:rPr lang="en-US" sz="1200" dirty="0">
                <a:solidFill>
                  <a:srgbClr val="8A9BB3"/>
                </a:solidFill>
                <a:latin typeface="JetBrains Mono" pitchFamily="34" charset="0"/>
                <a:ea typeface="JetBrains Mono" pitchFamily="34" charset="-122"/>
                <a:cs typeface="JetBrains Mono" pitchFamily="34" charset="-120"/>
              </a:rPr>
              <a:t># iki ağa birden üye</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exec uygulama curl -s http://veritabani          </a:t>
            </a:r>
            <a:r>
              <a:rPr lang="en-US" sz="1200" dirty="0">
                <a:solidFill>
                  <a:srgbClr val="7CC4FF"/>
                </a:solidFill>
                <a:latin typeface="JetBrains Mono" pitchFamily="34" charset="0"/>
                <a:ea typeface="JetBrains Mono" pitchFamily="34" charset="-122"/>
                <a:cs typeface="JetBrains Mono" pitchFamily="34" charset="-120"/>
              </a:rPr>
              <a:t># ✓ 200</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exec proxy curl -s -m 3 http://veritabani       </a:t>
            </a:r>
            <a:r>
              <a:rPr lang="en-US" sz="1200" dirty="0">
                <a:solidFill>
                  <a:srgbClr val="FFB86B"/>
                </a:solidFill>
                <a:latin typeface="JetBrains Mono" pitchFamily="34" charset="0"/>
                <a:ea typeface="JetBrains Mono" pitchFamily="34" charset="-122"/>
                <a:cs typeface="JetBrains Mono" pitchFamily="34" charset="-120"/>
              </a:rPr>
              <a:t># ✗ Could not resolve host</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07 · 60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Port, DNS ve izolasyonu kurun</a:t>
            </a:r>
            <a:endParaRPr lang="en-US" sz="3200" dirty="0"/>
          </a:p>
        </p:txBody>
      </p:sp>
      <p:sp>
        <p:nvSpPr>
          <p:cNvPr id="4" name="Text 2"/>
          <p:cNvSpPr/>
          <p:nvPr/>
        </p:nvSpPr>
        <p:spPr>
          <a:xfrm>
            <a:off x="812800" y="2001441"/>
            <a:ext cx="55986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598668" cy="140330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Port mapping varyasyonları, port çakışması</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Varsayılan bridge: IP çalışır, isim çalışmaz</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egitim-net: isimle erişim, nslookup</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on-yuz / arka-yuz izolasyonu</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host.docker.internal ile host'a erişim</a:t>
            </a:r>
            <a:endParaRPr lang="en-US" sz="1400" dirty="0"/>
          </a:p>
        </p:txBody>
      </p:sp>
      <p:sp>
        <p:nvSpPr>
          <p:cNvPr id="6" name="Shape 4"/>
          <p:cNvSpPr/>
          <p:nvPr/>
        </p:nvSpPr>
        <p:spPr>
          <a:xfrm>
            <a:off x="6553200" y="2001441"/>
            <a:ext cx="4826000" cy="2113211"/>
          </a:xfrm>
          <a:prstGeom prst="roundRect">
            <a:avLst>
              <a:gd name="adj" fmla="val 4808"/>
            </a:avLst>
          </a:prstGeom>
          <a:solidFill>
            <a:srgbClr val="2A1D0F"/>
          </a:solidFill>
          <a:ln/>
        </p:spPr>
      </p:sp>
      <p:sp>
        <p:nvSpPr>
          <p:cNvPr id="7" name="Text 5"/>
          <p:cNvSpPr/>
          <p:nvPr/>
        </p:nvSpPr>
        <p:spPr>
          <a:xfrm>
            <a:off x="6807200" y="2204641"/>
            <a:ext cx="4447540"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network create egitim-net</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api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--network egitim-net nginx:1.27-alpine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istemci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--network egitim-net alpine:3.20 sleep 3600</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exec istemci nslookup api</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exec istemci cat /etc/resolv.conf</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labs/07-networking.md</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8 · VOLUME VE BIND MOUNT</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Container geçici, veri kalıcı</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10553700" cy="2515245"/>
        </p:xfrm>
        <a:graphic>
          <a:graphicData uri="http://schemas.openxmlformats.org/drawingml/2006/table">
            <a:tbl>
              <a:tblPr/>
              <a:tblGrid>
                <a:gridCol w="2321814"/>
                <a:gridCol w="2955036"/>
                <a:gridCol w="2955036"/>
                <a:gridCol w="2321814"/>
              </a:tblGrid>
              <a:tr h="35932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Named volume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Bind mount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tmpfs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Nerede?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Docker'ın alanı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Sizin seçtiğiniz yol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RAM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Söz dizimi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 pgdata:/data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 "${PWD}/html:/data"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--tmpfs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Kim yönetir?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docker volume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Siz (dosya sistemi)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Container silinince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Kalır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Kalır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Kaybolur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Taşınabilir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Evet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Host yoluna bağlı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Tipik kullanım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Veritabanı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Geliştirme, config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Geçici, hassas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8 · NAMED VOLUME</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Container'ı silin, veri yaşasın</a:t>
            </a:r>
            <a:endParaRPr lang="en-US" sz="3200" dirty="0"/>
          </a:p>
        </p:txBody>
      </p:sp>
      <p:sp>
        <p:nvSpPr>
          <p:cNvPr id="4" name="Shape 2"/>
          <p:cNvSpPr/>
          <p:nvPr/>
        </p:nvSpPr>
        <p:spPr>
          <a:xfrm>
            <a:off x="812800" y="2001441"/>
            <a:ext cx="10566400" cy="2600871"/>
          </a:xfrm>
          <a:prstGeom prst="roundRect">
            <a:avLst>
              <a:gd name="adj" fmla="val 3906"/>
            </a:avLst>
          </a:prstGeom>
          <a:solidFill>
            <a:srgbClr val="0F1B2D"/>
          </a:solidFill>
          <a:ln/>
        </p:spPr>
      </p:sp>
      <p:sp>
        <p:nvSpPr>
          <p:cNvPr id="5" name="Text 3"/>
          <p:cNvSpPr/>
          <p:nvPr/>
        </p:nvSpPr>
        <p:spPr>
          <a:xfrm>
            <a:off x="1066800" y="2204641"/>
            <a:ext cx="10360152" cy="221987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volume create pgdata</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-d --name pg -e POSTGRES_PASSWORD=egitim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7CC4FF"/>
                </a:solidFill>
                <a:latin typeface="JetBrains Mono" pitchFamily="34" charset="0"/>
                <a:ea typeface="JetBrains Mono" pitchFamily="34" charset="-122"/>
                <a:cs typeface="JetBrains Mono" pitchFamily="34" charset="-120"/>
              </a:rPr>
              <a:t>-v pgdata:/var/lib/postgresql/data</a:t>
            </a:r>
            <a:r>
              <a:rPr lang="en-US" sz="1200" dirty="0">
                <a:solidFill>
                  <a:srgbClr val="D6E2F0"/>
                </a:solidFill>
                <a:latin typeface="JetBrains Mono" pitchFamily="34" charset="0"/>
                <a:ea typeface="JetBrains Mono" pitchFamily="34" charset="-122"/>
                <a:cs typeface="JetBrains Mono" pitchFamily="34" charset="-120"/>
              </a:rPr>
              <a:t> postgres:16-alpine</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exec pg psql -U postgres -c "CREATE TABLE ogrenci(id serial, ad text); INSERT …"</a:t>
            </a:r>
            <a:endParaRPr lang="en-US" sz="1200" dirty="0"/>
          </a:p>
          <a:p>
            <a:pPr algn="l" indent="0" marL="0">
              <a:lnSpc>
                <a:spcPts val="1920"/>
              </a:lnSpc>
              <a:buNone/>
            </a:pPr>
            <a:endParaRPr lang="en-US" sz="1200" dirty="0"/>
          </a:p>
          <a:p>
            <a:pPr algn="l" indent="0" marL="0">
              <a:lnSpc>
                <a:spcPts val="1920"/>
              </a:lnSpc>
              <a:buNone/>
            </a:pPr>
            <a:r>
              <a:rPr lang="en-US" sz="1200" dirty="0">
                <a:solidFill>
                  <a:srgbClr val="FFB86B"/>
                </a:solidFill>
                <a:latin typeface="JetBrains Mono" pitchFamily="34" charset="0"/>
                <a:ea typeface="JetBrains Mono" pitchFamily="34" charset="-122"/>
                <a:cs typeface="JetBrains Mono" pitchFamily="34" charset="-120"/>
              </a:rPr>
              <a:t>docker rm -f pg</a:t>
            </a: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8A9BB3"/>
                </a:solidFill>
                <a:latin typeface="JetBrains Mono" pitchFamily="34" charset="0"/>
                <a:ea typeface="JetBrains Mono" pitchFamily="34" charset="-122"/>
                <a:cs typeface="JetBrains Mono" pitchFamily="34" charset="-120"/>
              </a:rPr>
              <a:t># container gitti</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-d --name pg-yeni -e POSTGRES_PASSWORD=egitim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7CC4FF"/>
                </a:solidFill>
                <a:latin typeface="JetBrains Mono" pitchFamily="34" charset="0"/>
                <a:ea typeface="JetBrains Mono" pitchFamily="34" charset="-122"/>
                <a:cs typeface="JetBrains Mono" pitchFamily="34" charset="-120"/>
              </a:rPr>
              <a:t>-v pgdata:/var/lib/postgresql/data</a:t>
            </a:r>
            <a:r>
              <a:rPr lang="en-US" sz="1200" dirty="0">
                <a:solidFill>
                  <a:srgbClr val="D6E2F0"/>
                </a:solidFill>
                <a:latin typeface="JetBrains Mono" pitchFamily="34" charset="0"/>
                <a:ea typeface="JetBrains Mono" pitchFamily="34" charset="-122"/>
                <a:cs typeface="JetBrains Mono" pitchFamily="34" charset="-120"/>
              </a:rPr>
              <a:t> postgres:16-alpine</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exec pg-yeni psql -U postgres -c "SELECT * FROM ogrenci;"  </a:t>
            </a:r>
            <a:r>
              <a:rPr lang="en-US" sz="1200" dirty="0">
                <a:solidFill>
                  <a:srgbClr val="8A9BB3"/>
                </a:solidFill>
                <a:latin typeface="JetBrains Mono" pitchFamily="34" charset="0"/>
                <a:ea typeface="JetBrains Mono" pitchFamily="34" charset="-122"/>
                <a:cs typeface="JetBrains Mono" pitchFamily="34" charset="-120"/>
              </a:rPr>
              <a:t># Ayşe, Mehmet, Zeynep</a:t>
            </a:r>
            <a:endParaRPr lang="en-US" sz="1200" dirty="0"/>
          </a:p>
        </p:txBody>
      </p:sp>
      <p:sp>
        <p:nvSpPr>
          <p:cNvPr id="6" name="Shape 4"/>
          <p:cNvSpPr/>
          <p:nvPr/>
        </p:nvSpPr>
        <p:spPr>
          <a:xfrm>
            <a:off x="815975" y="4859486"/>
            <a:ext cx="5175250" cy="840680"/>
          </a:xfrm>
          <a:prstGeom prst="roundRect">
            <a:avLst>
              <a:gd name="adj" fmla="val 11708"/>
            </a:avLst>
          </a:prstGeom>
          <a:solidFill>
            <a:srgbClr val="FDFDFC"/>
          </a:solidFill>
          <a:ln w="6350">
            <a:solidFill>
              <a:srgbClr val="D9E0E8"/>
            </a:solidFill>
            <a:prstDash val="solid"/>
          </a:ln>
        </p:spPr>
      </p:sp>
      <p:sp>
        <p:nvSpPr>
          <p:cNvPr id="7" name="Text 5"/>
          <p:cNvSpPr/>
          <p:nvPr/>
        </p:nvSpPr>
        <p:spPr>
          <a:xfrm>
            <a:off x="996950" y="5040461"/>
            <a:ext cx="4957699" cy="50413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4536A"/>
                </a:solidFill>
                <a:latin typeface="IBM Plex Sans" pitchFamily="34" charset="0"/>
                <a:ea typeface="IBM Plex Sans" pitchFamily="34" charset="-122"/>
                <a:cs typeface="IBM Plex Sans" pitchFamily="34" charset="-120"/>
              </a:rPr>
              <a:t>--mount</a:t>
            </a:r>
            <a:r>
              <a:rPr lang="en-US" sz="1300" dirty="0">
                <a:solidFill>
                  <a:srgbClr val="44536A"/>
                </a:solidFill>
                <a:latin typeface="IBM Plex Sans" pitchFamily="34" charset="0"/>
                <a:ea typeface="IBM Plex Sans" pitchFamily="34" charset="-122"/>
                <a:cs typeface="IBM Plex Sans" pitchFamily="34" charset="-120"/>
              </a:rPr>
              <a:t> daha açık: yol yoksa hata verir, -v ise sessizce boş klasör oluşturur.</a:t>
            </a:r>
            <a:endParaRPr lang="en-US" sz="1300" dirty="0"/>
          </a:p>
        </p:txBody>
      </p:sp>
      <p:sp>
        <p:nvSpPr>
          <p:cNvPr id="8" name="Shape 6"/>
          <p:cNvSpPr/>
          <p:nvPr/>
        </p:nvSpPr>
        <p:spPr>
          <a:xfrm>
            <a:off x="6200775" y="4859486"/>
            <a:ext cx="5175250" cy="840680"/>
          </a:xfrm>
          <a:prstGeom prst="roundRect">
            <a:avLst>
              <a:gd name="adj" fmla="val 11708"/>
            </a:avLst>
          </a:prstGeom>
          <a:solidFill>
            <a:srgbClr val="FFF6E9"/>
          </a:solidFill>
          <a:ln w="6350">
            <a:solidFill>
              <a:srgbClr val="F2C48D"/>
            </a:solidFill>
            <a:prstDash val="solid"/>
          </a:ln>
        </p:spPr>
      </p:sp>
      <p:sp>
        <p:nvSpPr>
          <p:cNvPr id="9" name="Text 7"/>
          <p:cNvSpPr/>
          <p:nvPr/>
        </p:nvSpPr>
        <p:spPr>
          <a:xfrm>
            <a:off x="6381750" y="5040461"/>
            <a:ext cx="4957699" cy="50413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A1D0F"/>
                </a:solidFill>
                <a:latin typeface="IBM Plex Sans" pitchFamily="34" charset="0"/>
                <a:ea typeface="IBM Plex Sans" pitchFamily="34" charset="-122"/>
                <a:cs typeface="IBM Plex Sans" pitchFamily="34" charset="-120"/>
              </a:rPr>
              <a:t>docker compose down -v</a:t>
            </a:r>
            <a:r>
              <a:rPr lang="en-US" sz="1300" dirty="0">
                <a:solidFill>
                  <a:srgbClr val="2A1D0F"/>
                </a:solidFill>
                <a:latin typeface="IBM Plex Sans" pitchFamily="34" charset="0"/>
                <a:ea typeface="IBM Plex Sans" pitchFamily="34" charset="-122"/>
                <a:cs typeface="IBM Plex Sans" pitchFamily="34" charset="-120"/>
              </a:rPr>
              <a:t> ve </a:t>
            </a:r>
            <a:r>
              <a:rPr lang="en-US" sz="1300" b="1" dirty="0">
                <a:solidFill>
                  <a:srgbClr val="2A1D0F"/>
                </a:solidFill>
                <a:latin typeface="IBM Plex Sans" pitchFamily="34" charset="0"/>
                <a:ea typeface="IBM Plex Sans" pitchFamily="34" charset="-122"/>
                <a:cs typeface="IBM Plex Sans" pitchFamily="34" charset="-120"/>
              </a:rPr>
              <a:t>volume prune</a:t>
            </a:r>
            <a:r>
              <a:rPr lang="en-US" sz="1300" dirty="0">
                <a:solidFill>
                  <a:srgbClr val="2A1D0F"/>
                </a:solidFill>
                <a:latin typeface="IBM Plex Sans" pitchFamily="34" charset="0"/>
                <a:ea typeface="IBM Plex Sans" pitchFamily="34" charset="-122"/>
                <a:cs typeface="IBM Plex Sans" pitchFamily="34" charset="-120"/>
              </a:rPr>
              <a:t> veriyi kalıcı olarak siler.</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8 · BIND MOUNT</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Kaydedin, yenileyin: build yok</a:t>
            </a:r>
            <a:endParaRPr lang="en-US" sz="3200" dirty="0"/>
          </a:p>
        </p:txBody>
      </p:sp>
      <p:sp>
        <p:nvSpPr>
          <p:cNvPr id="4" name="Shape 2"/>
          <p:cNvSpPr/>
          <p:nvPr/>
        </p:nvSpPr>
        <p:spPr>
          <a:xfrm>
            <a:off x="812800" y="2001441"/>
            <a:ext cx="10566400" cy="1137890"/>
          </a:xfrm>
          <a:prstGeom prst="roundRect">
            <a:avLst>
              <a:gd name="adj" fmla="val 8929"/>
            </a:avLst>
          </a:prstGeom>
          <a:solidFill>
            <a:srgbClr val="0F1B2D"/>
          </a:solidFill>
          <a:ln/>
        </p:spPr>
      </p:sp>
      <p:sp>
        <p:nvSpPr>
          <p:cNvPr id="5" name="Text 3"/>
          <p:cNvSpPr/>
          <p:nvPr/>
        </p:nvSpPr>
        <p:spPr>
          <a:xfrm>
            <a:off x="1066800" y="2204641"/>
            <a:ext cx="10360152"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cd ornekler/08-volume</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docker run -d --name canli -p 8080:80 \</a:t>
            </a:r>
            <a:endParaRPr lang="en-US" sz="1200" dirty="0"/>
          </a:p>
          <a:p>
            <a:pPr algn="l" indent="0" marL="0">
              <a:lnSpc>
                <a:spcPts val="1920"/>
              </a:lnSpc>
              <a:buNone/>
            </a:pPr>
            <a:r>
              <a:rPr lang="en-US" sz="1200" dirty="0">
                <a:solidFill>
                  <a:srgbClr val="D6E2F0"/>
                </a:solidFill>
                <a:latin typeface="JetBrains Mono" pitchFamily="34" charset="0"/>
                <a:ea typeface="JetBrains Mono" pitchFamily="34" charset="-122"/>
                <a:cs typeface="JetBrains Mono" pitchFamily="34" charset="-120"/>
              </a:rPr>
              <a:t>  -v "${PWD}/html:/usr/share/nginx/html</a:t>
            </a:r>
            <a:r>
              <a:rPr lang="en-US" sz="1200" dirty="0">
                <a:solidFill>
                  <a:srgbClr val="7CC4FF"/>
                </a:solidFill>
                <a:latin typeface="JetBrains Mono" pitchFamily="34" charset="0"/>
                <a:ea typeface="JetBrains Mono" pitchFamily="34" charset="-122"/>
                <a:cs typeface="JetBrains Mono" pitchFamily="34" charset="-120"/>
              </a:rPr>
              <a:t>:ro</a:t>
            </a:r>
            <a:r>
              <a:rPr lang="en-US" sz="1200" dirty="0">
                <a:solidFill>
                  <a:srgbClr val="D6E2F0"/>
                </a:solidFill>
                <a:latin typeface="JetBrains Mono" pitchFamily="34" charset="0"/>
                <a:ea typeface="JetBrains Mono" pitchFamily="34" charset="-122"/>
                <a:cs typeface="JetBrains Mono" pitchFamily="34" charset="-120"/>
              </a:rPr>
              <a:t>" nginx:1.27-alpine</a:t>
            </a:r>
            <a:endParaRPr lang="en-US" sz="1200" dirty="0"/>
          </a:p>
        </p:txBody>
      </p:sp>
      <p:sp>
        <p:nvSpPr>
          <p:cNvPr id="6" name="Shape 4"/>
          <p:cNvSpPr/>
          <p:nvPr/>
        </p:nvSpPr>
        <p:spPr>
          <a:xfrm>
            <a:off x="815975" y="3396506"/>
            <a:ext cx="3414167" cy="1211511"/>
          </a:xfrm>
          <a:prstGeom prst="roundRect">
            <a:avLst>
              <a:gd name="adj" fmla="val 8124"/>
            </a:avLst>
          </a:prstGeom>
          <a:solidFill>
            <a:srgbClr val="FDFDFC"/>
          </a:solidFill>
          <a:ln w="6350">
            <a:solidFill>
              <a:srgbClr val="D9E0E8"/>
            </a:solidFill>
            <a:prstDash val="solid"/>
          </a:ln>
        </p:spPr>
      </p:sp>
      <p:sp>
        <p:nvSpPr>
          <p:cNvPr id="7" name="Text 5"/>
          <p:cNvSpPr/>
          <p:nvPr/>
        </p:nvSpPr>
        <p:spPr>
          <a:xfrm>
            <a:off x="1022350" y="360288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Canlı geliştirme</a:t>
            </a:r>
            <a:endParaRPr lang="en-US" sz="1600" dirty="0"/>
          </a:p>
        </p:txBody>
      </p:sp>
      <p:sp>
        <p:nvSpPr>
          <p:cNvPr id="8" name="Text 6"/>
          <p:cNvSpPr/>
          <p:nvPr/>
        </p:nvSpPr>
        <p:spPr>
          <a:xfrm>
            <a:off x="1022350" y="3922911"/>
            <a:ext cx="3091459"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4536A"/>
                </a:solidFill>
                <a:latin typeface="IBM Plex Sans" pitchFamily="34" charset="0"/>
                <a:ea typeface="IBM Plex Sans" pitchFamily="34" charset="-122"/>
                <a:cs typeface="IBM Plex Sans" pitchFamily="34" charset="-120"/>
              </a:rPr>
              <a:t>html/index.html'i editörde değiştirin, tarayıcıyı yenileyin.</a:t>
            </a:r>
            <a:endParaRPr lang="en-US" sz="1300" dirty="0"/>
          </a:p>
        </p:txBody>
      </p:sp>
      <p:sp>
        <p:nvSpPr>
          <p:cNvPr id="9" name="Shape 7"/>
          <p:cNvSpPr/>
          <p:nvPr/>
        </p:nvSpPr>
        <p:spPr>
          <a:xfrm>
            <a:off x="4388892" y="3396506"/>
            <a:ext cx="3414167" cy="1211511"/>
          </a:xfrm>
          <a:prstGeom prst="roundRect">
            <a:avLst>
              <a:gd name="adj" fmla="val 8124"/>
            </a:avLst>
          </a:prstGeom>
          <a:solidFill>
            <a:srgbClr val="FDFDFC"/>
          </a:solidFill>
          <a:ln w="6350">
            <a:solidFill>
              <a:srgbClr val="D9E0E8"/>
            </a:solidFill>
            <a:prstDash val="solid"/>
          </a:ln>
        </p:spPr>
      </p:sp>
      <p:sp>
        <p:nvSpPr>
          <p:cNvPr id="10" name="Text 8"/>
          <p:cNvSpPr/>
          <p:nvPr/>
        </p:nvSpPr>
        <p:spPr>
          <a:xfrm>
            <a:off x="4595267" y="360288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:ro</a:t>
            </a:r>
            <a:endParaRPr lang="en-US" sz="1600" dirty="0"/>
          </a:p>
        </p:txBody>
      </p:sp>
      <p:sp>
        <p:nvSpPr>
          <p:cNvPr id="11" name="Text 9"/>
          <p:cNvSpPr/>
          <p:nvPr/>
        </p:nvSpPr>
        <p:spPr>
          <a:xfrm>
            <a:off x="4595267" y="3922911"/>
            <a:ext cx="3091459"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4536A"/>
                </a:solidFill>
                <a:latin typeface="IBM Plex Sans" pitchFamily="34" charset="0"/>
                <a:ea typeface="IBM Plex Sans" pitchFamily="34" charset="-122"/>
                <a:cs typeface="IBM Plex Sans" pitchFamily="34" charset="-120"/>
              </a:rPr>
              <a:t>Container içinden yazma: Read-only file system.</a:t>
            </a:r>
            <a:endParaRPr lang="en-US" sz="1300" dirty="0"/>
          </a:p>
        </p:txBody>
      </p:sp>
      <p:sp>
        <p:nvSpPr>
          <p:cNvPr id="12" name="Shape 10"/>
          <p:cNvSpPr/>
          <p:nvPr/>
        </p:nvSpPr>
        <p:spPr>
          <a:xfrm>
            <a:off x="7961809" y="3396506"/>
            <a:ext cx="3414216" cy="1211511"/>
          </a:xfrm>
          <a:prstGeom prst="roundRect">
            <a:avLst>
              <a:gd name="adj" fmla="val 8124"/>
            </a:avLst>
          </a:prstGeom>
          <a:solidFill>
            <a:srgbClr val="FFF6E9"/>
          </a:solidFill>
          <a:ln w="6350">
            <a:solidFill>
              <a:srgbClr val="F2C48D"/>
            </a:solidFill>
            <a:prstDash val="solid"/>
          </a:ln>
        </p:spPr>
      </p:sp>
      <p:sp>
        <p:nvSpPr>
          <p:cNvPr id="13" name="Text 11"/>
          <p:cNvSpPr/>
          <p:nvPr/>
        </p:nvSpPr>
        <p:spPr>
          <a:xfrm>
            <a:off x="8168184" y="360288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Dikkat</a:t>
            </a:r>
            <a:endParaRPr lang="en-US" sz="1600" dirty="0"/>
          </a:p>
        </p:txBody>
      </p:sp>
      <p:sp>
        <p:nvSpPr>
          <p:cNvPr id="14" name="Text 12"/>
          <p:cNvSpPr/>
          <p:nvPr/>
        </p:nvSpPr>
        <p:spPr>
          <a:xfrm>
            <a:off x="8168184" y="3922911"/>
            <a:ext cx="309151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A1D0F"/>
                </a:solidFill>
                <a:latin typeface="IBM Plex Sans" pitchFamily="34" charset="0"/>
                <a:ea typeface="IBM Plex Sans" pitchFamily="34" charset="-122"/>
                <a:cs typeface="IBM Plex Sans" pitchFamily="34" charset="-120"/>
              </a:rPr>
              <a:t>Bind mount, image'daki aynı yolun içeriğini tamamen örter.</a:t>
            </a:r>
            <a:endParaRPr lang="en-US" sz="1300" dirty="0"/>
          </a:p>
        </p:txBody>
      </p:sp>
      <p:sp>
        <p:nvSpPr>
          <p:cNvPr id="15" name="Text 13"/>
          <p:cNvSpPr/>
          <p:nvPr/>
        </p:nvSpPr>
        <p:spPr>
          <a:xfrm>
            <a:off x="812800" y="4865191"/>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tmpfs: </a:t>
            </a:r>
            <a:r>
              <a:rPr lang="en-US" sz="1400" b="1" dirty="0">
                <a:solidFill>
                  <a:srgbClr val="44536A"/>
                </a:solidFill>
                <a:latin typeface="IBM Plex Sans" pitchFamily="34" charset="0"/>
                <a:ea typeface="IBM Plex Sans" pitchFamily="34" charset="-122"/>
                <a:cs typeface="IBM Plex Sans" pitchFamily="34" charset="-120"/>
              </a:rPr>
              <a:t>--tmpfs /gecici:size=16m</a:t>
            </a:r>
            <a:r>
              <a:rPr lang="en-US" sz="1400" dirty="0">
                <a:solidFill>
                  <a:srgbClr val="44536A"/>
                </a:solidFill>
                <a:latin typeface="IBM Plex Sans" pitchFamily="34" charset="0"/>
                <a:ea typeface="IBM Plex Sans" pitchFamily="34" charset="-122"/>
                <a:cs typeface="IBM Plex Sans" pitchFamily="34" charset="-120"/>
              </a:rPr>
              <a:t> — RAM'de yaşar, diske hiç yazılmaz.</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8 · YEDEKLEME</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Geçici bir container ile yedek al, geri yükle</a:t>
            </a:r>
            <a:endParaRPr lang="en-US" sz="3200" dirty="0"/>
          </a:p>
        </p:txBody>
      </p:sp>
      <p:sp>
        <p:nvSpPr>
          <p:cNvPr id="4" name="Text 2"/>
          <p:cNvSpPr/>
          <p:nvPr/>
        </p:nvSpPr>
        <p:spPr>
          <a:xfrm>
            <a:off x="812800" y="2249091"/>
            <a:ext cx="1447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63ED"/>
                </a:solidFill>
                <a:latin typeface="IBM Plex Sans" pitchFamily="34" charset="0"/>
                <a:ea typeface="IBM Plex Sans" pitchFamily="34" charset="-122"/>
                <a:cs typeface="IBM Plex Sans" pitchFamily="34" charset="-120"/>
              </a:rPr>
              <a:t>Yedek</a:t>
            </a:r>
            <a:endParaRPr lang="en-US" sz="1500" dirty="0"/>
          </a:p>
        </p:txBody>
      </p:sp>
      <p:sp>
        <p:nvSpPr>
          <p:cNvPr id="5" name="Shape 3"/>
          <p:cNvSpPr/>
          <p:nvPr/>
        </p:nvSpPr>
        <p:spPr>
          <a:xfrm>
            <a:off x="2413000" y="2001441"/>
            <a:ext cx="8966200" cy="762000"/>
          </a:xfrm>
          <a:prstGeom prst="roundRect">
            <a:avLst>
              <a:gd name="adj" fmla="val 10000"/>
            </a:avLst>
          </a:prstGeom>
          <a:solidFill>
            <a:srgbClr val="0F1B2D"/>
          </a:solidFill>
          <a:ln/>
        </p:spPr>
      </p:sp>
      <p:sp>
        <p:nvSpPr>
          <p:cNvPr id="6" name="Text 4"/>
          <p:cNvSpPr/>
          <p:nvPr/>
        </p:nvSpPr>
        <p:spPr>
          <a:xfrm>
            <a:off x="2616200" y="2153841"/>
            <a:ext cx="881659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docker run --rm -v pgdata:/kaynak:ro -v "${PWD}:/yedek" alpine:3.20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tar czf /yedek/pgdata-yedek.tar.gz -C /kaynak .</a:t>
            </a:r>
            <a:endParaRPr lang="en-US" sz="1200" dirty="0"/>
          </a:p>
        </p:txBody>
      </p:sp>
      <p:sp>
        <p:nvSpPr>
          <p:cNvPr id="7" name="Text 5"/>
          <p:cNvSpPr/>
          <p:nvPr/>
        </p:nvSpPr>
        <p:spPr>
          <a:xfrm>
            <a:off x="812800" y="3277791"/>
            <a:ext cx="1447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63ED"/>
                </a:solidFill>
                <a:latin typeface="IBM Plex Sans" pitchFamily="34" charset="0"/>
                <a:ea typeface="IBM Plex Sans" pitchFamily="34" charset="-122"/>
                <a:cs typeface="IBM Plex Sans" pitchFamily="34" charset="-120"/>
              </a:rPr>
              <a:t>Geri yükle</a:t>
            </a:r>
            <a:endParaRPr lang="en-US" sz="1500" dirty="0"/>
          </a:p>
        </p:txBody>
      </p:sp>
      <p:sp>
        <p:nvSpPr>
          <p:cNvPr id="8" name="Shape 6"/>
          <p:cNvSpPr/>
          <p:nvPr/>
        </p:nvSpPr>
        <p:spPr>
          <a:xfrm>
            <a:off x="2413000" y="2915841"/>
            <a:ext cx="8966200" cy="990600"/>
          </a:xfrm>
          <a:prstGeom prst="roundRect">
            <a:avLst>
              <a:gd name="adj" fmla="val 7692"/>
            </a:avLst>
          </a:prstGeom>
          <a:solidFill>
            <a:srgbClr val="0F1B2D"/>
          </a:solidFill>
          <a:ln/>
        </p:spPr>
      </p:sp>
      <p:sp>
        <p:nvSpPr>
          <p:cNvPr id="9" name="Text 7"/>
          <p:cNvSpPr/>
          <p:nvPr/>
        </p:nvSpPr>
        <p:spPr>
          <a:xfrm>
            <a:off x="2616200" y="3068241"/>
            <a:ext cx="8816594"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docker volume create pgdata-geri</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docker run --rm -v pgdata-geri:/hedef -v "${PWD}:/yedek:ro" alpine:3.20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tar xzf /yedek/pgdata-yedek.tar.gz -C /hedef</a:t>
            </a:r>
            <a:endParaRPr lang="en-US" sz="1200" dirty="0"/>
          </a:p>
        </p:txBody>
      </p:sp>
      <p:sp>
        <p:nvSpPr>
          <p:cNvPr id="10" name="Text 8"/>
          <p:cNvSpPr/>
          <p:nvPr/>
        </p:nvSpPr>
        <p:spPr>
          <a:xfrm>
            <a:off x="812800" y="4192191"/>
            <a:ext cx="1447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63ED"/>
                </a:solidFill>
                <a:latin typeface="IBM Plex Sans" pitchFamily="34" charset="0"/>
                <a:ea typeface="IBM Plex Sans" pitchFamily="34" charset="-122"/>
                <a:cs typeface="IBM Plex Sans" pitchFamily="34" charset="-120"/>
              </a:rPr>
              <a:t>Canlı DB</a:t>
            </a:r>
            <a:endParaRPr lang="en-US" sz="1500" dirty="0"/>
          </a:p>
        </p:txBody>
      </p:sp>
      <p:sp>
        <p:nvSpPr>
          <p:cNvPr id="11" name="Shape 9"/>
          <p:cNvSpPr/>
          <p:nvPr/>
        </p:nvSpPr>
        <p:spPr>
          <a:xfrm>
            <a:off x="2413000" y="4058841"/>
            <a:ext cx="8966200" cy="533400"/>
          </a:xfrm>
          <a:prstGeom prst="roundRect">
            <a:avLst>
              <a:gd name="adj" fmla="val 14286"/>
            </a:avLst>
          </a:prstGeom>
          <a:solidFill>
            <a:srgbClr val="0F1B2D"/>
          </a:solidFill>
          <a:ln/>
        </p:spPr>
      </p:sp>
      <p:sp>
        <p:nvSpPr>
          <p:cNvPr id="12" name="Text 10"/>
          <p:cNvSpPr/>
          <p:nvPr/>
        </p:nvSpPr>
        <p:spPr>
          <a:xfrm>
            <a:off x="2616200" y="4211241"/>
            <a:ext cx="881659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docker exec pg-yeni pg_dump -U postgres postgres &gt; yedek.sql</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08 · 60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Veriyi kaybedin, sonra koruyun</a:t>
            </a:r>
            <a:endParaRPr lang="en-US" sz="3200" dirty="0"/>
          </a:p>
        </p:txBody>
      </p:sp>
      <p:sp>
        <p:nvSpPr>
          <p:cNvPr id="4" name="Text 2"/>
          <p:cNvSpPr/>
          <p:nvPr/>
        </p:nvSpPr>
        <p:spPr>
          <a:xfrm>
            <a:off x="812800" y="2001441"/>
            <a:ext cx="55986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598668" cy="140330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Volume'suz postgres: veri kaybolur</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Named volume: veri container'dan bağımsız</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Bind mount ile canlı sayfa, :ro testi</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tmpfs denemesi</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tar ile yedek al ve yeni volume'a yükle</a:t>
            </a:r>
            <a:endParaRPr lang="en-US" sz="1400" dirty="0"/>
          </a:p>
        </p:txBody>
      </p:sp>
      <p:sp>
        <p:nvSpPr>
          <p:cNvPr id="6" name="Shape 4"/>
          <p:cNvSpPr/>
          <p:nvPr/>
        </p:nvSpPr>
        <p:spPr>
          <a:xfrm>
            <a:off x="6553200" y="2001441"/>
            <a:ext cx="4826000" cy="2113211"/>
          </a:xfrm>
          <a:prstGeom prst="roundRect">
            <a:avLst>
              <a:gd name="adj" fmla="val 4808"/>
            </a:avLst>
          </a:prstGeom>
          <a:solidFill>
            <a:srgbClr val="2A1D0F"/>
          </a:solidFill>
          <a:ln/>
        </p:spPr>
      </p:sp>
      <p:sp>
        <p:nvSpPr>
          <p:cNvPr id="7" name="Text 5"/>
          <p:cNvSpPr/>
          <p:nvPr/>
        </p:nvSpPr>
        <p:spPr>
          <a:xfrm>
            <a:off x="6807200" y="2204641"/>
            <a:ext cx="4447540"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volume create pgdata</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pg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-e POSTGRES_PASSWORD=egitim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-v pgdata:/var/lib/postgresql/data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postgres:16-alpine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volume ls</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volume inspect pgdata</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labs/08-volume-ve-bind-mount.md · Postgres açılışı için komutlar arasında ~5 sn bekleyin</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9 · KONFIGÜRASYON</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Bir kez build et, her ortamda çalıştır</a:t>
            </a:r>
            <a:endParaRPr lang="en-US" sz="3200" dirty="0"/>
          </a:p>
        </p:txBody>
      </p:sp>
      <p:sp>
        <p:nvSpPr>
          <p:cNvPr id="4" name="Shape 2"/>
          <p:cNvSpPr/>
          <p:nvPr/>
        </p:nvSpPr>
        <p:spPr>
          <a:xfrm>
            <a:off x="4937770" y="2001441"/>
            <a:ext cx="2316460" cy="589260"/>
          </a:xfrm>
          <a:prstGeom prst="roundRect">
            <a:avLst>
              <a:gd name="adj" fmla="val 17242"/>
            </a:avLst>
          </a:prstGeom>
          <a:solidFill>
            <a:srgbClr val="0F1B2D"/>
          </a:solidFill>
          <a:ln/>
        </p:spPr>
      </p:sp>
      <p:sp>
        <p:nvSpPr>
          <p:cNvPr id="5" name="Text 3"/>
          <p:cNvSpPr/>
          <p:nvPr/>
        </p:nvSpPr>
        <p:spPr>
          <a:xfrm>
            <a:off x="5242570" y="2153841"/>
            <a:ext cx="175806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6F8"/>
                </a:solidFill>
                <a:latin typeface="JetBrains Mono" pitchFamily="34" charset="0"/>
                <a:ea typeface="JetBrains Mono" pitchFamily="34" charset="-122"/>
                <a:cs typeface="JetBrains Mono" pitchFamily="34" charset="-120"/>
              </a:rPr>
              <a:t>env-demo:1.4.2</a:t>
            </a:r>
            <a:endParaRPr lang="en-US" sz="1600" dirty="0"/>
          </a:p>
        </p:txBody>
      </p:sp>
      <p:pic>
        <p:nvPicPr>
          <p:cNvPr id="6" name="Image 0" descr="arrow-down">    </p:cNvPr>
          <p:cNvPicPr>
            <a:picLocks noChangeAspect="1"/>
          </p:cNvPicPr>
          <p:nvPr/>
        </p:nvPicPr>
        <p:blipFill>
          <a:blip r:embed="rId1"/>
          <a:srcRect l="0" r="0" t="0" b="0"/>
          <a:stretch/>
        </p:blipFill>
        <p:spPr>
          <a:xfrm>
            <a:off x="2726234" y="2743101"/>
            <a:ext cx="254000" cy="406400"/>
          </a:xfrm>
          <a:prstGeom prst="rect">
            <a:avLst/>
          </a:prstGeom>
        </p:spPr>
      </p:pic>
      <p:sp>
        <p:nvSpPr>
          <p:cNvPr id="7" name="Text 4"/>
          <p:cNvSpPr/>
          <p:nvPr/>
        </p:nvSpPr>
        <p:spPr>
          <a:xfrm>
            <a:off x="2121743" y="3225701"/>
            <a:ext cx="1513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36A"/>
                </a:solidFill>
                <a:latin typeface="JetBrains Mono" pitchFamily="34" charset="0"/>
                <a:ea typeface="JetBrains Mono" pitchFamily="34" charset="-122"/>
                <a:cs typeface="JetBrains Mono" pitchFamily="34" charset="-120"/>
              </a:rPr>
              <a:t>-e APP_ORTAM=dev</a:t>
            </a:r>
            <a:endParaRPr lang="en-US" sz="1200" dirty="0"/>
          </a:p>
        </p:txBody>
      </p:sp>
      <p:sp>
        <p:nvSpPr>
          <p:cNvPr id="8" name="Shape 5"/>
          <p:cNvSpPr/>
          <p:nvPr/>
        </p:nvSpPr>
        <p:spPr>
          <a:xfrm>
            <a:off x="1456234" y="3515221"/>
            <a:ext cx="2794000" cy="571500"/>
          </a:xfrm>
          <a:prstGeom prst="roundRect">
            <a:avLst>
              <a:gd name="adj" fmla="val 13333"/>
            </a:avLst>
          </a:prstGeom>
          <a:solidFill>
            <a:srgbClr val="5E6A7A"/>
          </a:solidFill>
          <a:ln/>
        </p:spPr>
      </p:sp>
      <p:sp>
        <p:nvSpPr>
          <p:cNvPr id="9" name="Text 6"/>
          <p:cNvSpPr/>
          <p:nvPr/>
        </p:nvSpPr>
        <p:spPr>
          <a:xfrm>
            <a:off x="1571296" y="3667621"/>
            <a:ext cx="2563876"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6F8"/>
                </a:solidFill>
                <a:latin typeface="IBM Plex Sans" pitchFamily="34" charset="0"/>
                <a:ea typeface="IBM Plex Sans" pitchFamily="34" charset="-122"/>
                <a:cs typeface="IBM Plex Sans" pitchFamily="34" charset="-120"/>
              </a:rPr>
              <a:t>Geliştirme</a:t>
            </a:r>
            <a:endParaRPr lang="en-US" sz="1500" dirty="0"/>
          </a:p>
        </p:txBody>
      </p:sp>
      <p:pic>
        <p:nvPicPr>
          <p:cNvPr id="10" name="Image 1" descr="arrow-down">    </p:cNvPr>
          <p:cNvPicPr>
            <a:picLocks noChangeAspect="1"/>
          </p:cNvPicPr>
          <p:nvPr/>
        </p:nvPicPr>
        <p:blipFill>
          <a:blip r:embed="rId2"/>
          <a:srcRect l="0" r="0" t="0" b="0"/>
          <a:stretch/>
        </p:blipFill>
        <p:spPr>
          <a:xfrm>
            <a:off x="5969000" y="2743101"/>
            <a:ext cx="254000" cy="406400"/>
          </a:xfrm>
          <a:prstGeom prst="rect">
            <a:avLst/>
          </a:prstGeom>
        </p:spPr>
      </p:pic>
      <p:sp>
        <p:nvSpPr>
          <p:cNvPr id="11" name="Text 7"/>
          <p:cNvSpPr/>
          <p:nvPr/>
        </p:nvSpPr>
        <p:spPr>
          <a:xfrm>
            <a:off x="5227290" y="3225701"/>
            <a:ext cx="17894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36A"/>
                </a:solidFill>
                <a:latin typeface="JetBrains Mono" pitchFamily="34" charset="0"/>
                <a:ea typeface="JetBrains Mono" pitchFamily="34" charset="-122"/>
                <a:cs typeface="JetBrains Mono" pitchFamily="34" charset="-120"/>
              </a:rPr>
              <a:t>--env-file test.env</a:t>
            </a:r>
            <a:endParaRPr lang="en-US" sz="1200" dirty="0"/>
          </a:p>
        </p:txBody>
      </p:sp>
      <p:sp>
        <p:nvSpPr>
          <p:cNvPr id="12" name="Shape 8"/>
          <p:cNvSpPr/>
          <p:nvPr/>
        </p:nvSpPr>
        <p:spPr>
          <a:xfrm>
            <a:off x="4699000" y="3515221"/>
            <a:ext cx="2794000" cy="571500"/>
          </a:xfrm>
          <a:prstGeom prst="roundRect">
            <a:avLst>
              <a:gd name="adj" fmla="val 13333"/>
            </a:avLst>
          </a:prstGeom>
          <a:solidFill>
            <a:srgbClr val="B4540A"/>
          </a:solidFill>
          <a:ln/>
        </p:spPr>
      </p:sp>
      <p:sp>
        <p:nvSpPr>
          <p:cNvPr id="13" name="Text 9"/>
          <p:cNvSpPr/>
          <p:nvPr/>
        </p:nvSpPr>
        <p:spPr>
          <a:xfrm>
            <a:off x="4814062" y="3667621"/>
            <a:ext cx="2563876"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6F8"/>
                </a:solidFill>
                <a:latin typeface="IBM Plex Sans" pitchFamily="34" charset="0"/>
                <a:ea typeface="IBM Plex Sans" pitchFamily="34" charset="-122"/>
                <a:cs typeface="IBM Plex Sans" pitchFamily="34" charset="-120"/>
              </a:rPr>
              <a:t>Test</a:t>
            </a:r>
            <a:endParaRPr lang="en-US" sz="1500" dirty="0"/>
          </a:p>
        </p:txBody>
      </p:sp>
      <p:pic>
        <p:nvPicPr>
          <p:cNvPr id="14" name="Image 2" descr="arrow-down">    </p:cNvPr>
          <p:cNvPicPr>
            <a:picLocks noChangeAspect="1"/>
          </p:cNvPicPr>
          <p:nvPr/>
        </p:nvPicPr>
        <p:blipFill>
          <a:blip r:embed="rId3"/>
          <a:srcRect l="0" r="0" t="0" b="0"/>
          <a:stretch/>
        </p:blipFill>
        <p:spPr>
          <a:xfrm>
            <a:off x="9211717" y="2743101"/>
            <a:ext cx="254000" cy="406400"/>
          </a:xfrm>
          <a:prstGeom prst="rect">
            <a:avLst/>
          </a:prstGeom>
        </p:spPr>
      </p:pic>
      <p:sp>
        <p:nvSpPr>
          <p:cNvPr id="15" name="Text 10"/>
          <p:cNvSpPr/>
          <p:nvPr/>
        </p:nvSpPr>
        <p:spPr>
          <a:xfrm>
            <a:off x="8470057" y="3225701"/>
            <a:ext cx="17894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36A"/>
                </a:solidFill>
                <a:latin typeface="JetBrains Mono" pitchFamily="34" charset="0"/>
                <a:ea typeface="JetBrains Mono" pitchFamily="34" charset="-122"/>
                <a:cs typeface="JetBrains Mono" pitchFamily="34" charset="-120"/>
              </a:rPr>
              <a:t>--env-file prod.env</a:t>
            </a:r>
            <a:endParaRPr lang="en-US" sz="1200" dirty="0"/>
          </a:p>
        </p:txBody>
      </p:sp>
      <p:sp>
        <p:nvSpPr>
          <p:cNvPr id="16" name="Shape 11"/>
          <p:cNvSpPr/>
          <p:nvPr/>
        </p:nvSpPr>
        <p:spPr>
          <a:xfrm>
            <a:off x="7941717" y="3515221"/>
            <a:ext cx="2794000" cy="571500"/>
          </a:xfrm>
          <a:prstGeom prst="roundRect">
            <a:avLst>
              <a:gd name="adj" fmla="val 13333"/>
            </a:avLst>
          </a:prstGeom>
          <a:solidFill>
            <a:srgbClr val="1B7F3B"/>
          </a:solidFill>
          <a:ln/>
        </p:spPr>
      </p:sp>
      <p:sp>
        <p:nvSpPr>
          <p:cNvPr id="17" name="Text 12"/>
          <p:cNvSpPr/>
          <p:nvPr/>
        </p:nvSpPr>
        <p:spPr>
          <a:xfrm>
            <a:off x="8056779" y="3667621"/>
            <a:ext cx="2563876"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6F8"/>
                </a:solidFill>
                <a:latin typeface="IBM Plex Sans" pitchFamily="34" charset="0"/>
                <a:ea typeface="IBM Plex Sans" pitchFamily="34" charset="-122"/>
                <a:cs typeface="IBM Plex Sans" pitchFamily="34" charset="-120"/>
              </a:rPr>
              <a:t>Production</a:t>
            </a:r>
            <a:endParaRPr lang="en-US" sz="1500" dirty="0"/>
          </a:p>
        </p:txBody>
      </p:sp>
      <p:sp>
        <p:nvSpPr>
          <p:cNvPr id="18" name="Text 13"/>
          <p:cNvSpPr/>
          <p:nvPr/>
        </p:nvSpPr>
        <p:spPr>
          <a:xfrm>
            <a:off x="812800" y="434072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4536A"/>
                </a:solidFill>
                <a:latin typeface="IBM Plex Sans" pitchFamily="34" charset="0"/>
                <a:ea typeface="IBM Plex Sans" pitchFamily="34" charset="-122"/>
                <a:cs typeface="IBM Plex Sans" pitchFamily="34" charset="-120"/>
              </a:rPr>
              <a:t>12-Factor App, Madde III: ortama göre değişen her şey koda veya image'a gömülmez, çalışma anında verilir.</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9 · ARG, ENV VE ÖNCELIK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Hangi değer kazanır?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6311900" cy="1796604"/>
        </p:xfrm>
        <a:graphic>
          <a:graphicData uri="http://schemas.openxmlformats.org/drawingml/2006/table">
            <a:tbl>
              <a:tblPr/>
              <a:tblGrid>
                <a:gridCol w="2146046"/>
                <a:gridCol w="2082927"/>
                <a:gridCol w="2082927"/>
              </a:tblGrid>
              <a:tr h="35932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ARG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ENV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Geçerli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Sadece build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Build + runtime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Verilir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--build-arg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 --env-file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Container'da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Görünmez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Görünür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Kullanım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Sürüm, base tag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Uygulama ayarı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5" name="Shape 2"/>
          <p:cNvSpPr/>
          <p:nvPr/>
        </p:nvSpPr>
        <p:spPr>
          <a:xfrm>
            <a:off x="812800" y="3963144"/>
            <a:ext cx="6324600" cy="762000"/>
          </a:xfrm>
          <a:prstGeom prst="roundRect">
            <a:avLst>
              <a:gd name="adj" fmla="val 10000"/>
            </a:avLst>
          </a:prstGeom>
          <a:solidFill>
            <a:srgbClr val="0F1B2D"/>
          </a:solidFill>
          <a:ln/>
        </p:spPr>
      </p:sp>
      <p:sp>
        <p:nvSpPr>
          <p:cNvPr id="6" name="Text 3"/>
          <p:cNvSpPr/>
          <p:nvPr/>
        </p:nvSpPr>
        <p:spPr>
          <a:xfrm>
            <a:off x="1016000" y="4115544"/>
            <a:ext cx="609574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ARG BUILD_VERSIYON=dev</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ENV BUILD_VERSIYON=${BUILD_VERSIYON}  </a:t>
            </a:r>
            <a:r>
              <a:rPr lang="en-US" sz="1200" dirty="0">
                <a:solidFill>
                  <a:srgbClr val="8A9BB3"/>
                </a:solidFill>
                <a:latin typeface="JetBrains Mono" pitchFamily="34" charset="0"/>
                <a:ea typeface="JetBrains Mono" pitchFamily="34" charset="-122"/>
                <a:cs typeface="JetBrains Mono" pitchFamily="34" charset="-120"/>
              </a:rPr>
              <a:t># ARG → ENV</a:t>
            </a:r>
            <a:endParaRPr lang="en-US" sz="1200" dirty="0"/>
          </a:p>
        </p:txBody>
      </p:sp>
      <p:sp>
        <p:nvSpPr>
          <p:cNvPr id="7" name="Text 4"/>
          <p:cNvSpPr/>
          <p:nvPr/>
        </p:nvSpPr>
        <p:spPr>
          <a:xfrm>
            <a:off x="7442200" y="2001441"/>
            <a:ext cx="40551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63ED"/>
                </a:solidFill>
                <a:latin typeface="IBM Plex Sans" pitchFamily="34" charset="0"/>
                <a:ea typeface="IBM Plex Sans" pitchFamily="34" charset="-122"/>
                <a:cs typeface="IBM Plex Sans" pitchFamily="34" charset="-120"/>
              </a:rPr>
              <a:t>Öncelik (yüksekten düşüğe)</a:t>
            </a:r>
            <a:endParaRPr lang="en-US" sz="1300" dirty="0"/>
          </a:p>
        </p:txBody>
      </p:sp>
      <p:sp>
        <p:nvSpPr>
          <p:cNvPr id="8" name="Shape 5"/>
          <p:cNvSpPr/>
          <p:nvPr/>
        </p:nvSpPr>
        <p:spPr>
          <a:xfrm>
            <a:off x="7442200" y="2308771"/>
            <a:ext cx="3937000" cy="502890"/>
          </a:xfrm>
          <a:prstGeom prst="roundRect">
            <a:avLst>
              <a:gd name="adj" fmla="val 15152"/>
            </a:avLst>
          </a:prstGeom>
          <a:solidFill>
            <a:srgbClr val="0F1B2D"/>
          </a:solidFill>
          <a:ln/>
        </p:spPr>
      </p:sp>
      <p:sp>
        <p:nvSpPr>
          <p:cNvPr id="9" name="Text 6"/>
          <p:cNvSpPr/>
          <p:nvPr/>
        </p:nvSpPr>
        <p:spPr>
          <a:xfrm>
            <a:off x="7620000" y="2435771"/>
            <a:ext cx="36888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6F8"/>
                </a:solidFill>
                <a:latin typeface="IBM Plex Sans" pitchFamily="34" charset="0"/>
                <a:ea typeface="IBM Plex Sans" pitchFamily="34" charset="-122"/>
                <a:cs typeface="IBM Plex Sans" pitchFamily="34" charset="-120"/>
              </a:rPr>
              <a:t>1 · docker run -e</a:t>
            </a:r>
            <a:endParaRPr lang="en-US" sz="1400" dirty="0"/>
          </a:p>
        </p:txBody>
      </p:sp>
      <p:sp>
        <p:nvSpPr>
          <p:cNvPr id="10" name="Shape 7"/>
          <p:cNvSpPr/>
          <p:nvPr/>
        </p:nvSpPr>
        <p:spPr>
          <a:xfrm>
            <a:off x="7442200" y="2887861"/>
            <a:ext cx="3937000" cy="502890"/>
          </a:xfrm>
          <a:prstGeom prst="roundRect">
            <a:avLst>
              <a:gd name="adj" fmla="val 15152"/>
            </a:avLst>
          </a:prstGeom>
          <a:solidFill>
            <a:srgbClr val="6A9BF3"/>
          </a:solidFill>
          <a:ln/>
        </p:spPr>
      </p:sp>
      <p:sp>
        <p:nvSpPr>
          <p:cNvPr id="11" name="Text 8"/>
          <p:cNvSpPr/>
          <p:nvPr/>
        </p:nvSpPr>
        <p:spPr>
          <a:xfrm>
            <a:off x="7620000" y="3014861"/>
            <a:ext cx="36888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2 · --env-file</a:t>
            </a:r>
            <a:endParaRPr lang="en-US" sz="1400" dirty="0"/>
          </a:p>
        </p:txBody>
      </p:sp>
      <p:sp>
        <p:nvSpPr>
          <p:cNvPr id="12" name="Shape 9"/>
          <p:cNvSpPr/>
          <p:nvPr/>
        </p:nvSpPr>
        <p:spPr>
          <a:xfrm>
            <a:off x="7442200" y="3466951"/>
            <a:ext cx="3937000" cy="502890"/>
          </a:xfrm>
          <a:prstGeom prst="roundRect">
            <a:avLst>
              <a:gd name="adj" fmla="val 15152"/>
            </a:avLst>
          </a:prstGeom>
          <a:solidFill>
            <a:srgbClr val="A9C4F0"/>
          </a:solidFill>
          <a:ln/>
        </p:spPr>
      </p:sp>
      <p:sp>
        <p:nvSpPr>
          <p:cNvPr id="13" name="Text 10"/>
          <p:cNvSpPr/>
          <p:nvPr/>
        </p:nvSpPr>
        <p:spPr>
          <a:xfrm>
            <a:off x="7620000" y="3593951"/>
            <a:ext cx="36888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3 · Dockerfile ENV</a:t>
            </a:r>
            <a:endParaRPr lang="en-US" sz="1400" dirty="0"/>
          </a:p>
        </p:txBody>
      </p:sp>
      <p:sp>
        <p:nvSpPr>
          <p:cNvPr id="14" name="Shape 11"/>
          <p:cNvSpPr/>
          <p:nvPr/>
        </p:nvSpPr>
        <p:spPr>
          <a:xfrm>
            <a:off x="7442200" y="4046041"/>
            <a:ext cx="3937000" cy="502890"/>
          </a:xfrm>
          <a:prstGeom prst="roundRect">
            <a:avLst>
              <a:gd name="adj" fmla="val 15152"/>
            </a:avLst>
          </a:prstGeom>
          <a:solidFill>
            <a:srgbClr val="D6E4FA"/>
          </a:solidFill>
          <a:ln/>
        </p:spPr>
      </p:sp>
      <p:sp>
        <p:nvSpPr>
          <p:cNvPr id="15" name="Text 12"/>
          <p:cNvSpPr/>
          <p:nvPr/>
        </p:nvSpPr>
        <p:spPr>
          <a:xfrm>
            <a:off x="7620000" y="4173041"/>
            <a:ext cx="36888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4 · Koddaki varsayılan</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9 · GIZLI BILGILER</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Environment variable gizli değildir</a:t>
            </a:r>
            <a:endParaRPr lang="en-US" sz="3200" dirty="0"/>
          </a:p>
        </p:txBody>
      </p:sp>
      <p:sp>
        <p:nvSpPr>
          <p:cNvPr id="4" name="Shape 2"/>
          <p:cNvSpPr/>
          <p:nvPr/>
        </p:nvSpPr>
        <p:spPr>
          <a:xfrm>
            <a:off x="812800" y="2001441"/>
            <a:ext cx="5486400" cy="990600"/>
          </a:xfrm>
          <a:prstGeom prst="roundRect">
            <a:avLst>
              <a:gd name="adj" fmla="val 7692"/>
            </a:avLst>
          </a:prstGeom>
          <a:solidFill>
            <a:srgbClr val="0F1B2D"/>
          </a:solidFill>
          <a:ln/>
        </p:spPr>
      </p:sp>
      <p:sp>
        <p:nvSpPr>
          <p:cNvPr id="5" name="Text 3"/>
          <p:cNvSpPr/>
          <p:nvPr/>
        </p:nvSpPr>
        <p:spPr>
          <a:xfrm>
            <a:off x="1016000" y="2153841"/>
            <a:ext cx="523240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docker inspect env-prod \</a:t>
            </a:r>
            <a:endParaRPr lang="en-US" sz="1200" dirty="0"/>
          </a:p>
          <a:p>
            <a:pPr algn="l" indent="0" marL="0">
              <a:lnSpc>
                <a:spcPts val="1800"/>
              </a:lnSpc>
              <a:buNone/>
            </a:pPr>
            <a:r>
              <a:rPr lang="en-US" sz="1200" dirty="0">
                <a:solidFill>
                  <a:srgbClr val="D6E2F0"/>
                </a:solidFill>
                <a:latin typeface="JetBrains Mono" pitchFamily="34" charset="0"/>
                <a:ea typeface="JetBrains Mono" pitchFamily="34" charset="-122"/>
                <a:cs typeface="JetBrains Mono" pitchFamily="34" charset="-120"/>
              </a:rPr>
              <a:t>  --format "{{json .Config.Env}}"</a:t>
            </a:r>
            <a:endParaRPr lang="en-US" sz="1200" dirty="0"/>
          </a:p>
          <a:p>
            <a:pPr algn="l" indent="0" marL="0">
              <a:lnSpc>
                <a:spcPts val="1800"/>
              </a:lnSpc>
              <a:buNone/>
            </a:pPr>
            <a:r>
              <a:rPr lang="en-US" sz="1200" dirty="0">
                <a:solidFill>
                  <a:srgbClr val="FFB86B"/>
                </a:solidFill>
                <a:latin typeface="JetBrains Mono" pitchFamily="34" charset="0"/>
                <a:ea typeface="JetBrains Mono" pitchFamily="34" charset="-122"/>
                <a:cs typeface="JetBrains Mono" pitchFamily="34" charset="-120"/>
              </a:rPr>
              <a:t>"DB_SIFRE=bu-gercekte-secret…"</a:t>
            </a:r>
            <a:endParaRPr lang="en-US" sz="1200" dirty="0"/>
          </a:p>
        </p:txBody>
      </p:sp>
      <p:sp>
        <p:nvSpPr>
          <p:cNvPr id="6" name="Text 4"/>
          <p:cNvSpPr/>
          <p:nvPr/>
        </p:nvSpPr>
        <p:spPr>
          <a:xfrm>
            <a:off x="812800" y="3119041"/>
            <a:ext cx="5650992" cy="1127720"/>
          </a:xfrm>
          <a:prstGeom prst="rect">
            <a:avLst/>
          </a:prstGeom>
          <a:noFill/>
          <a:ln/>
        </p:spPr>
        <p:txBody>
          <a:bodyPr wrap="square" lIns="0" tIns="0" rIns="0" bIns="0" rtlCol="0" anchor="t">
            <a:normAutofit/>
          </a:bodyPr>
          <a:lstStyle/>
          <a:p>
            <a:pPr algn="l" marL="213360" indent="-175768">
              <a:lnSpc>
                <a:spcPts val="2170"/>
              </a:lnSpc>
              <a:buSzPct val="100000"/>
              <a:buChar char="•"/>
            </a:pPr>
            <a:r>
              <a:rPr lang="en-US" sz="1400" dirty="0">
                <a:solidFill>
                  <a:srgbClr val="44536A"/>
                </a:solidFill>
                <a:latin typeface="IBM Plex Sans" pitchFamily="34" charset="0"/>
                <a:ea typeface="IBM Plex Sans" pitchFamily="34" charset="-122"/>
                <a:cs typeface="IBM Plex Sans" pitchFamily="34" charset="-120"/>
              </a:rPr>
              <a:t>Docker'a erişen herkes okur</a:t>
            </a:r>
            <a:endParaRPr lang="en-US" sz="1400" dirty="0"/>
          </a:p>
          <a:p>
            <a:pPr algn="l" marL="213360" indent="-175768">
              <a:lnSpc>
                <a:spcPts val="2170"/>
              </a:lnSpc>
              <a:buSzPct val="100000"/>
              <a:buChar char="•"/>
            </a:pPr>
            <a:r>
              <a:rPr lang="en-US" sz="1400" dirty="0">
                <a:solidFill>
                  <a:srgbClr val="44536A"/>
                </a:solidFill>
                <a:latin typeface="IBM Plex Sans" pitchFamily="34" charset="0"/>
                <a:ea typeface="IBM Plex Sans" pitchFamily="34" charset="-122"/>
                <a:cs typeface="IBM Plex Sans" pitchFamily="34" charset="-120"/>
              </a:rPr>
              <a:t>Log ve hata raporlarına sızar</a:t>
            </a:r>
            <a:endParaRPr lang="en-US" sz="1400" dirty="0"/>
          </a:p>
          <a:p>
            <a:pPr algn="l" marL="213360" indent="-175768">
              <a:lnSpc>
                <a:spcPts val="2170"/>
              </a:lnSpc>
              <a:buSzPct val="100000"/>
              <a:buChar char="•"/>
            </a:pPr>
            <a:r>
              <a:rPr lang="en-US" sz="1400" dirty="0">
                <a:solidFill>
                  <a:srgbClr val="44536A"/>
                </a:solidFill>
                <a:latin typeface="IBM Plex Sans" pitchFamily="34" charset="0"/>
                <a:ea typeface="IBM Plex Sans" pitchFamily="34" charset="-122"/>
                <a:cs typeface="IBM Plex Sans" pitchFamily="34" charset="-120"/>
              </a:rPr>
              <a:t>Alt process'lere miras kalır</a:t>
            </a:r>
            <a:endParaRPr lang="en-US" sz="1400" dirty="0"/>
          </a:p>
          <a:p>
            <a:pPr algn="l" marL="213360" indent="-175768">
              <a:lnSpc>
                <a:spcPts val="2170"/>
              </a:lnSpc>
              <a:buSzPct val="100000"/>
              <a:buChar char="•"/>
            </a:pPr>
            <a:r>
              <a:rPr lang="en-US" sz="1400" dirty="0">
                <a:solidFill>
                  <a:srgbClr val="44536A"/>
                </a:solidFill>
                <a:latin typeface="IBM Plex Sans" pitchFamily="34" charset="0"/>
                <a:ea typeface="IBM Plex Sans" pitchFamily="34" charset="-122"/>
                <a:cs typeface="IBM Plex Sans" pitchFamily="34" charset="-120"/>
              </a:rPr>
              <a:t>Dockerfile'daki ENV/ARG history'ye gömülür</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65900" y="2014141"/>
          <a:ext cx="4813300" cy="1796604"/>
        </p:xfrm>
        <a:graphic>
          <a:graphicData uri="http://schemas.openxmlformats.org/drawingml/2006/table">
            <a:tbl>
              <a:tblPr/>
              <a:tblGrid>
                <a:gridCol w="2310384"/>
                <a:gridCol w="2502916"/>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Yöntem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Ne zaman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--env-file (git dışı)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Geliştirme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Compose secrets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/run/secrets/ altında dosya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Vault, K8s Secrets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Production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RUN --mount=type=secret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Build sırasında gerekirse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09 · 30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Aynı image, dört ortam</a:t>
            </a:r>
            <a:endParaRPr lang="en-US" sz="3200" dirty="0"/>
          </a:p>
        </p:txBody>
      </p:sp>
      <p:sp>
        <p:nvSpPr>
          <p:cNvPr id="4" name="Text 2"/>
          <p:cNvSpPr/>
          <p:nvPr/>
        </p:nvSpPr>
        <p:spPr>
          <a:xfrm>
            <a:off x="812800" y="2001441"/>
            <a:ext cx="52062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206238" cy="140330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ARG ile sürüm bilgisi vererek build</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Varsayılan, -e, test.env, prod.env</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Dört sekmeyi yan yana açın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Öncelik sırasını test edin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docker inspect ile şifreyi görün</a:t>
            </a:r>
            <a:endParaRPr lang="en-US" sz="1400" dirty="0"/>
          </a:p>
        </p:txBody>
      </p:sp>
      <p:sp>
        <p:nvSpPr>
          <p:cNvPr id="6" name="Shape 4"/>
          <p:cNvSpPr/>
          <p:nvPr/>
        </p:nvSpPr>
        <p:spPr>
          <a:xfrm>
            <a:off x="6172200" y="2001441"/>
            <a:ext cx="5207000" cy="2600871"/>
          </a:xfrm>
          <a:prstGeom prst="roundRect">
            <a:avLst>
              <a:gd name="adj" fmla="val 3906"/>
            </a:avLst>
          </a:prstGeom>
          <a:solidFill>
            <a:srgbClr val="2A1D0F"/>
          </a:solidFill>
          <a:ln/>
        </p:spPr>
      </p:sp>
      <p:sp>
        <p:nvSpPr>
          <p:cNvPr id="7" name="Text 5"/>
          <p:cNvSpPr/>
          <p:nvPr/>
        </p:nvSpPr>
        <p:spPr>
          <a:xfrm>
            <a:off x="6426200" y="2204641"/>
            <a:ext cx="4839970" cy="221987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ornekler/09-env</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--build-arg BUILD_VERSIYON=1.4.2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-t env-demo:1.4.2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env-varsayilan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-p 8001:8000 env-demo:1.4.2</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env-test -p 8003:8000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--env-file test.env env-demo:1.4.2</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run -d --name env-prod -p 8004:8000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--env-file prod.env env-demo:1.4.2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labs/09-environment-variables.md · http://localhost:8001 … 8004</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10 · DOCKER COMPOSE</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Yedi komut yerine bir dosya</a:t>
            </a:r>
            <a:endParaRPr lang="en-US" sz="3200" dirty="0"/>
          </a:p>
        </p:txBody>
      </p:sp>
      <p:sp>
        <p:nvSpPr>
          <p:cNvPr id="4" name="Shape 2"/>
          <p:cNvSpPr/>
          <p:nvPr/>
        </p:nvSpPr>
        <p:spPr>
          <a:xfrm>
            <a:off x="812800" y="2001441"/>
            <a:ext cx="6731000" cy="2717502"/>
          </a:xfrm>
          <a:prstGeom prst="roundRect">
            <a:avLst>
              <a:gd name="adj" fmla="val 3739"/>
            </a:avLst>
          </a:prstGeom>
          <a:solidFill>
            <a:srgbClr val="0F1B2D"/>
          </a:solidFill>
          <a:ln/>
        </p:spPr>
      </p:sp>
      <p:sp>
        <p:nvSpPr>
          <p:cNvPr id="5" name="Text 3"/>
          <p:cNvSpPr/>
          <p:nvPr/>
        </p:nvSpPr>
        <p:spPr>
          <a:xfrm>
            <a:off x="1041400" y="2179241"/>
            <a:ext cx="6462014" cy="2387302"/>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network create backend</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network create frontend</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volume create redis-data</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run -d --name redis --network backend \</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-v redis-data:/data redis:7-alpine \</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redis-server --appendonly yes</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build -t sayac-web:1.0.0 ./web</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run -d --name web --network backend \</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-p 8000:5000 -e REDIS_HOST=redis sayac-web:1.0.0</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network connect frontend web</a:t>
            </a:r>
            <a:endParaRPr lang="en-US" sz="1200" dirty="0"/>
          </a:p>
        </p:txBody>
      </p:sp>
      <p:pic>
        <p:nvPicPr>
          <p:cNvPr id="6" name="Image 0" descr="arrow-right">    </p:cNvPr>
          <p:cNvPicPr>
            <a:picLocks noChangeAspect="1"/>
          </p:cNvPicPr>
          <p:nvPr/>
        </p:nvPicPr>
        <p:blipFill>
          <a:blip r:embed="rId1"/>
          <a:srcRect l="0" r="0" t="0" b="0"/>
          <a:stretch/>
        </p:blipFill>
        <p:spPr>
          <a:xfrm>
            <a:off x="7747000" y="3182392"/>
            <a:ext cx="762000" cy="355600"/>
          </a:xfrm>
          <a:prstGeom prst="rect">
            <a:avLst/>
          </a:prstGeom>
        </p:spPr>
      </p:pic>
      <p:sp>
        <p:nvSpPr>
          <p:cNvPr id="7" name="Shape 4"/>
          <p:cNvSpPr/>
          <p:nvPr/>
        </p:nvSpPr>
        <p:spPr>
          <a:xfrm>
            <a:off x="8712200" y="2793157"/>
            <a:ext cx="2667000" cy="553690"/>
          </a:xfrm>
          <a:prstGeom prst="roundRect">
            <a:avLst>
              <a:gd name="adj" fmla="val 18350"/>
            </a:avLst>
          </a:prstGeom>
          <a:solidFill>
            <a:srgbClr val="1D63ED"/>
          </a:solidFill>
          <a:ln/>
        </p:spPr>
      </p:sp>
      <p:sp>
        <p:nvSpPr>
          <p:cNvPr id="8" name="Text 5"/>
          <p:cNvSpPr/>
          <p:nvPr/>
        </p:nvSpPr>
        <p:spPr>
          <a:xfrm>
            <a:off x="8915400" y="2945557"/>
            <a:ext cx="232841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8"/>
                </a:solidFill>
                <a:latin typeface="JetBrains Mono" pitchFamily="34" charset="0"/>
                <a:ea typeface="JetBrains Mono" pitchFamily="34" charset="-122"/>
                <a:cs typeface="JetBrains Mono" pitchFamily="34" charset="-120"/>
              </a:rPr>
              <a:t>docker compose up -d</a:t>
            </a:r>
            <a:endParaRPr lang="en-US" sz="1400" dirty="0"/>
          </a:p>
        </p:txBody>
      </p:sp>
      <p:sp>
        <p:nvSpPr>
          <p:cNvPr id="9" name="Text 6"/>
          <p:cNvSpPr/>
          <p:nvPr/>
        </p:nvSpPr>
        <p:spPr>
          <a:xfrm>
            <a:off x="8712200" y="3448447"/>
            <a:ext cx="274701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4536A"/>
                </a:solidFill>
                <a:latin typeface="IBM Plex Sans" pitchFamily="34" charset="0"/>
                <a:ea typeface="IBM Plex Sans" pitchFamily="34" charset="-122"/>
                <a:cs typeface="IBM Plex Sans" pitchFamily="34" charset="-120"/>
              </a:rPr>
              <a:t>Bildirimsel, versiyon kontrollü, ekipte herkes için aynı.</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10 · ÖRNEK UYGULAMA</a:t>
            </a:r>
            <a:endParaRPr lang="en-US" sz="1200" dirty="0"/>
          </a:p>
        </p:txBody>
      </p:sp>
      <p:sp>
        <p:nvSpPr>
          <p:cNvPr id="3" name="Text 1"/>
          <p:cNvSpPr/>
          <p:nvPr/>
        </p:nvSpPr>
        <p:spPr>
          <a:xfrm>
            <a:off x="812800" y="1229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Ziyaret sayacı: web + redis</a:t>
            </a:r>
            <a:endParaRPr lang="en-US" sz="3200" dirty="0"/>
          </a:p>
        </p:txBody>
      </p:sp>
      <p:sp>
        <p:nvSpPr>
          <p:cNvPr id="4" name="Shape 2"/>
          <p:cNvSpPr/>
          <p:nvPr/>
        </p:nvSpPr>
        <p:spPr>
          <a:xfrm>
            <a:off x="819150" y="1906191"/>
            <a:ext cx="6337300" cy="3543300"/>
          </a:xfrm>
          <a:prstGeom prst="roundRect">
            <a:avLst>
              <a:gd name="adj" fmla="val 2688"/>
            </a:avLst>
          </a:prstGeom>
          <a:solidFill>
            <a:srgbClr val="FDFDFC"/>
          </a:solidFill>
          <a:ln w="12700">
            <a:solidFill>
              <a:srgbClr val="0F1B2D"/>
            </a:solidFill>
            <a:prstDash val="solid"/>
          </a:ln>
        </p:spPr>
      </p:sp>
      <p:sp>
        <p:nvSpPr>
          <p:cNvPr id="5" name="Text 3"/>
          <p:cNvSpPr/>
          <p:nvPr/>
        </p:nvSpPr>
        <p:spPr>
          <a:xfrm>
            <a:off x="990600" y="2026841"/>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compose projesi: sayac</a:t>
            </a:r>
            <a:endParaRPr lang="en-US" sz="1200" dirty="0"/>
          </a:p>
        </p:txBody>
      </p:sp>
      <p:sp>
        <p:nvSpPr>
          <p:cNvPr id="6" name="Shape 4"/>
          <p:cNvSpPr/>
          <p:nvPr/>
        </p:nvSpPr>
        <p:spPr>
          <a:xfrm>
            <a:off x="1073150" y="2414191"/>
            <a:ext cx="5829300" cy="1066800"/>
          </a:xfrm>
          <a:prstGeom prst="roundRect">
            <a:avLst>
              <a:gd name="adj" fmla="val 6548"/>
            </a:avLst>
          </a:prstGeom>
          <a:noFill/>
          <a:ln w="12700">
            <a:solidFill>
              <a:srgbClr val="1D63ED"/>
            </a:solidFill>
            <a:prstDash val="dash"/>
          </a:ln>
        </p:spPr>
      </p:sp>
      <p:sp>
        <p:nvSpPr>
          <p:cNvPr id="7" name="Text 5"/>
          <p:cNvSpPr/>
          <p:nvPr/>
        </p:nvSpPr>
        <p:spPr>
          <a:xfrm>
            <a:off x="1193800" y="24840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3ED"/>
                </a:solidFill>
                <a:latin typeface="IBM Plex Sans" pitchFamily="34" charset="0"/>
                <a:ea typeface="IBM Plex Sans" pitchFamily="34" charset="-122"/>
                <a:cs typeface="IBM Plex Sans" pitchFamily="34" charset="-120"/>
              </a:rPr>
              <a:t>frontend</a:t>
            </a:r>
            <a:endParaRPr lang="en-US" sz="1200" dirty="0"/>
          </a:p>
        </p:txBody>
      </p:sp>
      <p:sp>
        <p:nvSpPr>
          <p:cNvPr id="8" name="Shape 6"/>
          <p:cNvSpPr/>
          <p:nvPr/>
        </p:nvSpPr>
        <p:spPr>
          <a:xfrm>
            <a:off x="1073150" y="3747691"/>
            <a:ext cx="5829300" cy="1511300"/>
          </a:xfrm>
          <a:prstGeom prst="roundRect">
            <a:avLst>
              <a:gd name="adj" fmla="val 4622"/>
            </a:avLst>
          </a:prstGeom>
          <a:noFill/>
          <a:ln w="12700">
            <a:solidFill>
              <a:srgbClr val="B4540A"/>
            </a:solidFill>
            <a:prstDash val="dash"/>
          </a:ln>
        </p:spPr>
      </p:sp>
      <p:sp>
        <p:nvSpPr>
          <p:cNvPr id="9" name="Text 7"/>
          <p:cNvSpPr/>
          <p:nvPr/>
        </p:nvSpPr>
        <p:spPr>
          <a:xfrm>
            <a:off x="1193800" y="38175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40A"/>
                </a:solidFill>
                <a:latin typeface="IBM Plex Sans" pitchFamily="34" charset="0"/>
                <a:ea typeface="IBM Plex Sans" pitchFamily="34" charset="-122"/>
                <a:cs typeface="IBM Plex Sans" pitchFamily="34" charset="-120"/>
              </a:rPr>
              <a:t>backend</a:t>
            </a:r>
            <a:endParaRPr lang="en-US" sz="1200" dirty="0"/>
          </a:p>
        </p:txBody>
      </p:sp>
      <p:sp>
        <p:nvSpPr>
          <p:cNvPr id="10" name="Shape 8"/>
          <p:cNvSpPr/>
          <p:nvPr/>
        </p:nvSpPr>
        <p:spPr>
          <a:xfrm>
            <a:off x="3225800" y="2725341"/>
            <a:ext cx="1524000" cy="1270000"/>
          </a:xfrm>
          <a:prstGeom prst="roundRect">
            <a:avLst>
              <a:gd name="adj" fmla="val 8000"/>
            </a:avLst>
          </a:prstGeom>
          <a:solidFill>
            <a:srgbClr val="1D63ED"/>
          </a:solidFill>
          <a:ln/>
        </p:spPr>
      </p:sp>
      <p:sp>
        <p:nvSpPr>
          <p:cNvPr id="11" name="Text 9"/>
          <p:cNvSpPr/>
          <p:nvPr/>
        </p:nvSpPr>
        <p:spPr>
          <a:xfrm>
            <a:off x="3200400" y="2915841"/>
            <a:ext cx="15748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4F6F8"/>
                </a:solidFill>
                <a:latin typeface="IBM Plex Sans" pitchFamily="34" charset="0"/>
                <a:ea typeface="IBM Plex Sans" pitchFamily="34" charset="-122"/>
                <a:cs typeface="IBM Plex Sans" pitchFamily="34" charset="-120"/>
              </a:rPr>
              <a:t>web</a:t>
            </a:r>
            <a:endParaRPr lang="en-US" sz="1600" dirty="0"/>
          </a:p>
        </p:txBody>
      </p:sp>
      <p:sp>
        <p:nvSpPr>
          <p:cNvPr id="12" name="Text 10"/>
          <p:cNvSpPr/>
          <p:nvPr/>
        </p:nvSpPr>
        <p:spPr>
          <a:xfrm>
            <a:off x="3200400" y="3233341"/>
            <a:ext cx="1574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4F6F8"/>
                </a:solidFill>
                <a:latin typeface="IBM Plex Sans" pitchFamily="34" charset="0"/>
                <a:ea typeface="IBM Plex Sans" pitchFamily="34" charset="-122"/>
                <a:cs typeface="IBM Plex Sans" pitchFamily="34" charset="-120"/>
              </a:rPr>
              <a:t>Flask :5000</a:t>
            </a:r>
            <a:endParaRPr lang="en-US" sz="1200" dirty="0"/>
          </a:p>
          <a:p>
            <a:pPr algn="ctr" indent="0" marL="0">
              <a:lnSpc>
                <a:spcPts val="1680"/>
              </a:lnSpc>
              <a:buNone/>
            </a:pPr>
            <a:r>
              <a:rPr lang="en-US" sz="1200" dirty="0">
                <a:solidFill>
                  <a:srgbClr val="F4F6F8"/>
                </a:solidFill>
                <a:latin typeface="IBM Plex Sans" pitchFamily="34" charset="0"/>
                <a:ea typeface="IBM Plex Sans" pitchFamily="34" charset="-122"/>
                <a:cs typeface="IBM Plex Sans" pitchFamily="34" charset="-120"/>
              </a:rPr>
              <a:t>build: ./web</a:t>
            </a:r>
            <a:endParaRPr lang="en-US" sz="1200" dirty="0"/>
          </a:p>
        </p:txBody>
      </p:sp>
      <p:sp>
        <p:nvSpPr>
          <p:cNvPr id="13" name="Shape 11"/>
          <p:cNvSpPr/>
          <p:nvPr/>
        </p:nvSpPr>
        <p:spPr>
          <a:xfrm>
            <a:off x="3225800" y="4376341"/>
            <a:ext cx="1524000" cy="698500"/>
          </a:xfrm>
          <a:prstGeom prst="roundRect">
            <a:avLst>
              <a:gd name="adj" fmla="val 14545"/>
            </a:avLst>
          </a:prstGeom>
          <a:solidFill>
            <a:srgbClr val="0F1B2D"/>
          </a:solidFill>
          <a:ln/>
        </p:spPr>
      </p:sp>
      <p:sp>
        <p:nvSpPr>
          <p:cNvPr id="14" name="Text 12"/>
          <p:cNvSpPr/>
          <p:nvPr/>
        </p:nvSpPr>
        <p:spPr>
          <a:xfrm>
            <a:off x="3200400" y="4503341"/>
            <a:ext cx="1574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6F8"/>
                </a:solidFill>
                <a:latin typeface="IBM Plex Sans" pitchFamily="34" charset="0"/>
                <a:ea typeface="IBM Plex Sans" pitchFamily="34" charset="-122"/>
                <a:cs typeface="IBM Plex Sans" pitchFamily="34" charset="-120"/>
              </a:rPr>
              <a:t>redis :6379</a:t>
            </a:r>
            <a:endParaRPr lang="en-US" sz="1500" dirty="0"/>
          </a:p>
        </p:txBody>
      </p:sp>
      <p:pic>
        <p:nvPicPr>
          <p:cNvPr id="15" name="Image 0" descr="connector">    </p:cNvPr>
          <p:cNvPicPr>
            <a:picLocks noChangeAspect="1"/>
          </p:cNvPicPr>
          <p:nvPr/>
        </p:nvPicPr>
        <p:blipFill>
          <a:blip r:embed="rId1"/>
          <a:srcRect l="0" r="0" t="0" b="0"/>
          <a:stretch/>
        </p:blipFill>
        <p:spPr>
          <a:xfrm>
            <a:off x="3924300" y="3931841"/>
            <a:ext cx="127000" cy="508000"/>
          </a:xfrm>
          <a:prstGeom prst="rect">
            <a:avLst/>
          </a:prstGeom>
        </p:spPr>
      </p:pic>
      <p:sp>
        <p:nvSpPr>
          <p:cNvPr id="16" name="Shape 13"/>
          <p:cNvSpPr/>
          <p:nvPr/>
        </p:nvSpPr>
        <p:spPr>
          <a:xfrm>
            <a:off x="5384800" y="4439841"/>
            <a:ext cx="1270000" cy="571500"/>
          </a:xfrm>
          <a:prstGeom prst="roundRect">
            <a:avLst>
              <a:gd name="adj" fmla="val 13333"/>
            </a:avLst>
          </a:prstGeom>
          <a:solidFill>
            <a:srgbClr val="FFE3C2"/>
          </a:solidFill>
          <a:ln/>
        </p:spPr>
      </p:sp>
      <p:sp>
        <p:nvSpPr>
          <p:cNvPr id="17" name="Text 14"/>
          <p:cNvSpPr/>
          <p:nvPr/>
        </p:nvSpPr>
        <p:spPr>
          <a:xfrm>
            <a:off x="5359400" y="4503341"/>
            <a:ext cx="1320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A1D0F"/>
                </a:solidFill>
                <a:latin typeface="IBM Plex Sans" pitchFamily="34" charset="0"/>
                <a:ea typeface="IBM Plex Sans" pitchFamily="34" charset="-122"/>
                <a:cs typeface="IBM Plex Sans" pitchFamily="34" charset="-120"/>
              </a:rPr>
              <a:t>volume</a:t>
            </a:r>
            <a:endParaRPr lang="en-US" sz="1200" dirty="0"/>
          </a:p>
          <a:p>
            <a:pPr algn="ctr" indent="0" marL="0">
              <a:lnSpc>
                <a:spcPts val="1680"/>
              </a:lnSpc>
              <a:buNone/>
            </a:pPr>
            <a:r>
              <a:rPr lang="en-US" sz="1200" dirty="0">
                <a:solidFill>
                  <a:srgbClr val="2A1D0F"/>
                </a:solidFill>
                <a:latin typeface="IBM Plex Sans" pitchFamily="34" charset="0"/>
                <a:ea typeface="IBM Plex Sans" pitchFamily="34" charset="-122"/>
                <a:cs typeface="IBM Plex Sans" pitchFamily="34" charset="-120"/>
              </a:rPr>
              <a:t>redis-data</a:t>
            </a:r>
            <a:endParaRPr lang="en-US" sz="1200" dirty="0"/>
          </a:p>
        </p:txBody>
      </p:sp>
      <p:pic>
        <p:nvPicPr>
          <p:cNvPr id="18" name="Image 1" descr="connector">    </p:cNvPr>
          <p:cNvPicPr>
            <a:picLocks noChangeAspect="1"/>
          </p:cNvPicPr>
          <p:nvPr/>
        </p:nvPicPr>
        <p:blipFill>
          <a:blip r:embed="rId2"/>
          <a:srcRect l="0" r="0" t="0" b="0"/>
          <a:stretch/>
        </p:blipFill>
        <p:spPr>
          <a:xfrm>
            <a:off x="4699000" y="4674791"/>
            <a:ext cx="736600" cy="101600"/>
          </a:xfrm>
          <a:prstGeom prst="rect">
            <a:avLst/>
          </a:prstGeom>
        </p:spPr>
      </p:pic>
      <p:sp>
        <p:nvSpPr>
          <p:cNvPr id="19" name="Text 15"/>
          <p:cNvSpPr/>
          <p:nvPr/>
        </p:nvSpPr>
        <p:spPr>
          <a:xfrm>
            <a:off x="7467600" y="2906415"/>
            <a:ext cx="4028948"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Host'a sadece </a:t>
            </a:r>
            <a:r>
              <a:rPr lang="en-US" sz="1400" b="1" dirty="0">
                <a:solidFill>
                  <a:srgbClr val="44536A"/>
                </a:solidFill>
                <a:latin typeface="IBM Plex Sans" pitchFamily="34" charset="0"/>
                <a:ea typeface="IBM Plex Sans" pitchFamily="34" charset="-122"/>
                <a:cs typeface="IBM Plex Sans" pitchFamily="34" charset="-120"/>
              </a:rPr>
              <a:t>web</a:t>
            </a:r>
            <a:r>
              <a:rPr lang="en-US" sz="1400" dirty="0">
                <a:solidFill>
                  <a:srgbClr val="44536A"/>
                </a:solidFill>
                <a:latin typeface="IBM Plex Sans" pitchFamily="34" charset="0"/>
                <a:ea typeface="IBM Plex Sans" pitchFamily="34" charset="-122"/>
                <a:cs typeface="IBM Plex Sans" pitchFamily="34" charset="-120"/>
              </a:rPr>
              <a:t> açılır: </a:t>
            </a:r>
            <a:r>
              <a:rPr lang="en-US" sz="1400" b="1" dirty="0">
                <a:solidFill>
                  <a:srgbClr val="44536A"/>
                </a:solidFill>
                <a:latin typeface="IBM Plex Sans" pitchFamily="34" charset="0"/>
                <a:ea typeface="IBM Plex Sans" pitchFamily="34" charset="-122"/>
                <a:cs typeface="IBM Plex Sans" pitchFamily="34" charset="-120"/>
              </a:rPr>
              <a:t>8000 → 5000</a:t>
            </a:r>
            <a:endParaRPr lang="en-US" sz="1400" dirty="0"/>
          </a:p>
        </p:txBody>
      </p:sp>
      <p:sp>
        <p:nvSpPr>
          <p:cNvPr id="20" name="Text 16"/>
          <p:cNvSpPr/>
          <p:nvPr/>
        </p:nvSpPr>
        <p:spPr>
          <a:xfrm>
            <a:off x="7467600" y="3291185"/>
            <a:ext cx="402894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web, redis'e servis adıyla ulaşır: </a:t>
            </a:r>
            <a:r>
              <a:rPr lang="en-US" sz="1400" b="1" dirty="0">
                <a:solidFill>
                  <a:srgbClr val="44536A"/>
                </a:solidFill>
                <a:latin typeface="IBM Plex Sans" pitchFamily="34" charset="0"/>
                <a:ea typeface="IBM Plex Sans" pitchFamily="34" charset="-122"/>
                <a:cs typeface="IBM Plex Sans" pitchFamily="34" charset="-120"/>
              </a:rPr>
              <a:t>REDIS_HOST=redis</a:t>
            </a:r>
            <a:endParaRPr lang="en-US" sz="1400" dirty="0"/>
          </a:p>
        </p:txBody>
      </p:sp>
      <p:sp>
        <p:nvSpPr>
          <p:cNvPr id="21" name="Text 17"/>
          <p:cNvSpPr/>
          <p:nvPr/>
        </p:nvSpPr>
        <p:spPr>
          <a:xfrm>
            <a:off x="7467600" y="3933726"/>
            <a:ext cx="402894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redis sadece backend ağında, veri named volume'da</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10 · COMPOSE.YAML (1/2)</a:t>
            </a:r>
            <a:endParaRPr lang="en-US" sz="1200" dirty="0"/>
          </a:p>
        </p:txBody>
      </p:sp>
      <p:sp>
        <p:nvSpPr>
          <p:cNvPr id="3" name="Text 1"/>
          <p:cNvSpPr/>
          <p:nvPr/>
        </p:nvSpPr>
        <p:spPr>
          <a:xfrm>
            <a:off x="812800" y="1229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web servisi</a:t>
            </a:r>
            <a:endParaRPr lang="en-US" sz="3200" dirty="0"/>
          </a:p>
        </p:txBody>
      </p:sp>
      <p:sp>
        <p:nvSpPr>
          <p:cNvPr id="4" name="Shape 2"/>
          <p:cNvSpPr/>
          <p:nvPr/>
        </p:nvSpPr>
        <p:spPr>
          <a:xfrm>
            <a:off x="812800" y="1899841"/>
            <a:ext cx="6350000" cy="3717925"/>
          </a:xfrm>
          <a:prstGeom prst="roundRect">
            <a:avLst>
              <a:gd name="adj" fmla="val 2733"/>
            </a:avLst>
          </a:prstGeom>
          <a:solidFill>
            <a:srgbClr val="0F1B2D"/>
          </a:solidFill>
          <a:ln/>
        </p:spPr>
      </p:sp>
      <p:sp>
        <p:nvSpPr>
          <p:cNvPr id="5" name="Text 3"/>
          <p:cNvSpPr/>
          <p:nvPr/>
        </p:nvSpPr>
        <p:spPr>
          <a:xfrm>
            <a:off x="1066800" y="2052241"/>
            <a:ext cx="6017260" cy="343852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name: sayac</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services: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7CC4FF"/>
                </a:solidFill>
                <a:latin typeface="JetBrains Mono" pitchFamily="34" charset="0"/>
                <a:ea typeface="JetBrains Mono" pitchFamily="34" charset="-122"/>
                <a:cs typeface="JetBrains Mono" pitchFamily="34" charset="-120"/>
              </a:rPr>
              <a:t>web:</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build:</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context: ./web</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image: sayac-web:1.0.0</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ports: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 "${WEB_PORT:-8000}:5000"</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environment:</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APP_BASLIK: ${APP_BASLIK:-Ziyaret Sayacı}</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REDIS_HOST: redis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depends_on:</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redis: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condition: service_healthy</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networks: [frontend, backend]</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restart: unless-stopped</a:t>
            </a:r>
            <a:endParaRPr lang="en-US" sz="1200" dirty="0"/>
          </a:p>
        </p:txBody>
      </p:sp>
      <p:sp>
        <p:nvSpPr>
          <p:cNvPr id="6" name="Text 4"/>
          <p:cNvSpPr/>
          <p:nvPr/>
        </p:nvSpPr>
        <p:spPr>
          <a:xfrm>
            <a:off x="7416800" y="1899841"/>
            <a:ext cx="408127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name</a:t>
            </a:r>
            <a:r>
              <a:rPr lang="en-US" sz="1300" dirty="0">
                <a:solidFill>
                  <a:srgbClr val="44536A"/>
                </a:solidFill>
                <a:latin typeface="IBM Plex Sans" pitchFamily="34" charset="0"/>
                <a:ea typeface="IBM Plex Sans" pitchFamily="34" charset="-122"/>
                <a:cs typeface="IBM Plex Sans" pitchFamily="34" charset="-120"/>
              </a:rPr>
              <a:t> — container, ağ, volume öneki</a:t>
            </a:r>
            <a:endParaRPr lang="en-US" sz="1300" dirty="0"/>
          </a:p>
        </p:txBody>
      </p:sp>
      <p:sp>
        <p:nvSpPr>
          <p:cNvPr id="7" name="Text 5"/>
          <p:cNvSpPr/>
          <p:nvPr/>
        </p:nvSpPr>
        <p:spPr>
          <a:xfrm>
            <a:off x="7416800" y="2257971"/>
            <a:ext cx="408127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build</a:t>
            </a:r>
            <a:r>
              <a:rPr lang="en-US" sz="1300" dirty="0">
                <a:solidFill>
                  <a:srgbClr val="44536A"/>
                </a:solidFill>
                <a:latin typeface="IBM Plex Sans" pitchFamily="34" charset="0"/>
                <a:ea typeface="IBM Plex Sans" pitchFamily="34" charset="-122"/>
                <a:cs typeface="IBM Plex Sans" pitchFamily="34" charset="-120"/>
              </a:rPr>
              <a:t> + </a:t>
            </a:r>
            <a:r>
              <a:rPr lang="en-US" sz="1300" b="1" dirty="0">
                <a:solidFill>
                  <a:srgbClr val="44536A"/>
                </a:solidFill>
                <a:latin typeface="IBM Plex Sans" pitchFamily="34" charset="0"/>
                <a:ea typeface="IBM Plex Sans" pitchFamily="34" charset="-122"/>
                <a:cs typeface="IBM Plex Sans" pitchFamily="34" charset="-120"/>
              </a:rPr>
              <a:t>image</a:t>
            </a:r>
            <a:r>
              <a:rPr lang="en-US" sz="1300" dirty="0">
                <a:solidFill>
                  <a:srgbClr val="44536A"/>
                </a:solidFill>
                <a:latin typeface="IBM Plex Sans" pitchFamily="34" charset="0"/>
                <a:ea typeface="IBM Plex Sans" pitchFamily="34" charset="-122"/>
                <a:cs typeface="IBM Plex Sans" pitchFamily="34" charset="-120"/>
              </a:rPr>
              <a:t> — build et ve bu adla etiketle</a:t>
            </a:r>
            <a:endParaRPr lang="en-US" sz="1300" dirty="0"/>
          </a:p>
        </p:txBody>
      </p:sp>
      <p:sp>
        <p:nvSpPr>
          <p:cNvPr id="8" name="Text 6"/>
          <p:cNvSpPr/>
          <p:nvPr/>
        </p:nvSpPr>
        <p:spPr>
          <a:xfrm>
            <a:off x="7416800" y="2616101"/>
            <a:ext cx="408127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${X:-v}</a:t>
            </a:r>
            <a:r>
              <a:rPr lang="en-US" sz="1300" dirty="0">
                <a:solidFill>
                  <a:srgbClr val="44536A"/>
                </a:solidFill>
                <a:latin typeface="IBM Plex Sans" pitchFamily="34" charset="0"/>
                <a:ea typeface="IBM Plex Sans" pitchFamily="34" charset="-122"/>
                <a:cs typeface="IBM Plex Sans" pitchFamily="34" charset="-120"/>
              </a:rPr>
              <a:t> — .env'den oku, yoksa varsayılan</a:t>
            </a:r>
            <a:endParaRPr lang="en-US" sz="1300" dirty="0"/>
          </a:p>
        </p:txBody>
      </p:sp>
      <p:sp>
        <p:nvSpPr>
          <p:cNvPr id="9" name="Text 7"/>
          <p:cNvSpPr/>
          <p:nvPr/>
        </p:nvSpPr>
        <p:spPr>
          <a:xfrm>
            <a:off x="7416800" y="2974231"/>
            <a:ext cx="408127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REDIS_HOST: redis</a:t>
            </a:r>
            <a:r>
              <a:rPr lang="en-US" sz="1300" dirty="0">
                <a:solidFill>
                  <a:srgbClr val="44536A"/>
                </a:solidFill>
                <a:latin typeface="IBM Plex Sans" pitchFamily="34" charset="0"/>
                <a:ea typeface="IBM Plex Sans" pitchFamily="34" charset="-122"/>
                <a:cs typeface="IBM Plex Sans" pitchFamily="34" charset="-120"/>
              </a:rPr>
              <a:t> — servis adı = DNS adı</a:t>
            </a:r>
            <a:endParaRPr lang="en-US" sz="1300" dirty="0"/>
          </a:p>
        </p:txBody>
      </p:sp>
      <p:sp>
        <p:nvSpPr>
          <p:cNvPr id="10" name="Text 8"/>
          <p:cNvSpPr/>
          <p:nvPr/>
        </p:nvSpPr>
        <p:spPr>
          <a:xfrm>
            <a:off x="7416800" y="3332361"/>
            <a:ext cx="408127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service_healthy</a:t>
            </a:r>
            <a:r>
              <a:rPr lang="en-US" sz="1300" dirty="0">
                <a:solidFill>
                  <a:srgbClr val="44536A"/>
                </a:solidFill>
                <a:latin typeface="IBM Plex Sans" pitchFamily="34" charset="0"/>
                <a:ea typeface="IBM Plex Sans" pitchFamily="34" charset="-122"/>
                <a:cs typeface="IBM Plex Sans" pitchFamily="34" charset="-120"/>
              </a:rPr>
              <a:t> — redis hazır olunca başla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10 · COMPOSE.YAML (2/2)</a:t>
            </a:r>
            <a:endParaRPr lang="en-US" sz="1200" dirty="0"/>
          </a:p>
        </p:txBody>
      </p:sp>
      <p:sp>
        <p:nvSpPr>
          <p:cNvPr id="3" name="Text 1"/>
          <p:cNvSpPr/>
          <p:nvPr/>
        </p:nvSpPr>
        <p:spPr>
          <a:xfrm>
            <a:off x="812800" y="1229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redis, paylaşılan ağlar ve volume</a:t>
            </a:r>
            <a:endParaRPr lang="en-US" sz="3200" dirty="0"/>
          </a:p>
        </p:txBody>
      </p:sp>
      <p:sp>
        <p:nvSpPr>
          <p:cNvPr id="4" name="Shape 2"/>
          <p:cNvSpPr/>
          <p:nvPr/>
        </p:nvSpPr>
        <p:spPr>
          <a:xfrm>
            <a:off x="812800" y="1899841"/>
            <a:ext cx="6350000" cy="3717925"/>
          </a:xfrm>
          <a:prstGeom prst="roundRect">
            <a:avLst>
              <a:gd name="adj" fmla="val 2733"/>
            </a:avLst>
          </a:prstGeom>
          <a:solidFill>
            <a:srgbClr val="0F1B2D"/>
          </a:solidFill>
          <a:ln/>
        </p:spPr>
      </p:sp>
      <p:sp>
        <p:nvSpPr>
          <p:cNvPr id="5" name="Text 3"/>
          <p:cNvSpPr/>
          <p:nvPr/>
        </p:nvSpPr>
        <p:spPr>
          <a:xfrm>
            <a:off x="1066800" y="2052241"/>
            <a:ext cx="6017260" cy="343852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7CC4FF"/>
                </a:solidFill>
                <a:latin typeface="JetBrains Mono" pitchFamily="34" charset="0"/>
                <a:ea typeface="JetBrains Mono" pitchFamily="34" charset="-122"/>
                <a:cs typeface="JetBrains Mono" pitchFamily="34" charset="-120"/>
              </a:rPr>
              <a:t>redis: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image: redis:7-alpine</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command: ["redis-server", "--appendonly", "yes"]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volumes: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 redis-data:/data</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healthcheck:</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test: ["CMD", "redis-cli", "ping"]</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interval: 5s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retries: 5</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networks: [backend]</a:t>
            </a:r>
            <a:endParaRPr lang="en-US" sz="1200" dirty="0"/>
          </a:p>
          <a:p>
            <a:pPr algn="l" indent="0" marL="0">
              <a:lnSpc>
                <a:spcPts val="1680"/>
              </a:lnSpc>
              <a:buNone/>
            </a:pPr>
            <a:endParaRPr lang="en-US" sz="1200" dirty="0"/>
          </a:p>
          <a:p>
            <a:pPr algn="l" indent="0" marL="0">
              <a:lnSpc>
                <a:spcPts val="1680"/>
              </a:lnSpc>
              <a:buNone/>
            </a:pPr>
            <a:r>
              <a:rPr lang="en-US" sz="1200" dirty="0">
                <a:solidFill>
                  <a:srgbClr val="7CC4FF"/>
                </a:solidFill>
                <a:latin typeface="JetBrains Mono" pitchFamily="34" charset="0"/>
                <a:ea typeface="JetBrains Mono" pitchFamily="34" charset="-122"/>
                <a:cs typeface="JetBrains Mono" pitchFamily="34" charset="-120"/>
              </a:rPr>
              <a:t>networks: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frontend:</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backend:</a:t>
            </a:r>
            <a:endParaRPr lang="en-US" sz="1200" dirty="0"/>
          </a:p>
          <a:p>
            <a:pPr algn="l" indent="0" marL="0">
              <a:lnSpc>
                <a:spcPts val="1680"/>
              </a:lnSpc>
              <a:buNone/>
            </a:pPr>
            <a:r>
              <a:rPr lang="en-US" sz="1200" dirty="0">
                <a:solidFill>
                  <a:srgbClr val="7CC4FF"/>
                </a:solidFill>
                <a:latin typeface="JetBrains Mono" pitchFamily="34" charset="0"/>
                <a:ea typeface="JetBrains Mono" pitchFamily="34" charset="-122"/>
                <a:cs typeface="JetBrains Mono" pitchFamily="34" charset="-120"/>
              </a:rPr>
              <a:t>volumes:</a:t>
            </a:r>
            <a:endParaRPr lang="en-US" sz="1200" dirty="0"/>
          </a:p>
          <a:p>
            <a:pPr algn="l" indent="0" marL="0">
              <a:lnSpc>
                <a:spcPts val="1680"/>
              </a:lnSpc>
              <a:buNone/>
            </a:pPr>
            <a:r>
              <a:rPr lang="en-US" sz="1200" dirty="0">
                <a:solidFill>
                  <a:srgbClr val="D6E2F0"/>
                </a:solidFill>
                <a:latin typeface="JetBrains Mono" pitchFamily="34" charset="0"/>
                <a:ea typeface="JetBrains Mono" pitchFamily="34" charset="-122"/>
                <a:cs typeface="JetBrains Mono" pitchFamily="34" charset="-120"/>
              </a:rPr>
              <a:t>  redis-data:</a:t>
            </a:r>
            <a:endParaRPr lang="en-US" sz="1200" dirty="0"/>
          </a:p>
        </p:txBody>
      </p:sp>
      <p:sp>
        <p:nvSpPr>
          <p:cNvPr id="6" name="Text 4"/>
          <p:cNvSpPr/>
          <p:nvPr/>
        </p:nvSpPr>
        <p:spPr>
          <a:xfrm>
            <a:off x="7416800" y="1899841"/>
            <a:ext cx="408127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ports</a:t>
            </a:r>
            <a:r>
              <a:rPr lang="en-US" sz="1300" dirty="0">
                <a:solidFill>
                  <a:srgbClr val="44536A"/>
                </a:solidFill>
                <a:latin typeface="IBM Plex Sans" pitchFamily="34" charset="0"/>
                <a:ea typeface="IBM Plex Sans" pitchFamily="34" charset="-122"/>
                <a:cs typeface="IBM Plex Sans" pitchFamily="34" charset="-120"/>
              </a:rPr>
              <a:t> yok — redis host'a kapalı</a:t>
            </a:r>
            <a:endParaRPr lang="en-US" sz="1300" dirty="0"/>
          </a:p>
        </p:txBody>
      </p:sp>
      <p:sp>
        <p:nvSpPr>
          <p:cNvPr id="7" name="Text 5"/>
          <p:cNvSpPr/>
          <p:nvPr/>
        </p:nvSpPr>
        <p:spPr>
          <a:xfrm>
            <a:off x="7416800" y="2257971"/>
            <a:ext cx="408127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36A"/>
                </a:solidFill>
                <a:latin typeface="IBM Plex Sans" pitchFamily="34" charset="0"/>
                <a:ea typeface="IBM Plex Sans" pitchFamily="34" charset="-122"/>
                <a:cs typeface="IBM Plex Sans" pitchFamily="34" charset="-120"/>
              </a:rPr>
              <a:t>healthcheck</a:t>
            </a:r>
            <a:r>
              <a:rPr lang="en-US" sz="1300" dirty="0">
                <a:solidFill>
                  <a:srgbClr val="44536A"/>
                </a:solidFill>
                <a:latin typeface="IBM Plex Sans" pitchFamily="34" charset="0"/>
                <a:ea typeface="IBM Plex Sans" pitchFamily="34" charset="-122"/>
                <a:cs typeface="IBM Plex Sans" pitchFamily="34" charset="-120"/>
              </a:rPr>
              <a:t> — depends_on bunu bekler</a:t>
            </a:r>
            <a:endParaRPr lang="en-US" sz="1300" dirty="0"/>
          </a:p>
        </p:txBody>
      </p:sp>
      <p:sp>
        <p:nvSpPr>
          <p:cNvPr id="8" name="Text 6"/>
          <p:cNvSpPr/>
          <p:nvPr/>
        </p:nvSpPr>
        <p:spPr>
          <a:xfrm>
            <a:off x="7416800" y="2616101"/>
            <a:ext cx="408127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Üst düzey </a:t>
            </a:r>
            <a:r>
              <a:rPr lang="en-US" sz="1300" b="1" dirty="0">
                <a:solidFill>
                  <a:srgbClr val="44536A"/>
                </a:solidFill>
                <a:latin typeface="IBM Plex Sans" pitchFamily="34" charset="0"/>
                <a:ea typeface="IBM Plex Sans" pitchFamily="34" charset="-122"/>
                <a:cs typeface="IBM Plex Sans" pitchFamily="34" charset="-120"/>
              </a:rPr>
              <a:t>networks</a:t>
            </a:r>
            <a:r>
              <a:rPr lang="en-US" sz="1300" dirty="0">
                <a:solidFill>
                  <a:srgbClr val="44536A"/>
                </a:solidFill>
                <a:latin typeface="IBM Plex Sans" pitchFamily="34" charset="0"/>
                <a:ea typeface="IBM Plex Sans" pitchFamily="34" charset="-122"/>
                <a:cs typeface="IBM Plex Sans" pitchFamily="34" charset="-120"/>
              </a:rPr>
              <a:t> ve </a:t>
            </a:r>
            <a:r>
              <a:rPr lang="en-US" sz="1300" b="1" dirty="0">
                <a:solidFill>
                  <a:srgbClr val="44536A"/>
                </a:solidFill>
                <a:latin typeface="IBM Plex Sans" pitchFamily="34" charset="0"/>
                <a:ea typeface="IBM Plex Sans" pitchFamily="34" charset="-122"/>
                <a:cs typeface="IBM Plex Sans" pitchFamily="34" charset="-120"/>
              </a:rPr>
              <a:t>volumes</a:t>
            </a:r>
            <a:r>
              <a:rPr lang="en-US" sz="1300" dirty="0">
                <a:solidFill>
                  <a:srgbClr val="44536A"/>
                </a:solidFill>
                <a:latin typeface="IBM Plex Sans" pitchFamily="34" charset="0"/>
                <a:ea typeface="IBM Plex Sans" pitchFamily="34" charset="-122"/>
                <a:cs typeface="IBM Plex Sans" pitchFamily="34" charset="-120"/>
              </a:rPr>
              <a:t> — paylaşılan kaynakların tanımı</a:t>
            </a:r>
            <a:endParaRPr lang="en-US" sz="1300" dirty="0"/>
          </a:p>
        </p:txBody>
      </p:sp>
      <p:sp>
        <p:nvSpPr>
          <p:cNvPr id="9" name="Text 7"/>
          <p:cNvSpPr/>
          <p:nvPr/>
        </p:nvSpPr>
        <p:spPr>
          <a:xfrm>
            <a:off x="7416800" y="3205361"/>
            <a:ext cx="408127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36A"/>
                </a:solidFill>
                <a:latin typeface="IBM Plex Sans" pitchFamily="34" charset="0"/>
                <a:ea typeface="IBM Plex Sans" pitchFamily="34" charset="-122"/>
                <a:cs typeface="IBM Plex Sans" pitchFamily="34" charset="-120"/>
              </a:rPr>
              <a:t>Oluşan adlar: </a:t>
            </a:r>
            <a:r>
              <a:rPr lang="en-US" sz="1300" b="1" dirty="0">
                <a:solidFill>
                  <a:srgbClr val="44536A"/>
                </a:solidFill>
                <a:latin typeface="IBM Plex Sans" pitchFamily="34" charset="0"/>
                <a:ea typeface="IBM Plex Sans" pitchFamily="34" charset="-122"/>
                <a:cs typeface="IBM Plex Sans" pitchFamily="34" charset="-120"/>
              </a:rPr>
              <a:t>sayac_backend</a:t>
            </a:r>
            <a:r>
              <a:rPr lang="en-US" sz="1300" dirty="0">
                <a:solidFill>
                  <a:srgbClr val="44536A"/>
                </a:solidFill>
                <a:latin typeface="IBM Plex Sans" pitchFamily="34" charset="0"/>
                <a:ea typeface="IBM Plex Sans" pitchFamily="34" charset="-122"/>
                <a:cs typeface="IBM Plex Sans" pitchFamily="34" charset="-120"/>
              </a:rPr>
              <a:t>, </a:t>
            </a:r>
            <a:r>
              <a:rPr lang="en-US" sz="1300" b="1" dirty="0">
                <a:solidFill>
                  <a:srgbClr val="44536A"/>
                </a:solidFill>
                <a:latin typeface="IBM Plex Sans" pitchFamily="34" charset="0"/>
                <a:ea typeface="IBM Plex Sans" pitchFamily="34" charset="-122"/>
                <a:cs typeface="IBM Plex Sans" pitchFamily="34" charset="-120"/>
              </a:rPr>
              <a:t>sayac_redis-data</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10 · KARŞILIKLAR</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Her docker run bayrağının YAML karşılığı var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5143500" cy="2515245"/>
        </p:xfrm>
        <a:graphic>
          <a:graphicData uri="http://schemas.openxmlformats.org/drawingml/2006/table">
            <a:tbl>
              <a:tblPr/>
              <a:tblGrid>
                <a:gridCol w="2314575"/>
                <a:gridCol w="2828925"/>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compose.yaml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docker 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build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docker build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image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IMAGE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ports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environment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env_file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--env-file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volumes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5700" y="2014141"/>
          <a:ext cx="5143500" cy="2515245"/>
        </p:xfrm>
        <a:graphic>
          <a:graphicData uri="http://schemas.openxmlformats.org/drawingml/2006/table">
            <a:tbl>
              <a:tblPr/>
              <a:tblGrid>
                <a:gridCol w="2314575"/>
                <a:gridCol w="2828925"/>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compose.yaml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docker 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networks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--network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healthcheck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--health-cmd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restart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--restart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command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IMAGE &lt;komut&gt;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entrypoint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--entrypoint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depends_on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 (Compose'a özel)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6" name="Shape 2"/>
          <p:cNvSpPr/>
          <p:nvPr/>
        </p:nvSpPr>
        <p:spPr>
          <a:xfrm>
            <a:off x="812800" y="4783386"/>
            <a:ext cx="10566400" cy="533400"/>
          </a:xfrm>
          <a:prstGeom prst="roundRect">
            <a:avLst>
              <a:gd name="adj" fmla="val 14286"/>
            </a:avLst>
          </a:prstGeom>
          <a:solidFill>
            <a:srgbClr val="0F1B2D"/>
          </a:solidFill>
          <a:ln/>
        </p:spPr>
      </p:sp>
      <p:sp>
        <p:nvSpPr>
          <p:cNvPr id="7" name="Text 3"/>
          <p:cNvSpPr/>
          <p:nvPr/>
        </p:nvSpPr>
        <p:spPr>
          <a:xfrm>
            <a:off x="1016000" y="4935786"/>
            <a:ext cx="104648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A9BB3"/>
                </a:solidFill>
                <a:latin typeface="JetBrains Mono" pitchFamily="34" charset="0"/>
                <a:ea typeface="JetBrains Mono" pitchFamily="34" charset="-122"/>
                <a:cs typeface="JetBrains Mono" pitchFamily="34" charset="-120"/>
              </a:rPr>
              <a:t># .env — compose otomatik okur</a:t>
            </a:r>
            <a:r>
              <a:rPr lang="en-US" sz="1200" dirty="0">
                <a:solidFill>
                  <a:srgbClr val="D6E2F0"/>
                </a:solidFill>
                <a:latin typeface="JetBrains Mono" pitchFamily="34" charset="0"/>
                <a:ea typeface="JetBrains Mono" pitchFamily="34" charset="-122"/>
                <a:cs typeface="JetBrains Mono" pitchFamily="34" charset="-120"/>
              </a:rPr>
              <a:t>    APP_BASLIK=Docker Egitimi Sayaci    WEB_PORT=8000</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10 · SERVIS BAĞIMLILIKLARI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"Başladı" ile "hazır" aynı şey değil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10553700" cy="1544042"/>
        </p:xfrm>
        <a:graphic>
          <a:graphicData uri="http://schemas.openxmlformats.org/drawingml/2006/table">
            <a:tbl>
              <a:tblPr/>
              <a:tblGrid>
                <a:gridCol w="4643628"/>
                <a:gridCol w="5910072"/>
              </a:tblGrid>
              <a:tr h="386011">
                <a:tc>
                  <a:txBody>
                    <a:bodyPr/>
                    <a:lstStyle/>
                    <a:p>
                      <a:pPr indent="0" marL="0">
                        <a:lnSpc>
                          <a:spcPts val="1960"/>
                        </a:lnSpc>
                        <a:buNone/>
                      </a:pPr>
                      <a:r>
                        <a:rPr lang="en-US" sz="1400" b="1" dirty="0">
                          <a:solidFill>
                            <a:srgbClr val="1B2A3D"/>
                          </a:solidFill>
                          <a:latin typeface="IBM Plex Sans" pitchFamily="34" charset="0"/>
                          <a:ea typeface="IBM Plex Sans" pitchFamily="34" charset="-122"/>
                          <a:cs typeface="IBM Plex Sans" pitchFamily="34" charset="-120"/>
                        </a:rPr>
                        <a:t>condition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960"/>
                        </a:lnSpc>
                        <a:buNone/>
                      </a:pPr>
                      <a:r>
                        <a:rPr lang="en-US" sz="1400" b="1" dirty="0">
                          <a:solidFill>
                            <a:srgbClr val="1B2A3D"/>
                          </a:solidFill>
                          <a:latin typeface="IBM Plex Sans" pitchFamily="34" charset="0"/>
                          <a:ea typeface="IBM Plex Sans" pitchFamily="34" charset="-122"/>
                          <a:cs typeface="IBM Plex Sans" pitchFamily="34" charset="-120"/>
                        </a:rPr>
                        <a:t>Anlamı</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86011">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service_started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Container başladı (varsayılan) — uygulama hazır olmayabilir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service_healthy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Container'ın healthcheck'i başarılı</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r>
              <a:tr h="386011">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service_completed_successfully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Çalışıp 0 koduyla bitti (ör. migration)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CC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5" name="Shape 2"/>
          <p:cNvSpPr/>
          <p:nvPr/>
        </p:nvSpPr>
        <p:spPr>
          <a:xfrm>
            <a:off x="812800" y="3812183"/>
            <a:ext cx="10566400" cy="1249561"/>
          </a:xfrm>
          <a:prstGeom prst="roundRect">
            <a:avLst>
              <a:gd name="adj" fmla="val 6098"/>
            </a:avLst>
          </a:prstGeom>
          <a:solidFill>
            <a:srgbClr val="0F1B2D"/>
          </a:solidFill>
          <a:ln/>
        </p:spPr>
      </p:sp>
      <p:sp>
        <p:nvSpPr>
          <p:cNvPr id="6" name="Text 3"/>
          <p:cNvSpPr/>
          <p:nvPr/>
        </p:nvSpPr>
        <p:spPr>
          <a:xfrm>
            <a:off x="1016000" y="3964583"/>
            <a:ext cx="10464800" cy="97016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Network sayac_backend      Created</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Volume "sayac_redis-data"  Created</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Container sayac-redis-1    </a:t>
            </a:r>
            <a:r>
              <a:rPr lang="en-US" sz="1200" dirty="0">
                <a:solidFill>
                  <a:srgbClr val="7CC4FF"/>
                </a:solidFill>
                <a:latin typeface="JetBrains Mono" pitchFamily="34" charset="0"/>
                <a:ea typeface="JetBrains Mono" pitchFamily="34" charset="-122"/>
                <a:cs typeface="JetBrains Mono" pitchFamily="34" charset="-120"/>
              </a:rPr>
              <a:t>Healthy</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Container sayac-web-1      Started</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10 · KOMUTLAR</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Günlük kullanımın tamamı</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5143500" cy="2515245"/>
        </p:xfrm>
        <a:graphic>
          <a:graphicData uri="http://schemas.openxmlformats.org/drawingml/2006/table">
            <a:tbl>
              <a:tblPr/>
              <a:tblGrid>
                <a:gridCol w="3086100"/>
                <a:gridCol w="2057400"/>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docker compose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Ne yapar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up -d --build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Build + başlat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Durum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logs -f web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Canlı log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exec redis redis-cli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Servis içinde komut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run --rm web 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Tek seferlik container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config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Yorumlanmış YAML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5700" y="2014141"/>
          <a:ext cx="5143500" cy="2746375"/>
        </p:xfrm>
        <a:graphic>
          <a:graphicData uri="http://schemas.openxmlformats.org/drawingml/2006/table">
            <a:tbl>
              <a:tblPr/>
              <a:tblGrid>
                <a:gridCol w="3086100"/>
                <a:gridCol w="2057400"/>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docker compose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Ne yapar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stop / 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Durdur / başlat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59045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restart web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Tek servisi yeniden başlat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down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Kaldır, volume kalır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down -v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B59C"/>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B59C"/>
                      </a:solidFill>
                      <a:prstDash val="solid"/>
                      <a:round/>
                      <a:headEnd type="none" w="med" len="med"/>
                      <a:tailEnd type="none" w="med" len="med"/>
                    </a:lnB>
                    <a:solidFill>
                      <a:srgbClr val="FFE3C2"/>
                    </a:solidFill>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Volume'u da SİLER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59C"/>
                      </a:solidFill>
                      <a:prstDash val="solid"/>
                      <a:round/>
                      <a:headEnd type="none" w="med" len="med"/>
                      <a:tailEnd type="none" w="med" len="med"/>
                    </a:lnL>
                    <a:lnR w="12700" cap="flat" cmpd="sng" algn="ctr">
                      <a:solidFill>
                        <a:srgbClr val="CBB59C"/>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B59C"/>
                      </a:solidFill>
                      <a:prstDash val="solid"/>
                      <a:round/>
                      <a:headEnd type="none" w="med" len="med"/>
                      <a:tailEnd type="none" w="med" len="med"/>
                    </a:lnB>
                    <a:solidFill>
                      <a:srgbClr val="FFE3C2"/>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up -d --scale web=3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B59C"/>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Ölçekle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B59C"/>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watch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Canlı geliştirme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6" name="Text 2"/>
          <p:cNvSpPr/>
          <p:nvPr/>
        </p:nvSpPr>
        <p:spPr>
          <a:xfrm>
            <a:off x="812800" y="5014516"/>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exec </a:t>
            </a:r>
            <a:r>
              <a:rPr lang="en-US" sz="1400" b="1" dirty="0">
                <a:solidFill>
                  <a:srgbClr val="44536A"/>
                </a:solidFill>
                <a:latin typeface="IBM Plex Sans" pitchFamily="34" charset="0"/>
                <a:ea typeface="IBM Plex Sans" pitchFamily="34" charset="-122"/>
                <a:cs typeface="IBM Plex Sans" pitchFamily="34" charset="-120"/>
              </a:rPr>
              <a:t>servis adını</a:t>
            </a:r>
            <a:r>
              <a:rPr lang="en-US" sz="1400" dirty="0">
                <a:solidFill>
                  <a:srgbClr val="44536A"/>
                </a:solidFill>
                <a:latin typeface="IBM Plex Sans" pitchFamily="34" charset="0"/>
                <a:ea typeface="IBM Plex Sans" pitchFamily="34" charset="-122"/>
                <a:cs typeface="IBM Plex Sans" pitchFamily="34" charset="-120"/>
              </a:rPr>
              <a:t> kullanır (web), container adını (sayac-web-1) değil.</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10 · REVERSE PROXY VE ÖLÇEKLEME</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Tek giriş kapısı, üç web container'ı</a:t>
            </a:r>
            <a:endParaRPr lang="en-US" sz="3200" dirty="0"/>
          </a:p>
        </p:txBody>
      </p:sp>
      <p:sp>
        <p:nvSpPr>
          <p:cNvPr id="4" name="Shape 2"/>
          <p:cNvSpPr/>
          <p:nvPr/>
        </p:nvSpPr>
        <p:spPr>
          <a:xfrm>
            <a:off x="812800" y="2337991"/>
            <a:ext cx="839043" cy="502890"/>
          </a:xfrm>
          <a:prstGeom prst="roundRect">
            <a:avLst>
              <a:gd name="adj" fmla="val 15152"/>
            </a:avLst>
          </a:prstGeom>
          <a:solidFill>
            <a:srgbClr val="D6E4FA"/>
          </a:solidFill>
          <a:ln/>
        </p:spPr>
      </p:sp>
      <p:sp>
        <p:nvSpPr>
          <p:cNvPr id="5" name="Text 3"/>
          <p:cNvSpPr/>
          <p:nvPr/>
        </p:nvSpPr>
        <p:spPr>
          <a:xfrm>
            <a:off x="990600" y="2464991"/>
            <a:ext cx="53424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:8080</a:t>
            </a:r>
            <a:endParaRPr lang="en-US" sz="1400" dirty="0"/>
          </a:p>
        </p:txBody>
      </p:sp>
      <p:pic>
        <p:nvPicPr>
          <p:cNvPr id="6" name="Image 0" descr="arrow-right">    </p:cNvPr>
          <p:cNvPicPr>
            <a:picLocks noChangeAspect="1"/>
          </p:cNvPicPr>
          <p:nvPr/>
        </p:nvPicPr>
        <p:blipFill>
          <a:blip r:embed="rId1"/>
          <a:srcRect l="0" r="0" t="0" b="0"/>
          <a:stretch/>
        </p:blipFill>
        <p:spPr>
          <a:xfrm>
            <a:off x="1804243" y="2475111"/>
            <a:ext cx="508000" cy="228600"/>
          </a:xfrm>
          <a:prstGeom prst="rect">
            <a:avLst/>
          </a:prstGeom>
        </p:spPr>
      </p:pic>
      <p:sp>
        <p:nvSpPr>
          <p:cNvPr id="7" name="Shape 4"/>
          <p:cNvSpPr/>
          <p:nvPr/>
        </p:nvSpPr>
        <p:spPr>
          <a:xfrm>
            <a:off x="2464643" y="2337991"/>
            <a:ext cx="1312168" cy="502890"/>
          </a:xfrm>
          <a:prstGeom prst="roundRect">
            <a:avLst>
              <a:gd name="adj" fmla="val 15152"/>
            </a:avLst>
          </a:prstGeom>
          <a:solidFill>
            <a:srgbClr val="5E6A7A"/>
          </a:solidFill>
          <a:ln/>
        </p:spPr>
      </p:sp>
      <p:sp>
        <p:nvSpPr>
          <p:cNvPr id="8" name="Text 5"/>
          <p:cNvSpPr/>
          <p:nvPr/>
        </p:nvSpPr>
        <p:spPr>
          <a:xfrm>
            <a:off x="2642443" y="2464991"/>
            <a:ext cx="10073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nginx proxy</a:t>
            </a:r>
            <a:endParaRPr lang="en-US" sz="1400" dirty="0"/>
          </a:p>
        </p:txBody>
      </p:sp>
      <p:pic>
        <p:nvPicPr>
          <p:cNvPr id="9" name="Image 1" descr="arrow-right">    </p:cNvPr>
          <p:cNvPicPr>
            <a:picLocks noChangeAspect="1"/>
          </p:cNvPicPr>
          <p:nvPr/>
        </p:nvPicPr>
        <p:blipFill>
          <a:blip r:embed="rId2"/>
          <a:srcRect l="0" r="0" t="0" b="0"/>
          <a:stretch/>
        </p:blipFill>
        <p:spPr>
          <a:xfrm>
            <a:off x="3929211" y="2475111"/>
            <a:ext cx="508000" cy="228600"/>
          </a:xfrm>
          <a:prstGeom prst="rect">
            <a:avLst/>
          </a:prstGeom>
        </p:spPr>
      </p:pic>
      <p:sp>
        <p:nvSpPr>
          <p:cNvPr id="10" name="Shape 6"/>
          <p:cNvSpPr/>
          <p:nvPr/>
        </p:nvSpPr>
        <p:spPr>
          <a:xfrm>
            <a:off x="4589611" y="2001441"/>
            <a:ext cx="783779" cy="358130"/>
          </a:xfrm>
          <a:prstGeom prst="roundRect">
            <a:avLst>
              <a:gd name="adj" fmla="val 17731"/>
            </a:avLst>
          </a:prstGeom>
          <a:solidFill>
            <a:srgbClr val="1D63ED"/>
          </a:solidFill>
          <a:ln/>
        </p:spPr>
      </p:sp>
      <p:sp>
        <p:nvSpPr>
          <p:cNvPr id="11" name="Text 7"/>
          <p:cNvSpPr/>
          <p:nvPr/>
        </p:nvSpPr>
        <p:spPr>
          <a:xfrm>
            <a:off x="4742011" y="2064941"/>
            <a:ext cx="52977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6F8"/>
                </a:solidFill>
                <a:latin typeface="IBM Plex Sans" pitchFamily="34" charset="0"/>
                <a:ea typeface="IBM Plex Sans" pitchFamily="34" charset="-122"/>
                <a:cs typeface="IBM Plex Sans" pitchFamily="34" charset="-120"/>
              </a:rPr>
              <a:t>web-1</a:t>
            </a:r>
            <a:endParaRPr lang="en-US" sz="1300" dirty="0"/>
          </a:p>
        </p:txBody>
      </p:sp>
      <p:sp>
        <p:nvSpPr>
          <p:cNvPr id="12" name="Shape 8"/>
          <p:cNvSpPr/>
          <p:nvPr/>
        </p:nvSpPr>
        <p:spPr>
          <a:xfrm>
            <a:off x="4589611" y="2410371"/>
            <a:ext cx="783779" cy="358130"/>
          </a:xfrm>
          <a:prstGeom prst="roundRect">
            <a:avLst>
              <a:gd name="adj" fmla="val 17731"/>
            </a:avLst>
          </a:prstGeom>
          <a:solidFill>
            <a:srgbClr val="1D63ED"/>
          </a:solidFill>
          <a:ln/>
        </p:spPr>
      </p:sp>
      <p:sp>
        <p:nvSpPr>
          <p:cNvPr id="13" name="Text 9"/>
          <p:cNvSpPr/>
          <p:nvPr/>
        </p:nvSpPr>
        <p:spPr>
          <a:xfrm>
            <a:off x="4742011" y="2473871"/>
            <a:ext cx="52977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6F8"/>
                </a:solidFill>
                <a:latin typeface="IBM Plex Sans" pitchFamily="34" charset="0"/>
                <a:ea typeface="IBM Plex Sans" pitchFamily="34" charset="-122"/>
                <a:cs typeface="IBM Plex Sans" pitchFamily="34" charset="-120"/>
              </a:rPr>
              <a:t>web-2</a:t>
            </a:r>
            <a:endParaRPr lang="en-US" sz="1300" dirty="0"/>
          </a:p>
        </p:txBody>
      </p:sp>
      <p:sp>
        <p:nvSpPr>
          <p:cNvPr id="14" name="Shape 10"/>
          <p:cNvSpPr/>
          <p:nvPr/>
        </p:nvSpPr>
        <p:spPr>
          <a:xfrm>
            <a:off x="4589611" y="2819301"/>
            <a:ext cx="783779" cy="358130"/>
          </a:xfrm>
          <a:prstGeom prst="roundRect">
            <a:avLst>
              <a:gd name="adj" fmla="val 17731"/>
            </a:avLst>
          </a:prstGeom>
          <a:solidFill>
            <a:srgbClr val="1D63ED"/>
          </a:solidFill>
          <a:ln/>
        </p:spPr>
      </p:sp>
      <p:sp>
        <p:nvSpPr>
          <p:cNvPr id="15" name="Text 11"/>
          <p:cNvSpPr/>
          <p:nvPr/>
        </p:nvSpPr>
        <p:spPr>
          <a:xfrm>
            <a:off x="4742011" y="2882801"/>
            <a:ext cx="52977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6F8"/>
                </a:solidFill>
                <a:latin typeface="IBM Plex Sans" pitchFamily="34" charset="0"/>
                <a:ea typeface="IBM Plex Sans" pitchFamily="34" charset="-122"/>
                <a:cs typeface="IBM Plex Sans" pitchFamily="34" charset="-120"/>
              </a:rPr>
              <a:t>web-3</a:t>
            </a:r>
            <a:endParaRPr lang="en-US" sz="1300" dirty="0"/>
          </a:p>
        </p:txBody>
      </p:sp>
      <p:pic>
        <p:nvPicPr>
          <p:cNvPr id="16" name="Image 2" descr="arrow-right">    </p:cNvPr>
          <p:cNvPicPr>
            <a:picLocks noChangeAspect="1"/>
          </p:cNvPicPr>
          <p:nvPr/>
        </p:nvPicPr>
        <p:blipFill>
          <a:blip r:embed="rId3"/>
          <a:srcRect l="0" r="0" t="0" b="0"/>
          <a:stretch/>
        </p:blipFill>
        <p:spPr>
          <a:xfrm>
            <a:off x="5525790" y="2475111"/>
            <a:ext cx="508000" cy="228600"/>
          </a:xfrm>
          <a:prstGeom prst="rect">
            <a:avLst/>
          </a:prstGeom>
        </p:spPr>
      </p:pic>
      <p:sp>
        <p:nvSpPr>
          <p:cNvPr id="17" name="Shape 12"/>
          <p:cNvSpPr/>
          <p:nvPr/>
        </p:nvSpPr>
        <p:spPr>
          <a:xfrm>
            <a:off x="6186190" y="2337991"/>
            <a:ext cx="768201" cy="502890"/>
          </a:xfrm>
          <a:prstGeom prst="roundRect">
            <a:avLst>
              <a:gd name="adj" fmla="val 15152"/>
            </a:avLst>
          </a:prstGeom>
          <a:solidFill>
            <a:srgbClr val="0F1B2D"/>
          </a:solidFill>
          <a:ln/>
        </p:spPr>
      </p:sp>
      <p:sp>
        <p:nvSpPr>
          <p:cNvPr id="18" name="Text 13"/>
          <p:cNvSpPr/>
          <p:nvPr/>
        </p:nvSpPr>
        <p:spPr>
          <a:xfrm>
            <a:off x="6363990" y="2464991"/>
            <a:ext cx="46340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6F8"/>
                </a:solidFill>
                <a:latin typeface="IBM Plex Sans" pitchFamily="34" charset="0"/>
                <a:ea typeface="IBM Plex Sans" pitchFamily="34" charset="-122"/>
                <a:cs typeface="IBM Plex Sans" pitchFamily="34" charset="-120"/>
              </a:rPr>
              <a:t>redis</a:t>
            </a:r>
            <a:endParaRPr lang="en-US" sz="1400" dirty="0"/>
          </a:p>
        </p:txBody>
      </p:sp>
      <p:sp>
        <p:nvSpPr>
          <p:cNvPr id="19" name="Shape 14"/>
          <p:cNvSpPr/>
          <p:nvPr/>
        </p:nvSpPr>
        <p:spPr>
          <a:xfrm>
            <a:off x="812800" y="3431431"/>
            <a:ext cx="6248400" cy="1300361"/>
          </a:xfrm>
          <a:prstGeom prst="roundRect">
            <a:avLst>
              <a:gd name="adj" fmla="val 7813"/>
            </a:avLst>
          </a:prstGeom>
          <a:solidFill>
            <a:srgbClr val="0F1B2D"/>
          </a:solidFill>
          <a:ln/>
        </p:spPr>
      </p:sp>
      <p:sp>
        <p:nvSpPr>
          <p:cNvPr id="20" name="Text 15"/>
          <p:cNvSpPr/>
          <p:nvPr/>
        </p:nvSpPr>
        <p:spPr>
          <a:xfrm>
            <a:off x="1041400" y="3609231"/>
            <a:ext cx="5964936" cy="97016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compose -f compose.proxy.yaml \</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up -d --build --scale web=3</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compose -f compose.proxy.yaml \</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  exec proxy nslookup web</a:t>
            </a:r>
            <a:endParaRPr lang="en-US" sz="1200" dirty="0"/>
          </a:p>
        </p:txBody>
      </p:sp>
      <p:sp>
        <p:nvSpPr>
          <p:cNvPr id="21" name="Text 16"/>
          <p:cNvSpPr/>
          <p:nvPr/>
        </p:nvSpPr>
        <p:spPr>
          <a:xfrm>
            <a:off x="7315200" y="3431431"/>
            <a:ext cx="418592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4536A"/>
                </a:solidFill>
                <a:latin typeface="IBM Plex Sans" pitchFamily="34" charset="0"/>
                <a:ea typeface="IBM Plex Sans" pitchFamily="34" charset="-122"/>
                <a:cs typeface="IBM Plex Sans" pitchFamily="34" charset="-120"/>
              </a:rPr>
              <a:t>web'de </a:t>
            </a:r>
            <a:r>
              <a:rPr lang="en-US" sz="1300" b="1" dirty="0">
                <a:solidFill>
                  <a:srgbClr val="44536A"/>
                </a:solidFill>
                <a:latin typeface="IBM Plex Sans" pitchFamily="34" charset="0"/>
                <a:ea typeface="IBM Plex Sans" pitchFamily="34" charset="-122"/>
                <a:cs typeface="IBM Plex Sans" pitchFamily="34" charset="-120"/>
              </a:rPr>
              <a:t>ports yok</a:t>
            </a:r>
            <a:r>
              <a:rPr lang="en-US" sz="1300" dirty="0">
                <a:solidFill>
                  <a:srgbClr val="44536A"/>
                </a:solidFill>
                <a:latin typeface="IBM Plex Sans" pitchFamily="34" charset="0"/>
                <a:ea typeface="IBM Plex Sans" pitchFamily="34" charset="-122"/>
                <a:cs typeface="IBM Plex Sans" pitchFamily="34" charset="-120"/>
              </a:rPr>
              <a:t>: üç container aynı host portunu alamaz.</a:t>
            </a:r>
            <a:endParaRPr lang="en-US" sz="1300" dirty="0"/>
          </a:p>
        </p:txBody>
      </p:sp>
      <p:sp>
        <p:nvSpPr>
          <p:cNvPr id="22" name="Text 17"/>
          <p:cNvSpPr/>
          <p:nvPr/>
        </p:nvSpPr>
        <p:spPr>
          <a:xfrm>
            <a:off x="7315200" y="4011761"/>
            <a:ext cx="418592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4536A"/>
                </a:solidFill>
                <a:latin typeface="IBM Plex Sans" pitchFamily="34" charset="0"/>
                <a:ea typeface="IBM Plex Sans" pitchFamily="34" charset="-122"/>
                <a:cs typeface="IBM Plex Sans" pitchFamily="34" charset="-120"/>
              </a:rPr>
              <a:t>Scale sonrası: </a:t>
            </a:r>
            <a:r>
              <a:rPr lang="en-US" sz="1300" b="1" dirty="0">
                <a:solidFill>
                  <a:srgbClr val="44536A"/>
                </a:solidFill>
                <a:latin typeface="IBM Plex Sans" pitchFamily="34" charset="0"/>
                <a:ea typeface="IBM Plex Sans" pitchFamily="34" charset="-122"/>
                <a:cs typeface="IBM Plex Sans" pitchFamily="34" charset="-120"/>
              </a:rPr>
              <a:t>restart proxy</a:t>
            </a:r>
            <a:r>
              <a:rPr lang="en-US" sz="1300" dirty="0">
                <a:solidFill>
                  <a:srgbClr val="44536A"/>
                </a:solidFill>
                <a:latin typeface="IBM Plex Sans" pitchFamily="34" charset="0"/>
                <a:ea typeface="IBM Plex Sans" pitchFamily="34" charset="-122"/>
                <a:cs typeface="IBM Plex Sans" pitchFamily="34" charset="-120"/>
              </a:rPr>
              <a:t> (nginx DNS'i başta çözer).</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10 · 75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Çok servisli uygulamayı ayağa kaldırın</a:t>
            </a:r>
            <a:endParaRPr lang="en-US" sz="3200" dirty="0"/>
          </a:p>
        </p:txBody>
      </p:sp>
      <p:sp>
        <p:nvSpPr>
          <p:cNvPr id="4" name="Text 2"/>
          <p:cNvSpPr/>
          <p:nvPr/>
        </p:nvSpPr>
        <p:spPr>
          <a:xfrm>
            <a:off x="812800" y="2001441"/>
            <a:ext cx="546785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467858" cy="167888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up, ps, logs, exec</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Redis'in host'a kapalı olduğunu doğrulayın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down / up: sayaç devam ediyor mu?</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watch ile canlı geliştirme</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Proxy + --scale web=3</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Secrets demosu</a:t>
            </a:r>
            <a:endParaRPr lang="en-US" sz="1400" dirty="0"/>
          </a:p>
        </p:txBody>
      </p:sp>
      <p:sp>
        <p:nvSpPr>
          <p:cNvPr id="6" name="Shape 4"/>
          <p:cNvSpPr/>
          <p:nvPr/>
        </p:nvSpPr>
        <p:spPr>
          <a:xfrm>
            <a:off x="6426200" y="2001441"/>
            <a:ext cx="4953000" cy="2357041"/>
          </a:xfrm>
          <a:prstGeom prst="roundRect">
            <a:avLst>
              <a:gd name="adj" fmla="val 4310"/>
            </a:avLst>
          </a:prstGeom>
          <a:solidFill>
            <a:srgbClr val="2A1D0F"/>
          </a:solidFill>
          <a:ln/>
        </p:spPr>
      </p:sp>
      <p:sp>
        <p:nvSpPr>
          <p:cNvPr id="7" name="Text 5"/>
          <p:cNvSpPr/>
          <p:nvPr/>
        </p:nvSpPr>
        <p:spPr>
          <a:xfrm>
            <a:off x="6680200" y="2204641"/>
            <a:ext cx="4578350" cy="19760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ornekler/10-compose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compose config</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compose up -d --build</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compose ps</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compose exec redis redis-cli GET ziyaret</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compose down</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compose up -d</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compose watch</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labs/10-docker-compose.md · http://localhost:8000 ve :8080</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11 · IMAGE ADI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Tag değişebilir, digest değişmez</a:t>
            </a:r>
            <a:endParaRPr lang="en-US" sz="3200" dirty="0"/>
          </a:p>
        </p:txBody>
      </p:sp>
      <p:sp>
        <p:nvSpPr>
          <p:cNvPr id="4" name="Shape 2"/>
          <p:cNvSpPr/>
          <p:nvPr/>
        </p:nvSpPr>
        <p:spPr>
          <a:xfrm>
            <a:off x="812800" y="2001441"/>
            <a:ext cx="2865090" cy="502890"/>
          </a:xfrm>
          <a:prstGeom prst="roundRect">
            <a:avLst>
              <a:gd name="adj" fmla="val 12627"/>
            </a:avLst>
          </a:prstGeom>
          <a:solidFill>
            <a:srgbClr val="5E6A7A"/>
          </a:solidFill>
          <a:ln/>
        </p:spPr>
      </p:sp>
      <p:sp>
        <p:nvSpPr>
          <p:cNvPr id="5" name="Text 3"/>
          <p:cNvSpPr/>
          <p:nvPr/>
        </p:nvSpPr>
        <p:spPr>
          <a:xfrm>
            <a:off x="965200" y="2128441"/>
            <a:ext cx="26370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6F8"/>
                </a:solidFill>
                <a:latin typeface="JetBrains Mono" pitchFamily="34" charset="0"/>
                <a:ea typeface="JetBrains Mono" pitchFamily="34" charset="-122"/>
                <a:cs typeface="JetBrains Mono" pitchFamily="34" charset="-120"/>
              </a:rPr>
              <a:t>registry.ornek.com:5000/</a:t>
            </a:r>
            <a:endParaRPr lang="en-US" sz="1400" dirty="0"/>
          </a:p>
        </p:txBody>
      </p:sp>
      <p:sp>
        <p:nvSpPr>
          <p:cNvPr id="6" name="Text 4"/>
          <p:cNvSpPr/>
          <p:nvPr/>
        </p:nvSpPr>
        <p:spPr>
          <a:xfrm>
            <a:off x="769824" y="2555131"/>
            <a:ext cx="295104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registry</a:t>
            </a:r>
            <a:endParaRPr lang="en-US" sz="1200" dirty="0"/>
          </a:p>
        </p:txBody>
      </p:sp>
      <p:sp>
        <p:nvSpPr>
          <p:cNvPr id="7" name="Shape 5"/>
          <p:cNvSpPr/>
          <p:nvPr/>
        </p:nvSpPr>
        <p:spPr>
          <a:xfrm>
            <a:off x="3728690" y="2001441"/>
            <a:ext cx="1798340" cy="502890"/>
          </a:xfrm>
          <a:prstGeom prst="roundRect">
            <a:avLst>
              <a:gd name="adj" fmla="val 12627"/>
            </a:avLst>
          </a:prstGeom>
          <a:solidFill>
            <a:srgbClr val="0F1B2D"/>
          </a:solidFill>
          <a:ln/>
        </p:spPr>
      </p:sp>
      <p:sp>
        <p:nvSpPr>
          <p:cNvPr id="8" name="Text 6"/>
          <p:cNvSpPr/>
          <p:nvPr/>
        </p:nvSpPr>
        <p:spPr>
          <a:xfrm>
            <a:off x="3881090" y="2128441"/>
            <a:ext cx="154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6F8"/>
                </a:solidFill>
                <a:latin typeface="JetBrains Mono" pitchFamily="34" charset="0"/>
                <a:ea typeface="JetBrains Mono" pitchFamily="34" charset="-122"/>
                <a:cs typeface="JetBrains Mono" pitchFamily="34" charset="-120"/>
              </a:rPr>
              <a:t>ekip/sayac-web</a:t>
            </a:r>
            <a:endParaRPr lang="en-US" sz="1400" dirty="0"/>
          </a:p>
        </p:txBody>
      </p:sp>
      <p:sp>
        <p:nvSpPr>
          <p:cNvPr id="9" name="Text 7"/>
          <p:cNvSpPr/>
          <p:nvPr/>
        </p:nvSpPr>
        <p:spPr>
          <a:xfrm>
            <a:off x="3701715" y="2555131"/>
            <a:ext cx="185229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repository</a:t>
            </a:r>
            <a:endParaRPr lang="en-US" sz="1200" dirty="0"/>
          </a:p>
        </p:txBody>
      </p:sp>
      <p:sp>
        <p:nvSpPr>
          <p:cNvPr id="10" name="Shape 8"/>
          <p:cNvSpPr/>
          <p:nvPr/>
        </p:nvSpPr>
        <p:spPr>
          <a:xfrm>
            <a:off x="5577830" y="2001441"/>
            <a:ext cx="944910" cy="502890"/>
          </a:xfrm>
          <a:prstGeom prst="roundRect">
            <a:avLst>
              <a:gd name="adj" fmla="val 12627"/>
            </a:avLst>
          </a:prstGeom>
          <a:solidFill>
            <a:srgbClr val="1D63ED"/>
          </a:solidFill>
          <a:ln/>
        </p:spPr>
      </p:sp>
      <p:sp>
        <p:nvSpPr>
          <p:cNvPr id="11" name="Text 9"/>
          <p:cNvSpPr/>
          <p:nvPr/>
        </p:nvSpPr>
        <p:spPr>
          <a:xfrm>
            <a:off x="5730230" y="2128441"/>
            <a:ext cx="6909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6F8"/>
                </a:solidFill>
                <a:latin typeface="JetBrains Mono" pitchFamily="34" charset="0"/>
                <a:ea typeface="JetBrains Mono" pitchFamily="34" charset="-122"/>
                <a:cs typeface="JetBrains Mono" pitchFamily="34" charset="-120"/>
              </a:rPr>
              <a:t>:1.4.2</a:t>
            </a:r>
            <a:endParaRPr lang="en-US" sz="1400" dirty="0"/>
          </a:p>
        </p:txBody>
      </p:sp>
      <p:sp>
        <p:nvSpPr>
          <p:cNvPr id="12" name="Text 10"/>
          <p:cNvSpPr/>
          <p:nvPr/>
        </p:nvSpPr>
        <p:spPr>
          <a:xfrm>
            <a:off x="5552430" y="2555131"/>
            <a:ext cx="9957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tag</a:t>
            </a:r>
            <a:endParaRPr lang="en-US" sz="1200" dirty="0"/>
          </a:p>
        </p:txBody>
      </p:sp>
      <p:sp>
        <p:nvSpPr>
          <p:cNvPr id="13" name="Shape 11"/>
          <p:cNvSpPr/>
          <p:nvPr/>
        </p:nvSpPr>
        <p:spPr>
          <a:xfrm>
            <a:off x="6573540" y="2001441"/>
            <a:ext cx="1691630" cy="502890"/>
          </a:xfrm>
          <a:prstGeom prst="roundRect">
            <a:avLst>
              <a:gd name="adj" fmla="val 12627"/>
            </a:avLst>
          </a:prstGeom>
          <a:solidFill>
            <a:srgbClr val="FFE3C2"/>
          </a:solidFill>
          <a:ln/>
        </p:spPr>
      </p:sp>
      <p:sp>
        <p:nvSpPr>
          <p:cNvPr id="14" name="Text 12"/>
          <p:cNvSpPr/>
          <p:nvPr/>
        </p:nvSpPr>
        <p:spPr>
          <a:xfrm>
            <a:off x="6725940" y="2128441"/>
            <a:ext cx="143763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D0F"/>
                </a:solidFill>
                <a:latin typeface="JetBrains Mono" pitchFamily="34" charset="0"/>
                <a:ea typeface="JetBrains Mono" pitchFamily="34" charset="-122"/>
                <a:cs typeface="JetBrains Mono" pitchFamily="34" charset="-120"/>
              </a:rPr>
              <a:t>@sha256:3f5a…</a:t>
            </a:r>
            <a:endParaRPr lang="en-US" sz="1400" dirty="0"/>
          </a:p>
        </p:txBody>
      </p:sp>
      <p:sp>
        <p:nvSpPr>
          <p:cNvPr id="15" name="Text 13"/>
          <p:cNvSpPr/>
          <p:nvPr/>
        </p:nvSpPr>
        <p:spPr>
          <a:xfrm>
            <a:off x="6548140" y="2555131"/>
            <a:ext cx="174243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digest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3035151"/>
          <a:ext cx="10553700" cy="1663402"/>
        </p:xfrm>
        <a:graphic>
          <a:graphicData uri="http://schemas.openxmlformats.org/drawingml/2006/table">
            <a:tbl>
              <a:tblPr/>
              <a:tblGrid>
                <a:gridCol w="4221480"/>
                <a:gridCol w="6332220"/>
              </a:tblGrid>
              <a:tr h="332680">
                <a:tc>
                  <a:txBody>
                    <a:bodyPr/>
                    <a:lstStyle/>
                    <a:p>
                      <a:pPr indent="0" marL="0">
                        <a:lnSpc>
                          <a:spcPts val="1680"/>
                        </a:lnSpc>
                        <a:buNone/>
                      </a:pPr>
                      <a:r>
                        <a:rPr lang="en-US" sz="1200" b="1" dirty="0">
                          <a:solidFill>
                            <a:srgbClr val="1B2A3D"/>
                          </a:solidFill>
                          <a:latin typeface="JetBrains Mono" pitchFamily="34" charset="0"/>
                          <a:ea typeface="JetBrains Mono" pitchFamily="34" charset="-122"/>
                          <a:cs typeface="JetBrains Mono" pitchFamily="34" charset="-120"/>
                        </a:rPr>
                        <a:t>Yazdığınız</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680"/>
                        </a:lnSpc>
                        <a:buNone/>
                      </a:pPr>
                      <a:r>
                        <a:rPr lang="en-US" sz="1200" b="1" dirty="0">
                          <a:solidFill>
                            <a:srgbClr val="1B2A3D"/>
                          </a:solidFill>
                          <a:latin typeface="JetBrains Mono" pitchFamily="34" charset="0"/>
                          <a:ea typeface="JetBrains Mono" pitchFamily="34" charset="-122"/>
                          <a:cs typeface="JetBrains Mono" pitchFamily="34" charset="-120"/>
                        </a:rPr>
                        <a:t>Docker'ın anladığı</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32680">
                <a:tc>
                  <a:txBody>
                    <a:bodyPr/>
                    <a:lstStyle/>
                    <a:p>
                      <a:pPr indent="0" marL="0">
                        <a:lnSpc>
                          <a:spcPts val="1680"/>
                        </a:lnSpc>
                        <a:buNone/>
                      </a:pPr>
                      <a:r>
                        <a:rPr lang="en-US" sz="1200" dirty="0">
                          <a:solidFill>
                            <a:srgbClr val="1B2A3D"/>
                          </a:solidFill>
                          <a:latin typeface="JetBrains Mono" pitchFamily="34" charset="0"/>
                          <a:ea typeface="JetBrains Mono" pitchFamily="34" charset="-122"/>
                          <a:cs typeface="JetBrains Mono" pitchFamily="34" charset="-120"/>
                        </a:rPr>
                        <a:t>nginx</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JetBrains Mono" pitchFamily="34" charset="0"/>
                          <a:ea typeface="JetBrains Mono" pitchFamily="34" charset="-122"/>
                          <a:cs typeface="JetBrains Mono" pitchFamily="34" charset="-120"/>
                        </a:rPr>
                        <a:t>docker.io/library/nginx:latest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JetBrains Mono" pitchFamily="34" charset="0"/>
                          <a:ea typeface="JetBrains Mono" pitchFamily="34" charset="-122"/>
                          <a:cs typeface="JetBrains Mono" pitchFamily="34" charset="-120"/>
                        </a:rPr>
                        <a:t>kullanici/uygulama:1.0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JetBrains Mono" pitchFamily="34" charset="0"/>
                          <a:ea typeface="JetBrains Mono" pitchFamily="34" charset="-122"/>
                          <a:cs typeface="JetBrains Mono" pitchFamily="34" charset="-120"/>
                        </a:rPr>
                        <a:t>docker.io/kullanici/uygulama:1.0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JetBrains Mono" pitchFamily="34" charset="0"/>
                          <a:ea typeface="JetBrains Mono" pitchFamily="34" charset="-122"/>
                          <a:cs typeface="JetBrains Mono" pitchFamily="34" charset="-120"/>
                        </a:rPr>
                        <a:t>localhost:5001/uygulama:1.0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JetBrains Mono" pitchFamily="34" charset="0"/>
                          <a:ea typeface="JetBrains Mono" pitchFamily="34" charset="-122"/>
                          <a:cs typeface="JetBrains Mono" pitchFamily="34" charset="-120"/>
                        </a:rPr>
                        <a:t>Yerel registry'deki uygulama:1.0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JetBrains Mono" pitchFamily="34" charset="0"/>
                          <a:ea typeface="JetBrains Mono" pitchFamily="34" charset="-122"/>
                          <a:cs typeface="JetBrains Mono" pitchFamily="34" charset="-120"/>
                        </a:rPr>
                        <a:t>ghcr.io/org/uygulama:1.0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JetBrains Mono" pitchFamily="34" charset="0"/>
                          <a:ea typeface="JetBrains Mono" pitchFamily="34" charset="-122"/>
                          <a:cs typeface="JetBrains Mono" pitchFamily="34" charset="-120"/>
                        </a:rPr>
                        <a:t>GitHub Container Registry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11 · TAGGING STRATEJISI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Aynı image'a birden çok tag</a:t>
            </a:r>
            <a:endParaRPr lang="en-US" sz="3200" dirty="0"/>
          </a:p>
        </p:txBody>
      </p:sp>
      <p:sp>
        <p:nvSpPr>
          <p:cNvPr id="4" name="Shape 2"/>
          <p:cNvSpPr/>
          <p:nvPr/>
        </p:nvSpPr>
        <p:spPr>
          <a:xfrm>
            <a:off x="812800" y="2001441"/>
            <a:ext cx="5207000" cy="1701701"/>
          </a:xfrm>
          <a:prstGeom prst="roundRect">
            <a:avLst>
              <a:gd name="adj" fmla="val 5970"/>
            </a:avLst>
          </a:prstGeom>
          <a:solidFill>
            <a:srgbClr val="0F1B2D"/>
          </a:solidFill>
          <a:ln/>
        </p:spPr>
      </p:sp>
      <p:sp>
        <p:nvSpPr>
          <p:cNvPr id="5" name="Text 3"/>
          <p:cNvSpPr/>
          <p:nvPr/>
        </p:nvSpPr>
        <p:spPr>
          <a:xfrm>
            <a:off x="1066800" y="2204641"/>
            <a:ext cx="4839970" cy="1320701"/>
          </a:xfrm>
          <a:prstGeom prst="rect">
            <a:avLst/>
          </a:prstGeom>
          <a:noFill/>
          <a:ln/>
        </p:spPr>
        <p:txBody>
          <a:bodyPr wrap="square" lIns="0" tIns="0" rIns="0" bIns="0" rtlCol="0" anchor="t">
            <a:normAutofit/>
          </a:bodyPr>
          <a:lstStyle/>
          <a:p>
            <a:pPr algn="l" indent="0" marL="0">
              <a:lnSpc>
                <a:spcPts val="2040"/>
              </a:lnSpc>
              <a:buNone/>
            </a:pPr>
            <a:r>
              <a:rPr lang="en-US" sz="1200" dirty="0">
                <a:solidFill>
                  <a:srgbClr val="D6E2F0"/>
                </a:solidFill>
                <a:latin typeface="JetBrains Mono" pitchFamily="34" charset="0"/>
                <a:ea typeface="JetBrains Mono" pitchFamily="34" charset="-122"/>
                <a:cs typeface="JetBrains Mono" pitchFamily="34" charset="-120"/>
              </a:rPr>
              <a:t>sayac-web:</a:t>
            </a:r>
            <a:r>
              <a:rPr lang="en-US" sz="1200" dirty="0">
                <a:solidFill>
                  <a:srgbClr val="7CC4FF"/>
                </a:solidFill>
                <a:latin typeface="JetBrains Mono" pitchFamily="34" charset="0"/>
                <a:ea typeface="JetBrains Mono" pitchFamily="34" charset="-122"/>
                <a:cs typeface="JetBrains Mono" pitchFamily="34" charset="-120"/>
              </a:rPr>
              <a:t>1.4.2</a:t>
            </a: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8A9BB3"/>
                </a:solidFill>
                <a:latin typeface="JetBrains Mono" pitchFamily="34" charset="0"/>
                <a:ea typeface="JetBrains Mono" pitchFamily="34" charset="-122"/>
                <a:cs typeface="JetBrains Mono" pitchFamily="34" charset="-120"/>
              </a:rPr>
              <a:t># tam sürüm, sabit</a:t>
            </a:r>
            <a:endParaRPr lang="en-US" sz="1200" dirty="0"/>
          </a:p>
          <a:p>
            <a:pPr algn="l" indent="0" marL="0">
              <a:lnSpc>
                <a:spcPts val="2040"/>
              </a:lnSpc>
              <a:buNone/>
            </a:pPr>
            <a:r>
              <a:rPr lang="en-US" sz="1200" dirty="0">
                <a:solidFill>
                  <a:srgbClr val="D6E2F0"/>
                </a:solidFill>
                <a:latin typeface="JetBrains Mono" pitchFamily="34" charset="0"/>
                <a:ea typeface="JetBrains Mono" pitchFamily="34" charset="-122"/>
                <a:cs typeface="JetBrains Mono" pitchFamily="34" charset="-120"/>
              </a:rPr>
              <a:t>sayac-web:</a:t>
            </a:r>
            <a:r>
              <a:rPr lang="en-US" sz="1200" dirty="0">
                <a:solidFill>
                  <a:srgbClr val="7CC4FF"/>
                </a:solidFill>
                <a:latin typeface="JetBrains Mono" pitchFamily="34" charset="0"/>
                <a:ea typeface="JetBrains Mono" pitchFamily="34" charset="-122"/>
                <a:cs typeface="JetBrains Mono" pitchFamily="34" charset="-120"/>
              </a:rPr>
              <a:t>1.4</a:t>
            </a: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8A9BB3"/>
                </a:solidFill>
                <a:latin typeface="JetBrains Mono" pitchFamily="34" charset="0"/>
                <a:ea typeface="JetBrains Mono" pitchFamily="34" charset="-122"/>
                <a:cs typeface="JetBrains Mono" pitchFamily="34" charset="-120"/>
              </a:rPr>
              <a:t># minör kanal</a:t>
            </a:r>
            <a:endParaRPr lang="en-US" sz="1200" dirty="0"/>
          </a:p>
          <a:p>
            <a:pPr algn="l" indent="0" marL="0">
              <a:lnSpc>
                <a:spcPts val="2040"/>
              </a:lnSpc>
              <a:buNone/>
            </a:pPr>
            <a:r>
              <a:rPr lang="en-US" sz="1200" dirty="0">
                <a:solidFill>
                  <a:srgbClr val="D6E2F0"/>
                </a:solidFill>
                <a:latin typeface="JetBrains Mono" pitchFamily="34" charset="0"/>
                <a:ea typeface="JetBrains Mono" pitchFamily="34" charset="-122"/>
                <a:cs typeface="JetBrains Mono" pitchFamily="34" charset="-120"/>
              </a:rPr>
              <a:t>sayac-web:</a:t>
            </a:r>
            <a:r>
              <a:rPr lang="en-US" sz="1200" dirty="0">
                <a:solidFill>
                  <a:srgbClr val="7CC4FF"/>
                </a:solidFill>
                <a:latin typeface="JetBrains Mono" pitchFamily="34" charset="0"/>
                <a:ea typeface="JetBrains Mono" pitchFamily="34" charset="-122"/>
                <a:cs typeface="JetBrains Mono" pitchFamily="34" charset="-120"/>
              </a:rPr>
              <a:t>1</a:t>
            </a: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8A9BB3"/>
                </a:solidFill>
                <a:latin typeface="JetBrains Mono" pitchFamily="34" charset="0"/>
                <a:ea typeface="JetBrains Mono" pitchFamily="34" charset="-122"/>
                <a:cs typeface="JetBrains Mono" pitchFamily="34" charset="-120"/>
              </a:rPr>
              <a:t># majör kanal</a:t>
            </a:r>
            <a:endParaRPr lang="en-US" sz="1200" dirty="0"/>
          </a:p>
          <a:p>
            <a:pPr algn="l" indent="0" marL="0">
              <a:lnSpc>
                <a:spcPts val="2040"/>
              </a:lnSpc>
              <a:buNone/>
            </a:pPr>
            <a:r>
              <a:rPr lang="en-US" sz="1200" dirty="0">
                <a:solidFill>
                  <a:srgbClr val="D6E2F0"/>
                </a:solidFill>
                <a:latin typeface="JetBrains Mono" pitchFamily="34" charset="0"/>
                <a:ea typeface="JetBrains Mono" pitchFamily="34" charset="-122"/>
                <a:cs typeface="JetBrains Mono" pitchFamily="34" charset="-120"/>
              </a:rPr>
              <a:t>sayac-web:</a:t>
            </a:r>
            <a:r>
              <a:rPr lang="en-US" sz="1200" dirty="0">
                <a:solidFill>
                  <a:srgbClr val="7CC4FF"/>
                </a:solidFill>
                <a:latin typeface="JetBrains Mono" pitchFamily="34" charset="0"/>
                <a:ea typeface="JetBrains Mono" pitchFamily="34" charset="-122"/>
                <a:cs typeface="JetBrains Mono" pitchFamily="34" charset="-120"/>
              </a:rPr>
              <a:t>sha-3f5a9c1</a:t>
            </a: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8A9BB3"/>
                </a:solidFill>
                <a:latin typeface="JetBrains Mono" pitchFamily="34" charset="0"/>
                <a:ea typeface="JetBrains Mono" pitchFamily="34" charset="-122"/>
                <a:cs typeface="JetBrains Mono" pitchFamily="34" charset="-120"/>
              </a:rPr>
              <a:t># git commit</a:t>
            </a:r>
            <a:endParaRPr lang="en-US" sz="1200" dirty="0"/>
          </a:p>
          <a:p>
            <a:pPr algn="l" indent="0" marL="0">
              <a:lnSpc>
                <a:spcPts val="2040"/>
              </a:lnSpc>
              <a:buNone/>
            </a:pPr>
            <a:r>
              <a:rPr lang="en-US" sz="1200" dirty="0">
                <a:solidFill>
                  <a:srgbClr val="D6E2F0"/>
                </a:solidFill>
                <a:latin typeface="JetBrains Mono" pitchFamily="34" charset="0"/>
                <a:ea typeface="JetBrains Mono" pitchFamily="34" charset="-122"/>
                <a:cs typeface="JetBrains Mono" pitchFamily="34" charset="-120"/>
              </a:rPr>
              <a:t>sayac-web:</a:t>
            </a:r>
            <a:r>
              <a:rPr lang="en-US" sz="1200" dirty="0">
                <a:solidFill>
                  <a:srgbClr val="FFB86B"/>
                </a:solidFill>
                <a:latin typeface="JetBrains Mono" pitchFamily="34" charset="0"/>
                <a:ea typeface="JetBrains Mono" pitchFamily="34" charset="-122"/>
                <a:cs typeface="JetBrains Mono" pitchFamily="34" charset="-120"/>
              </a:rPr>
              <a:t>latest</a:t>
            </a:r>
            <a:r>
              <a:rPr lang="en-US" sz="1200" dirty="0">
                <a:solidFill>
                  <a:srgbClr val="D6E2F0"/>
                </a:solidFill>
                <a:latin typeface="JetBrains Mono" pitchFamily="34" charset="0"/>
                <a:ea typeface="JetBrains Mono" pitchFamily="34" charset="-122"/>
                <a:cs typeface="JetBrains Mono" pitchFamily="34" charset="-120"/>
              </a:rPr>
              <a:t>       </a:t>
            </a:r>
            <a:r>
              <a:rPr lang="en-US" sz="1200" dirty="0">
                <a:solidFill>
                  <a:srgbClr val="8A9BB3"/>
                </a:solidFill>
                <a:latin typeface="JetBrains Mono" pitchFamily="34" charset="0"/>
                <a:ea typeface="JetBrains Mono" pitchFamily="34" charset="-122"/>
                <a:cs typeface="JetBrains Mono" pitchFamily="34" charset="-120"/>
              </a:rPr>
              <a:t># sadece kolaylık</a:t>
            </a:r>
            <a:endParaRPr lang="en-US" sz="1200" dirty="0"/>
          </a:p>
        </p:txBody>
      </p:sp>
      <p:sp>
        <p:nvSpPr>
          <p:cNvPr id="6" name="Text 4"/>
          <p:cNvSpPr/>
          <p:nvPr/>
        </p:nvSpPr>
        <p:spPr>
          <a:xfrm>
            <a:off x="6324600" y="2001441"/>
            <a:ext cx="52062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Altın kurallar</a:t>
            </a:r>
            <a:endParaRPr lang="en-US" sz="1600" dirty="0"/>
          </a:p>
        </p:txBody>
      </p:sp>
      <p:sp>
        <p:nvSpPr>
          <p:cNvPr id="7" name="Text 5"/>
          <p:cNvSpPr/>
          <p:nvPr/>
        </p:nvSpPr>
        <p:spPr>
          <a:xfrm>
            <a:off x="6324600" y="2372271"/>
            <a:ext cx="5206238" cy="825500"/>
          </a:xfrm>
          <a:prstGeom prst="rect">
            <a:avLst/>
          </a:prstGeom>
          <a:noFill/>
          <a:ln/>
        </p:spPr>
        <p:txBody>
          <a:bodyPr wrap="square" lIns="0" tIns="0" rIns="0" bIns="0" rtlCol="0" anchor="t">
            <a:normAutofit/>
          </a:bodyPr>
          <a:lstStyle/>
          <a:p>
            <a:pPr algn="l" marL="213360" indent="-213360">
              <a:lnSpc>
                <a:spcPts val="210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Production deploy'unda latest yok</a:t>
            </a:r>
            <a:endParaRPr lang="en-US" sz="1400" dirty="0"/>
          </a:p>
          <a:p>
            <a:pPr algn="l" marL="213360" indent="-213360">
              <a:lnSpc>
                <a:spcPts val="210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Sürüm tag'i immutable: yeni sürüm = yeni tag</a:t>
            </a:r>
            <a:endParaRPr lang="en-US" sz="1400" dirty="0"/>
          </a:p>
          <a:p>
            <a:pPr algn="l" marL="213360" indent="-213360">
              <a:lnSpc>
                <a:spcPts val="2100"/>
              </a:lnSpc>
              <a:buSzPct val="100000"/>
              <a:buFontTx/>
              <a:buAutoNum type="arabicPeriod" startAt="1"/>
            </a:pPr>
            <a:r>
              <a:rPr lang="en-US" sz="1400" dirty="0">
                <a:solidFill>
                  <a:srgbClr val="44536A"/>
                </a:solidFill>
                <a:latin typeface="IBM Plex Sans" pitchFamily="34" charset="0"/>
                <a:ea typeface="IBM Plex Sans" pitchFamily="34" charset="-122"/>
                <a:cs typeface="IBM Plex Sans" pitchFamily="34" charset="-120"/>
              </a:rPr>
              <a:t>Her image'da git SHA izi olsun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3969841"/>
          <a:ext cx="10553700" cy="1437283"/>
        </p:xfrm>
        <a:graphic>
          <a:graphicData uri="http://schemas.openxmlformats.org/drawingml/2006/table">
            <a:tbl>
              <a:tblPr/>
              <a:tblGrid>
                <a:gridCol w="2743962"/>
                <a:gridCol w="3904869"/>
                <a:gridCol w="3904869"/>
              </a:tblGrid>
              <a:tr h="359321">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Strateji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Artı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820"/>
                        </a:lnSpc>
                        <a:buNone/>
                      </a:pPr>
                      <a:r>
                        <a:rPr lang="en-US" sz="1300" b="1" dirty="0">
                          <a:solidFill>
                            <a:srgbClr val="1B2A3D"/>
                          </a:solidFill>
                          <a:latin typeface="IBM Plex Sans" pitchFamily="34" charset="0"/>
                          <a:ea typeface="IBM Plex Sans" pitchFamily="34" charset="-122"/>
                          <a:cs typeface="IBM Plex Sans" pitchFamily="34" charset="-120"/>
                        </a:rPr>
                        <a:t>Eksi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SemVer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İnsan okur, anlamlı</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Manuel yönetim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Git SHA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Koda birebir izlenebilir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İnsan için anlamsız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prod / staging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B2A3D"/>
                          </a:solidFill>
                          <a:latin typeface="IBM Plex Sans" pitchFamily="34" charset="0"/>
                          <a:ea typeface="IBM Plex Sans" pitchFamily="34" charset="-122"/>
                          <a:cs typeface="IBM Plex Sans" pitchFamily="34" charset="-120"/>
                        </a:rPr>
                        <a:t>Hangi sürüm olduğu belirsiz, kaçının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BÖLÜM 11 · PUSH AKIŞI</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build → tag → push → pull → run</a:t>
            </a:r>
            <a:endParaRPr lang="en-US" sz="3200" dirty="0"/>
          </a:p>
        </p:txBody>
      </p:sp>
      <p:sp>
        <p:nvSpPr>
          <p:cNvPr id="4" name="Shape 2"/>
          <p:cNvSpPr/>
          <p:nvPr/>
        </p:nvSpPr>
        <p:spPr>
          <a:xfrm>
            <a:off x="812800" y="2001441"/>
            <a:ext cx="800100" cy="485130"/>
          </a:xfrm>
          <a:prstGeom prst="roundRect">
            <a:avLst>
              <a:gd name="adj" fmla="val 15707"/>
            </a:avLst>
          </a:prstGeom>
          <a:solidFill>
            <a:srgbClr val="D6E4FA"/>
          </a:solidFill>
          <a:ln/>
        </p:spPr>
      </p:sp>
      <p:sp>
        <p:nvSpPr>
          <p:cNvPr id="5" name="Text 3"/>
          <p:cNvSpPr/>
          <p:nvPr/>
        </p:nvSpPr>
        <p:spPr>
          <a:xfrm>
            <a:off x="965200" y="2128441"/>
            <a:ext cx="546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2D"/>
                </a:solidFill>
                <a:latin typeface="JetBrains Mono" pitchFamily="34" charset="0"/>
                <a:ea typeface="JetBrains Mono" pitchFamily="34" charset="-122"/>
                <a:cs typeface="JetBrains Mono" pitchFamily="34" charset="-120"/>
              </a:rPr>
              <a:t>build</a:t>
            </a:r>
            <a:endParaRPr lang="en-US" sz="1300" dirty="0"/>
          </a:p>
        </p:txBody>
      </p:sp>
      <p:pic>
        <p:nvPicPr>
          <p:cNvPr id="6" name="Image 0" descr="arrow-right">    </p:cNvPr>
          <p:cNvPicPr>
            <a:picLocks noChangeAspect="1"/>
          </p:cNvPicPr>
          <p:nvPr/>
        </p:nvPicPr>
        <p:blipFill>
          <a:blip r:embed="rId1"/>
          <a:srcRect l="0" r="0" t="0" b="0"/>
          <a:stretch/>
        </p:blipFill>
        <p:spPr>
          <a:xfrm>
            <a:off x="1714500" y="2142381"/>
            <a:ext cx="406400" cy="203200"/>
          </a:xfrm>
          <a:prstGeom prst="rect">
            <a:avLst/>
          </a:prstGeom>
        </p:spPr>
      </p:pic>
      <p:sp>
        <p:nvSpPr>
          <p:cNvPr id="7" name="Shape 4"/>
          <p:cNvSpPr/>
          <p:nvPr/>
        </p:nvSpPr>
        <p:spPr>
          <a:xfrm>
            <a:off x="2222500" y="2001441"/>
            <a:ext cx="602010" cy="485130"/>
          </a:xfrm>
          <a:prstGeom prst="roundRect">
            <a:avLst>
              <a:gd name="adj" fmla="val 15707"/>
            </a:avLst>
          </a:prstGeom>
          <a:solidFill>
            <a:srgbClr val="A9C4F0"/>
          </a:solidFill>
          <a:ln/>
        </p:spPr>
      </p:sp>
      <p:sp>
        <p:nvSpPr>
          <p:cNvPr id="8" name="Text 5"/>
          <p:cNvSpPr/>
          <p:nvPr/>
        </p:nvSpPr>
        <p:spPr>
          <a:xfrm>
            <a:off x="2374900" y="2128441"/>
            <a:ext cx="348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2D"/>
                </a:solidFill>
                <a:latin typeface="JetBrains Mono" pitchFamily="34" charset="0"/>
                <a:ea typeface="JetBrains Mono" pitchFamily="34" charset="-122"/>
                <a:cs typeface="JetBrains Mono" pitchFamily="34" charset="-120"/>
              </a:rPr>
              <a:t>tag</a:t>
            </a:r>
            <a:endParaRPr lang="en-US" sz="1300" dirty="0"/>
          </a:p>
        </p:txBody>
      </p:sp>
      <p:pic>
        <p:nvPicPr>
          <p:cNvPr id="9" name="Image 1" descr="arrow-right">    </p:cNvPr>
          <p:cNvPicPr>
            <a:picLocks noChangeAspect="1"/>
          </p:cNvPicPr>
          <p:nvPr/>
        </p:nvPicPr>
        <p:blipFill>
          <a:blip r:embed="rId2"/>
          <a:srcRect l="0" r="0" t="0" b="0"/>
          <a:stretch/>
        </p:blipFill>
        <p:spPr>
          <a:xfrm>
            <a:off x="2926110" y="2142381"/>
            <a:ext cx="406400" cy="203200"/>
          </a:xfrm>
          <a:prstGeom prst="rect">
            <a:avLst/>
          </a:prstGeom>
        </p:spPr>
      </p:pic>
      <p:sp>
        <p:nvSpPr>
          <p:cNvPr id="10" name="Shape 6"/>
          <p:cNvSpPr/>
          <p:nvPr/>
        </p:nvSpPr>
        <p:spPr>
          <a:xfrm>
            <a:off x="3434110" y="2001441"/>
            <a:ext cx="701080" cy="485130"/>
          </a:xfrm>
          <a:prstGeom prst="roundRect">
            <a:avLst>
              <a:gd name="adj" fmla="val 15707"/>
            </a:avLst>
          </a:prstGeom>
          <a:solidFill>
            <a:srgbClr val="1D63ED"/>
          </a:solidFill>
          <a:ln/>
        </p:spPr>
      </p:sp>
      <p:sp>
        <p:nvSpPr>
          <p:cNvPr id="11" name="Text 7"/>
          <p:cNvSpPr/>
          <p:nvPr/>
        </p:nvSpPr>
        <p:spPr>
          <a:xfrm>
            <a:off x="3586510" y="2128441"/>
            <a:ext cx="44708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6F8"/>
                </a:solidFill>
                <a:latin typeface="JetBrains Mono" pitchFamily="34" charset="0"/>
                <a:ea typeface="JetBrains Mono" pitchFamily="34" charset="-122"/>
                <a:cs typeface="JetBrains Mono" pitchFamily="34" charset="-120"/>
              </a:rPr>
              <a:t>push</a:t>
            </a:r>
            <a:endParaRPr lang="en-US" sz="1300" dirty="0"/>
          </a:p>
        </p:txBody>
      </p:sp>
      <p:pic>
        <p:nvPicPr>
          <p:cNvPr id="12" name="Image 2" descr="arrow-right">    </p:cNvPr>
          <p:cNvPicPr>
            <a:picLocks noChangeAspect="1"/>
          </p:cNvPicPr>
          <p:nvPr/>
        </p:nvPicPr>
        <p:blipFill>
          <a:blip r:embed="rId3"/>
          <a:srcRect l="0" r="0" t="0" b="0"/>
          <a:stretch/>
        </p:blipFill>
        <p:spPr>
          <a:xfrm>
            <a:off x="4236789" y="2142381"/>
            <a:ext cx="406400" cy="203200"/>
          </a:xfrm>
          <a:prstGeom prst="rect">
            <a:avLst/>
          </a:prstGeom>
        </p:spPr>
      </p:pic>
      <p:sp>
        <p:nvSpPr>
          <p:cNvPr id="13" name="Shape 8"/>
          <p:cNvSpPr/>
          <p:nvPr/>
        </p:nvSpPr>
        <p:spPr>
          <a:xfrm>
            <a:off x="4744789" y="2001441"/>
            <a:ext cx="934988" cy="485130"/>
          </a:xfrm>
          <a:prstGeom prst="roundRect">
            <a:avLst>
              <a:gd name="adj" fmla="val 15707"/>
            </a:avLst>
          </a:prstGeom>
          <a:solidFill>
            <a:srgbClr val="0F1B2D"/>
          </a:solidFill>
          <a:ln/>
        </p:spPr>
      </p:sp>
      <p:sp>
        <p:nvSpPr>
          <p:cNvPr id="14" name="Text 9"/>
          <p:cNvSpPr/>
          <p:nvPr/>
        </p:nvSpPr>
        <p:spPr>
          <a:xfrm>
            <a:off x="4897189" y="2128441"/>
            <a:ext cx="68098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6F8"/>
                </a:solidFill>
                <a:latin typeface="IBM Plex Sans" pitchFamily="34" charset="0"/>
                <a:ea typeface="IBM Plex Sans" pitchFamily="34" charset="-122"/>
                <a:cs typeface="IBM Plex Sans" pitchFamily="34" charset="-120"/>
              </a:rPr>
              <a:t>Registry</a:t>
            </a:r>
            <a:endParaRPr lang="en-US" sz="1300" dirty="0"/>
          </a:p>
        </p:txBody>
      </p:sp>
      <p:pic>
        <p:nvPicPr>
          <p:cNvPr id="15" name="Image 3" descr="arrow-right">    </p:cNvPr>
          <p:cNvPicPr>
            <a:picLocks noChangeAspect="1"/>
          </p:cNvPicPr>
          <p:nvPr/>
        </p:nvPicPr>
        <p:blipFill>
          <a:blip r:embed="rId4"/>
          <a:srcRect l="0" r="0" t="0" b="0"/>
          <a:stretch/>
        </p:blipFill>
        <p:spPr>
          <a:xfrm>
            <a:off x="5781377" y="2142381"/>
            <a:ext cx="406400" cy="203200"/>
          </a:xfrm>
          <a:prstGeom prst="rect">
            <a:avLst/>
          </a:prstGeom>
        </p:spPr>
      </p:pic>
      <p:sp>
        <p:nvSpPr>
          <p:cNvPr id="16" name="Shape 10"/>
          <p:cNvSpPr/>
          <p:nvPr/>
        </p:nvSpPr>
        <p:spPr>
          <a:xfrm>
            <a:off x="6289377" y="2001441"/>
            <a:ext cx="701080" cy="485130"/>
          </a:xfrm>
          <a:prstGeom prst="roundRect">
            <a:avLst>
              <a:gd name="adj" fmla="val 15707"/>
            </a:avLst>
          </a:prstGeom>
          <a:solidFill>
            <a:srgbClr val="1D63ED"/>
          </a:solidFill>
          <a:ln/>
        </p:spPr>
      </p:sp>
      <p:sp>
        <p:nvSpPr>
          <p:cNvPr id="17" name="Text 11"/>
          <p:cNvSpPr/>
          <p:nvPr/>
        </p:nvSpPr>
        <p:spPr>
          <a:xfrm>
            <a:off x="6441777" y="2128441"/>
            <a:ext cx="44708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6F8"/>
                </a:solidFill>
                <a:latin typeface="JetBrains Mono" pitchFamily="34" charset="0"/>
                <a:ea typeface="JetBrains Mono" pitchFamily="34" charset="-122"/>
                <a:cs typeface="JetBrains Mono" pitchFamily="34" charset="-120"/>
              </a:rPr>
              <a:t>pull</a:t>
            </a:r>
            <a:endParaRPr lang="en-US" sz="1300" dirty="0"/>
          </a:p>
        </p:txBody>
      </p:sp>
      <p:pic>
        <p:nvPicPr>
          <p:cNvPr id="18" name="Image 4" descr="arrow-right">    </p:cNvPr>
          <p:cNvPicPr>
            <a:picLocks noChangeAspect="1"/>
          </p:cNvPicPr>
          <p:nvPr/>
        </p:nvPicPr>
        <p:blipFill>
          <a:blip r:embed="rId5"/>
          <a:srcRect l="0" r="0" t="0" b="0"/>
          <a:stretch/>
        </p:blipFill>
        <p:spPr>
          <a:xfrm>
            <a:off x="7092057" y="2142381"/>
            <a:ext cx="406400" cy="203200"/>
          </a:xfrm>
          <a:prstGeom prst="rect">
            <a:avLst/>
          </a:prstGeom>
        </p:spPr>
      </p:pic>
      <p:sp>
        <p:nvSpPr>
          <p:cNvPr id="19" name="Shape 12"/>
          <p:cNvSpPr/>
          <p:nvPr/>
        </p:nvSpPr>
        <p:spPr>
          <a:xfrm>
            <a:off x="7600057" y="2001441"/>
            <a:ext cx="602010" cy="485130"/>
          </a:xfrm>
          <a:prstGeom prst="roundRect">
            <a:avLst>
              <a:gd name="adj" fmla="val 15707"/>
            </a:avLst>
          </a:prstGeom>
          <a:solidFill>
            <a:srgbClr val="D6E4FA"/>
          </a:solidFill>
          <a:ln/>
        </p:spPr>
      </p:sp>
      <p:sp>
        <p:nvSpPr>
          <p:cNvPr id="20" name="Text 13"/>
          <p:cNvSpPr/>
          <p:nvPr/>
        </p:nvSpPr>
        <p:spPr>
          <a:xfrm>
            <a:off x="7752457" y="2128441"/>
            <a:ext cx="348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2D"/>
                </a:solidFill>
                <a:latin typeface="JetBrains Mono" pitchFamily="34" charset="0"/>
                <a:ea typeface="JetBrains Mono" pitchFamily="34" charset="-122"/>
                <a:cs typeface="JetBrains Mono" pitchFamily="34" charset="-120"/>
              </a:rPr>
              <a:t>run</a:t>
            </a:r>
            <a:endParaRPr lang="en-US" sz="1300" dirty="0"/>
          </a:p>
        </p:txBody>
      </p:sp>
      <p:sp>
        <p:nvSpPr>
          <p:cNvPr id="21" name="Shape 14"/>
          <p:cNvSpPr/>
          <p:nvPr/>
        </p:nvSpPr>
        <p:spPr>
          <a:xfrm>
            <a:off x="812800" y="2740571"/>
            <a:ext cx="10566400" cy="2008932"/>
          </a:xfrm>
          <a:prstGeom prst="roundRect">
            <a:avLst>
              <a:gd name="adj" fmla="val 5057"/>
            </a:avLst>
          </a:prstGeom>
          <a:solidFill>
            <a:srgbClr val="0F1B2D"/>
          </a:solidFill>
          <a:ln/>
        </p:spPr>
      </p:sp>
      <p:sp>
        <p:nvSpPr>
          <p:cNvPr id="22" name="Text 15"/>
          <p:cNvSpPr/>
          <p:nvPr/>
        </p:nvSpPr>
        <p:spPr>
          <a:xfrm>
            <a:off x="1066800" y="2918371"/>
            <a:ext cx="10360152" cy="1678732"/>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compose -f ornekler/11-registry/compose.yaml up -d    </a:t>
            </a:r>
            <a:r>
              <a:rPr lang="en-US" sz="1200" dirty="0">
                <a:solidFill>
                  <a:srgbClr val="8A9BB3"/>
                </a:solidFill>
                <a:latin typeface="JetBrains Mono" pitchFamily="34" charset="0"/>
                <a:ea typeface="JetBrains Mono" pitchFamily="34" charset="-122"/>
                <a:cs typeface="JetBrains Mono" pitchFamily="34" charset="-120"/>
              </a:rPr>
              <a:t># registry:2 → :5001</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build -t merhaba:1.0.0 .</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tag merhaba:1.0.0 localhost:5001/egitim/merhaba:1.0.0</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tag merhaba:1.0.0 localhost:5001/egitim/merhaba:1.0</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push --all-tags localhost:5001/egitim/merhaba        </a:t>
            </a:r>
            <a:r>
              <a:rPr lang="en-US" sz="1200" dirty="0">
                <a:solidFill>
                  <a:srgbClr val="8A9BB3"/>
                </a:solidFill>
                <a:latin typeface="JetBrains Mono" pitchFamily="34" charset="0"/>
                <a:ea typeface="JetBrains Mono" pitchFamily="34" charset="-122"/>
                <a:cs typeface="JetBrains Mono" pitchFamily="34" charset="-120"/>
              </a:rPr>
              <a:t># Layer already exists</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curl http://localhost:5001/v2/egitim/merhaba/tags/list</a:t>
            </a:r>
            <a:endParaRPr lang="en-US" sz="1200" dirty="0"/>
          </a:p>
          <a:p>
            <a:pPr algn="l" indent="0" marL="0">
              <a:lnSpc>
                <a:spcPts val="1860"/>
              </a:lnSpc>
              <a:buNone/>
            </a:pPr>
            <a:r>
              <a:rPr lang="en-US" sz="1200" dirty="0">
                <a:solidFill>
                  <a:srgbClr val="D6E2F0"/>
                </a:solidFill>
                <a:latin typeface="JetBrains Mono" pitchFamily="34" charset="0"/>
                <a:ea typeface="JetBrains Mono" pitchFamily="34" charset="-122"/>
                <a:cs typeface="JetBrains Mono" pitchFamily="34" charset="-120"/>
              </a:rPr>
              <a:t>docker pull localhost:5001/egitim/merhaba:1.0.0</a:t>
            </a:r>
            <a:endParaRPr lang="en-US" sz="1200" dirty="0"/>
          </a:p>
        </p:txBody>
      </p:sp>
      <p:sp>
        <p:nvSpPr>
          <p:cNvPr id="23" name="Text 16"/>
          <p:cNvSpPr/>
          <p:nvPr/>
        </p:nvSpPr>
        <p:spPr>
          <a:xfrm>
            <a:off x="812800" y="5003502"/>
            <a:ext cx="108833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36A"/>
                </a:solidFill>
                <a:latin typeface="IBM Plex Sans" pitchFamily="34" charset="0"/>
                <a:ea typeface="IBM Plex Sans" pitchFamily="34" charset="-122"/>
                <a:cs typeface="IBM Plex Sans" pitchFamily="34" charset="-120"/>
              </a:rPr>
              <a:t>Harbor, Nexus, GitLab, ECR, ACR: hepsi aynı API'yi konuşur, akış birebir aynıdır. Farklı mimari için: </a:t>
            </a:r>
            <a:r>
              <a:rPr lang="en-US" sz="1400" b="1" dirty="0">
                <a:solidFill>
                  <a:srgbClr val="44536A"/>
                </a:solidFill>
                <a:latin typeface="IBM Plex Sans" pitchFamily="34" charset="0"/>
                <a:ea typeface="IBM Plex Sans" pitchFamily="34" charset="-122"/>
                <a:cs typeface="IBM Plex Sans" pitchFamily="34" charset="-120"/>
              </a:rPr>
              <a:t>docker buildx build --platform linux/amd64,linux/arm64 --push</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6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40A"/>
                </a:solidFill>
                <a:latin typeface="IBM Plex Sans" pitchFamily="34" charset="0"/>
                <a:ea typeface="IBM Plex Sans" pitchFamily="34" charset="-122"/>
                <a:cs typeface="IBM Plex Sans" pitchFamily="34" charset="-120"/>
              </a:rPr>
              <a:t>UYGULAMA · LAB 11 · 45 DK</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D0F"/>
                </a:solidFill>
                <a:latin typeface="IBM Plex Sans" pitchFamily="34" charset="0"/>
                <a:ea typeface="IBM Plex Sans" pitchFamily="34" charset="-122"/>
                <a:cs typeface="IBM Plex Sans" pitchFamily="34" charset="-120"/>
              </a:rPr>
              <a:t>Kendi registry'nize push edin</a:t>
            </a:r>
            <a:endParaRPr lang="en-US" sz="3200" dirty="0"/>
          </a:p>
        </p:txBody>
      </p:sp>
      <p:sp>
        <p:nvSpPr>
          <p:cNvPr id="4" name="Text 2"/>
          <p:cNvSpPr/>
          <p:nvPr/>
        </p:nvSpPr>
        <p:spPr>
          <a:xfrm>
            <a:off x="812800" y="2001441"/>
            <a:ext cx="52062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D0F"/>
                </a:solidFill>
                <a:latin typeface="IBM Plex Sans" pitchFamily="34" charset="0"/>
                <a:ea typeface="IBM Plex Sans" pitchFamily="34" charset="-122"/>
                <a:cs typeface="IBM Plex Sans" pitchFamily="34" charset="-120"/>
              </a:rPr>
              <a:t>Yapacaklarınız</a:t>
            </a:r>
            <a:endParaRPr lang="en-US" sz="1600" dirty="0"/>
          </a:p>
        </p:txBody>
      </p:sp>
      <p:sp>
        <p:nvSpPr>
          <p:cNvPr id="5" name="Text 3"/>
          <p:cNvSpPr/>
          <p:nvPr/>
        </p:nvSpPr>
        <p:spPr>
          <a:xfrm>
            <a:off x="812800" y="2346871"/>
            <a:ext cx="5206238" cy="1678880"/>
          </a:xfrm>
          <a:prstGeom prst="rect">
            <a:avLst/>
          </a:prstGeom>
          <a:noFill/>
          <a:ln/>
        </p:spPr>
        <p:txBody>
          <a:bodyPr wrap="square" lIns="0" tIns="0" rIns="0" bIns="0" rtlCol="0" anchor="t">
            <a:normAutofit/>
          </a:bodyPr>
          <a:lstStyle/>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Yerel registry'yi başlatın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Dört tag verin, IMAGE ID'lere bakın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Push, _catalog ve tags/list</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Yerelden silip registry'den çekin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Digest ile çekin</a:t>
            </a:r>
            <a:endParaRPr lang="en-US" sz="1400" dirty="0"/>
          </a:p>
          <a:p>
            <a:pPr algn="l" marL="213360" indent="-213360">
              <a:lnSpc>
                <a:spcPts val="2170"/>
              </a:lnSpc>
              <a:buSzPct val="100000"/>
              <a:buFontTx/>
              <a:buAutoNum type="arabicPeriod" startAt="1"/>
            </a:pPr>
            <a:r>
              <a:rPr lang="en-US" sz="1400" dirty="0">
                <a:solidFill>
                  <a:srgbClr val="5A4632"/>
                </a:solidFill>
                <a:latin typeface="IBM Plex Sans" pitchFamily="34" charset="0"/>
                <a:ea typeface="IBM Plex Sans" pitchFamily="34" charset="-122"/>
                <a:cs typeface="IBM Plex Sans" pitchFamily="34" charset="-120"/>
              </a:rPr>
              <a:t>Tag üzerine yazma tehlikesini görün</a:t>
            </a:r>
            <a:endParaRPr lang="en-US" sz="1400" dirty="0"/>
          </a:p>
        </p:txBody>
      </p:sp>
      <p:sp>
        <p:nvSpPr>
          <p:cNvPr id="6" name="Shape 4"/>
          <p:cNvSpPr/>
          <p:nvPr/>
        </p:nvSpPr>
        <p:spPr>
          <a:xfrm>
            <a:off x="6172200" y="2001441"/>
            <a:ext cx="5207000" cy="2357041"/>
          </a:xfrm>
          <a:prstGeom prst="roundRect">
            <a:avLst>
              <a:gd name="adj" fmla="val 4310"/>
            </a:avLst>
          </a:prstGeom>
          <a:solidFill>
            <a:srgbClr val="2A1D0F"/>
          </a:solidFill>
          <a:ln/>
        </p:spPr>
      </p:sp>
      <p:sp>
        <p:nvSpPr>
          <p:cNvPr id="7" name="Text 5"/>
          <p:cNvSpPr/>
          <p:nvPr/>
        </p:nvSpPr>
        <p:spPr>
          <a:xfrm>
            <a:off x="6426200" y="2204641"/>
            <a:ext cx="4839970" cy="19760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ornekler/11-registry</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compose up -d</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cd ../05-multi-stage</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build -t merhaba:1.0.0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tag merhaba:1.0.0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localhost:5001/egitim/merhaba:1.0.0</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docker push \</a:t>
            </a:r>
            <a:endParaRPr lang="en-US" sz="1200" dirty="0"/>
          </a:p>
          <a:p>
            <a:pPr algn="l" indent="0" marL="0">
              <a:lnSpc>
                <a:spcPts val="1920"/>
              </a:lnSpc>
              <a:buNone/>
            </a:pPr>
            <a:r>
              <a:rPr lang="en-US" sz="1200" dirty="0">
                <a:solidFill>
                  <a:srgbClr val="F5E6D3"/>
                </a:solidFill>
                <a:latin typeface="JetBrains Mono" pitchFamily="34" charset="0"/>
                <a:ea typeface="JetBrains Mono" pitchFamily="34" charset="-122"/>
                <a:cs typeface="JetBrains Mono" pitchFamily="34" charset="-120"/>
              </a:rPr>
              <a:t>  localhost:5001/egitim/merhaba:1.0.0</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A3A"/>
                </a:solidFill>
                <a:latin typeface="IBM Plex Sans" pitchFamily="34" charset="0"/>
                <a:ea typeface="IBM Plex Sans" pitchFamily="34" charset="-122"/>
                <a:cs typeface="IBM Plex Sans" pitchFamily="34" charset="-120"/>
              </a:rPr>
              <a:t>Doküman: labs/11-tagging-ve-registry.md · Tarayıcı: http://localhost:5001/v2/_catalog</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B86B"/>
                </a:solidFill>
                <a:latin typeface="IBM Plex Sans" pitchFamily="34" charset="0"/>
                <a:ea typeface="IBM Plex Sans" pitchFamily="34" charset="-122"/>
                <a:cs typeface="IBM Plex Sans" pitchFamily="34" charset="-120"/>
              </a:rPr>
              <a:t>FINAL PROJESI · LAB 12 · 45 DK · İKILI GRUPLAR</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4F6F8"/>
                </a:solidFill>
                <a:latin typeface="IBM Plex Sans" pitchFamily="34" charset="0"/>
                <a:ea typeface="IBM Plex Sans" pitchFamily="34" charset="-122"/>
                <a:cs typeface="IBM Plex Sans" pitchFamily="34" charset="-120"/>
              </a:rPr>
              <a:t>Ziyaretçi Defteri API'sini production'a hazırlayın</a:t>
            </a:r>
            <a:endParaRPr lang="en-US" sz="3200" dirty="0"/>
          </a:p>
        </p:txBody>
      </p:sp>
      <p:sp>
        <p:nvSpPr>
          <p:cNvPr id="4" name="Shape 2"/>
          <p:cNvSpPr/>
          <p:nvPr/>
        </p:nvSpPr>
        <p:spPr>
          <a:xfrm>
            <a:off x="812800" y="2001441"/>
            <a:ext cx="3420517" cy="1717030"/>
          </a:xfrm>
          <a:prstGeom prst="roundRect">
            <a:avLst>
              <a:gd name="adj" fmla="val 5917"/>
            </a:avLst>
          </a:prstGeom>
          <a:solidFill>
            <a:srgbClr val="1B2C45"/>
          </a:solidFill>
          <a:ln/>
        </p:spPr>
      </p:sp>
      <p:sp>
        <p:nvSpPr>
          <p:cNvPr id="5" name="Text 3"/>
          <p:cNvSpPr/>
          <p:nvPr/>
        </p:nvSpPr>
        <p:spPr>
          <a:xfrm>
            <a:off x="1016000" y="220464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CC4FF"/>
                </a:solidFill>
                <a:latin typeface="IBM Plex Sans" pitchFamily="34" charset="0"/>
                <a:ea typeface="IBM Plex Sans" pitchFamily="34" charset="-122"/>
                <a:cs typeface="IBM Plex Sans" pitchFamily="34" charset="-120"/>
              </a:rPr>
              <a:t>Dockerfile</a:t>
            </a:r>
            <a:endParaRPr lang="en-US" sz="1600" dirty="0"/>
          </a:p>
        </p:txBody>
      </p:sp>
      <p:sp>
        <p:nvSpPr>
          <p:cNvPr id="6" name="Text 4"/>
          <p:cNvSpPr/>
          <p:nvPr/>
        </p:nvSpPr>
        <p:spPr>
          <a:xfrm>
            <a:off x="1016000" y="2524671"/>
            <a:ext cx="3104540" cy="1016000"/>
          </a:xfrm>
          <a:prstGeom prst="rect">
            <a:avLst/>
          </a:prstGeom>
          <a:noFill/>
          <a:ln/>
        </p:spPr>
        <p:txBody>
          <a:bodyPr wrap="square" lIns="0" tIns="0" rIns="0" bIns="0" rtlCol="0" anchor="t">
            <a:normAutofit/>
          </a:bodyPr>
          <a:lstStyle/>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Multi-stage, cache dostu</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Root olmayan kullanıcı</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HEALTHCHECK</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Exec form gunicorn</a:t>
            </a:r>
            <a:endParaRPr lang="en-US" sz="1300" dirty="0"/>
          </a:p>
        </p:txBody>
      </p:sp>
      <p:sp>
        <p:nvSpPr>
          <p:cNvPr id="7" name="Shape 5"/>
          <p:cNvSpPr/>
          <p:nvPr/>
        </p:nvSpPr>
        <p:spPr>
          <a:xfrm>
            <a:off x="4385717" y="2001441"/>
            <a:ext cx="3420517" cy="1717030"/>
          </a:xfrm>
          <a:prstGeom prst="roundRect">
            <a:avLst>
              <a:gd name="adj" fmla="val 5917"/>
            </a:avLst>
          </a:prstGeom>
          <a:solidFill>
            <a:srgbClr val="1B2C45"/>
          </a:solidFill>
          <a:ln/>
        </p:spPr>
      </p:sp>
      <p:sp>
        <p:nvSpPr>
          <p:cNvPr id="8" name="Text 6"/>
          <p:cNvSpPr/>
          <p:nvPr/>
        </p:nvSpPr>
        <p:spPr>
          <a:xfrm>
            <a:off x="4588917" y="220464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CC4FF"/>
                </a:solidFill>
                <a:latin typeface="IBM Plex Sans" pitchFamily="34" charset="0"/>
                <a:ea typeface="IBM Plex Sans" pitchFamily="34" charset="-122"/>
                <a:cs typeface="IBM Plex Sans" pitchFamily="34" charset="-120"/>
              </a:rPr>
              <a:t>compose.yaml</a:t>
            </a:r>
            <a:endParaRPr lang="en-US" sz="1600" dirty="0"/>
          </a:p>
        </p:txBody>
      </p:sp>
      <p:sp>
        <p:nvSpPr>
          <p:cNvPr id="9" name="Text 7"/>
          <p:cNvSpPr/>
          <p:nvPr/>
        </p:nvSpPr>
        <p:spPr>
          <a:xfrm>
            <a:off x="4588917" y="2524671"/>
            <a:ext cx="3104540" cy="1016000"/>
          </a:xfrm>
          <a:prstGeom prst="rect">
            <a:avLst/>
          </a:prstGeom>
          <a:noFill/>
          <a:ln/>
        </p:spPr>
        <p:txBody>
          <a:bodyPr wrap="square" lIns="0" tIns="0" rIns="0" bIns="0" rtlCol="0" anchor="t">
            <a:normAutofit/>
          </a:bodyPr>
          <a:lstStyle/>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api + postgres:16-alpine</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Named volume, healthcheck</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frontend / backend ağları</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Şifreler .env'den</a:t>
            </a:r>
            <a:endParaRPr lang="en-US" sz="1300" dirty="0"/>
          </a:p>
        </p:txBody>
      </p:sp>
      <p:sp>
        <p:nvSpPr>
          <p:cNvPr id="10" name="Shape 8"/>
          <p:cNvSpPr/>
          <p:nvPr/>
        </p:nvSpPr>
        <p:spPr>
          <a:xfrm>
            <a:off x="7958634" y="2001441"/>
            <a:ext cx="3420566" cy="1717030"/>
          </a:xfrm>
          <a:prstGeom prst="roundRect">
            <a:avLst>
              <a:gd name="adj" fmla="val 5917"/>
            </a:avLst>
          </a:prstGeom>
          <a:solidFill>
            <a:srgbClr val="1B2C45"/>
          </a:solidFill>
          <a:ln/>
        </p:spPr>
      </p:sp>
      <p:sp>
        <p:nvSpPr>
          <p:cNvPr id="11" name="Text 9"/>
          <p:cNvSpPr/>
          <p:nvPr/>
        </p:nvSpPr>
        <p:spPr>
          <a:xfrm>
            <a:off x="8161834" y="2204641"/>
            <a:ext cx="310459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CC4FF"/>
                </a:solidFill>
                <a:latin typeface="IBM Plex Sans" pitchFamily="34" charset="0"/>
                <a:ea typeface="IBM Plex Sans" pitchFamily="34" charset="-122"/>
                <a:cs typeface="IBM Plex Sans" pitchFamily="34" charset="-120"/>
              </a:rPr>
              <a:t>Kanıt</a:t>
            </a:r>
            <a:endParaRPr lang="en-US" sz="1600" dirty="0"/>
          </a:p>
        </p:txBody>
      </p:sp>
      <p:sp>
        <p:nvSpPr>
          <p:cNvPr id="12" name="Text 10"/>
          <p:cNvSpPr/>
          <p:nvPr/>
        </p:nvSpPr>
        <p:spPr>
          <a:xfrm>
            <a:off x="8161834" y="2524671"/>
            <a:ext cx="3104591" cy="1016000"/>
          </a:xfrm>
          <a:prstGeom prst="rect">
            <a:avLst/>
          </a:prstGeom>
          <a:noFill/>
          <a:ln/>
        </p:spPr>
        <p:txBody>
          <a:bodyPr wrap="square" lIns="0" tIns="0" rIns="0" bIns="0" rtlCol="0" anchor="t">
            <a:normAutofit/>
          </a:bodyPr>
          <a:lstStyle/>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POST ve GET çalışıyor</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down / up: veri duruyor</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DB host'a kapalı</a:t>
            </a:r>
            <a:endParaRPr lang="en-US" sz="1300" dirty="0"/>
          </a:p>
          <a:p>
            <a:pPr algn="l" marL="198120" indent="-168656">
              <a:lnSpc>
                <a:spcPts val="1950"/>
              </a:lnSpc>
              <a:buSzPct val="100000"/>
              <a:buChar char="•"/>
            </a:pPr>
            <a:r>
              <a:rPr lang="en-US" sz="1300" dirty="0">
                <a:solidFill>
                  <a:srgbClr val="B8C6D9"/>
                </a:solidFill>
                <a:latin typeface="IBM Plex Sans" pitchFamily="34" charset="0"/>
                <a:ea typeface="IBM Plex Sans" pitchFamily="34" charset="-122"/>
                <a:cs typeface="IBM Plex Sans" pitchFamily="34" charset="-120"/>
              </a:rPr>
              <a:t>Registry'e push</a:t>
            </a:r>
            <a:endParaRPr lang="en-US" sz="1300" dirty="0"/>
          </a:p>
        </p:txBody>
      </p:sp>
      <p:sp>
        <p:nvSpPr>
          <p:cNvPr id="13" name="Text 11"/>
          <p:cNvSpPr/>
          <p:nvPr/>
        </p:nvSpPr>
        <p:spPr>
          <a:xfrm>
            <a:off x="812800" y="3972471"/>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C6D9"/>
                </a:solidFill>
                <a:latin typeface="IBM Plex Sans" pitchFamily="34" charset="0"/>
                <a:ea typeface="IBM Plex Sans" pitchFamily="34" charset="-122"/>
                <a:cs typeface="IBM Plex Sans" pitchFamily="34" charset="-120"/>
              </a:rPr>
              <a:t>100 puanlık değerlendirme ve kendi kendini kontrol komutları dokümanda. Referans çözüm: </a:t>
            </a:r>
            <a:r>
              <a:rPr lang="en-US" sz="1400" b="1" dirty="0">
                <a:solidFill>
                  <a:srgbClr val="B8C6D9"/>
                </a:solidFill>
                <a:latin typeface="IBM Plex Sans" pitchFamily="34" charset="0"/>
                <a:ea typeface="IBM Plex Sans" pitchFamily="34" charset="-122"/>
                <a:cs typeface="IBM Plex Sans" pitchFamily="34" charset="-120"/>
              </a:rPr>
              <a:t>ornekler/12-final-proje/cozum</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B3"/>
                </a:solidFill>
                <a:latin typeface="IBM Plex Sans" pitchFamily="34" charset="0"/>
                <a:ea typeface="IBM Plex Sans" pitchFamily="34" charset="-122"/>
                <a:cs typeface="IBM Plex Sans" pitchFamily="34" charset="-120"/>
              </a:rPr>
              <a:t>Doküman: labs/12-final-projesi.md · Başlangıç: ornekler/12-final-proje/baslangic</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ÖZET</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Dockerfile kontrol listesi</a:t>
            </a:r>
            <a:endParaRPr lang="en-US" sz="3200" dirty="0"/>
          </a:p>
        </p:txBody>
      </p:sp>
      <p:pic>
        <p:nvPicPr>
          <p:cNvPr id="4" name="Image 0" descr="CheckCircle">    </p:cNvPr>
          <p:cNvPicPr>
            <a:picLocks noChangeAspect="1"/>
          </p:cNvPicPr>
          <p:nvPr/>
        </p:nvPicPr>
        <p:blipFill>
          <a:blip r:embed="rId1"/>
          <a:srcRect l="0" r="0" t="0" b="0"/>
          <a:stretch/>
        </p:blipFill>
        <p:spPr>
          <a:xfrm>
            <a:off x="812800" y="2001441"/>
            <a:ext cx="254000" cy="254000"/>
          </a:xfrm>
          <a:prstGeom prst="rect">
            <a:avLst/>
          </a:prstGeom>
        </p:spPr>
      </p:pic>
      <p:sp>
        <p:nvSpPr>
          <p:cNvPr id="5" name="Text 2"/>
          <p:cNvSpPr/>
          <p:nvPr/>
        </p:nvSpPr>
        <p:spPr>
          <a:xfrm>
            <a:off x="1193800" y="2003971"/>
            <a:ext cx="27891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Base image tag'i sabit, latest değil</a:t>
            </a:r>
            <a:endParaRPr lang="en-US" sz="1400" dirty="0"/>
          </a:p>
        </p:txBody>
      </p:sp>
      <p:pic>
        <p:nvPicPr>
          <p:cNvPr id="6" name="Image 1" descr="CheckCircle">    </p:cNvPr>
          <p:cNvPicPr>
            <a:picLocks noChangeAspect="1"/>
          </p:cNvPicPr>
          <p:nvPr/>
        </p:nvPicPr>
        <p:blipFill>
          <a:blip r:embed="rId2"/>
          <a:srcRect l="0" r="0" t="0" b="0"/>
          <a:stretch/>
        </p:blipFill>
        <p:spPr>
          <a:xfrm>
            <a:off x="6096000" y="2001441"/>
            <a:ext cx="254000" cy="254000"/>
          </a:xfrm>
          <a:prstGeom prst="rect">
            <a:avLst/>
          </a:prstGeom>
        </p:spPr>
      </p:pic>
      <p:sp>
        <p:nvSpPr>
          <p:cNvPr id="7" name="Text 3"/>
          <p:cNvSpPr/>
          <p:nvPr/>
        </p:nvSpPr>
        <p:spPr>
          <a:xfrm>
            <a:off x="6477000" y="2003971"/>
            <a:ext cx="2170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Derleme varsa multi-stage</a:t>
            </a:r>
            <a:endParaRPr lang="en-US" sz="1400" dirty="0"/>
          </a:p>
        </p:txBody>
      </p:sp>
      <p:pic>
        <p:nvPicPr>
          <p:cNvPr id="8" name="Image 2" descr="CheckCircle">    </p:cNvPr>
          <p:cNvPicPr>
            <a:picLocks noChangeAspect="1"/>
          </p:cNvPicPr>
          <p:nvPr/>
        </p:nvPicPr>
        <p:blipFill>
          <a:blip r:embed="rId3"/>
          <a:srcRect l="0" r="0" t="0" b="0"/>
          <a:stretch/>
        </p:blipFill>
        <p:spPr>
          <a:xfrm>
            <a:off x="812800" y="2255441"/>
            <a:ext cx="254000" cy="254000"/>
          </a:xfrm>
          <a:prstGeom prst="rect">
            <a:avLst/>
          </a:prstGeom>
        </p:spPr>
      </p:pic>
      <p:sp>
        <p:nvSpPr>
          <p:cNvPr id="9" name="Text 4"/>
          <p:cNvSpPr/>
          <p:nvPr/>
        </p:nvSpPr>
        <p:spPr>
          <a:xfrm>
            <a:off x="1193800" y="2257971"/>
            <a:ext cx="14301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.dockerignore var</a:t>
            </a:r>
            <a:endParaRPr lang="en-US" sz="1400" dirty="0"/>
          </a:p>
        </p:txBody>
      </p:sp>
      <p:pic>
        <p:nvPicPr>
          <p:cNvPr id="10" name="Image 3" descr="CheckCircle">    </p:cNvPr>
          <p:cNvPicPr>
            <a:picLocks noChangeAspect="1"/>
          </p:cNvPicPr>
          <p:nvPr/>
        </p:nvPicPr>
        <p:blipFill>
          <a:blip r:embed="rId4"/>
          <a:srcRect l="0" r="0" t="0" b="0"/>
          <a:stretch/>
        </p:blipFill>
        <p:spPr>
          <a:xfrm>
            <a:off x="6096000" y="2255441"/>
            <a:ext cx="254000" cy="254000"/>
          </a:xfrm>
          <a:prstGeom prst="rect">
            <a:avLst/>
          </a:prstGeom>
        </p:spPr>
      </p:pic>
      <p:sp>
        <p:nvSpPr>
          <p:cNvPr id="11" name="Text 5"/>
          <p:cNvSpPr/>
          <p:nvPr/>
        </p:nvSpPr>
        <p:spPr>
          <a:xfrm>
            <a:off x="6477000" y="2257971"/>
            <a:ext cx="16280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Root olmayan USER</a:t>
            </a:r>
            <a:endParaRPr lang="en-US" sz="1400" dirty="0"/>
          </a:p>
        </p:txBody>
      </p:sp>
      <p:pic>
        <p:nvPicPr>
          <p:cNvPr id="12" name="Image 4" descr="CheckCircle">    </p:cNvPr>
          <p:cNvPicPr>
            <a:picLocks noChangeAspect="1"/>
          </p:cNvPicPr>
          <p:nvPr/>
        </p:nvPicPr>
        <p:blipFill>
          <a:blip r:embed="rId5"/>
          <a:srcRect l="0" r="0" t="0" b="0"/>
          <a:stretch/>
        </p:blipFill>
        <p:spPr>
          <a:xfrm>
            <a:off x="812800" y="2509441"/>
            <a:ext cx="254000" cy="254000"/>
          </a:xfrm>
          <a:prstGeom prst="rect">
            <a:avLst/>
          </a:prstGeom>
        </p:spPr>
      </p:pic>
      <p:sp>
        <p:nvSpPr>
          <p:cNvPr id="13" name="Text 6"/>
          <p:cNvSpPr/>
          <p:nvPr/>
        </p:nvSpPr>
        <p:spPr>
          <a:xfrm>
            <a:off x="1193800" y="2511971"/>
            <a:ext cx="32063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Bağımlılıklar koddan önce kopyalanıyor</a:t>
            </a:r>
            <a:endParaRPr lang="en-US" sz="1400" dirty="0"/>
          </a:p>
        </p:txBody>
      </p:sp>
      <p:pic>
        <p:nvPicPr>
          <p:cNvPr id="14" name="Image 5" descr="CheckCircle">    </p:cNvPr>
          <p:cNvPicPr>
            <a:picLocks noChangeAspect="1"/>
          </p:cNvPicPr>
          <p:nvPr/>
        </p:nvPicPr>
        <p:blipFill>
          <a:blip r:embed="rId6"/>
          <a:srcRect l="0" r="0" t="0" b="0"/>
          <a:stretch/>
        </p:blipFill>
        <p:spPr>
          <a:xfrm>
            <a:off x="6096000" y="2509441"/>
            <a:ext cx="254000" cy="254000"/>
          </a:xfrm>
          <a:prstGeom prst="rect">
            <a:avLst/>
          </a:prstGeom>
        </p:spPr>
      </p:pic>
      <p:sp>
        <p:nvSpPr>
          <p:cNvPr id="15" name="Text 7"/>
          <p:cNvSpPr/>
          <p:nvPr/>
        </p:nvSpPr>
        <p:spPr>
          <a:xfrm>
            <a:off x="6477000" y="2511971"/>
            <a:ext cx="25065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CMD / ENTRYPOINT exec form</a:t>
            </a:r>
            <a:endParaRPr lang="en-US" sz="1400" dirty="0"/>
          </a:p>
        </p:txBody>
      </p:sp>
      <p:pic>
        <p:nvPicPr>
          <p:cNvPr id="16" name="Image 6" descr="CheckCircle">    </p:cNvPr>
          <p:cNvPicPr>
            <a:picLocks noChangeAspect="1"/>
          </p:cNvPicPr>
          <p:nvPr/>
        </p:nvPicPr>
        <p:blipFill>
          <a:blip r:embed="rId7"/>
          <a:srcRect l="0" r="0" t="0" b="0"/>
          <a:stretch/>
        </p:blipFill>
        <p:spPr>
          <a:xfrm>
            <a:off x="812800" y="2763441"/>
            <a:ext cx="254000" cy="254000"/>
          </a:xfrm>
          <a:prstGeom prst="rect">
            <a:avLst/>
          </a:prstGeom>
        </p:spPr>
      </p:pic>
      <p:sp>
        <p:nvSpPr>
          <p:cNvPr id="17" name="Text 8"/>
          <p:cNvSpPr/>
          <p:nvPr/>
        </p:nvSpPr>
        <p:spPr>
          <a:xfrm>
            <a:off x="1193800" y="2765971"/>
            <a:ext cx="34467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RUN'lar &amp;&amp; ile birleşik, cache temizleniyor</a:t>
            </a:r>
            <a:endParaRPr lang="en-US" sz="1400" dirty="0"/>
          </a:p>
        </p:txBody>
      </p:sp>
      <p:pic>
        <p:nvPicPr>
          <p:cNvPr id="18" name="Image 7" descr="CheckCircle">    </p:cNvPr>
          <p:cNvPicPr>
            <a:picLocks noChangeAspect="1"/>
          </p:cNvPicPr>
          <p:nvPr/>
        </p:nvPicPr>
        <p:blipFill>
          <a:blip r:embed="rId8"/>
          <a:srcRect l="0" r="0" t="0" b="0"/>
          <a:stretch/>
        </p:blipFill>
        <p:spPr>
          <a:xfrm>
            <a:off x="6096000" y="2763441"/>
            <a:ext cx="254000" cy="254000"/>
          </a:xfrm>
          <a:prstGeom prst="rect">
            <a:avLst/>
          </a:prstGeom>
        </p:spPr>
      </p:pic>
      <p:sp>
        <p:nvSpPr>
          <p:cNvPr id="19" name="Text 9"/>
          <p:cNvSpPr/>
          <p:nvPr/>
        </p:nvSpPr>
        <p:spPr>
          <a:xfrm>
            <a:off x="6477000" y="2765971"/>
            <a:ext cx="224487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Image'da şifre ve token yok</a:t>
            </a:r>
            <a:endParaRPr lang="en-US" sz="1400" dirty="0"/>
          </a:p>
        </p:txBody>
      </p:sp>
      <p:pic>
        <p:nvPicPr>
          <p:cNvPr id="20" name="Image 8" descr="CheckCircle">    </p:cNvPr>
          <p:cNvPicPr>
            <a:picLocks noChangeAspect="1"/>
          </p:cNvPicPr>
          <p:nvPr/>
        </p:nvPicPr>
        <p:blipFill>
          <a:blip r:embed="rId9"/>
          <a:srcRect l="0" r="0" t="0" b="0"/>
          <a:stretch/>
        </p:blipFill>
        <p:spPr>
          <a:xfrm>
            <a:off x="812800" y="3017441"/>
            <a:ext cx="254000" cy="254000"/>
          </a:xfrm>
          <a:prstGeom prst="rect">
            <a:avLst/>
          </a:prstGeom>
        </p:spPr>
      </p:pic>
      <p:sp>
        <p:nvSpPr>
          <p:cNvPr id="21" name="Text 10"/>
          <p:cNvSpPr/>
          <p:nvPr/>
        </p:nvSpPr>
        <p:spPr>
          <a:xfrm>
            <a:off x="1193800" y="3019971"/>
            <a:ext cx="297025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COPY tercih ediliyor, ADD sadece tar</a:t>
            </a:r>
            <a:endParaRPr lang="en-US" sz="1400" dirty="0"/>
          </a:p>
        </p:txBody>
      </p:sp>
      <p:pic>
        <p:nvPicPr>
          <p:cNvPr id="22" name="Image 9" descr="CheckCircle">    </p:cNvPr>
          <p:cNvPicPr>
            <a:picLocks noChangeAspect="1"/>
          </p:cNvPicPr>
          <p:nvPr/>
        </p:nvPicPr>
        <p:blipFill>
          <a:blip r:embed="rId10"/>
          <a:srcRect l="0" r="0" t="0" b="0"/>
          <a:stretch/>
        </p:blipFill>
        <p:spPr>
          <a:xfrm>
            <a:off x="6096000" y="3017441"/>
            <a:ext cx="254000" cy="254000"/>
          </a:xfrm>
          <a:prstGeom prst="rect">
            <a:avLst/>
          </a:prstGeom>
        </p:spPr>
      </p:pic>
      <p:sp>
        <p:nvSpPr>
          <p:cNvPr id="23" name="Text 11"/>
          <p:cNvSpPr/>
          <p:nvPr/>
        </p:nvSpPr>
        <p:spPr>
          <a:xfrm>
            <a:off x="6477000" y="3019971"/>
            <a:ext cx="185719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D"/>
                </a:solidFill>
                <a:latin typeface="IBM Plex Sans" pitchFamily="34" charset="0"/>
                <a:ea typeface="IBM Plex Sans" pitchFamily="34" charset="-122"/>
                <a:cs typeface="IBM Plex Sans" pitchFamily="34" charset="-120"/>
              </a:rPr>
              <a:t>HEALTHCHECK tanımlı</a:t>
            </a:r>
            <a:endParaRPr lang="en-US" sz="1400" dirty="0"/>
          </a:p>
        </p:txBody>
      </p:sp>
      <p:sp>
        <p:nvSpPr>
          <p:cNvPr id="2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Tek sayfalık komut özeti: labs/cheatsheet.md</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3ED"/>
                </a:solidFill>
                <a:latin typeface="IBM Plex Sans" pitchFamily="34" charset="0"/>
                <a:ea typeface="IBM Plex Sans" pitchFamily="34" charset="-122"/>
                <a:cs typeface="IBM Plex Sans" pitchFamily="34" charset="-120"/>
              </a:rPr>
              <a:t>SORUN GIDERME</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F1B2D"/>
                </a:solidFill>
                <a:latin typeface="IBM Plex Sans" pitchFamily="34" charset="0"/>
                <a:ea typeface="IBM Plex Sans" pitchFamily="34" charset="-122"/>
                <a:cs typeface="IBM Plex Sans" pitchFamily="34" charset="-120"/>
              </a:rPr>
              <a:t>En sık karşılaşılan sekiz hata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4141"/>
          <a:ext cx="10553700" cy="2994124"/>
        </p:xfrm>
        <a:graphic>
          <a:graphicData uri="http://schemas.openxmlformats.org/drawingml/2006/table">
            <a:tbl>
              <a:tblPr/>
              <a:tblGrid>
                <a:gridCol w="4432554"/>
                <a:gridCol w="6121146"/>
              </a:tblGrid>
              <a:tr h="332680">
                <a:tc>
                  <a:txBody>
                    <a:bodyPr/>
                    <a:lstStyle/>
                    <a:p>
                      <a:pPr indent="0" marL="0">
                        <a:lnSpc>
                          <a:spcPts val="1680"/>
                        </a:lnSpc>
                        <a:buNone/>
                      </a:pPr>
                      <a:r>
                        <a:rPr lang="en-US" sz="1200" b="1" dirty="0">
                          <a:solidFill>
                            <a:srgbClr val="1B2A3D"/>
                          </a:solidFill>
                          <a:latin typeface="IBM Plex Sans" pitchFamily="34" charset="0"/>
                          <a:ea typeface="IBM Plex Sans" pitchFamily="34" charset="-122"/>
                          <a:cs typeface="IBM Plex Sans" pitchFamily="34" charset="-120"/>
                        </a:rPr>
                        <a:t>Belirti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680"/>
                        </a:lnSpc>
                        <a:buNone/>
                      </a:pPr>
                      <a:r>
                        <a:rPr lang="en-US" sz="1200" b="1" dirty="0">
                          <a:solidFill>
                            <a:srgbClr val="1B2A3D"/>
                          </a:solidFill>
                          <a:latin typeface="IBM Plex Sans" pitchFamily="34" charset="0"/>
                          <a:ea typeface="IBM Plex Sans" pitchFamily="34" charset="-122"/>
                          <a:cs typeface="IBM Plex Sans" pitchFamily="34" charset="-120"/>
                        </a:rPr>
                        <a:t>Çözüm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332680">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Cannot connect to the Docker daemon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Docker Desktop'ı başlatın, 30 sn bekleyin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port is already allocated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docker ps ile bulun veya başka host portu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toomanyrequests (pull limiti)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docker login veya image'ları önceden indirin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COPY failed: file not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Build context (son argüman) ve .dockerignore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Container hemen Exited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docker logs &lt;container&gt;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Container'dan localhost:5432 olmuyor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Servis adı (db) veya host.docker.internal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ping: bad address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Kullanıcı tanımlı ağ, aynı ağa bağlayın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exec format error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680"/>
                        </a:lnSpc>
                        <a:buNone/>
                      </a:pPr>
                      <a:r>
                        <a:rPr lang="en-US" sz="1200" dirty="0">
                          <a:solidFill>
                            <a:srgbClr val="1B2A3D"/>
                          </a:solidFill>
                          <a:latin typeface="IBM Plex Sans" pitchFamily="34" charset="0"/>
                          <a:ea typeface="IBM Plex Sans" pitchFamily="34" charset="-122"/>
                          <a:cs typeface="IBM Plex Sans" pitchFamily="34" charset="-120"/>
                        </a:rPr>
                        <a:t>Mimari farkı: --platform veya buildx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7A"/>
                </a:solidFill>
                <a:latin typeface="IBM Plex Sans" pitchFamily="34" charset="0"/>
                <a:ea typeface="IBM Plex Sans" pitchFamily="34" charset="-122"/>
                <a:cs typeface="IBM Plex Sans" pitchFamily="34" charset="-120"/>
              </a:rPr>
              <a:t>Tam tablo (17 madde): labs/cheatsheet.md · Disk doldu: docker system df → docker system prune</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8636000" y="0"/>
            <a:ext cx="3556000" cy="6858000"/>
          </a:xfrm>
          <a:prstGeom prst="rect">
            <a:avLst/>
          </a:prstGeom>
          <a:gradFill rotWithShape="1">
            <a:gsLst>
              <a:gs pos="0">
                <a:srgbClr val="1D63ED"/>
              </a:gs>
              <a:gs pos="85000">
                <a:srgbClr val="0F1B2D"/>
              </a:gs>
            </a:gsLst>
            <a:lin ang="4200000" scaled="0"/>
          </a:gradFill>
          <a:ln/>
        </p:spPr>
      </p:sp>
      <p:sp>
        <p:nvSpPr>
          <p:cNvPr id="3" name="Text 1"/>
          <p:cNvSpPr/>
          <p:nvPr/>
        </p:nvSpPr>
        <p:spPr>
          <a:xfrm>
            <a:off x="812800" y="176247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7CC4FF"/>
                </a:solidFill>
                <a:latin typeface="IBM Plex Sans" pitchFamily="34" charset="0"/>
                <a:ea typeface="IBM Plex Sans" pitchFamily="34" charset="-122"/>
                <a:cs typeface="IBM Plex Sans" pitchFamily="34" charset="-120"/>
              </a:rPr>
              <a:t>SIRADA NE VAR?</a:t>
            </a:r>
            <a:endParaRPr lang="en-US" sz="1400" dirty="0"/>
          </a:p>
        </p:txBody>
      </p:sp>
      <p:sp>
        <p:nvSpPr>
          <p:cNvPr id="4" name="Text 2"/>
          <p:cNvSpPr/>
          <p:nvPr/>
        </p:nvSpPr>
        <p:spPr>
          <a:xfrm>
            <a:off x="812800" y="2265363"/>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F6F8"/>
                </a:solidFill>
                <a:latin typeface="IBM Plex Sans" pitchFamily="34" charset="0"/>
                <a:ea typeface="IBM Plex Sans" pitchFamily="34" charset="-122"/>
                <a:cs typeface="IBM Plex Sans" pitchFamily="34" charset="-120"/>
              </a:rPr>
              <a:t>Teşekkürler.</a:t>
            </a:r>
            <a:endParaRPr lang="en-US" sz="4800" dirty="0"/>
          </a:p>
          <a:p>
            <a:pPr algn="l" indent="0" marL="0">
              <a:lnSpc>
                <a:spcPts val="5280"/>
              </a:lnSpc>
              <a:buNone/>
            </a:pPr>
            <a:r>
              <a:rPr lang="en-US" sz="4800" b="1" dirty="0">
                <a:solidFill>
                  <a:srgbClr val="F4F6F8"/>
                </a:solidFill>
                <a:latin typeface="IBM Plex Sans" pitchFamily="34" charset="0"/>
                <a:ea typeface="IBM Plex Sans" pitchFamily="34" charset="-122"/>
                <a:cs typeface="IBM Plex Sans" pitchFamily="34" charset="-120"/>
              </a:rPr>
              <a:t>Sorular?</a:t>
            </a:r>
            <a:endParaRPr lang="en-US" sz="4800" dirty="0"/>
          </a:p>
        </p:txBody>
      </p:sp>
      <p:sp>
        <p:nvSpPr>
          <p:cNvPr id="5" name="Text 3"/>
          <p:cNvSpPr/>
          <p:nvPr/>
        </p:nvSpPr>
        <p:spPr>
          <a:xfrm>
            <a:off x="812800" y="3860403"/>
            <a:ext cx="719455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8C6D9"/>
                </a:solidFill>
                <a:latin typeface="IBM Plex Sans" pitchFamily="34" charset="0"/>
                <a:ea typeface="IBM Plex Sans" pitchFamily="34" charset="-122"/>
                <a:cs typeface="IBM Plex Sans" pitchFamily="34" charset="-120"/>
              </a:rPr>
              <a:t>Kendi projenizden birini kontrol listesiyle container'laştırın</a:t>
            </a:r>
            <a:endParaRPr lang="en-US" sz="1500" dirty="0"/>
          </a:p>
        </p:txBody>
      </p:sp>
      <p:sp>
        <p:nvSpPr>
          <p:cNvPr id="6" name="Text 4"/>
          <p:cNvSpPr/>
          <p:nvPr/>
        </p:nvSpPr>
        <p:spPr>
          <a:xfrm>
            <a:off x="812800" y="4238228"/>
            <a:ext cx="719455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8C6D9"/>
                </a:solidFill>
                <a:latin typeface="IBM Plex Sans" pitchFamily="34" charset="0"/>
                <a:ea typeface="IBM Plex Sans" pitchFamily="34" charset="-122"/>
                <a:cs typeface="IBM Plex Sans" pitchFamily="34" charset="-120"/>
              </a:rPr>
              <a:t>CI'da build + tag + push'u otomatikleştirin</a:t>
            </a:r>
            <a:endParaRPr lang="en-US" sz="1500" dirty="0"/>
          </a:p>
        </p:txBody>
      </p:sp>
      <p:sp>
        <p:nvSpPr>
          <p:cNvPr id="7" name="Text 5"/>
          <p:cNvSpPr/>
          <p:nvPr/>
        </p:nvSpPr>
        <p:spPr>
          <a:xfrm>
            <a:off x="812800" y="4616053"/>
            <a:ext cx="719455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8C6D9"/>
                </a:solidFill>
                <a:latin typeface="IBM Plex Sans" pitchFamily="34" charset="0"/>
                <a:ea typeface="IBM Plex Sans" pitchFamily="34" charset="-122"/>
                <a:cs typeface="IBM Plex Sans" pitchFamily="34" charset="-120"/>
              </a:rPr>
              <a:t>Sonraki adım: Kubernetes (Pod, Deployment, Service)</a:t>
            </a:r>
            <a:endParaRPr lang="en-US" sz="1500" dirty="0"/>
          </a:p>
        </p:txBody>
      </p:sp>
      <p:sp>
        <p:nvSpPr>
          <p:cNvPr id="8"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B3"/>
                </a:solidFill>
                <a:latin typeface="IBM Plex Sans" pitchFamily="34" charset="0"/>
                <a:ea typeface="IBM Plex Sans" pitchFamily="34" charset="-122"/>
                <a:cs typeface="IBM Plex Sans" pitchFamily="34" charset="-120"/>
              </a:rPr>
              <a:t>Kaynak: docs.docker.com · Materyaller: docker-egitimi.zip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Temelleri</dc:title>
  <dc:subject>PptxGenJS Presentation</dc:subject>
  <dc:creator>PptxGenJS</dc:creator>
  <cp:lastModifiedBy>PptxGenJS</cp:lastModifiedBy>
  <cp:revision>1</cp:revision>
  <dcterms:created xsi:type="dcterms:W3CDTF">2026-09-29T06:44:10Z</dcterms:created>
  <dcterms:modified xsi:type="dcterms:W3CDTF">2026-09-29T06:44:10Z</dcterms:modified>
</cp:coreProperties>
</file>